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leiding" id="{3660110c-d3e9-d13f-9598-4fcdd552db00}">
          <p14:sldIdLst>
            <p14:sldId id="256"/>
            <p14:sldId id="257"/>
            <p14:sldId id="258"/>
          </p14:sldIdLst>
        </p14:section>
        <p14:section name="Waar het vak vandaan komt" id="{d0496822-8354-fecc-f7a5-2fb2f05399af}">
          <p14:sldIdLst>
            <p14:sldId id="259"/>
            <p14:sldId id="260"/>
            <p14:sldId id="261"/>
          </p14:sldIdLst>
        </p14:section>
        <p14:section name="De programmeerparadigma's" id="{b0ceba1e-c354-a383-9153-d6ce41fe7d70}">
          <p14:sldIdLst>
            <p14:sldId id="262"/>
            <p14:sldId id="263"/>
            <p14:sldId id="264"/>
          </p14:sldIdLst>
        </p14:section>
        <p14:section name="Zes trends van dit moment" id="{84144e0b-c459-6d15-f80a-657222da31d6}">
          <p14:sldIdLst>
            <p14:sldId id="265"/>
            <p14:sldId id="266"/>
            <p14:sldId id="267"/>
            <p14:sldId id="268"/>
            <p14:sldId id="269"/>
            <p14:sldId id="270"/>
            <p14:sldId id="271"/>
          </p14:sldIdLst>
        </p14:section>
        <p14:section name="Zelf een trend beoordelen" id="{aeb740f2-4d45-8423-1c49-e82e3786e836}">
          <p14:sldIdLst>
            <p14:sldId id="272"/>
            <p14:sldId id="273"/>
            <p14:sldId id="274"/>
          </p14:sldIdLst>
        </p14:section>
        <p14:section name="Oefening 20.1 — De trendkaart" id="{26ede398-eda4-11b3-950f-4742f1943ed6}">
          <p14:sldIdLst>
            <p14:sldId id="275"/>
            <p14:sldId id="276"/>
            <p14:sldId id="277"/>
          </p14:sldIdLst>
        </p14:section>
        <p14:section name="Oefening 20.2 — Vier paradigma's" id="{7ca8f197-f9a0-8b76-b5fb-936b8e6b642f}">
          <p14:sldIdLst>
            <p14:sldId id="278"/>
            <p14:sldId id="279"/>
            <p14:sldId id="280"/>
            <p14:sldId id="281"/>
          </p14:sldIdLst>
        </p14:section>
        <p14:section name="Afsluiting" id="{18814d87-88fb-34c9-72dc-ad960324a8ef}">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Regels code</a:t>
            </a:r>
          </a:p>
        </c:rich>
      </c:tx>
      <c:layout/>
      <c:overlay val="0"/>
    </c:title>
    <c:autoTitleDeleted val="0"/>
    <c:plotArea>
      <c:layout/>
      <c:barChart>
        <c:barDir val="bar"/>
        <c:grouping val="clustered"/>
        <c:varyColors val="0"/>
        <c:ser>
          <c:idx val="0"/>
          <c:order val="0"/>
          <c:tx>
            <c:strRef>
              <c:f>Sheet1!$B$1</c:f>
              <c:strCache>
                <c:ptCount val="1"/>
                <c:pt idx="0">
                  <c:v>Regels code</c:v>
                </c:pt>
              </c:strCache>
            </c:strRef>
          </c:tx>
          <c:spPr>
            <a:solidFill>
              <a:srgbClr val="F4A259"/>
            </a:solidFill>
            <a:effectLst/>
          </c:spPr>
          <c:invertIfNegative val="0"/>
          <c:dLbls>
            <c:numFmt formatCode="#,##0" sourceLinked="0"/>
            <c:txPr>
              <a:bodyPr/>
              <a:lstStyle/>
              <a:p>
                <a:pPr>
                  <a:defRPr b="0" i="0" strike="noStrike" sz="1300" u="none">
                    <a:solidFill>
                      <a:srgbClr val="1B1F3B"/>
                    </a:solidFill>
                    <a:latin typeface="+mn-lt"/>
                  </a:defRPr>
                </a:pPr>
              </a:p>
            </c:txPr>
            <c:showLegendKey val="0"/>
            <c:showVal val="1"/>
            <c:showCatName val="0"/>
            <c:showSerName val="0"/>
            <c:showPercent val="0"/>
            <c:showBubbleSize val="0"/>
            <c:showLeaderLines val="0"/>
          </c:dLbls>
          <c:cat>
            <c:multiLvlStrRef>
              <c:f>Sheet1!$A$2:$A$5</c:f>
              <c:multiLvlStrCache>
                <c:ptCount val="4"/>
                <c:lvl>
                  <c:pt idx="0">
                    <c:v>Procedureel</c:v>
                  </c:pt>
                  <c:pt idx="1">
                    <c:v>Functioneel</c:v>
                  </c:pt>
                  <c:pt idx="2">
                    <c:v>Comprehension</c:v>
                  </c:pt>
                  <c:pt idx="3">
                    <c:v>Objectgericht</c:v>
                  </c:pt>
                </c:lvl>
              </c:multiLvlStrCache>
            </c:multiLvlStrRef>
          </c:cat>
          <c:val>
            <c:numRef>
              <c:f>Sheet1!$B$2:$B$5</c:f>
              <c:numCache>
                <c:formatCode>General</c:formatCode>
                <c:ptCount val="4"/>
                <c:pt idx="0">
                  <c:v>6</c:v>
                </c:pt>
                <c:pt idx="1">
                  <c:v>3</c:v>
                </c:pt>
                <c:pt idx="2">
                  <c:v>1</c:v>
                </c:pt>
                <c:pt idx="3">
                  <c:v>12</c:v>
                </c:pt>
              </c:numCache>
            </c:numRef>
          </c:val>
        </c:ser>
        <c:dLbls>
          <c:numFmt formatCode="#,##0" sourceLinked="0"/>
          <c:txPr>
            <a:bodyPr/>
            <a:lstStyle/>
            <a:p>
              <a:pPr>
                <a:defRPr b="0" i="0" strike="noStrike" sz="1300" u="none">
                  <a:solidFill>
                    <a:srgbClr val="1B1F3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4A507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hoofdstuk bevat geen nieuwe Python. Het gaat over het vak waarin je terecht komt: waar het vandaan komt, waar het naartoe gaat, en vooral hoe je zelf beoordeelt of een nieuwe trend iets waard is. De twee oefeningen zijn gesprekken, geen programmeerwerk.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Drie delen: het verleden (8 periodes), het heden (paradigma's en zes trends) en het belangrijkste: een vaste reeks van zes vragen om zelf een oordeel te vormen. Officiële leerinhoud: Basis programmeren — trends in programmeren.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spanning waarin je je hele loopbaan werkt: veel verandert, en tegelijk verandert het wezenlijke niet. De vaardigheid die je nodig hebt, is onderscheiden welk van de twee je voor je hebt. Een nieuw JavaScript-framework is meestal een variatie op iets dat je al kent. Een echt nieuwe manier van werken komt hoogstens eens per tien jaar langs.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Kijk bij elke periode niet naar de naam, maar naar de laatste kolom: welk probleem loste het op? Dat is de vraag die je later ook bij nieuwe trends stelt.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Lees elke kaart van boven naar onder: de periode, wat er kwam, en schuin gedrukt het probleem dat het oploste. Merk op dat de jaren 2010 (cloud, containers, DevOps) in hoofdstuk 21 terugkomen, en de jaren 2020 verderop in dit hoofdstuk bij de zes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Gestructureerd programmeren: vóór 1968 sprongen programma's met goto van de ene regel naar de andere. Dijkstra toonde dat je met drie bouwstenen alles kunt: sequentie (na elkaar), selectie (kiezen) en iteratie (herhalen). Dat is vandaag zo vanzelfsprekend dat Python niet eens een goto heeft.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Paradigma = denkstijl. Het gaat niet over een taal, maar over hoe je een probleem in stukken hakt. Veel talen ondersteunen meerdere paradigma's tegelijk.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Procedureel: wat je het hele jaar deed, stap na stap in functies. Objectgeoriënteerd: klassen en objecten uit hoofdstuk 18. Functioneel: functies die niets veranderen buiten zichzelf, zoals de zuivere functies uit hoofdstuk 11. Declaratief: je beschrijft het gewenste resultaat (een SQL-query, een HTML-pagina) en het systeem zoekt zelf uit hoe.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capitalize() zet de eerste letter in hoofdletter. map(f, lijst) past de functie f toe op elk element. De comprehension [ … for … in … ] uit hoofdstuk 14 is een korte schrijfwijze voor de lus. Het resultaat is identiek: een paradigma verandert de manier van schrijven, niet wat er uitkomt.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Zes trends. Let bij elke trend op het probleem dat ze oplost en op de prijs die je ervoor betaalt.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overzicht vóór de details. De volgende slides behandelen elke trend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AI-gereedschap is goed in herhalend en bekend werk, maar het kent jouw situatie niet en klinkt even zeker wanneer het fout is. Hoe beter het gereedschap typt, hoe belangrijker het wordt dat jij kunt lezen en controleren wat er staat. De logica- en testhoofdstukken 22 tot en met 28 leren je precies 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type hint is een notitie bij een variabele of argument: welk soort waarde verwacht je hier? Python voert het programma gewoon uit, ook als de hint niet klopt. Maar je editor (Pylance in VS Code) en het hulpprogramma mypy lezen de hints en waarschuwen je vóór je het programma draait.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tekening leest van binnen naar buiten: jouw programma zit in een venv met zijn pakketten, en een container pakt daar nog het hele besturingssysteem omheen. Zo draait het op de computer van de klant precies zoals bij jou. Containers komen terug in hoofdstuk 21 over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Opensource betekent dat de broncode openbaar is en dat je ze onder voorwaarden (de licentie) mag gebruiken. Het voordeel is enorm, maar elk pakket dat je importeert, wordt jouw verantwoordelijkheid: als het breekt of een beveiligingslek heeft, heeft jouw programma dat 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Low-code: slepen en klikken in plaats van typen. Handig voor eenvoudige toepassingen, maar het denkwerk (wat moet er gebeuren, en klopt het?) blijft. Kwaliteit vooraf: de balken tonen hoe de kost van een fout stijgt naarmate ze later ontdekt wordt. Een linter vindt ze in seconden; een klant die een fout vindt, kost dagen werk en een stuk vertrouwen. In hoofdstuk 1 zette je al een linter en een formatter 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Trends komen en gaan. De zes vragen blijven bruikbaar, ook voor trends die vandaag nog niet bestaan.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Gebruik deze zes vragen letterlijk als checklist. Vraag 5 staat in een andere kleur omdat ze het belangrijkst is en het minst gesteld wordt: als je er na twee jaar vanaf wilt, wat kost dat dan? Een gratis pakket waar je nooit meer van loskomt, is niet gratis.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indrukwekkende demonstratie toont dat iets één keer werkte, in ideale omstandigheden. Dat zegt weinig over hoe het werkt in jouw project, met jouw gegevens, over drie jaar. Hoe meer en hoe gevarieerder de waarnemingen, hoe sterker je besluit.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Werk in duo's of klassikaal. Het doel is niet het 'juiste' antwoord, maar een standpunt dat je kunt verantwoorden met de zes vragen. Op de volgende slides staat een uitgewerkt voorbeeld.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 ziet een volledig antwoord eruit. Merk op dat het standpunt de uitspraak niet zomaar verwerpt: het erkent wat klopt (typen wordt minder werk) en zegt precies wat niet verandert.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 drie de uitgewerkte antwoorden in de bundel beginnen met 'het hangt ervan af' en noemen daarna de voorwaarde. Bij 'Python is te traag' hoort nog een les: een slimmere aanpak wint meer dan een snellere taal.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Elk boek is een tuple (titel, bladzijden). Verwachte uitkomst: ['DE ONTDEKKING VAN DE HEMEL', 'HET DINER', 'MAX HAVELAAR']. Turks fruit (175), De aanslag (246) en Bint (96) vallen af omdat ze niet méér dan 250 bladzijden hebben.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kern van elke stijl. De volledige uitwerking staat in de bundel en in de codemap van dit hoofdstuk. filter houdt alleen de elementen over waarvoor de lambda True geeft; map past de lambda toe op elk element; sorted sorteert. b[1] is het tweede element van de tuple: het aantal bladzijden. De klasse Catalogus bewaart de boeken en heeft methodes om ze te bevragen.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grafiek telt de regels van de kern van elke oplossing. De comprehension is het kortst, de klasse het langst. Maar lengte is niet het enige criterium: leesbaarheid en uitbreidbaarheid tellen ook, zie de volgende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Waarom de functionele versie hier verliest: lambda b: b[1] &gt; grens is korter dan de lus, maar b[1] zegt niet dat het om bladzijden gaat. In een taal die voor functioneel programmeren gemaakt is, heb je betere middelen. In Python is de comprehension de leesbaardere vertaling van hetzelfde idee.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Overloop de lijst. Wie een punt niet kan, gaat terug naar de bijhorende slide: geschiedenis (tijdlijn), paradigma's, de zes trends, de zes vragen, of oefening 20.2.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Schrijf je drie standpunten uit oefening 20.1 in het bestand ontwerp/trends.md in je repository en zet ze op GitHub met deze drie commando's. Volgend hoofdstuk: DevOps, en waar Git daarin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p:bg>
      <p:bgPr>
        <a:solidFill>
          <a:srgbClr val="1B1F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611880"/>
            <a:ext cx="10698480" cy="109728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e">
    <p:bg>
      <p:bgPr>
        <a:solidFill>
          <a:srgbClr val="1B1F3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3657600" cy="1463040"/>
          </a:xfrm>
          <a:prstGeom prst="rect">
            <a:avLst/>
          </a:prstGeom>
          <a:noFill/>
          <a:ln/>
        </p:spPr>
        <p:txBody>
          <a:bodyPr wrap="square" rtlCol="0"/>
          <a:lstStyle>
            <a:lvl1pPr indent="0" marL="0">
              <a:buNone/>
              <a:defRPr lang="en-US" sz="9600" b="1" dirty="0">
                <a:solidFill>
                  <a:schemeClr val="accent1"/>
                </a:solidFill>
                <a:latin typeface="Cambria" pitchFamily="34" charset="0"/>
                <a:ea typeface="Cambria" pitchFamily="34" charset="-122"/>
                <a:cs typeface="Cambria" pitchFamily="34" charset="-120"/>
              </a:defRPr>
            </a:lvl1pPr>
          </a:lstStyle>
          <a:p>
            <a:pPr indent="0" marL="0">
              <a:buNone/>
            </a:pPr>
            <a:endParaRPr lang="en-US" sz="9600" dirty="0"/>
          </a:p>
        </p:txBody>
      </p:sp>
      <p:sp>
        <p:nvSpPr>
          <p:cNvPr id="3" name="Text 0"/>
          <p:cNvSpPr/>
          <p:nvPr>
            <p:ph idx="101" type="title" hasCustomPrompt="1"/>
          </p:nvPr>
        </p:nvSpPr>
        <p:spPr>
          <a:xfrm>
            <a:off x="731520" y="3017520"/>
            <a:ext cx="1069848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206240"/>
            <a:ext cx="9601200" cy="10972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oud">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tx2"/>
                </a:solidFill>
              </a:rPr>
              <a:t>Python basis  ·  Hoofdstuk 20  ·  Trends in programmeren</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4.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4.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lIns="0" tIns="0" rIns="0" bIns="0" rtlCol="0" anchor="b"/>
          <a:lstStyle/>
          <a:p>
            <a:pPr algn="l" indent="0" marL="0">
              <a:buNone/>
            </a:pPr>
            <a:r>
              <a:rPr lang="en-US" sz="5400" b="1" dirty="0">
                <a:solidFill>
                  <a:schemeClr val="bg1"/>
                </a:solidFill>
              </a:rPr>
              <a:t>Trends in programmeren</a:t>
            </a:r>
            <a:endParaRPr lang="en-US" sz="5400" dirty="0"/>
          </a:p>
        </p:txBody>
      </p:sp>
      <p:sp>
        <p:nvSpPr>
          <p:cNvPr id="3" name="Text 0"/>
          <p:cNvSpPr/>
          <p:nvPr>
            <p:ph idx="101" type="body" hasCustomPrompt="1"/>
          </p:nvPr>
        </p:nvSpPr>
        <p:spPr>
          <a:xfrm>
            <a:off x="731520" y="3611880"/>
            <a:ext cx="10698480" cy="1097280"/>
          </a:xfrm>
          <a:prstGeom prst="rect">
            <a:avLst/>
          </a:prstGeom>
          <a:noFill/>
          <a:ln/>
        </p:spPr>
        <p:txBody>
          <a:bodyPr wrap="square" lIns="0" tIns="0" rIns="0" bIns="0" rtlCol="0" anchor="t"/>
          <a:lstStyle/>
          <a:p>
            <a:pPr algn="l" indent="0" marL="0">
              <a:buNone/>
            </a:pPr>
            <a:r>
              <a:rPr lang="en-US" sz="2200" dirty="0">
                <a:solidFill>
                  <a:schemeClr val="accent1"/>
                </a:solidFill>
              </a:rPr>
              <a:t>Wat verandert, wat blijft — en hoe je het verschil ziet</a:t>
            </a:r>
            <a:endParaRPr lang="en-US" sz="2200" dirty="0"/>
          </a:p>
        </p:txBody>
      </p:sp>
      <p:sp>
        <p:nvSpPr>
          <p:cNvPr id="4" name="Text 2"/>
          <p:cNvSpPr txBox="1"/>
          <p:nvPr/>
        </p:nvSpPr>
        <p:spPr>
          <a:xfrm>
            <a:off x="731520" y="1463040"/>
            <a:ext cx="7315200" cy="365760"/>
          </a:xfrm>
          <a:prstGeom prst="rect">
            <a:avLst/>
          </a:prstGeom>
          <a:noFill/>
          <a:ln/>
        </p:spPr>
        <p:txBody>
          <a:bodyPr wrap="square" lIns="0" tIns="0" rIns="0" bIns="0" rtlCol="0" anchor="t"/>
          <a:lstStyle/>
          <a:p>
            <a:pPr indent="0" marL="0">
              <a:buNone/>
            </a:pPr>
            <a:r>
              <a:rPr lang="en-US" sz="1600" b="1" spc="300" kern="0" dirty="0">
                <a:solidFill>
                  <a:schemeClr val="bg2"/>
                </a:solidFill>
              </a:rPr>
              <a:t>HOOFDSTUK 20  ·  PYTHON BASIS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Wat je in dit hoofdstuk leert</a:t>
            </a:r>
            <a:endParaRPr lang="en-US" sz="3400" dirty="0"/>
          </a:p>
        </p:txBody>
      </p:sp>
      <p:sp>
        <p:nvSpPr>
          <p:cNvPr id="3" name="kaart"/>
          <p:cNvSpPr/>
          <p:nvPr/>
        </p:nvSpPr>
        <p:spPr>
          <a:xfrm>
            <a:off x="548640" y="1508760"/>
            <a:ext cx="347472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icooncirkel"/>
          <p:cNvSpPr/>
          <p:nvPr/>
        </p:nvSpPr>
        <p:spPr>
          <a:xfrm>
            <a:off x="868680" y="1783080"/>
            <a:ext cx="822960" cy="822960"/>
          </a:xfrm>
          <a:prstGeom prst="ellipse">
            <a:avLst/>
          </a:prstGeom>
          <a:solidFill>
            <a:schemeClr val="accent1"/>
          </a:solidFill>
          <a:ln w="12700">
            <a:solidFill>
              <a:schemeClr val="accent1"/>
            </a:solidFill>
            <a:prstDash val="solid"/>
          </a:ln>
        </p:spPr>
      </p:sp>
      <p:pic>
        <p:nvPicPr>
          <p:cNvPr id="5" name="icoon" descr="preencoded.png">    </p:cNvPr>
          <p:cNvPicPr>
            <a:picLocks noChangeAspect="1"/>
          </p:cNvPicPr>
          <p:nvPr/>
        </p:nvPicPr>
        <p:blipFill>
          <a:blip r:embed="rId1"/>
          <a:stretch>
            <a:fillRect/>
          </a:stretch>
        </p:blipFill>
        <p:spPr>
          <a:xfrm>
            <a:off x="1074420" y="1988820"/>
            <a:ext cx="411480" cy="411480"/>
          </a:xfrm>
          <a:prstGeom prst="rect">
            <a:avLst/>
          </a:prstGeom>
        </p:spPr>
      </p:pic>
      <p:sp>
        <p:nvSpPr>
          <p:cNvPr id="6" name="Text 3"/>
          <p:cNvSpPr txBox="1"/>
          <p:nvPr/>
        </p:nvSpPr>
        <p:spPr>
          <a:xfrm>
            <a:off x="868680" y="2834640"/>
            <a:ext cx="2834640" cy="73152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Waar het vak vandaan komt</a:t>
            </a:r>
            <a:endParaRPr lang="en-US" sz="2000" dirty="0"/>
          </a:p>
        </p:txBody>
      </p:sp>
      <p:sp>
        <p:nvSpPr>
          <p:cNvPr id="7" name="Text 4"/>
          <p:cNvSpPr txBox="1"/>
          <p:nvPr/>
        </p:nvSpPr>
        <p:spPr>
          <a:xfrm>
            <a:off x="868680" y="3611880"/>
            <a:ext cx="2834640" cy="1097280"/>
          </a:xfrm>
          <a:prstGeom prst="rect">
            <a:avLst/>
          </a:prstGeom>
          <a:noFill/>
          <a:ln/>
        </p:spPr>
        <p:txBody>
          <a:bodyPr wrap="square" lIns="0" tIns="0" rIns="0" bIns="0" rtlCol="0" anchor="t"/>
          <a:lstStyle/>
          <a:p>
            <a:pPr indent="0" marL="0">
              <a:buNone/>
            </a:pPr>
            <a:r>
              <a:rPr lang="en-US" sz="1500" dirty="0">
                <a:solidFill>
                  <a:schemeClr val="tx2"/>
                </a:solidFill>
              </a:rPr>
              <a:t>Van machinetaal in de jaren veertig tot AI-assistentie vandaag, in acht stappen.</a:t>
            </a:r>
            <a:endParaRPr lang="en-US" sz="1500" dirty="0"/>
          </a:p>
        </p:txBody>
      </p:sp>
      <p:sp>
        <p:nvSpPr>
          <p:cNvPr id="8" name="kaart"/>
          <p:cNvSpPr/>
          <p:nvPr/>
        </p:nvSpPr>
        <p:spPr>
          <a:xfrm>
            <a:off x="4297680" y="1508760"/>
            <a:ext cx="347472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9" name="icooncirkel"/>
          <p:cNvSpPr/>
          <p:nvPr/>
        </p:nvSpPr>
        <p:spPr>
          <a:xfrm>
            <a:off x="4617720" y="1783080"/>
            <a:ext cx="822960" cy="822960"/>
          </a:xfrm>
          <a:prstGeom prst="ellipse">
            <a:avLst/>
          </a:prstGeom>
          <a:solidFill>
            <a:schemeClr val="accent2"/>
          </a:solidFill>
          <a:ln w="12700">
            <a:solidFill>
              <a:schemeClr val="accent2"/>
            </a:solidFill>
            <a:prstDash val="solid"/>
          </a:ln>
        </p:spPr>
      </p:sp>
      <p:pic>
        <p:nvPicPr>
          <p:cNvPr id="10" name="icoon" descr="preencoded.png">    </p:cNvPr>
          <p:cNvPicPr>
            <a:picLocks noChangeAspect="1"/>
          </p:cNvPicPr>
          <p:nvPr/>
        </p:nvPicPr>
        <p:blipFill>
          <a:blip r:embed="rId2"/>
          <a:stretch>
            <a:fillRect/>
          </a:stretch>
        </p:blipFill>
        <p:spPr>
          <a:xfrm>
            <a:off x="4823460" y="1988820"/>
            <a:ext cx="411480" cy="411480"/>
          </a:xfrm>
          <a:prstGeom prst="rect">
            <a:avLst/>
          </a:prstGeom>
        </p:spPr>
      </p:pic>
      <p:sp>
        <p:nvSpPr>
          <p:cNvPr id="11" name="Text 7"/>
          <p:cNvSpPr txBox="1"/>
          <p:nvPr/>
        </p:nvSpPr>
        <p:spPr>
          <a:xfrm>
            <a:off x="4617720" y="2834640"/>
            <a:ext cx="2834640" cy="73152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Vier manieren van denken</a:t>
            </a:r>
            <a:endParaRPr lang="en-US" sz="2000" dirty="0"/>
          </a:p>
        </p:txBody>
      </p:sp>
      <p:sp>
        <p:nvSpPr>
          <p:cNvPr id="12" name="Text 8"/>
          <p:cNvSpPr txBox="1"/>
          <p:nvPr/>
        </p:nvSpPr>
        <p:spPr>
          <a:xfrm>
            <a:off x="4617720" y="3611880"/>
            <a:ext cx="2834640" cy="1097280"/>
          </a:xfrm>
          <a:prstGeom prst="rect">
            <a:avLst/>
          </a:prstGeom>
          <a:noFill/>
          <a:ln/>
        </p:spPr>
        <p:txBody>
          <a:bodyPr wrap="square" lIns="0" tIns="0" rIns="0" bIns="0" rtlCol="0" anchor="t"/>
          <a:lstStyle/>
          <a:p>
            <a:pPr indent="0" marL="0">
              <a:buNone/>
            </a:pPr>
            <a:r>
              <a:rPr lang="en-US" sz="1500" dirty="0">
                <a:solidFill>
                  <a:schemeClr val="tx2"/>
                </a:solidFill>
              </a:rPr>
              <a:t>Procedureel, objectgeoriënteerd, functioneel en declaratief: de paradigma's.</a:t>
            </a:r>
            <a:endParaRPr lang="en-US" sz="1500" dirty="0"/>
          </a:p>
        </p:txBody>
      </p:sp>
      <p:sp>
        <p:nvSpPr>
          <p:cNvPr id="13" name="kaart"/>
          <p:cNvSpPr/>
          <p:nvPr/>
        </p:nvSpPr>
        <p:spPr>
          <a:xfrm>
            <a:off x="8046720" y="1508760"/>
            <a:ext cx="3474720" cy="3291840"/>
          </a:xfrm>
          <a:prstGeom prst="roundRect">
            <a:avLst>
              <a:gd name="adj" fmla="val 3333"/>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4" name="icooncirkel"/>
          <p:cNvSpPr/>
          <p:nvPr/>
        </p:nvSpPr>
        <p:spPr>
          <a:xfrm>
            <a:off x="8366760" y="1783080"/>
            <a:ext cx="822960" cy="822960"/>
          </a:xfrm>
          <a:prstGeom prst="ellipse">
            <a:avLst/>
          </a:prstGeom>
          <a:solidFill>
            <a:schemeClr val="accent3"/>
          </a:solidFill>
          <a:ln w="12700">
            <a:solidFill>
              <a:schemeClr val="accent3"/>
            </a:solidFill>
            <a:prstDash val="solid"/>
          </a:ln>
        </p:spPr>
      </p:sp>
      <p:pic>
        <p:nvPicPr>
          <p:cNvPr id="15" name="icoon" descr="preencoded.png">    </p:cNvPr>
          <p:cNvPicPr>
            <a:picLocks noChangeAspect="1"/>
          </p:cNvPicPr>
          <p:nvPr/>
        </p:nvPicPr>
        <p:blipFill>
          <a:blip r:embed="rId3"/>
          <a:stretch>
            <a:fillRect/>
          </a:stretch>
        </p:blipFill>
        <p:spPr>
          <a:xfrm>
            <a:off x="8572500" y="1988820"/>
            <a:ext cx="411480" cy="411480"/>
          </a:xfrm>
          <a:prstGeom prst="rect">
            <a:avLst/>
          </a:prstGeom>
        </p:spPr>
      </p:pic>
      <p:sp>
        <p:nvSpPr>
          <p:cNvPr id="16" name="Text 11"/>
          <p:cNvSpPr txBox="1"/>
          <p:nvPr/>
        </p:nvSpPr>
        <p:spPr>
          <a:xfrm>
            <a:off x="8366760" y="2834640"/>
            <a:ext cx="2834640" cy="73152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Zelf een trend beoordelen</a:t>
            </a:r>
            <a:endParaRPr lang="en-US" sz="2000" dirty="0"/>
          </a:p>
        </p:txBody>
      </p:sp>
      <p:sp>
        <p:nvSpPr>
          <p:cNvPr id="17" name="Text 12"/>
          <p:cNvSpPr txBox="1"/>
          <p:nvPr/>
        </p:nvSpPr>
        <p:spPr>
          <a:xfrm>
            <a:off x="8366760" y="3611880"/>
            <a:ext cx="2834640" cy="1097280"/>
          </a:xfrm>
          <a:prstGeom prst="rect">
            <a:avLst/>
          </a:prstGeom>
          <a:noFill/>
          <a:ln/>
        </p:spPr>
        <p:txBody>
          <a:bodyPr wrap="square" lIns="0" tIns="0" rIns="0" bIns="0" rtlCol="0" anchor="t"/>
          <a:lstStyle/>
          <a:p>
            <a:pPr indent="0" marL="0">
              <a:buNone/>
            </a:pPr>
            <a:r>
              <a:rPr lang="en-US" sz="1500" dirty="0">
                <a:solidFill>
                  <a:schemeClr val="tx2"/>
                </a:solidFill>
              </a:rPr>
              <a:t>Zes vragen die je stelt wanneer iemand zegt dat iets ‘de toekomst’ is.</a:t>
            </a:r>
            <a:endParaRPr lang="en-US" sz="1500" dirty="0"/>
          </a:p>
        </p:txBody>
      </p:sp>
      <p:sp>
        <p:nvSpPr>
          <p:cNvPr id="18" name="kaart"/>
          <p:cNvSpPr/>
          <p:nvPr/>
        </p:nvSpPr>
        <p:spPr>
          <a:xfrm>
            <a:off x="548640" y="5120640"/>
            <a:ext cx="11064240" cy="868680"/>
          </a:xfrm>
          <a:prstGeom prst="roundRect">
            <a:avLst>
              <a:gd name="adj" fmla="val 12632"/>
            </a:avLst>
          </a:prstGeom>
          <a:solidFill>
            <a:schemeClr val="tx1"/>
          </a:solidFill>
          <a:ln w="12700">
            <a:solidFill>
              <a:schemeClr val="tx1"/>
            </a:solidFill>
            <a:prstDash val="solid"/>
          </a:ln>
        </p:spPr>
      </p:sp>
      <p:sp>
        <p:nvSpPr>
          <p:cNvPr id="19" name="Text 14"/>
          <p:cNvSpPr txBox="1"/>
          <p:nvPr/>
        </p:nvSpPr>
        <p:spPr>
          <a:xfrm>
            <a:off x="868680" y="5120640"/>
            <a:ext cx="10515600" cy="868680"/>
          </a:xfrm>
          <a:prstGeom prst="rect">
            <a:avLst/>
          </a:prstGeom>
          <a:noFill/>
          <a:ln/>
        </p:spPr>
        <p:txBody>
          <a:bodyPr wrap="square" lIns="0" tIns="0" rIns="0" bIns="0" rtlCol="0" anchor="ctr"/>
          <a:lstStyle/>
          <a:p>
            <a:pPr indent="0" marL="0">
              <a:buNone/>
            </a:pPr>
            <a:r>
              <a:rPr lang="en-US" sz="1800" b="1" dirty="0">
                <a:solidFill>
                  <a:schemeClr val="accent1"/>
                </a:solidFill>
              </a:rPr>
              <a:t>Geen nieuwe Python.  </a:t>
            </a:r>
            <a:pPr indent="0" marL="0">
              <a:buNone/>
            </a:pPr>
            <a:r>
              <a:rPr lang="en-US" sz="1800" dirty="0">
                <a:solidFill>
                  <a:schemeClr val="bg1"/>
                </a:solidFill>
              </a:rPr>
              <a:t>Wat je oplevert zijn twee onderbouwde standpunten, geen samenvatting.</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Veel verandert, het wezenlijke niet</a:t>
            </a:r>
            <a:endParaRPr lang="en-US" sz="3400" dirty="0"/>
          </a:p>
        </p:txBody>
      </p:sp>
      <p:sp>
        <p:nvSpPr>
          <p:cNvPr id="3" name="kaart"/>
          <p:cNvSpPr/>
          <p:nvPr/>
        </p:nvSpPr>
        <p:spPr>
          <a:xfrm>
            <a:off x="548640" y="1463040"/>
            <a:ext cx="5349240" cy="2514600"/>
          </a:xfrm>
          <a:prstGeom prst="roundRect">
            <a:avLst>
              <a:gd name="adj" fmla="val 4364"/>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icooncirkel"/>
          <p:cNvSpPr/>
          <p:nvPr/>
        </p:nvSpPr>
        <p:spPr>
          <a:xfrm>
            <a:off x="868680" y="1737360"/>
            <a:ext cx="731520" cy="731520"/>
          </a:xfrm>
          <a:prstGeom prst="ellipse">
            <a:avLst/>
          </a:prstGeom>
          <a:solidFill>
            <a:schemeClr val="tx2"/>
          </a:solidFill>
          <a:ln w="12700">
            <a:solidFill>
              <a:schemeClr val="tx2"/>
            </a:solidFill>
            <a:prstDash val="solid"/>
          </a:ln>
        </p:spPr>
      </p:sp>
      <p:pic>
        <p:nvPicPr>
          <p:cNvPr id="5" name="icoon" descr="preencoded.png">    </p:cNvPr>
          <p:cNvPicPr>
            <a:picLocks noChangeAspect="1"/>
          </p:cNvPicPr>
          <p:nvPr/>
        </p:nvPicPr>
        <p:blipFill>
          <a:blip r:embed="rId1"/>
          <a:stretch>
            <a:fillRect/>
          </a:stretch>
        </p:blipFill>
        <p:spPr>
          <a:xfrm>
            <a:off x="1051560" y="1920240"/>
            <a:ext cx="365760" cy="365760"/>
          </a:xfrm>
          <a:prstGeom prst="rect">
            <a:avLst/>
          </a:prstGeom>
        </p:spPr>
      </p:pic>
      <p:sp>
        <p:nvSpPr>
          <p:cNvPr id="6" name="Text 3"/>
          <p:cNvSpPr txBox="1"/>
          <p:nvPr/>
        </p:nvSpPr>
        <p:spPr>
          <a:xfrm>
            <a:off x="1783080" y="1828800"/>
            <a:ext cx="3840480"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De timmerman</a:t>
            </a:r>
            <a:endParaRPr lang="en-US" sz="2200" dirty="0"/>
          </a:p>
        </p:txBody>
      </p:sp>
      <p:sp>
        <p:nvSpPr>
          <p:cNvPr id="7" name="Text 4"/>
          <p:cNvSpPr txBox="1"/>
          <p:nvPr/>
        </p:nvSpPr>
        <p:spPr>
          <a:xfrm>
            <a:off x="868680" y="2697480"/>
            <a:ext cx="4754880" cy="1097280"/>
          </a:xfrm>
          <a:prstGeom prst="rect">
            <a:avLst/>
          </a:prstGeom>
          <a:noFill/>
          <a:ln/>
        </p:spPr>
        <p:txBody>
          <a:bodyPr wrap="square" lIns="0" tIns="0" rIns="0" bIns="0" rtlCol="0" anchor="t"/>
          <a:lstStyle/>
          <a:p>
            <a:pPr indent="0" marL="0">
              <a:buNone/>
            </a:pPr>
            <a:r>
              <a:rPr lang="en-US" sz="1800" dirty="0">
                <a:solidFill>
                  <a:schemeClr val="tx2"/>
                </a:solidFill>
              </a:rPr>
              <a:t>Leerde dertig jaar geleden timmeren en kan het vandaag nog.</a:t>
            </a:r>
            <a:endParaRPr lang="en-US" sz="1800" dirty="0"/>
          </a:p>
        </p:txBody>
      </p:sp>
      <p:sp>
        <p:nvSpPr>
          <p:cNvPr id="8" name="kaart"/>
          <p:cNvSpPr/>
          <p:nvPr/>
        </p:nvSpPr>
        <p:spPr>
          <a:xfrm>
            <a:off x="6263640" y="1463040"/>
            <a:ext cx="5349240" cy="2514600"/>
          </a:xfrm>
          <a:prstGeom prst="roundRect">
            <a:avLst>
              <a:gd name="adj" fmla="val 4364"/>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9" name="icooncirkel"/>
          <p:cNvSpPr/>
          <p:nvPr/>
        </p:nvSpPr>
        <p:spPr>
          <a:xfrm>
            <a:off x="6583680" y="1737360"/>
            <a:ext cx="731520" cy="731520"/>
          </a:xfrm>
          <a:prstGeom prst="ellipse">
            <a:avLst/>
          </a:prstGeom>
          <a:solidFill>
            <a:schemeClr val="accent3"/>
          </a:solidFill>
          <a:ln w="12700">
            <a:solidFill>
              <a:schemeClr val="accent3"/>
            </a:solidFill>
            <a:prstDash val="solid"/>
          </a:ln>
        </p:spPr>
      </p:sp>
      <p:pic>
        <p:nvPicPr>
          <p:cNvPr id="10" name="icoon" descr="preencoded.png">    </p:cNvPr>
          <p:cNvPicPr>
            <a:picLocks noChangeAspect="1"/>
          </p:cNvPicPr>
          <p:nvPr/>
        </p:nvPicPr>
        <p:blipFill>
          <a:blip r:embed="rId2"/>
          <a:stretch>
            <a:fillRect/>
          </a:stretch>
        </p:blipFill>
        <p:spPr>
          <a:xfrm>
            <a:off x="6766560" y="1920240"/>
            <a:ext cx="365760" cy="365760"/>
          </a:xfrm>
          <a:prstGeom prst="rect">
            <a:avLst/>
          </a:prstGeom>
        </p:spPr>
      </p:pic>
      <p:sp>
        <p:nvSpPr>
          <p:cNvPr id="11" name="Text 7"/>
          <p:cNvSpPr txBox="1"/>
          <p:nvPr/>
        </p:nvSpPr>
        <p:spPr>
          <a:xfrm>
            <a:off x="7498080" y="1828800"/>
            <a:ext cx="3840480"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De programmeur</a:t>
            </a:r>
            <a:endParaRPr lang="en-US" sz="2200" dirty="0"/>
          </a:p>
        </p:txBody>
      </p:sp>
      <p:sp>
        <p:nvSpPr>
          <p:cNvPr id="12" name="Text 8"/>
          <p:cNvSpPr txBox="1"/>
          <p:nvPr/>
        </p:nvSpPr>
        <p:spPr>
          <a:xfrm>
            <a:off x="6583680" y="2697480"/>
            <a:ext cx="4754880" cy="1097280"/>
          </a:xfrm>
          <a:prstGeom prst="rect">
            <a:avLst/>
          </a:prstGeom>
          <a:noFill/>
          <a:ln/>
        </p:spPr>
        <p:txBody>
          <a:bodyPr wrap="square" lIns="0" tIns="0" rIns="0" bIns="0" rtlCol="0" anchor="t"/>
          <a:lstStyle/>
          <a:p>
            <a:pPr indent="0" marL="0">
              <a:buNone/>
            </a:pPr>
            <a:r>
              <a:rPr lang="en-US" sz="1800" dirty="0">
                <a:solidFill>
                  <a:schemeClr val="tx2"/>
                </a:solidFill>
              </a:rPr>
              <a:t>Leerde dertig jaar geleden programmeren en leerde sindsdien niets bij. Die is werkloos.</a:t>
            </a:r>
            <a:endParaRPr lang="en-US" sz="1800" dirty="0"/>
          </a:p>
        </p:txBody>
      </p:sp>
      <p:sp>
        <p:nvSpPr>
          <p:cNvPr id="13" name="kaart"/>
          <p:cNvSpPr/>
          <p:nvPr/>
        </p:nvSpPr>
        <p:spPr>
          <a:xfrm>
            <a:off x="548640" y="4343400"/>
            <a:ext cx="11064240" cy="1600200"/>
          </a:xfrm>
          <a:prstGeom prst="roundRect">
            <a:avLst>
              <a:gd name="adj" fmla="val 6857"/>
            </a:avLst>
          </a:prstGeom>
          <a:solidFill>
            <a:schemeClr val="bg2"/>
          </a:solidFill>
          <a:ln w="12700">
            <a:solidFill>
              <a:schemeClr val="bg2"/>
            </a:solidFill>
            <a:prstDash val="solid"/>
          </a:ln>
        </p:spPr>
      </p:sp>
      <p:sp>
        <p:nvSpPr>
          <p:cNvPr id="14" name="icooncirkel"/>
          <p:cNvSpPr/>
          <p:nvPr/>
        </p:nvSpPr>
        <p:spPr>
          <a:xfrm>
            <a:off x="868680" y="4800600"/>
            <a:ext cx="685800" cy="685800"/>
          </a:xfrm>
          <a:prstGeom prst="ellipse">
            <a:avLst/>
          </a:prstGeom>
          <a:solidFill>
            <a:schemeClr val="accent2"/>
          </a:solidFill>
          <a:ln w="12700">
            <a:solidFill>
              <a:schemeClr val="accent2"/>
            </a:solidFill>
            <a:prstDash val="solid"/>
          </a:ln>
        </p:spPr>
      </p:sp>
      <p:pic>
        <p:nvPicPr>
          <p:cNvPr id="15" name="icoon" descr="preencoded.png">    </p:cNvPr>
          <p:cNvPicPr>
            <a:picLocks noChangeAspect="1"/>
          </p:cNvPicPr>
          <p:nvPr/>
        </p:nvPicPr>
        <p:blipFill>
          <a:blip r:embed="rId3"/>
          <a:stretch>
            <a:fillRect/>
          </a:stretch>
        </p:blipFill>
        <p:spPr>
          <a:xfrm>
            <a:off x="1040130" y="4972050"/>
            <a:ext cx="342900" cy="342900"/>
          </a:xfrm>
          <a:prstGeom prst="rect">
            <a:avLst/>
          </a:prstGeom>
        </p:spPr>
      </p:pic>
      <p:sp>
        <p:nvSpPr>
          <p:cNvPr id="16" name="Text 11"/>
          <p:cNvSpPr txBox="1"/>
          <p:nvPr/>
        </p:nvSpPr>
        <p:spPr>
          <a:xfrm>
            <a:off x="1783080" y="4526280"/>
            <a:ext cx="9601200" cy="1234440"/>
          </a:xfrm>
          <a:prstGeom prst="rect">
            <a:avLst/>
          </a:prstGeom>
          <a:noFill/>
          <a:ln/>
        </p:spPr>
        <p:txBody>
          <a:bodyPr wrap="square" lIns="0" tIns="0" rIns="0" bIns="0" rtlCol="0" anchor="ctr"/>
          <a:lstStyle/>
          <a:p>
            <a:pPr indent="0" marL="0">
              <a:buNone/>
            </a:pPr>
            <a:r>
              <a:rPr lang="en-US" sz="1800" b="1" dirty="0">
                <a:solidFill>
                  <a:schemeClr val="tx1"/>
                </a:solidFill>
              </a:rPr>
              <a:t>En toch: </a:t>
            </a:r>
            <a:pPr indent="0" marL="0">
              <a:buNone/>
            </a:pPr>
            <a:r>
              <a:rPr lang="en-US" sz="1800" dirty="0">
                <a:solidFill>
                  <a:schemeClr val="tx1"/>
                </a:solidFill>
              </a:rPr>
              <a:t>sequentie, selectie en iteratie uit hoofdstuk 3 bestaan sinds de jaren zestig. Een lus is een lus. Een if is een if. Deze cursus leert je bewust de dingen die niet veranderen.</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Waar het vak vandaan komt</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20.2</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Tachtig jaar programmeren in acht stappen. Elke stap loste een probleem op dat de vorige liet liggen.</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Tachtig jaar in acht stappen</a:t>
            </a:r>
            <a:endParaRPr lang="en-US" sz="3400" dirty="0"/>
          </a:p>
        </p:txBody>
      </p:sp>
      <p:sp>
        <p:nvSpPr>
          <p:cNvPr id="3" name="tijdlijn"/>
          <p:cNvSpPr/>
          <p:nvPr/>
        </p:nvSpPr>
        <p:spPr>
          <a:xfrm>
            <a:off x="822960" y="1600200"/>
            <a:ext cx="10515600" cy="0"/>
          </a:xfrm>
          <a:prstGeom prst="line">
            <a:avLst/>
          </a:prstGeom>
          <a:noFill/>
          <a:ln w="38100">
            <a:solidFill>
              <a:schemeClr val="bg2"/>
            </a:solidFill>
            <a:prstDash val="solid"/>
          </a:ln>
        </p:spPr>
      </p:sp>
      <p:sp>
        <p:nvSpPr>
          <p:cNvPr id="4" name="tijdpunt"/>
          <p:cNvSpPr/>
          <p:nvPr/>
        </p:nvSpPr>
        <p:spPr>
          <a:xfrm>
            <a:off x="594360" y="1417320"/>
            <a:ext cx="365760" cy="365760"/>
          </a:xfrm>
          <a:prstGeom prst="ellipse">
            <a:avLst/>
          </a:prstGeom>
          <a:solidFill>
            <a:schemeClr val="accent1"/>
          </a:solidFill>
          <a:ln w="25400">
            <a:solidFill>
              <a:schemeClr val="bg1"/>
            </a:solidFill>
            <a:prstDash val="solid"/>
          </a:ln>
        </p:spPr>
      </p:sp>
      <p:sp>
        <p:nvSpPr>
          <p:cNvPr id="5" name="Text 3"/>
          <p:cNvSpPr txBox="1"/>
          <p:nvPr/>
        </p:nvSpPr>
        <p:spPr>
          <a:xfrm>
            <a:off x="1097280" y="1435608"/>
            <a:ext cx="2103120" cy="329184"/>
          </a:xfrm>
          <a:prstGeom prst="rect">
            <a:avLst/>
          </a:prstGeom>
          <a:noFill/>
          <a:ln/>
        </p:spPr>
        <p:txBody>
          <a:bodyPr wrap="square" lIns="0" tIns="0" rIns="0" bIns="0" rtlCol="0" anchor="ctr"/>
          <a:lstStyle/>
          <a:p>
            <a:pPr indent="0" marL="0">
              <a:buNone/>
            </a:pPr>
            <a:r>
              <a:rPr lang="en-US" sz="1500" b="1" dirty="0">
                <a:solidFill>
                  <a:schemeClr val="accent3"/>
                </a:solidFill>
              </a:rPr>
              <a:t>Jaren 40–50</a:t>
            </a:r>
            <a:endParaRPr lang="en-US" sz="1500" dirty="0"/>
          </a:p>
        </p:txBody>
      </p:sp>
      <p:sp>
        <p:nvSpPr>
          <p:cNvPr id="6" name="kaart"/>
          <p:cNvSpPr/>
          <p:nvPr/>
        </p:nvSpPr>
        <p:spPr>
          <a:xfrm>
            <a:off x="548640" y="196596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7" name="Text 5"/>
          <p:cNvSpPr txBox="1"/>
          <p:nvPr/>
        </p:nvSpPr>
        <p:spPr>
          <a:xfrm>
            <a:off x="731520" y="2103120"/>
            <a:ext cx="2240280" cy="777240"/>
          </a:xfrm>
          <a:prstGeom prst="rect">
            <a:avLst/>
          </a:prstGeom>
          <a:noFill/>
          <a:ln/>
        </p:spPr>
        <p:txBody>
          <a:bodyPr wrap="square" lIns="0" tIns="0" rIns="0" bIns="0" rtlCol="0" anchor="t"/>
          <a:lstStyle/>
          <a:p>
            <a:pPr indent="0" marL="0">
              <a:buNone/>
            </a:pPr>
            <a:r>
              <a:rPr lang="en-US" sz="1500" b="1" dirty="0">
                <a:solidFill>
                  <a:schemeClr val="tx1"/>
                </a:solidFill>
              </a:rPr>
              <a:t>Machinetaal, assembler</a:t>
            </a:r>
            <a:endParaRPr lang="en-US" sz="1500" dirty="0"/>
          </a:p>
        </p:txBody>
      </p:sp>
      <p:sp>
        <p:nvSpPr>
          <p:cNvPr id="8" name="Text 6"/>
          <p:cNvSpPr txBox="1"/>
          <p:nvPr/>
        </p:nvSpPr>
        <p:spPr>
          <a:xfrm>
            <a:off x="731520" y="2880360"/>
            <a:ext cx="2240280" cy="731520"/>
          </a:xfrm>
          <a:prstGeom prst="rect">
            <a:avLst/>
          </a:prstGeom>
          <a:noFill/>
          <a:ln/>
        </p:spPr>
        <p:txBody>
          <a:bodyPr wrap="square" lIns="0" tIns="0" rIns="0" bIns="0" rtlCol="0" anchor="t"/>
          <a:lstStyle/>
          <a:p>
            <a:pPr indent="0" marL="0">
              <a:buNone/>
            </a:pPr>
            <a:r>
              <a:rPr lang="en-US" sz="1300" i="1" dirty="0">
                <a:solidFill>
                  <a:schemeClr val="tx2"/>
                </a:solidFill>
              </a:rPr>
              <a:t>Er was nog niets</a:t>
            </a:r>
            <a:endParaRPr lang="en-US" sz="1300" dirty="0"/>
          </a:p>
        </p:txBody>
      </p:sp>
      <p:sp>
        <p:nvSpPr>
          <p:cNvPr id="9" name="tijdpunt"/>
          <p:cNvSpPr/>
          <p:nvPr/>
        </p:nvSpPr>
        <p:spPr>
          <a:xfrm>
            <a:off x="3406140" y="1417320"/>
            <a:ext cx="365760" cy="365760"/>
          </a:xfrm>
          <a:prstGeom prst="ellipse">
            <a:avLst/>
          </a:prstGeom>
          <a:solidFill>
            <a:schemeClr val="accent1"/>
          </a:solidFill>
          <a:ln w="25400">
            <a:solidFill>
              <a:schemeClr val="bg1"/>
            </a:solidFill>
            <a:prstDash val="solid"/>
          </a:ln>
        </p:spPr>
      </p:sp>
      <p:sp>
        <p:nvSpPr>
          <p:cNvPr id="10" name="Text 8"/>
          <p:cNvSpPr txBox="1"/>
          <p:nvPr/>
        </p:nvSpPr>
        <p:spPr>
          <a:xfrm>
            <a:off x="3909060" y="1435608"/>
            <a:ext cx="2103120" cy="329184"/>
          </a:xfrm>
          <a:prstGeom prst="rect">
            <a:avLst/>
          </a:prstGeom>
          <a:noFill/>
          <a:ln/>
        </p:spPr>
        <p:txBody>
          <a:bodyPr wrap="square" lIns="0" tIns="0" rIns="0" bIns="0" rtlCol="0" anchor="ctr"/>
          <a:lstStyle/>
          <a:p>
            <a:pPr indent="0" marL="0">
              <a:buNone/>
            </a:pPr>
            <a:r>
              <a:rPr lang="en-US" sz="1500" b="1" dirty="0">
                <a:solidFill>
                  <a:schemeClr val="accent3"/>
                </a:solidFill>
              </a:rPr>
              <a:t>Jaren 50–60</a:t>
            </a:r>
            <a:endParaRPr lang="en-US" sz="1500" dirty="0"/>
          </a:p>
        </p:txBody>
      </p:sp>
      <p:sp>
        <p:nvSpPr>
          <p:cNvPr id="11" name="kaart"/>
          <p:cNvSpPr/>
          <p:nvPr/>
        </p:nvSpPr>
        <p:spPr>
          <a:xfrm>
            <a:off x="3360420" y="196596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2" name="Text 10"/>
          <p:cNvSpPr txBox="1"/>
          <p:nvPr/>
        </p:nvSpPr>
        <p:spPr>
          <a:xfrm>
            <a:off x="3543300" y="2103120"/>
            <a:ext cx="2240280" cy="777240"/>
          </a:xfrm>
          <a:prstGeom prst="rect">
            <a:avLst/>
          </a:prstGeom>
          <a:noFill/>
          <a:ln/>
        </p:spPr>
        <p:txBody>
          <a:bodyPr wrap="square" lIns="0" tIns="0" rIns="0" bIns="0" rtlCol="0" anchor="t"/>
          <a:lstStyle/>
          <a:p>
            <a:pPr indent="0" marL="0">
              <a:buNone/>
            </a:pPr>
            <a:r>
              <a:rPr lang="en-US" sz="1500" b="1" dirty="0">
                <a:solidFill>
                  <a:schemeClr val="tx1"/>
                </a:solidFill>
              </a:rPr>
              <a:t>Hogere talen: Fortran, COBOL, ALGOL</a:t>
            </a:r>
            <a:endParaRPr lang="en-US" sz="1500" dirty="0"/>
          </a:p>
        </p:txBody>
      </p:sp>
      <p:sp>
        <p:nvSpPr>
          <p:cNvPr id="13" name="Text 11"/>
          <p:cNvSpPr txBox="1"/>
          <p:nvPr/>
        </p:nvSpPr>
        <p:spPr>
          <a:xfrm>
            <a:off x="3543300" y="2880360"/>
            <a:ext cx="2240280" cy="731520"/>
          </a:xfrm>
          <a:prstGeom prst="rect">
            <a:avLst/>
          </a:prstGeom>
          <a:noFill/>
          <a:ln/>
        </p:spPr>
        <p:txBody>
          <a:bodyPr wrap="square" lIns="0" tIns="0" rIns="0" bIns="0" rtlCol="0" anchor="t"/>
          <a:lstStyle/>
          <a:p>
            <a:pPr indent="0" marL="0">
              <a:buNone/>
            </a:pPr>
            <a:r>
              <a:rPr lang="en-US" sz="1300" i="1" dirty="0">
                <a:solidFill>
                  <a:schemeClr val="tx2"/>
                </a:solidFill>
              </a:rPr>
              <a:t>Niet meer in machinecode denken</a:t>
            </a:r>
            <a:endParaRPr lang="en-US" sz="1300" dirty="0"/>
          </a:p>
        </p:txBody>
      </p:sp>
      <p:sp>
        <p:nvSpPr>
          <p:cNvPr id="14" name="tijdpunt"/>
          <p:cNvSpPr/>
          <p:nvPr/>
        </p:nvSpPr>
        <p:spPr>
          <a:xfrm>
            <a:off x="6217920" y="1417320"/>
            <a:ext cx="365760" cy="365760"/>
          </a:xfrm>
          <a:prstGeom prst="ellipse">
            <a:avLst/>
          </a:prstGeom>
          <a:solidFill>
            <a:schemeClr val="accent1"/>
          </a:solidFill>
          <a:ln w="25400">
            <a:solidFill>
              <a:schemeClr val="bg1"/>
            </a:solidFill>
            <a:prstDash val="solid"/>
          </a:ln>
        </p:spPr>
      </p:sp>
      <p:sp>
        <p:nvSpPr>
          <p:cNvPr id="15" name="Text 13"/>
          <p:cNvSpPr txBox="1"/>
          <p:nvPr/>
        </p:nvSpPr>
        <p:spPr>
          <a:xfrm>
            <a:off x="6720840" y="1435608"/>
            <a:ext cx="2103120" cy="329184"/>
          </a:xfrm>
          <a:prstGeom prst="rect">
            <a:avLst/>
          </a:prstGeom>
          <a:noFill/>
          <a:ln/>
        </p:spPr>
        <p:txBody>
          <a:bodyPr wrap="square" lIns="0" tIns="0" rIns="0" bIns="0" rtlCol="0" anchor="ctr"/>
          <a:lstStyle/>
          <a:p>
            <a:pPr indent="0" marL="0">
              <a:buNone/>
            </a:pPr>
            <a:r>
              <a:rPr lang="en-US" sz="1500" b="1" dirty="0">
                <a:solidFill>
                  <a:schemeClr val="accent3"/>
                </a:solidFill>
              </a:rPr>
              <a:t>Jaren 60–70</a:t>
            </a:r>
            <a:endParaRPr lang="en-US" sz="1500" dirty="0"/>
          </a:p>
        </p:txBody>
      </p:sp>
      <p:sp>
        <p:nvSpPr>
          <p:cNvPr id="16" name="kaart"/>
          <p:cNvSpPr/>
          <p:nvPr/>
        </p:nvSpPr>
        <p:spPr>
          <a:xfrm>
            <a:off x="6172200" y="196596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7" name="Text 15"/>
          <p:cNvSpPr txBox="1"/>
          <p:nvPr/>
        </p:nvSpPr>
        <p:spPr>
          <a:xfrm>
            <a:off x="6355080" y="2103120"/>
            <a:ext cx="2240280" cy="777240"/>
          </a:xfrm>
          <a:prstGeom prst="rect">
            <a:avLst/>
          </a:prstGeom>
          <a:noFill/>
          <a:ln/>
        </p:spPr>
        <p:txBody>
          <a:bodyPr wrap="square" lIns="0" tIns="0" rIns="0" bIns="0" rtlCol="0" anchor="t"/>
          <a:lstStyle/>
          <a:p>
            <a:pPr indent="0" marL="0">
              <a:buNone/>
            </a:pPr>
            <a:r>
              <a:rPr lang="en-US" sz="1500" b="1" dirty="0">
                <a:solidFill>
                  <a:schemeClr val="tx1"/>
                </a:solidFill>
              </a:rPr>
              <a:t>Gestructureerd programmeren</a:t>
            </a:r>
            <a:endParaRPr lang="en-US" sz="1500" dirty="0"/>
          </a:p>
        </p:txBody>
      </p:sp>
      <p:sp>
        <p:nvSpPr>
          <p:cNvPr id="18" name="Text 16"/>
          <p:cNvSpPr txBox="1"/>
          <p:nvPr/>
        </p:nvSpPr>
        <p:spPr>
          <a:xfrm>
            <a:off x="6355080" y="2880360"/>
            <a:ext cx="2240280" cy="731520"/>
          </a:xfrm>
          <a:prstGeom prst="rect">
            <a:avLst/>
          </a:prstGeom>
          <a:noFill/>
          <a:ln/>
        </p:spPr>
        <p:txBody>
          <a:bodyPr wrap="square" lIns="0" tIns="0" rIns="0" bIns="0" rtlCol="0" anchor="t"/>
          <a:lstStyle/>
          <a:p>
            <a:pPr indent="0" marL="0">
              <a:buNone/>
            </a:pPr>
            <a:r>
              <a:rPr lang="en-US" sz="1300" i="1" dirty="0">
                <a:solidFill>
                  <a:schemeClr val="tx2"/>
                </a:solidFill>
              </a:rPr>
              <a:t>Het einde van goto en onleesbare sprongen</a:t>
            </a:r>
            <a:endParaRPr lang="en-US" sz="1300" dirty="0"/>
          </a:p>
        </p:txBody>
      </p:sp>
      <p:sp>
        <p:nvSpPr>
          <p:cNvPr id="19" name="tijdpunt"/>
          <p:cNvSpPr/>
          <p:nvPr/>
        </p:nvSpPr>
        <p:spPr>
          <a:xfrm>
            <a:off x="9029700" y="1417320"/>
            <a:ext cx="365760" cy="365760"/>
          </a:xfrm>
          <a:prstGeom prst="ellipse">
            <a:avLst/>
          </a:prstGeom>
          <a:solidFill>
            <a:schemeClr val="accent1"/>
          </a:solidFill>
          <a:ln w="25400">
            <a:solidFill>
              <a:schemeClr val="bg1"/>
            </a:solidFill>
            <a:prstDash val="solid"/>
          </a:ln>
        </p:spPr>
      </p:sp>
      <p:sp>
        <p:nvSpPr>
          <p:cNvPr id="20" name="Text 18"/>
          <p:cNvSpPr txBox="1"/>
          <p:nvPr/>
        </p:nvSpPr>
        <p:spPr>
          <a:xfrm>
            <a:off x="9532620" y="1435608"/>
            <a:ext cx="2103120" cy="329184"/>
          </a:xfrm>
          <a:prstGeom prst="rect">
            <a:avLst/>
          </a:prstGeom>
          <a:noFill/>
          <a:ln/>
        </p:spPr>
        <p:txBody>
          <a:bodyPr wrap="square" lIns="0" tIns="0" rIns="0" bIns="0" rtlCol="0" anchor="ctr"/>
          <a:lstStyle/>
          <a:p>
            <a:pPr indent="0" marL="0">
              <a:buNone/>
            </a:pPr>
            <a:r>
              <a:rPr lang="en-US" sz="1500" b="1" dirty="0">
                <a:solidFill>
                  <a:schemeClr val="accent3"/>
                </a:solidFill>
              </a:rPr>
              <a:t>Jaren 80–90</a:t>
            </a:r>
            <a:endParaRPr lang="en-US" sz="1500" dirty="0"/>
          </a:p>
        </p:txBody>
      </p:sp>
      <p:sp>
        <p:nvSpPr>
          <p:cNvPr id="21" name="kaart"/>
          <p:cNvSpPr/>
          <p:nvPr/>
        </p:nvSpPr>
        <p:spPr>
          <a:xfrm>
            <a:off x="8983980" y="196596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2" name="Text 20"/>
          <p:cNvSpPr txBox="1"/>
          <p:nvPr/>
        </p:nvSpPr>
        <p:spPr>
          <a:xfrm>
            <a:off x="9166860" y="2103120"/>
            <a:ext cx="2240280" cy="777240"/>
          </a:xfrm>
          <a:prstGeom prst="rect">
            <a:avLst/>
          </a:prstGeom>
          <a:noFill/>
          <a:ln/>
        </p:spPr>
        <p:txBody>
          <a:bodyPr wrap="square" lIns="0" tIns="0" rIns="0" bIns="0" rtlCol="0" anchor="t"/>
          <a:lstStyle/>
          <a:p>
            <a:pPr indent="0" marL="0">
              <a:buNone/>
            </a:pPr>
            <a:r>
              <a:rPr lang="en-US" sz="1500" b="1" dirty="0">
                <a:solidFill>
                  <a:schemeClr val="tx1"/>
                </a:solidFill>
              </a:rPr>
              <a:t>Objectgeoriënteerd programmeren</a:t>
            </a:r>
            <a:endParaRPr lang="en-US" sz="1500" dirty="0"/>
          </a:p>
        </p:txBody>
      </p:sp>
      <p:sp>
        <p:nvSpPr>
          <p:cNvPr id="23" name="Text 21"/>
          <p:cNvSpPr txBox="1"/>
          <p:nvPr/>
        </p:nvSpPr>
        <p:spPr>
          <a:xfrm>
            <a:off x="9166860" y="2880360"/>
            <a:ext cx="2240280" cy="731520"/>
          </a:xfrm>
          <a:prstGeom prst="rect">
            <a:avLst/>
          </a:prstGeom>
          <a:noFill/>
          <a:ln/>
        </p:spPr>
        <p:txBody>
          <a:bodyPr wrap="square" lIns="0" tIns="0" rIns="0" bIns="0" rtlCol="0" anchor="t"/>
          <a:lstStyle/>
          <a:p>
            <a:pPr indent="0" marL="0">
              <a:buNone/>
            </a:pPr>
            <a:r>
              <a:rPr lang="en-US" sz="1300" i="1" dirty="0">
                <a:solidFill>
                  <a:schemeClr val="tx2"/>
                </a:solidFill>
              </a:rPr>
              <a:t>Grote programma's opdelen in onderdelen</a:t>
            </a:r>
            <a:endParaRPr lang="en-US" sz="1300" dirty="0"/>
          </a:p>
        </p:txBody>
      </p:sp>
      <p:sp>
        <p:nvSpPr>
          <p:cNvPr id="24" name="tijdlijn"/>
          <p:cNvSpPr/>
          <p:nvPr/>
        </p:nvSpPr>
        <p:spPr>
          <a:xfrm>
            <a:off x="822960" y="4069080"/>
            <a:ext cx="10515600" cy="0"/>
          </a:xfrm>
          <a:prstGeom prst="line">
            <a:avLst/>
          </a:prstGeom>
          <a:noFill/>
          <a:ln w="38100">
            <a:solidFill>
              <a:schemeClr val="bg2"/>
            </a:solidFill>
            <a:prstDash val="solid"/>
          </a:ln>
        </p:spPr>
      </p:sp>
      <p:sp>
        <p:nvSpPr>
          <p:cNvPr id="25" name="tijdpunt"/>
          <p:cNvSpPr/>
          <p:nvPr/>
        </p:nvSpPr>
        <p:spPr>
          <a:xfrm>
            <a:off x="594360" y="3886200"/>
            <a:ext cx="365760" cy="365760"/>
          </a:xfrm>
          <a:prstGeom prst="ellipse">
            <a:avLst/>
          </a:prstGeom>
          <a:solidFill>
            <a:schemeClr val="accent1"/>
          </a:solidFill>
          <a:ln w="25400">
            <a:solidFill>
              <a:schemeClr val="bg1"/>
            </a:solidFill>
            <a:prstDash val="solid"/>
          </a:ln>
        </p:spPr>
      </p:sp>
      <p:sp>
        <p:nvSpPr>
          <p:cNvPr id="26" name="Text 24"/>
          <p:cNvSpPr txBox="1"/>
          <p:nvPr/>
        </p:nvSpPr>
        <p:spPr>
          <a:xfrm>
            <a:off x="1097280" y="3904488"/>
            <a:ext cx="2103120" cy="329184"/>
          </a:xfrm>
          <a:prstGeom prst="rect">
            <a:avLst/>
          </a:prstGeom>
          <a:noFill/>
          <a:ln/>
        </p:spPr>
        <p:txBody>
          <a:bodyPr wrap="square" lIns="0" tIns="0" rIns="0" bIns="0" rtlCol="0" anchor="ctr"/>
          <a:lstStyle/>
          <a:p>
            <a:pPr indent="0" marL="0">
              <a:buNone/>
            </a:pPr>
            <a:r>
              <a:rPr lang="en-US" sz="1500" b="1" dirty="0">
                <a:solidFill>
                  <a:schemeClr val="accent3"/>
                </a:solidFill>
              </a:rPr>
              <a:t>Jaren 90–2000</a:t>
            </a:r>
            <a:endParaRPr lang="en-US" sz="1500" dirty="0"/>
          </a:p>
        </p:txBody>
      </p:sp>
      <p:sp>
        <p:nvSpPr>
          <p:cNvPr id="27" name="kaart"/>
          <p:cNvSpPr/>
          <p:nvPr/>
        </p:nvSpPr>
        <p:spPr>
          <a:xfrm>
            <a:off x="548640" y="443484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8" name="Text 26"/>
          <p:cNvSpPr txBox="1"/>
          <p:nvPr/>
        </p:nvSpPr>
        <p:spPr>
          <a:xfrm>
            <a:off x="731520" y="4572000"/>
            <a:ext cx="2240280" cy="777240"/>
          </a:xfrm>
          <a:prstGeom prst="rect">
            <a:avLst/>
          </a:prstGeom>
          <a:noFill/>
          <a:ln/>
        </p:spPr>
        <p:txBody>
          <a:bodyPr wrap="square" lIns="0" tIns="0" rIns="0" bIns="0" rtlCol="0" anchor="t"/>
          <a:lstStyle/>
          <a:p>
            <a:pPr indent="0" marL="0">
              <a:buNone/>
            </a:pPr>
            <a:r>
              <a:rPr lang="en-US" sz="1500" b="1" dirty="0">
                <a:solidFill>
                  <a:schemeClr val="tx1"/>
                </a:solidFill>
              </a:rPr>
              <a:t>Het web, scriptingtalen, opensource</a:t>
            </a:r>
            <a:endParaRPr lang="en-US" sz="1500" dirty="0"/>
          </a:p>
        </p:txBody>
      </p:sp>
      <p:sp>
        <p:nvSpPr>
          <p:cNvPr id="29" name="Text 27"/>
          <p:cNvSpPr txBox="1"/>
          <p:nvPr/>
        </p:nvSpPr>
        <p:spPr>
          <a:xfrm>
            <a:off x="731520" y="5349240"/>
            <a:ext cx="2240280" cy="731520"/>
          </a:xfrm>
          <a:prstGeom prst="rect">
            <a:avLst/>
          </a:prstGeom>
          <a:noFill/>
          <a:ln/>
        </p:spPr>
        <p:txBody>
          <a:bodyPr wrap="square" lIns="0" tIns="0" rIns="0" bIns="0" rtlCol="0" anchor="t"/>
          <a:lstStyle/>
          <a:p>
            <a:pPr indent="0" marL="0">
              <a:buNone/>
            </a:pPr>
            <a:r>
              <a:rPr lang="en-US" sz="1300" i="1" dirty="0">
                <a:solidFill>
                  <a:schemeClr val="tx2"/>
                </a:solidFill>
              </a:rPr>
              <a:t>Software delen en snel bouwen</a:t>
            </a:r>
            <a:endParaRPr lang="en-US" sz="1300" dirty="0"/>
          </a:p>
        </p:txBody>
      </p:sp>
      <p:sp>
        <p:nvSpPr>
          <p:cNvPr id="30" name="tijdpunt"/>
          <p:cNvSpPr/>
          <p:nvPr/>
        </p:nvSpPr>
        <p:spPr>
          <a:xfrm>
            <a:off x="3406140" y="3886200"/>
            <a:ext cx="365760" cy="365760"/>
          </a:xfrm>
          <a:prstGeom prst="ellipse">
            <a:avLst/>
          </a:prstGeom>
          <a:solidFill>
            <a:schemeClr val="accent1"/>
          </a:solidFill>
          <a:ln w="25400">
            <a:solidFill>
              <a:schemeClr val="bg1"/>
            </a:solidFill>
            <a:prstDash val="solid"/>
          </a:ln>
        </p:spPr>
      </p:sp>
      <p:sp>
        <p:nvSpPr>
          <p:cNvPr id="31" name="Text 29"/>
          <p:cNvSpPr txBox="1"/>
          <p:nvPr/>
        </p:nvSpPr>
        <p:spPr>
          <a:xfrm>
            <a:off x="3909060" y="3904488"/>
            <a:ext cx="2103120" cy="329184"/>
          </a:xfrm>
          <a:prstGeom prst="rect">
            <a:avLst/>
          </a:prstGeom>
          <a:noFill/>
          <a:ln/>
        </p:spPr>
        <p:txBody>
          <a:bodyPr wrap="square" lIns="0" tIns="0" rIns="0" bIns="0" rtlCol="0" anchor="ctr"/>
          <a:lstStyle/>
          <a:p>
            <a:pPr indent="0" marL="0">
              <a:buNone/>
            </a:pPr>
            <a:r>
              <a:rPr lang="en-US" sz="1500" b="1" dirty="0">
                <a:solidFill>
                  <a:schemeClr val="accent3"/>
                </a:solidFill>
              </a:rPr>
              <a:t>Jaren 2000–2010</a:t>
            </a:r>
            <a:endParaRPr lang="en-US" sz="1500" dirty="0"/>
          </a:p>
        </p:txBody>
      </p:sp>
      <p:sp>
        <p:nvSpPr>
          <p:cNvPr id="32" name="kaart"/>
          <p:cNvSpPr/>
          <p:nvPr/>
        </p:nvSpPr>
        <p:spPr>
          <a:xfrm>
            <a:off x="3360420" y="443484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33" name="Text 31"/>
          <p:cNvSpPr txBox="1"/>
          <p:nvPr/>
        </p:nvSpPr>
        <p:spPr>
          <a:xfrm>
            <a:off x="3543300" y="4572000"/>
            <a:ext cx="2240280" cy="777240"/>
          </a:xfrm>
          <a:prstGeom prst="rect">
            <a:avLst/>
          </a:prstGeom>
          <a:noFill/>
          <a:ln/>
        </p:spPr>
        <p:txBody>
          <a:bodyPr wrap="square" lIns="0" tIns="0" rIns="0" bIns="0" rtlCol="0" anchor="t"/>
          <a:lstStyle/>
          <a:p>
            <a:pPr indent="0" marL="0">
              <a:buNone/>
            </a:pPr>
            <a:r>
              <a:rPr lang="en-US" sz="1500" b="1" dirty="0">
                <a:solidFill>
                  <a:schemeClr val="tx1"/>
                </a:solidFill>
              </a:rPr>
              <a:t>Agile, versiebeheer, continue integratie</a:t>
            </a:r>
            <a:endParaRPr lang="en-US" sz="1500" dirty="0"/>
          </a:p>
        </p:txBody>
      </p:sp>
      <p:sp>
        <p:nvSpPr>
          <p:cNvPr id="34" name="Text 32"/>
          <p:cNvSpPr txBox="1"/>
          <p:nvPr/>
        </p:nvSpPr>
        <p:spPr>
          <a:xfrm>
            <a:off x="3543300" y="5349240"/>
            <a:ext cx="2240280" cy="731520"/>
          </a:xfrm>
          <a:prstGeom prst="rect">
            <a:avLst/>
          </a:prstGeom>
          <a:noFill/>
          <a:ln/>
        </p:spPr>
        <p:txBody>
          <a:bodyPr wrap="square" lIns="0" tIns="0" rIns="0" bIns="0" rtlCol="0" anchor="t"/>
          <a:lstStyle/>
          <a:p>
            <a:pPr indent="0" marL="0">
              <a:buNone/>
            </a:pPr>
            <a:r>
              <a:rPr lang="en-US" sz="1300" i="1" dirty="0">
                <a:solidFill>
                  <a:schemeClr val="tx2"/>
                </a:solidFill>
              </a:rPr>
              <a:t>Samenwerken in teams, sneller opleveren</a:t>
            </a:r>
            <a:endParaRPr lang="en-US" sz="1300" dirty="0"/>
          </a:p>
        </p:txBody>
      </p:sp>
      <p:sp>
        <p:nvSpPr>
          <p:cNvPr id="35" name="tijdpunt"/>
          <p:cNvSpPr/>
          <p:nvPr/>
        </p:nvSpPr>
        <p:spPr>
          <a:xfrm>
            <a:off x="6217920" y="3886200"/>
            <a:ext cx="365760" cy="365760"/>
          </a:xfrm>
          <a:prstGeom prst="ellipse">
            <a:avLst/>
          </a:prstGeom>
          <a:solidFill>
            <a:schemeClr val="accent1"/>
          </a:solidFill>
          <a:ln w="25400">
            <a:solidFill>
              <a:schemeClr val="bg1"/>
            </a:solidFill>
            <a:prstDash val="solid"/>
          </a:ln>
        </p:spPr>
      </p:sp>
      <p:sp>
        <p:nvSpPr>
          <p:cNvPr id="36" name="Text 34"/>
          <p:cNvSpPr txBox="1"/>
          <p:nvPr/>
        </p:nvSpPr>
        <p:spPr>
          <a:xfrm>
            <a:off x="6720840" y="3904488"/>
            <a:ext cx="2103120" cy="329184"/>
          </a:xfrm>
          <a:prstGeom prst="rect">
            <a:avLst/>
          </a:prstGeom>
          <a:noFill/>
          <a:ln/>
        </p:spPr>
        <p:txBody>
          <a:bodyPr wrap="square" lIns="0" tIns="0" rIns="0" bIns="0" rtlCol="0" anchor="ctr"/>
          <a:lstStyle/>
          <a:p>
            <a:pPr indent="0" marL="0">
              <a:buNone/>
            </a:pPr>
            <a:r>
              <a:rPr lang="en-US" sz="1500" b="1" dirty="0">
                <a:solidFill>
                  <a:schemeClr val="accent3"/>
                </a:solidFill>
              </a:rPr>
              <a:t>Jaren 2010</a:t>
            </a:r>
            <a:endParaRPr lang="en-US" sz="1500" dirty="0"/>
          </a:p>
        </p:txBody>
      </p:sp>
      <p:sp>
        <p:nvSpPr>
          <p:cNvPr id="37" name="kaart"/>
          <p:cNvSpPr/>
          <p:nvPr/>
        </p:nvSpPr>
        <p:spPr>
          <a:xfrm>
            <a:off x="6172200" y="443484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38" name="Text 36"/>
          <p:cNvSpPr txBox="1"/>
          <p:nvPr/>
        </p:nvSpPr>
        <p:spPr>
          <a:xfrm>
            <a:off x="6355080" y="4572000"/>
            <a:ext cx="2240280" cy="777240"/>
          </a:xfrm>
          <a:prstGeom prst="rect">
            <a:avLst/>
          </a:prstGeom>
          <a:noFill/>
          <a:ln/>
        </p:spPr>
        <p:txBody>
          <a:bodyPr wrap="square" lIns="0" tIns="0" rIns="0" bIns="0" rtlCol="0" anchor="t"/>
          <a:lstStyle/>
          <a:p>
            <a:pPr indent="0" marL="0">
              <a:buNone/>
            </a:pPr>
            <a:r>
              <a:rPr lang="en-US" sz="1500" b="1" dirty="0">
                <a:solidFill>
                  <a:schemeClr val="tx1"/>
                </a:solidFill>
              </a:rPr>
              <a:t>De cloud, containers, DevOps</a:t>
            </a:r>
            <a:endParaRPr lang="en-US" sz="1500" dirty="0"/>
          </a:p>
        </p:txBody>
      </p:sp>
      <p:sp>
        <p:nvSpPr>
          <p:cNvPr id="39" name="Text 37"/>
          <p:cNvSpPr txBox="1"/>
          <p:nvPr/>
        </p:nvSpPr>
        <p:spPr>
          <a:xfrm>
            <a:off x="6355080" y="5349240"/>
            <a:ext cx="2240280" cy="731520"/>
          </a:xfrm>
          <a:prstGeom prst="rect">
            <a:avLst/>
          </a:prstGeom>
          <a:noFill/>
          <a:ln/>
        </p:spPr>
        <p:txBody>
          <a:bodyPr wrap="square" lIns="0" tIns="0" rIns="0" bIns="0" rtlCol="0" anchor="t"/>
          <a:lstStyle/>
          <a:p>
            <a:pPr indent="0" marL="0">
              <a:buNone/>
            </a:pPr>
            <a:r>
              <a:rPr lang="en-US" sz="1300" i="1" dirty="0">
                <a:solidFill>
                  <a:schemeClr val="tx2"/>
                </a:solidFill>
              </a:rPr>
              <a:t>Draaien zonder eigen serverpark</a:t>
            </a:r>
            <a:endParaRPr lang="en-US" sz="1300" dirty="0"/>
          </a:p>
        </p:txBody>
      </p:sp>
      <p:sp>
        <p:nvSpPr>
          <p:cNvPr id="40" name="tijdpunt"/>
          <p:cNvSpPr/>
          <p:nvPr/>
        </p:nvSpPr>
        <p:spPr>
          <a:xfrm>
            <a:off x="9029700" y="3886200"/>
            <a:ext cx="365760" cy="365760"/>
          </a:xfrm>
          <a:prstGeom prst="ellipse">
            <a:avLst/>
          </a:prstGeom>
          <a:solidFill>
            <a:schemeClr val="accent1"/>
          </a:solidFill>
          <a:ln w="25400">
            <a:solidFill>
              <a:schemeClr val="bg1"/>
            </a:solidFill>
            <a:prstDash val="solid"/>
          </a:ln>
        </p:spPr>
      </p:sp>
      <p:sp>
        <p:nvSpPr>
          <p:cNvPr id="41" name="Text 39"/>
          <p:cNvSpPr txBox="1"/>
          <p:nvPr/>
        </p:nvSpPr>
        <p:spPr>
          <a:xfrm>
            <a:off x="9532620" y="3904488"/>
            <a:ext cx="2103120" cy="329184"/>
          </a:xfrm>
          <a:prstGeom prst="rect">
            <a:avLst/>
          </a:prstGeom>
          <a:noFill/>
          <a:ln/>
        </p:spPr>
        <p:txBody>
          <a:bodyPr wrap="square" lIns="0" tIns="0" rIns="0" bIns="0" rtlCol="0" anchor="ctr"/>
          <a:lstStyle/>
          <a:p>
            <a:pPr indent="0" marL="0">
              <a:buNone/>
            </a:pPr>
            <a:r>
              <a:rPr lang="en-US" sz="1500" b="1" dirty="0">
                <a:solidFill>
                  <a:schemeClr val="accent3"/>
                </a:solidFill>
              </a:rPr>
              <a:t>Jaren 2020</a:t>
            </a:r>
            <a:endParaRPr lang="en-US" sz="1500" dirty="0"/>
          </a:p>
        </p:txBody>
      </p:sp>
      <p:sp>
        <p:nvSpPr>
          <p:cNvPr id="42" name="kaart"/>
          <p:cNvSpPr/>
          <p:nvPr/>
        </p:nvSpPr>
        <p:spPr>
          <a:xfrm>
            <a:off x="8983980" y="4434840"/>
            <a:ext cx="2606040" cy="1691640"/>
          </a:xfrm>
          <a:prstGeom prst="roundRect">
            <a:avLst>
              <a:gd name="adj" fmla="val 6486"/>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3" name="Text 41"/>
          <p:cNvSpPr txBox="1"/>
          <p:nvPr/>
        </p:nvSpPr>
        <p:spPr>
          <a:xfrm>
            <a:off x="9166860" y="4572000"/>
            <a:ext cx="2240280" cy="777240"/>
          </a:xfrm>
          <a:prstGeom prst="rect">
            <a:avLst/>
          </a:prstGeom>
          <a:noFill/>
          <a:ln/>
        </p:spPr>
        <p:txBody>
          <a:bodyPr wrap="square" lIns="0" tIns="0" rIns="0" bIns="0" rtlCol="0" anchor="t"/>
          <a:lstStyle/>
          <a:p>
            <a:pPr indent="0" marL="0">
              <a:buNone/>
            </a:pPr>
            <a:r>
              <a:rPr lang="en-US" sz="1500" b="1" dirty="0">
                <a:solidFill>
                  <a:schemeClr val="tx1"/>
                </a:solidFill>
              </a:rPr>
              <a:t>AI-assistentie, types in dynamische talen</a:t>
            </a:r>
            <a:endParaRPr lang="en-US" sz="1500" dirty="0"/>
          </a:p>
        </p:txBody>
      </p:sp>
      <p:sp>
        <p:nvSpPr>
          <p:cNvPr id="44" name="Text 42"/>
          <p:cNvSpPr txBox="1"/>
          <p:nvPr/>
        </p:nvSpPr>
        <p:spPr>
          <a:xfrm>
            <a:off x="9166860" y="5349240"/>
            <a:ext cx="2240280" cy="731520"/>
          </a:xfrm>
          <a:prstGeom prst="rect">
            <a:avLst/>
          </a:prstGeom>
          <a:noFill/>
          <a:ln/>
        </p:spPr>
        <p:txBody>
          <a:bodyPr wrap="square" lIns="0" tIns="0" rIns="0" bIns="0" rtlCol="0" anchor="t"/>
          <a:lstStyle/>
          <a:p>
            <a:pPr indent="0" marL="0">
              <a:buNone/>
            </a:pPr>
            <a:r>
              <a:rPr lang="en-US" sz="1300" i="1" dirty="0">
                <a:solidFill>
                  <a:schemeClr val="tx2"/>
                </a:solidFill>
              </a:rPr>
              <a:t>Sneller schrijven, eerder fouten vinden</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1968: weg met de sprong</a:t>
            </a:r>
            <a:endParaRPr lang="en-US" sz="3400" dirty="0"/>
          </a:p>
        </p:txBody>
      </p:sp>
      <p:sp>
        <p:nvSpPr>
          <p:cNvPr id="3" name="kaart"/>
          <p:cNvSpPr/>
          <p:nvPr/>
        </p:nvSpPr>
        <p:spPr>
          <a:xfrm>
            <a:off x="548640" y="1463040"/>
            <a:ext cx="6400800" cy="4526280"/>
          </a:xfrm>
          <a:prstGeom prst="roundRect">
            <a:avLst>
              <a:gd name="adj" fmla="val 2424"/>
            </a:avLst>
          </a:prstGeom>
          <a:solidFill>
            <a:schemeClr val="tx1"/>
          </a:solidFill>
          <a:ln w="12700">
            <a:solidFill>
              <a:schemeClr val="tx1"/>
            </a:solidFill>
            <a:prstDash val="solid"/>
          </a:ln>
        </p:spPr>
      </p:sp>
      <p:sp>
        <p:nvSpPr>
          <p:cNvPr id="4" name="Text 2"/>
          <p:cNvSpPr txBox="1"/>
          <p:nvPr/>
        </p:nvSpPr>
        <p:spPr>
          <a:xfrm>
            <a:off x="914400" y="1783080"/>
            <a:ext cx="5760720" cy="1188720"/>
          </a:xfrm>
          <a:prstGeom prst="rect">
            <a:avLst/>
          </a:prstGeom>
          <a:noFill/>
          <a:ln/>
        </p:spPr>
        <p:txBody>
          <a:bodyPr wrap="square" lIns="0" tIns="0" rIns="0" bIns="0" rtlCol="0" anchor="t"/>
          <a:lstStyle/>
          <a:p>
            <a:pPr indent="0" marL="0">
              <a:buNone/>
            </a:pPr>
            <a:r>
              <a:rPr lang="en-US" sz="2800" i="1" dirty="0">
                <a:solidFill>
                  <a:schemeClr val="bg1"/>
                </a:solidFill>
                <a:latin typeface="Cambria" pitchFamily="34" charset="0"/>
                <a:ea typeface="Cambria" pitchFamily="34" charset="-122"/>
                <a:cs typeface="Cambria" pitchFamily="34" charset="-120"/>
              </a:rPr>
              <a:t>“Go To Statement Considered Harmful”</a:t>
            </a:r>
            <a:endParaRPr lang="en-US" sz="2800" dirty="0"/>
          </a:p>
        </p:txBody>
      </p:sp>
      <p:sp>
        <p:nvSpPr>
          <p:cNvPr id="5" name="Text 3"/>
          <p:cNvSpPr txBox="1"/>
          <p:nvPr/>
        </p:nvSpPr>
        <p:spPr>
          <a:xfrm>
            <a:off x="914400" y="3017520"/>
            <a:ext cx="5760720" cy="365760"/>
          </a:xfrm>
          <a:prstGeom prst="rect">
            <a:avLst/>
          </a:prstGeom>
          <a:noFill/>
          <a:ln/>
        </p:spPr>
        <p:txBody>
          <a:bodyPr wrap="square" lIns="0" tIns="0" rIns="0" bIns="0" rtlCol="0" anchor="t"/>
          <a:lstStyle/>
          <a:p>
            <a:pPr indent="0" marL="0">
              <a:buNone/>
            </a:pPr>
            <a:r>
              <a:rPr lang="en-US" sz="1500" dirty="0">
                <a:solidFill>
                  <a:schemeClr val="accent1"/>
                </a:solidFill>
              </a:rPr>
              <a:t>Edsger Dijkstra, Nederlands informaticus, 1968</a:t>
            </a:r>
            <a:endParaRPr lang="en-US" sz="1500" dirty="0"/>
          </a:p>
        </p:txBody>
      </p:sp>
      <p:sp>
        <p:nvSpPr>
          <p:cNvPr id="6" name="Text 4"/>
          <p:cNvSpPr txBox="1"/>
          <p:nvPr/>
        </p:nvSpPr>
        <p:spPr>
          <a:xfrm>
            <a:off x="914400" y="3657600"/>
            <a:ext cx="5760720" cy="1371600"/>
          </a:xfrm>
          <a:prstGeom prst="rect">
            <a:avLst/>
          </a:prstGeom>
          <a:noFill/>
          <a:ln/>
        </p:spPr>
        <p:txBody>
          <a:bodyPr wrap="square" lIns="0" tIns="0" rIns="0" bIns="0" rtlCol="0" anchor="t"/>
          <a:lstStyle/>
          <a:p>
            <a:pPr indent="0" marL="0">
              <a:buNone/>
            </a:pPr>
            <a:r>
              <a:rPr lang="en-US" sz="1700" dirty="0">
                <a:solidFill>
                  <a:schemeClr val="bg2"/>
                </a:solidFill>
              </a:rPr>
              <a:t>Zijn stelling: programma's die kriskras springen, zijn niet te begrijpen. Gebruik alleen sequentie, selectie en iteratie.</a:t>
            </a:r>
            <a:endParaRPr lang="en-US" sz="1700" dirty="0"/>
          </a:p>
        </p:txBody>
      </p:sp>
      <p:sp>
        <p:nvSpPr>
          <p:cNvPr id="7" name="icooncirkel"/>
          <p:cNvSpPr/>
          <p:nvPr/>
        </p:nvSpPr>
        <p:spPr>
          <a:xfrm>
            <a:off x="7406640" y="1554480"/>
            <a:ext cx="777240" cy="777240"/>
          </a:xfrm>
          <a:prstGeom prst="ellipse">
            <a:avLst/>
          </a:prstGeom>
          <a:solidFill>
            <a:schemeClr val="accent1"/>
          </a:solidFill>
          <a:ln w="12700">
            <a:solidFill>
              <a:schemeClr val="accent1"/>
            </a:solidFill>
            <a:prstDash val="solid"/>
          </a:ln>
        </p:spPr>
      </p:sp>
      <p:pic>
        <p:nvPicPr>
          <p:cNvPr id="8" name="icoon" descr="preencoded.png">    </p:cNvPr>
          <p:cNvPicPr>
            <a:picLocks noChangeAspect="1"/>
          </p:cNvPicPr>
          <p:nvPr/>
        </p:nvPicPr>
        <p:blipFill>
          <a:blip r:embed="rId1"/>
          <a:stretch>
            <a:fillRect/>
          </a:stretch>
        </p:blipFill>
        <p:spPr>
          <a:xfrm>
            <a:off x="7600950" y="1748790"/>
            <a:ext cx="388620" cy="388620"/>
          </a:xfrm>
          <a:prstGeom prst="rect">
            <a:avLst/>
          </a:prstGeom>
        </p:spPr>
      </p:pic>
      <p:sp>
        <p:nvSpPr>
          <p:cNvPr id="9" name="Text 6"/>
          <p:cNvSpPr txBox="1"/>
          <p:nvPr/>
        </p:nvSpPr>
        <p:spPr>
          <a:xfrm>
            <a:off x="8366760" y="1572768"/>
            <a:ext cx="320040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Sequentie</a:t>
            </a:r>
            <a:endParaRPr lang="en-US" sz="2000" dirty="0"/>
          </a:p>
        </p:txBody>
      </p:sp>
      <p:sp>
        <p:nvSpPr>
          <p:cNvPr id="10" name="Text 7"/>
          <p:cNvSpPr txBox="1"/>
          <p:nvPr/>
        </p:nvSpPr>
        <p:spPr>
          <a:xfrm>
            <a:off x="8366760" y="1965960"/>
            <a:ext cx="3200400" cy="365760"/>
          </a:xfrm>
          <a:prstGeom prst="rect">
            <a:avLst/>
          </a:prstGeom>
          <a:noFill/>
          <a:ln/>
        </p:spPr>
        <p:txBody>
          <a:bodyPr wrap="square" lIns="0" tIns="0" rIns="0" bIns="0" rtlCol="0" anchor="t"/>
          <a:lstStyle/>
          <a:p>
            <a:pPr indent="0" marL="0">
              <a:buNone/>
            </a:pPr>
            <a:r>
              <a:rPr lang="en-US" sz="1500" dirty="0">
                <a:solidFill>
                  <a:schemeClr val="tx2"/>
                </a:solidFill>
                <a:latin typeface="Consolas" pitchFamily="34" charset="0"/>
                <a:ea typeface="Consolas" pitchFamily="34" charset="-122"/>
                <a:cs typeface="Consolas" pitchFamily="34" charset="-120"/>
              </a:rPr>
              <a:t>stap na stap</a:t>
            </a:r>
            <a:endParaRPr lang="en-US" sz="1500" dirty="0"/>
          </a:p>
        </p:txBody>
      </p:sp>
      <p:sp>
        <p:nvSpPr>
          <p:cNvPr id="11" name="icooncirkel"/>
          <p:cNvSpPr/>
          <p:nvPr/>
        </p:nvSpPr>
        <p:spPr>
          <a:xfrm>
            <a:off x="7406640" y="2651760"/>
            <a:ext cx="777240" cy="777240"/>
          </a:xfrm>
          <a:prstGeom prst="ellipse">
            <a:avLst/>
          </a:prstGeom>
          <a:solidFill>
            <a:schemeClr val="accent2"/>
          </a:solidFill>
          <a:ln w="12700">
            <a:solidFill>
              <a:schemeClr val="accent2"/>
            </a:solidFill>
            <a:prstDash val="solid"/>
          </a:ln>
        </p:spPr>
      </p:sp>
      <p:pic>
        <p:nvPicPr>
          <p:cNvPr id="12" name="icoon" descr="preencoded.png">    </p:cNvPr>
          <p:cNvPicPr>
            <a:picLocks noChangeAspect="1"/>
          </p:cNvPicPr>
          <p:nvPr/>
        </p:nvPicPr>
        <p:blipFill>
          <a:blip r:embed="rId2"/>
          <a:stretch>
            <a:fillRect/>
          </a:stretch>
        </p:blipFill>
        <p:spPr>
          <a:xfrm>
            <a:off x="7600950" y="2846070"/>
            <a:ext cx="388620" cy="388620"/>
          </a:xfrm>
          <a:prstGeom prst="rect">
            <a:avLst/>
          </a:prstGeom>
        </p:spPr>
      </p:pic>
      <p:sp>
        <p:nvSpPr>
          <p:cNvPr id="13" name="Text 9"/>
          <p:cNvSpPr txBox="1"/>
          <p:nvPr/>
        </p:nvSpPr>
        <p:spPr>
          <a:xfrm>
            <a:off x="8366760" y="2670048"/>
            <a:ext cx="320040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Selectie</a:t>
            </a:r>
            <a:endParaRPr lang="en-US" sz="2000" dirty="0"/>
          </a:p>
        </p:txBody>
      </p:sp>
      <p:sp>
        <p:nvSpPr>
          <p:cNvPr id="14" name="Text 10"/>
          <p:cNvSpPr txBox="1"/>
          <p:nvPr/>
        </p:nvSpPr>
        <p:spPr>
          <a:xfrm>
            <a:off x="8366760" y="3063240"/>
            <a:ext cx="3200400" cy="365760"/>
          </a:xfrm>
          <a:prstGeom prst="rect">
            <a:avLst/>
          </a:prstGeom>
          <a:noFill/>
          <a:ln/>
        </p:spPr>
        <p:txBody>
          <a:bodyPr wrap="square" lIns="0" tIns="0" rIns="0" bIns="0" rtlCol="0" anchor="t"/>
          <a:lstStyle/>
          <a:p>
            <a:pPr indent="0" marL="0">
              <a:buNone/>
            </a:pPr>
            <a:r>
              <a:rPr lang="en-US" sz="1500" dirty="0">
                <a:solidFill>
                  <a:schemeClr val="tx2"/>
                </a:solidFill>
                <a:latin typeface="Consolas" pitchFamily="34" charset="0"/>
                <a:ea typeface="Consolas" pitchFamily="34" charset="-122"/>
                <a:cs typeface="Consolas" pitchFamily="34" charset="-120"/>
              </a:rPr>
              <a:t>if … else</a:t>
            </a:r>
            <a:endParaRPr lang="en-US" sz="1500" dirty="0"/>
          </a:p>
        </p:txBody>
      </p:sp>
      <p:sp>
        <p:nvSpPr>
          <p:cNvPr id="15" name="icooncirkel"/>
          <p:cNvSpPr/>
          <p:nvPr/>
        </p:nvSpPr>
        <p:spPr>
          <a:xfrm>
            <a:off x="7406640" y="3749040"/>
            <a:ext cx="777240" cy="777240"/>
          </a:xfrm>
          <a:prstGeom prst="ellipse">
            <a:avLst/>
          </a:prstGeom>
          <a:solidFill>
            <a:schemeClr val="accent3"/>
          </a:solidFill>
          <a:ln w="12700">
            <a:solidFill>
              <a:schemeClr val="accent3"/>
            </a:solidFill>
            <a:prstDash val="solid"/>
          </a:ln>
        </p:spPr>
      </p:sp>
      <p:pic>
        <p:nvPicPr>
          <p:cNvPr id="16" name="icoon" descr="preencoded.png">    </p:cNvPr>
          <p:cNvPicPr>
            <a:picLocks noChangeAspect="1"/>
          </p:cNvPicPr>
          <p:nvPr/>
        </p:nvPicPr>
        <p:blipFill>
          <a:blip r:embed="rId3"/>
          <a:stretch>
            <a:fillRect/>
          </a:stretch>
        </p:blipFill>
        <p:spPr>
          <a:xfrm>
            <a:off x="7600950" y="3943350"/>
            <a:ext cx="388620" cy="388620"/>
          </a:xfrm>
          <a:prstGeom prst="rect">
            <a:avLst/>
          </a:prstGeom>
        </p:spPr>
      </p:pic>
      <p:sp>
        <p:nvSpPr>
          <p:cNvPr id="17" name="Text 12"/>
          <p:cNvSpPr txBox="1"/>
          <p:nvPr/>
        </p:nvSpPr>
        <p:spPr>
          <a:xfrm>
            <a:off x="8366760" y="3767328"/>
            <a:ext cx="320040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Iteratie</a:t>
            </a:r>
            <a:endParaRPr lang="en-US" sz="2000" dirty="0"/>
          </a:p>
        </p:txBody>
      </p:sp>
      <p:sp>
        <p:nvSpPr>
          <p:cNvPr id="18" name="Text 13"/>
          <p:cNvSpPr txBox="1"/>
          <p:nvPr/>
        </p:nvSpPr>
        <p:spPr>
          <a:xfrm>
            <a:off x="8366760" y="4160520"/>
            <a:ext cx="3200400" cy="365760"/>
          </a:xfrm>
          <a:prstGeom prst="rect">
            <a:avLst/>
          </a:prstGeom>
          <a:noFill/>
          <a:ln/>
        </p:spPr>
        <p:txBody>
          <a:bodyPr wrap="square" lIns="0" tIns="0" rIns="0" bIns="0" rtlCol="0" anchor="t"/>
          <a:lstStyle/>
          <a:p>
            <a:pPr indent="0" marL="0">
              <a:buNone/>
            </a:pPr>
            <a:r>
              <a:rPr lang="en-US" sz="1500" dirty="0">
                <a:solidFill>
                  <a:schemeClr val="tx2"/>
                </a:solidFill>
                <a:latin typeface="Consolas" pitchFamily="34" charset="0"/>
                <a:ea typeface="Consolas" pitchFamily="34" charset="-122"/>
                <a:cs typeface="Consolas" pitchFamily="34" charset="-120"/>
              </a:rPr>
              <a:t>for en while</a:t>
            </a:r>
            <a:endParaRPr lang="en-US" sz="1500" dirty="0"/>
          </a:p>
        </p:txBody>
      </p:sp>
      <p:sp>
        <p:nvSpPr>
          <p:cNvPr id="19" name="Text 14"/>
          <p:cNvSpPr txBox="1"/>
          <p:nvPr/>
        </p:nvSpPr>
        <p:spPr>
          <a:xfrm>
            <a:off x="7406640" y="4892040"/>
            <a:ext cx="4206240" cy="1097280"/>
          </a:xfrm>
          <a:prstGeom prst="rect">
            <a:avLst/>
          </a:prstGeom>
          <a:noFill/>
          <a:ln/>
        </p:spPr>
        <p:txBody>
          <a:bodyPr wrap="square" lIns="0" tIns="0" rIns="0" bIns="0" rtlCol="0" anchor="t"/>
          <a:lstStyle/>
          <a:p>
            <a:pPr indent="0" marL="0">
              <a:buNone/>
            </a:pPr>
            <a:r>
              <a:rPr lang="en-US" sz="1500" i="1" dirty="0">
                <a:solidFill>
                  <a:schemeClr val="tx2"/>
                </a:solidFill>
              </a:rPr>
              <a:t>Precies de drie structuren uit hoofdstuk 3. Wat jij als vanzelfsprekend leerde, was ooit een omstreden standpunt.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De programmeerparadigma's</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20.3</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Een paradigma is een manier van denken over programmeren: welke bouwstenen je gebruikt en hoe je een probleem opdeelt.</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Vier manieren van denken</a:t>
            </a:r>
            <a:endParaRPr lang="en-US" sz="3400" dirty="0"/>
          </a:p>
        </p:txBody>
      </p:sp>
      <p:sp>
        <p:nvSpPr>
          <p:cNvPr id="3" name="kaart"/>
          <p:cNvSpPr/>
          <p:nvPr/>
        </p:nvSpPr>
        <p:spPr>
          <a:xfrm>
            <a:off x="548640" y="1417320"/>
            <a:ext cx="544068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icooncirkel"/>
          <p:cNvSpPr/>
          <p:nvPr/>
        </p:nvSpPr>
        <p:spPr>
          <a:xfrm>
            <a:off x="822960" y="1691640"/>
            <a:ext cx="777240" cy="777240"/>
          </a:xfrm>
          <a:prstGeom prst="ellipse">
            <a:avLst/>
          </a:prstGeom>
          <a:solidFill>
            <a:schemeClr val="accent1"/>
          </a:solidFill>
          <a:ln w="12700">
            <a:solidFill>
              <a:schemeClr val="accent1"/>
            </a:solidFill>
            <a:prstDash val="solid"/>
          </a:ln>
        </p:spPr>
      </p:sp>
      <p:pic>
        <p:nvPicPr>
          <p:cNvPr id="5" name="icoon" descr="preencoded.png">    </p:cNvPr>
          <p:cNvPicPr>
            <a:picLocks noChangeAspect="1"/>
          </p:cNvPicPr>
          <p:nvPr/>
        </p:nvPicPr>
        <p:blipFill>
          <a:blip r:embed="rId1"/>
          <a:stretch>
            <a:fillRect/>
          </a:stretch>
        </p:blipFill>
        <p:spPr>
          <a:xfrm>
            <a:off x="1017270" y="1885950"/>
            <a:ext cx="388620" cy="388620"/>
          </a:xfrm>
          <a:prstGeom prst="rect">
            <a:avLst/>
          </a:prstGeom>
        </p:spPr>
      </p:pic>
      <p:sp>
        <p:nvSpPr>
          <p:cNvPr id="6" name="Text 3"/>
          <p:cNvSpPr txBox="1"/>
          <p:nvPr/>
        </p:nvSpPr>
        <p:spPr>
          <a:xfrm>
            <a:off x="1828800" y="1691640"/>
            <a:ext cx="3931920"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Procedureel</a:t>
            </a:r>
            <a:endParaRPr lang="en-US" sz="2100" dirty="0"/>
          </a:p>
        </p:txBody>
      </p:sp>
      <p:sp>
        <p:nvSpPr>
          <p:cNvPr id="7" name="Text 4"/>
          <p:cNvSpPr txBox="1"/>
          <p:nvPr/>
        </p:nvSpPr>
        <p:spPr>
          <a:xfrm>
            <a:off x="1828800" y="2148840"/>
            <a:ext cx="3977640" cy="731520"/>
          </a:xfrm>
          <a:prstGeom prst="rect">
            <a:avLst/>
          </a:prstGeom>
          <a:noFill/>
          <a:ln/>
        </p:spPr>
        <p:txBody>
          <a:bodyPr wrap="square" lIns="0" tIns="0" rIns="0" bIns="0" rtlCol="0" anchor="t"/>
          <a:lstStyle/>
          <a:p>
            <a:pPr indent="0" marL="0">
              <a:buNone/>
            </a:pPr>
            <a:r>
              <a:rPr lang="en-US" sz="1500" dirty="0">
                <a:solidFill>
                  <a:schemeClr val="tx1"/>
                </a:solidFill>
              </a:rPr>
              <a:t>Een programma is een reeks stappen, gebundeld in functies.</a:t>
            </a:r>
            <a:endParaRPr lang="en-US" sz="1500" dirty="0"/>
          </a:p>
        </p:txBody>
      </p:sp>
      <p:sp>
        <p:nvSpPr>
          <p:cNvPr id="8" name="Text 5"/>
          <p:cNvSpPr txBox="1"/>
          <p:nvPr/>
        </p:nvSpPr>
        <p:spPr>
          <a:xfrm>
            <a:off x="1828800" y="2880360"/>
            <a:ext cx="3977640" cy="548640"/>
          </a:xfrm>
          <a:prstGeom prst="rect">
            <a:avLst/>
          </a:prstGeom>
          <a:noFill/>
          <a:ln/>
        </p:spPr>
        <p:txBody>
          <a:bodyPr wrap="square" lIns="0" tIns="0" rIns="0" bIns="0" rtlCol="0" anchor="t"/>
          <a:lstStyle/>
          <a:p>
            <a:pPr indent="0" marL="0">
              <a:buNone/>
            </a:pPr>
            <a:r>
              <a:rPr lang="en-US" sz="1300" i="1" dirty="0">
                <a:solidFill>
                  <a:schemeClr val="tx2"/>
                </a:solidFill>
              </a:rPr>
              <a:t>Waar je het ziet: Alles wat je tot hoofdstuk 17 schreef</a:t>
            </a:r>
            <a:endParaRPr lang="en-US" sz="1300" dirty="0"/>
          </a:p>
        </p:txBody>
      </p:sp>
      <p:sp>
        <p:nvSpPr>
          <p:cNvPr id="9" name="kaart"/>
          <p:cNvSpPr/>
          <p:nvPr/>
        </p:nvSpPr>
        <p:spPr>
          <a:xfrm>
            <a:off x="6172200" y="1417320"/>
            <a:ext cx="544068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0" name="icooncirkel"/>
          <p:cNvSpPr/>
          <p:nvPr/>
        </p:nvSpPr>
        <p:spPr>
          <a:xfrm>
            <a:off x="6446520" y="1691640"/>
            <a:ext cx="777240" cy="777240"/>
          </a:xfrm>
          <a:prstGeom prst="ellipse">
            <a:avLst/>
          </a:prstGeom>
          <a:solidFill>
            <a:schemeClr val="accent2"/>
          </a:solidFill>
          <a:ln w="12700">
            <a:solidFill>
              <a:schemeClr val="accent2"/>
            </a:solidFill>
            <a:prstDash val="solid"/>
          </a:ln>
        </p:spPr>
      </p:sp>
      <p:pic>
        <p:nvPicPr>
          <p:cNvPr id="11" name="icoon" descr="preencoded.png">    </p:cNvPr>
          <p:cNvPicPr>
            <a:picLocks noChangeAspect="1"/>
          </p:cNvPicPr>
          <p:nvPr/>
        </p:nvPicPr>
        <p:blipFill>
          <a:blip r:embed="rId2"/>
          <a:stretch>
            <a:fillRect/>
          </a:stretch>
        </p:blipFill>
        <p:spPr>
          <a:xfrm>
            <a:off x="6640830" y="1885950"/>
            <a:ext cx="388620" cy="388620"/>
          </a:xfrm>
          <a:prstGeom prst="rect">
            <a:avLst/>
          </a:prstGeom>
        </p:spPr>
      </p:pic>
      <p:sp>
        <p:nvSpPr>
          <p:cNvPr id="12" name="Text 8"/>
          <p:cNvSpPr txBox="1"/>
          <p:nvPr/>
        </p:nvSpPr>
        <p:spPr>
          <a:xfrm>
            <a:off x="7452360" y="1691640"/>
            <a:ext cx="3931920"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Objectgeoriënteerd</a:t>
            </a:r>
            <a:endParaRPr lang="en-US" sz="2100" dirty="0"/>
          </a:p>
        </p:txBody>
      </p:sp>
      <p:sp>
        <p:nvSpPr>
          <p:cNvPr id="13" name="Text 9"/>
          <p:cNvSpPr txBox="1"/>
          <p:nvPr/>
        </p:nvSpPr>
        <p:spPr>
          <a:xfrm>
            <a:off x="7452360" y="2148840"/>
            <a:ext cx="3977640" cy="731520"/>
          </a:xfrm>
          <a:prstGeom prst="rect">
            <a:avLst/>
          </a:prstGeom>
          <a:noFill/>
          <a:ln/>
        </p:spPr>
        <p:txBody>
          <a:bodyPr wrap="square" lIns="0" tIns="0" rIns="0" bIns="0" rtlCol="0" anchor="t"/>
          <a:lstStyle/>
          <a:p>
            <a:pPr indent="0" marL="0">
              <a:buNone/>
            </a:pPr>
            <a:r>
              <a:rPr lang="en-US" sz="1500" dirty="0">
                <a:solidFill>
                  <a:schemeClr val="tx1"/>
                </a:solidFill>
              </a:rPr>
              <a:t>Een programma is een verzameling objecten met gegevens en gedrag.</a:t>
            </a:r>
            <a:endParaRPr lang="en-US" sz="1500" dirty="0"/>
          </a:p>
        </p:txBody>
      </p:sp>
      <p:sp>
        <p:nvSpPr>
          <p:cNvPr id="14" name="Text 10"/>
          <p:cNvSpPr txBox="1"/>
          <p:nvPr/>
        </p:nvSpPr>
        <p:spPr>
          <a:xfrm>
            <a:off x="7452360" y="2880360"/>
            <a:ext cx="3977640" cy="548640"/>
          </a:xfrm>
          <a:prstGeom prst="rect">
            <a:avLst/>
          </a:prstGeom>
          <a:noFill/>
          <a:ln/>
        </p:spPr>
        <p:txBody>
          <a:bodyPr wrap="square" lIns="0" tIns="0" rIns="0" bIns="0" rtlCol="0" anchor="t"/>
          <a:lstStyle/>
          <a:p>
            <a:pPr indent="0" marL="0">
              <a:buNone/>
            </a:pPr>
            <a:r>
              <a:rPr lang="en-US" sz="1300" i="1" dirty="0">
                <a:solidFill>
                  <a:schemeClr val="tx2"/>
                </a:solidFill>
              </a:rPr>
              <a:t>Waar je het ziet: Hoofdstuk 18, en Java, C#, C++</a:t>
            </a:r>
            <a:endParaRPr lang="en-US" sz="1300" dirty="0"/>
          </a:p>
        </p:txBody>
      </p:sp>
      <p:sp>
        <p:nvSpPr>
          <p:cNvPr id="15" name="kaart"/>
          <p:cNvSpPr/>
          <p:nvPr/>
        </p:nvSpPr>
        <p:spPr>
          <a:xfrm>
            <a:off x="548640" y="3749040"/>
            <a:ext cx="544068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6" name="icooncirkel"/>
          <p:cNvSpPr/>
          <p:nvPr/>
        </p:nvSpPr>
        <p:spPr>
          <a:xfrm>
            <a:off x="822960" y="4023360"/>
            <a:ext cx="777240" cy="777240"/>
          </a:xfrm>
          <a:prstGeom prst="ellipse">
            <a:avLst/>
          </a:prstGeom>
          <a:solidFill>
            <a:schemeClr val="accent3"/>
          </a:solidFill>
          <a:ln w="12700">
            <a:solidFill>
              <a:schemeClr val="accent3"/>
            </a:solidFill>
            <a:prstDash val="solid"/>
          </a:ln>
        </p:spPr>
      </p:sp>
      <p:pic>
        <p:nvPicPr>
          <p:cNvPr id="17" name="icoon" descr="preencoded.png">    </p:cNvPr>
          <p:cNvPicPr>
            <a:picLocks noChangeAspect="1"/>
          </p:cNvPicPr>
          <p:nvPr/>
        </p:nvPicPr>
        <p:blipFill>
          <a:blip r:embed="rId3"/>
          <a:stretch>
            <a:fillRect/>
          </a:stretch>
        </p:blipFill>
        <p:spPr>
          <a:xfrm>
            <a:off x="1017270" y="4217670"/>
            <a:ext cx="388620" cy="388620"/>
          </a:xfrm>
          <a:prstGeom prst="rect">
            <a:avLst/>
          </a:prstGeom>
        </p:spPr>
      </p:pic>
      <p:sp>
        <p:nvSpPr>
          <p:cNvPr id="18" name="Text 13"/>
          <p:cNvSpPr txBox="1"/>
          <p:nvPr/>
        </p:nvSpPr>
        <p:spPr>
          <a:xfrm>
            <a:off x="1828800" y="4023360"/>
            <a:ext cx="3931920"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Functioneel</a:t>
            </a:r>
            <a:endParaRPr lang="en-US" sz="2100" dirty="0"/>
          </a:p>
        </p:txBody>
      </p:sp>
      <p:sp>
        <p:nvSpPr>
          <p:cNvPr id="19" name="Text 14"/>
          <p:cNvSpPr txBox="1"/>
          <p:nvPr/>
        </p:nvSpPr>
        <p:spPr>
          <a:xfrm>
            <a:off x="1828800" y="4480560"/>
            <a:ext cx="3977640" cy="731520"/>
          </a:xfrm>
          <a:prstGeom prst="rect">
            <a:avLst/>
          </a:prstGeom>
          <a:noFill/>
          <a:ln/>
        </p:spPr>
        <p:txBody>
          <a:bodyPr wrap="square" lIns="0" tIns="0" rIns="0" bIns="0" rtlCol="0" anchor="t"/>
          <a:lstStyle/>
          <a:p>
            <a:pPr indent="0" marL="0">
              <a:buNone/>
            </a:pPr>
            <a:r>
              <a:rPr lang="en-US" sz="1500" dirty="0">
                <a:solidFill>
                  <a:schemeClr val="tx1"/>
                </a:solidFill>
              </a:rPr>
              <a:t>Een programma is een samenstel van functies zonder neveneffecten.</a:t>
            </a:r>
            <a:endParaRPr lang="en-US" sz="1500" dirty="0"/>
          </a:p>
        </p:txBody>
      </p:sp>
      <p:sp>
        <p:nvSpPr>
          <p:cNvPr id="20" name="Text 15"/>
          <p:cNvSpPr txBox="1"/>
          <p:nvPr/>
        </p:nvSpPr>
        <p:spPr>
          <a:xfrm>
            <a:off x="1828800" y="5212080"/>
            <a:ext cx="3977640" cy="548640"/>
          </a:xfrm>
          <a:prstGeom prst="rect">
            <a:avLst/>
          </a:prstGeom>
          <a:noFill/>
          <a:ln/>
        </p:spPr>
        <p:txBody>
          <a:bodyPr wrap="square" lIns="0" tIns="0" rIns="0" bIns="0" rtlCol="0" anchor="t"/>
          <a:lstStyle/>
          <a:p>
            <a:pPr indent="0" marL="0">
              <a:buNone/>
            </a:pPr>
            <a:r>
              <a:rPr lang="en-US" sz="1300" i="1" dirty="0">
                <a:solidFill>
                  <a:schemeClr val="tx2"/>
                </a:solidFill>
              </a:rPr>
              <a:t>Waar je het ziet: Haskell, en map, filter uit dit hoofdstuk, en de zuivere functies uit hoofdstuk 11</a:t>
            </a:r>
            <a:endParaRPr lang="en-US" sz="1300" dirty="0"/>
          </a:p>
        </p:txBody>
      </p:sp>
      <p:sp>
        <p:nvSpPr>
          <p:cNvPr id="21" name="kaart"/>
          <p:cNvSpPr/>
          <p:nvPr/>
        </p:nvSpPr>
        <p:spPr>
          <a:xfrm>
            <a:off x="6172200" y="3749040"/>
            <a:ext cx="544068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2" name="icooncirkel"/>
          <p:cNvSpPr/>
          <p:nvPr/>
        </p:nvSpPr>
        <p:spPr>
          <a:xfrm>
            <a:off x="6446520" y="4023360"/>
            <a:ext cx="777240" cy="777240"/>
          </a:xfrm>
          <a:prstGeom prst="ellipse">
            <a:avLst/>
          </a:prstGeom>
          <a:solidFill>
            <a:schemeClr val="accent5"/>
          </a:solidFill>
          <a:ln w="12700">
            <a:solidFill>
              <a:schemeClr val="accent5"/>
            </a:solidFill>
            <a:prstDash val="solid"/>
          </a:ln>
        </p:spPr>
      </p:sp>
      <p:pic>
        <p:nvPicPr>
          <p:cNvPr id="23" name="icoon" descr="preencoded.png">    </p:cNvPr>
          <p:cNvPicPr>
            <a:picLocks noChangeAspect="1"/>
          </p:cNvPicPr>
          <p:nvPr/>
        </p:nvPicPr>
        <p:blipFill>
          <a:blip r:embed="rId4"/>
          <a:stretch>
            <a:fillRect/>
          </a:stretch>
        </p:blipFill>
        <p:spPr>
          <a:xfrm>
            <a:off x="6640830" y="4217670"/>
            <a:ext cx="388620" cy="388620"/>
          </a:xfrm>
          <a:prstGeom prst="rect">
            <a:avLst/>
          </a:prstGeom>
        </p:spPr>
      </p:pic>
      <p:sp>
        <p:nvSpPr>
          <p:cNvPr id="24" name="Text 18"/>
          <p:cNvSpPr txBox="1"/>
          <p:nvPr/>
        </p:nvSpPr>
        <p:spPr>
          <a:xfrm>
            <a:off x="7452360" y="4023360"/>
            <a:ext cx="3931920"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Declaratief</a:t>
            </a:r>
            <a:endParaRPr lang="en-US" sz="2100" dirty="0"/>
          </a:p>
        </p:txBody>
      </p:sp>
      <p:sp>
        <p:nvSpPr>
          <p:cNvPr id="25" name="Text 19"/>
          <p:cNvSpPr txBox="1"/>
          <p:nvPr/>
        </p:nvSpPr>
        <p:spPr>
          <a:xfrm>
            <a:off x="7452360" y="4480560"/>
            <a:ext cx="3977640" cy="731520"/>
          </a:xfrm>
          <a:prstGeom prst="rect">
            <a:avLst/>
          </a:prstGeom>
          <a:noFill/>
          <a:ln/>
        </p:spPr>
        <p:txBody>
          <a:bodyPr wrap="square" lIns="0" tIns="0" rIns="0" bIns="0" rtlCol="0" anchor="t"/>
          <a:lstStyle/>
          <a:p>
            <a:pPr indent="0" marL="0">
              <a:buNone/>
            </a:pPr>
            <a:r>
              <a:rPr lang="en-US" sz="1500" dirty="0">
                <a:solidFill>
                  <a:schemeClr val="tx1"/>
                </a:solidFill>
              </a:rPr>
              <a:t>Je zegt wát je wilt, niet hóe het moet gebeuren.</a:t>
            </a:r>
            <a:endParaRPr lang="en-US" sz="1500" dirty="0"/>
          </a:p>
        </p:txBody>
      </p:sp>
      <p:sp>
        <p:nvSpPr>
          <p:cNvPr id="26" name="Text 20"/>
          <p:cNvSpPr txBox="1"/>
          <p:nvPr/>
        </p:nvSpPr>
        <p:spPr>
          <a:xfrm>
            <a:off x="7452360" y="5212080"/>
            <a:ext cx="3977640" cy="548640"/>
          </a:xfrm>
          <a:prstGeom prst="rect">
            <a:avLst/>
          </a:prstGeom>
          <a:noFill/>
          <a:ln/>
        </p:spPr>
        <p:txBody>
          <a:bodyPr wrap="square" lIns="0" tIns="0" rIns="0" bIns="0" rtlCol="0" anchor="t"/>
          <a:lstStyle/>
          <a:p>
            <a:pPr indent="0" marL="0">
              <a:buNone/>
            </a:pPr>
            <a:r>
              <a:rPr lang="en-US" sz="1300" i="1" dirty="0">
                <a:solidFill>
                  <a:schemeClr val="tx2"/>
                </a:solidFill>
              </a:rPr>
              <a:t>Waar je het ziet: SQL, HTML, CSS</a:t>
            </a:r>
            <a:endParaRPr lang="en-US" sz="1300" dirty="0"/>
          </a:p>
        </p:txBody>
      </p:sp>
      <p:sp>
        <p:nvSpPr>
          <p:cNvPr id="27" name="Text 2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500" b="1" dirty="0">
                <a:solidFill>
                  <a:schemeClr val="tx1"/>
                </a:solidFill>
              </a:rPr>
              <a:t>Python is bewust multiparadigma: </a:t>
            </a:r>
            <a:pPr indent="0" marL="0">
              <a:buNone/>
            </a:pPr>
            <a:r>
              <a:rPr lang="en-US" sz="1500" dirty="0">
                <a:solidFill>
                  <a:schemeClr val="tx1"/>
                </a:solidFill>
              </a:rPr>
              <a:t>je kunt alle vier gebruiken, en in de praktijk meng je ze.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Eén probleem, drie schrijfwijzen</a:t>
            </a:r>
            <a:endParaRPr lang="en-US" sz="3400" dirty="0"/>
          </a:p>
        </p:txBody>
      </p:sp>
      <p:sp>
        <p:nvSpPr>
          <p:cNvPr id="3" name="codevak"/>
          <p:cNvSpPr/>
          <p:nvPr/>
        </p:nvSpPr>
        <p:spPr>
          <a:xfrm>
            <a:off x="548640" y="1417320"/>
            <a:ext cx="6766560" cy="4663440"/>
          </a:xfrm>
          <a:prstGeom prst="roundRect">
            <a:avLst>
              <a:gd name="adj" fmla="val 1961"/>
            </a:avLst>
          </a:prstGeom>
          <a:solidFill>
            <a:srgbClr val="161A33"/>
          </a:solidFill>
          <a:ln w="12700">
            <a:solidFill>
              <a:srgbClr val="161A33"/>
            </a:solidFill>
            <a:prstDash val="solid"/>
          </a:ln>
        </p:spPr>
      </p:sp>
      <p:sp>
        <p:nvSpPr>
          <p:cNvPr id="4" name="Text 2"/>
          <p:cNvSpPr txBox="1"/>
          <p:nvPr/>
        </p:nvSpPr>
        <p:spPr>
          <a:xfrm>
            <a:off x="777240" y="1527048"/>
            <a:ext cx="630936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PYTHON</a:t>
            </a:r>
            <a:endParaRPr lang="en-US" sz="1100" dirty="0"/>
          </a:p>
        </p:txBody>
      </p:sp>
      <p:sp>
        <p:nvSpPr>
          <p:cNvPr id="5" name="code"/>
          <p:cNvSpPr txBox="1"/>
          <p:nvPr/>
        </p:nvSpPr>
        <p:spPr>
          <a:xfrm>
            <a:off x="777240" y="1874520"/>
            <a:ext cx="6309360" cy="4069080"/>
          </a:xfrm>
          <a:prstGeom prst="rect">
            <a:avLst/>
          </a:prstGeom>
          <a:noFill/>
          <a:ln/>
        </p:spPr>
        <p:txBody>
          <a:bodyPr wrap="square" lIns="0" tIns="0" rIns="0" bIns="0" rtlCol="0" anchor="t"/>
          <a:lstStyle/>
          <a:p>
            <a:pPr indent="0" marL="0">
              <a:buNone/>
            </a:pPr>
            <a:r>
              <a:rPr lang="en-US" sz="1500" dirty="0">
                <a:solidFill>
                  <a:srgbClr val="E8ECF8"/>
                </a:solidFill>
                <a:latin typeface="Consolas" pitchFamily="34" charset="0"/>
                <a:ea typeface="Consolas" pitchFamily="34" charset="-122"/>
                <a:cs typeface="Consolas" pitchFamily="34" charset="-120"/>
              </a:rPr>
              <a:t>namen = ["anke", "bram", "cato"]</a:t>
            </a:r>
            <a:endParaRPr lang="en-US" sz="1500" dirty="0"/>
          </a:p>
          <a:p>
            <a:pPr indent="0" marL="0">
              <a:buNone/>
            </a:pPr>
            <a:r>
              <a:rPr lang="en-US" sz="1500" dirty="0">
                <a:solidFill>
                  <a:srgbClr val="E8ECF8"/>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8A93B8"/>
                </a:solidFill>
                <a:latin typeface="Consolas" pitchFamily="34" charset="0"/>
                <a:ea typeface="Consolas" pitchFamily="34" charset="-122"/>
                <a:cs typeface="Consolas" pitchFamily="34" charset="-120"/>
              </a:rPr>
              <a:t># procedureel</a:t>
            </a:r>
            <a:endParaRPr lang="en-US" sz="1500" dirty="0"/>
          </a:p>
          <a:p>
            <a:pPr indent="0" marL="0">
              <a:buNone/>
            </a:pPr>
            <a:r>
              <a:rPr lang="en-US" sz="1500" dirty="0">
                <a:solidFill>
                  <a:srgbClr val="E8ECF8"/>
                </a:solidFill>
                <a:latin typeface="Consolas" pitchFamily="34" charset="0"/>
                <a:ea typeface="Consolas" pitchFamily="34" charset="-122"/>
                <a:cs typeface="Consolas" pitchFamily="34" charset="-120"/>
              </a:rPr>
              <a:t>uit = []</a:t>
            </a:r>
            <a:endParaRPr lang="en-US" sz="1500" dirty="0"/>
          </a:p>
          <a:p>
            <a:pPr indent="0" marL="0">
              <a:buNone/>
            </a:pPr>
            <a:r>
              <a:rPr lang="en-US" sz="1500" dirty="0">
                <a:solidFill>
                  <a:srgbClr val="E8ECF8"/>
                </a:solidFill>
                <a:latin typeface="Consolas" pitchFamily="34" charset="0"/>
                <a:ea typeface="Consolas" pitchFamily="34" charset="-122"/>
                <a:cs typeface="Consolas" pitchFamily="34" charset="-120"/>
              </a:rPr>
              <a:t>for naam in namen:</a:t>
            </a:r>
            <a:endParaRPr lang="en-US" sz="1500" dirty="0"/>
          </a:p>
          <a:p>
            <a:pPr indent="0" marL="0">
              <a:buNone/>
            </a:pPr>
            <a:r>
              <a:rPr lang="en-US" sz="1500" dirty="0">
                <a:solidFill>
                  <a:srgbClr val="E8ECF8"/>
                </a:solidFill>
                <a:latin typeface="Consolas" pitchFamily="34" charset="0"/>
                <a:ea typeface="Consolas" pitchFamily="34" charset="-122"/>
                <a:cs typeface="Consolas" pitchFamily="34" charset="-120"/>
              </a:rPr>
              <a:t>    uit.append(naam.capitalize())</a:t>
            </a:r>
            <a:endParaRPr lang="en-US" sz="1500" dirty="0"/>
          </a:p>
          <a:p>
            <a:pPr indent="0" marL="0">
              <a:buNone/>
            </a:pPr>
            <a:r>
              <a:rPr lang="en-US" sz="1500" dirty="0">
                <a:solidFill>
                  <a:srgbClr val="E8ECF8"/>
                </a:solidFill>
                <a:latin typeface="Consolas" pitchFamily="34" charset="0"/>
                <a:ea typeface="Consolas" pitchFamily="34" charset="-122"/>
                <a:cs typeface="Consolas" pitchFamily="34" charset="-120"/>
              </a:rPr>
              <a:t>print(uit)</a:t>
            </a:r>
            <a:endParaRPr lang="en-US" sz="1500" dirty="0"/>
          </a:p>
          <a:p>
            <a:pPr indent="0" marL="0">
              <a:buNone/>
            </a:pPr>
            <a:r>
              <a:rPr lang="en-US" sz="1500" dirty="0">
                <a:solidFill>
                  <a:srgbClr val="E8ECF8"/>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8A93B8"/>
                </a:solidFill>
                <a:latin typeface="Consolas" pitchFamily="34" charset="0"/>
                <a:ea typeface="Consolas" pitchFamily="34" charset="-122"/>
                <a:cs typeface="Consolas" pitchFamily="34" charset="-120"/>
              </a:rPr>
              <a:t># functioneel</a:t>
            </a:r>
            <a:endParaRPr lang="en-US" sz="1500" dirty="0"/>
          </a:p>
          <a:p>
            <a:pPr indent="0" marL="0">
              <a:buNone/>
            </a:pPr>
            <a:r>
              <a:rPr lang="en-US" sz="1500" dirty="0">
                <a:solidFill>
                  <a:srgbClr val="E8ECF8"/>
                </a:solidFill>
                <a:latin typeface="Consolas" pitchFamily="34" charset="0"/>
                <a:ea typeface="Consolas" pitchFamily="34" charset="-122"/>
                <a:cs typeface="Consolas" pitchFamily="34" charset="-120"/>
              </a:rPr>
              <a:t>print(list(map(str.capitalize, namen)))</a:t>
            </a:r>
            <a:endParaRPr lang="en-US" sz="1500" dirty="0"/>
          </a:p>
          <a:p>
            <a:pPr indent="0" marL="0">
              <a:buNone/>
            </a:pPr>
            <a:r>
              <a:rPr lang="en-US" sz="1500" dirty="0">
                <a:solidFill>
                  <a:srgbClr val="E8ECF8"/>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8A93B8"/>
                </a:solidFill>
                <a:latin typeface="Consolas" pitchFamily="34" charset="0"/>
                <a:ea typeface="Consolas" pitchFamily="34" charset="-122"/>
                <a:cs typeface="Consolas" pitchFamily="34" charset="-120"/>
              </a:rPr>
              <a:t># de Python-manier, die ertussenin zit</a:t>
            </a:r>
            <a:endParaRPr lang="en-US" sz="1500" dirty="0"/>
          </a:p>
          <a:p>
            <a:pPr indent="0" marL="0">
              <a:buNone/>
            </a:pPr>
            <a:r>
              <a:rPr lang="en-US" sz="1500" dirty="0">
                <a:solidFill>
                  <a:srgbClr val="E8ECF8"/>
                </a:solidFill>
                <a:latin typeface="Consolas" pitchFamily="34" charset="0"/>
                <a:ea typeface="Consolas" pitchFamily="34" charset="-122"/>
                <a:cs typeface="Consolas" pitchFamily="34" charset="-120"/>
              </a:rPr>
              <a:t>print([naam.capitalize() for naam in namen])</a:t>
            </a:r>
            <a:endParaRPr lang="en-US" sz="1500" dirty="0"/>
          </a:p>
        </p:txBody>
      </p:sp>
      <p:sp>
        <p:nvSpPr>
          <p:cNvPr id="6" name="uitvoervak"/>
          <p:cNvSpPr/>
          <p:nvPr/>
        </p:nvSpPr>
        <p:spPr>
          <a:xfrm>
            <a:off x="7635240" y="1417320"/>
            <a:ext cx="3977640" cy="1691640"/>
          </a:xfrm>
          <a:prstGeom prst="roundRect">
            <a:avLst>
              <a:gd name="adj" fmla="val 5405"/>
            </a:avLst>
          </a:prstGeom>
          <a:solidFill>
            <a:schemeClr val="bg2"/>
          </a:solidFill>
          <a:ln w="12700">
            <a:solidFill>
              <a:schemeClr val="bg2"/>
            </a:solidFill>
            <a:prstDash val="solid"/>
          </a:ln>
        </p:spPr>
      </p:sp>
      <p:sp>
        <p:nvSpPr>
          <p:cNvPr id="7" name="Text 5"/>
          <p:cNvSpPr txBox="1"/>
          <p:nvPr/>
        </p:nvSpPr>
        <p:spPr>
          <a:xfrm>
            <a:off x="7863840" y="1527048"/>
            <a:ext cx="182880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UITVOER</a:t>
            </a:r>
            <a:endParaRPr lang="en-US" sz="1100" dirty="0"/>
          </a:p>
        </p:txBody>
      </p:sp>
      <p:sp>
        <p:nvSpPr>
          <p:cNvPr id="8" name="uitvoer"/>
          <p:cNvSpPr txBox="1"/>
          <p:nvPr/>
        </p:nvSpPr>
        <p:spPr>
          <a:xfrm>
            <a:off x="7863840" y="1874520"/>
            <a:ext cx="3520440" cy="1097280"/>
          </a:xfrm>
          <a:prstGeom prst="rect">
            <a:avLst/>
          </a:prstGeom>
          <a:noFill/>
          <a:ln/>
        </p:spPr>
        <p:txBody>
          <a:bodyPr wrap="square" lIns="0" tIns="0" rIns="0" bIns="0" rtlCol="0" anchor="t"/>
          <a:lstStyle/>
          <a:p>
            <a:pPr indent="0" marL="0">
              <a:buNone/>
            </a:pPr>
            <a:r>
              <a:rPr lang="en-US" sz="1400" dirty="0">
                <a:solidFill>
                  <a:schemeClr val="tx1"/>
                </a:solidFill>
                <a:latin typeface="Consolas" pitchFamily="34" charset="0"/>
                <a:ea typeface="Consolas" pitchFamily="34" charset="-122"/>
                <a:cs typeface="Consolas" pitchFamily="34" charset="-120"/>
              </a:rPr>
              <a:t>['Anke', 'Bram', 'Cato']</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['Anke', 'Bram', 'Cato']</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['Anke', 'Bram', 'Cato']</a:t>
            </a:r>
            <a:endParaRPr lang="en-US" sz="1400" dirty="0"/>
          </a:p>
        </p:txBody>
      </p:sp>
      <p:sp>
        <p:nvSpPr>
          <p:cNvPr id="9" name="Text 7"/>
          <p:cNvSpPr txBox="1"/>
          <p:nvPr/>
        </p:nvSpPr>
        <p:spPr>
          <a:xfrm>
            <a:off x="7635240" y="3429000"/>
            <a:ext cx="397764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Drie keer dezelfde uitkomst.</a:t>
            </a:r>
            <a:endParaRPr lang="en-US" sz="1800" dirty="0"/>
          </a:p>
        </p:txBody>
      </p:sp>
      <p:sp>
        <p:nvSpPr>
          <p:cNvPr id="10" name="Text 8"/>
          <p:cNvSpPr txBox="1"/>
          <p:nvPr/>
        </p:nvSpPr>
        <p:spPr>
          <a:xfrm>
            <a:off x="7635240" y="3931920"/>
            <a:ext cx="3977640" cy="210312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rPr>
              <a:t>Procedureel</a:t>
            </a:r>
            <a:pPr indent="0" marL="0">
              <a:spcAft>
                <a:spcPts val="800"/>
              </a:spcAft>
              <a:buNone/>
            </a:pPr>
            <a:r>
              <a:rPr lang="en-US" sz="1500" dirty="0">
                <a:solidFill>
                  <a:schemeClr val="tx2"/>
                </a:solidFill>
              </a:rPr>
              <a:t> zegt elke stap: een lege lijst, een lus, een append.</a:t>
            </a:r>
            <a:endParaRPr lang="en-US" sz="1500" dirty="0"/>
          </a:p>
          <a:p>
            <a:pPr indent="0" marL="0">
              <a:spcAft>
                <a:spcPts val="800"/>
              </a:spcAft>
              <a:buNone/>
            </a:pPr>
            <a:r>
              <a:rPr lang="en-US" sz="1500" b="1" dirty="0">
                <a:solidFill>
                  <a:schemeClr val="tx2"/>
                </a:solidFill>
              </a:rPr>
              <a:t>Functioneel</a:t>
            </a:r>
            <a:pPr indent="0" marL="0">
              <a:spcAft>
                <a:spcPts val="800"/>
              </a:spcAft>
              <a:buNone/>
            </a:pPr>
            <a:r>
              <a:rPr lang="en-US" sz="1500" dirty="0">
                <a:solidFill>
                  <a:schemeClr val="tx2"/>
                </a:solidFill>
              </a:rPr>
              <a:t> past één functie toe op alles.</a:t>
            </a:r>
            <a:endParaRPr lang="en-US" sz="1500" dirty="0"/>
          </a:p>
          <a:p>
            <a:pPr indent="0" marL="0">
              <a:spcAft>
                <a:spcPts val="800"/>
              </a:spcAft>
              <a:buNone/>
            </a:pPr>
            <a:r>
              <a:rPr lang="en-US" sz="1500" b="1" dirty="0">
                <a:solidFill>
                  <a:schemeClr val="tx2"/>
                </a:solidFill>
              </a:rPr>
              <a:t>De comprehension</a:t>
            </a:r>
            <a:pPr indent="0" marL="0">
              <a:spcAft>
                <a:spcPts val="800"/>
              </a:spcAft>
              <a:buNone/>
            </a:pPr>
            <a:r>
              <a:rPr lang="en-US" sz="1500" dirty="0">
                <a:solidFill>
                  <a:schemeClr val="tx2"/>
                </a:solidFill>
              </a:rPr>
              <a:t> zit ertussenin en is de gewone Python-stijl.</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Zes trends van dit moment</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20.4</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Wat er nu in het vak beweegt, en welk probleem elke trend oplost.</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Zes trends in één oogopslag</a:t>
            </a:r>
            <a:endParaRPr lang="en-US" sz="3400" dirty="0"/>
          </a:p>
        </p:txBody>
      </p:sp>
      <p:sp>
        <p:nvSpPr>
          <p:cNvPr id="3" name="kaart"/>
          <p:cNvSpPr/>
          <p:nvPr/>
        </p:nvSpPr>
        <p:spPr>
          <a:xfrm>
            <a:off x="548640"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Text 2"/>
          <p:cNvSpPr txBox="1"/>
          <p:nvPr/>
        </p:nvSpPr>
        <p:spPr>
          <a:xfrm>
            <a:off x="3383280" y="1645920"/>
            <a:ext cx="457200" cy="457200"/>
          </a:xfrm>
          <a:prstGeom prst="rect">
            <a:avLst/>
          </a:prstGeom>
          <a:noFill/>
          <a:ln/>
        </p:spPr>
        <p:txBody>
          <a:bodyPr wrap="square" lIns="0" tIns="0" rIns="0" bIns="0" rtlCol="0" anchor="t"/>
          <a:lstStyle/>
          <a:p>
            <a:pPr algn="r" indent="0" marL="0">
              <a:buNone/>
            </a:pPr>
            <a:r>
              <a:rPr lang="en-US" sz="2800" b="1" dirty="0">
                <a:solidFill>
                  <a:schemeClr val="accent1"/>
                </a:solidFill>
                <a:latin typeface="Cambria" pitchFamily="34" charset="0"/>
                <a:ea typeface="Cambria" pitchFamily="34" charset="-122"/>
                <a:cs typeface="Cambria" pitchFamily="34" charset="-120"/>
              </a:rPr>
              <a:t>1</a:t>
            </a:r>
            <a:endParaRPr lang="en-US" sz="2800" dirty="0"/>
          </a:p>
        </p:txBody>
      </p:sp>
      <p:sp>
        <p:nvSpPr>
          <p:cNvPr id="5" name="icooncirkel"/>
          <p:cNvSpPr/>
          <p:nvPr/>
        </p:nvSpPr>
        <p:spPr>
          <a:xfrm>
            <a:off x="822960" y="1737360"/>
            <a:ext cx="731520" cy="731520"/>
          </a:xfrm>
          <a:prstGeom prst="ellipse">
            <a:avLst/>
          </a:prstGeom>
          <a:solidFill>
            <a:schemeClr val="accent1"/>
          </a:solidFill>
          <a:ln w="12700">
            <a:solidFill>
              <a:schemeClr val="accent1"/>
            </a:solidFill>
            <a:prstDash val="solid"/>
          </a:ln>
        </p:spPr>
      </p:sp>
      <p:pic>
        <p:nvPicPr>
          <p:cNvPr id="6" name="icoon" descr="preencoded.png">    </p:cNvPr>
          <p:cNvPicPr>
            <a:picLocks noChangeAspect="1"/>
          </p:cNvPicPr>
          <p:nvPr/>
        </p:nvPicPr>
        <p:blipFill>
          <a:blip r:embed="rId1"/>
          <a:stretch>
            <a:fillRect/>
          </a:stretch>
        </p:blipFill>
        <p:spPr>
          <a:xfrm>
            <a:off x="1005840" y="1920240"/>
            <a:ext cx="365760" cy="365760"/>
          </a:xfrm>
          <a:prstGeom prst="rect">
            <a:avLst/>
          </a:prstGeom>
        </p:spPr>
      </p:pic>
      <p:sp>
        <p:nvSpPr>
          <p:cNvPr id="7" name="Text 4"/>
          <p:cNvSpPr txBox="1"/>
          <p:nvPr/>
        </p:nvSpPr>
        <p:spPr>
          <a:xfrm>
            <a:off x="822960" y="2560320"/>
            <a:ext cx="30175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AI-assistentie</a:t>
            </a:r>
            <a:endParaRPr lang="en-US" sz="1800" dirty="0"/>
          </a:p>
        </p:txBody>
      </p:sp>
      <p:sp>
        <p:nvSpPr>
          <p:cNvPr id="8" name="Text 5"/>
          <p:cNvSpPr txBox="1"/>
          <p:nvPr/>
        </p:nvSpPr>
        <p:spPr>
          <a:xfrm>
            <a:off x="822960" y="2971800"/>
            <a:ext cx="3017520" cy="548640"/>
          </a:xfrm>
          <a:prstGeom prst="rect">
            <a:avLst/>
          </a:prstGeom>
          <a:noFill/>
          <a:ln/>
        </p:spPr>
        <p:txBody>
          <a:bodyPr wrap="square" lIns="0" tIns="0" rIns="0" bIns="0" rtlCol="0" anchor="t"/>
          <a:lstStyle/>
          <a:p>
            <a:pPr indent="0" marL="0">
              <a:buNone/>
            </a:pPr>
            <a:r>
              <a:rPr lang="en-US" sz="1400" dirty="0">
                <a:solidFill>
                  <a:schemeClr val="tx2"/>
                </a:solidFill>
              </a:rPr>
              <a:t>Code die voorgesteld wordt terwijl je typt</a:t>
            </a:r>
            <a:endParaRPr lang="en-US" sz="1400" dirty="0"/>
          </a:p>
        </p:txBody>
      </p:sp>
      <p:sp>
        <p:nvSpPr>
          <p:cNvPr id="9" name="kaart"/>
          <p:cNvSpPr/>
          <p:nvPr/>
        </p:nvSpPr>
        <p:spPr>
          <a:xfrm>
            <a:off x="4297680"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0" name="Text 7"/>
          <p:cNvSpPr txBox="1"/>
          <p:nvPr/>
        </p:nvSpPr>
        <p:spPr>
          <a:xfrm>
            <a:off x="7132320" y="1645920"/>
            <a:ext cx="457200" cy="457200"/>
          </a:xfrm>
          <a:prstGeom prst="rect">
            <a:avLst/>
          </a:prstGeom>
          <a:noFill/>
          <a:ln/>
        </p:spPr>
        <p:txBody>
          <a:bodyPr wrap="square" lIns="0" tIns="0" rIns="0" bIns="0" rtlCol="0" anchor="t"/>
          <a:lstStyle/>
          <a:p>
            <a:pPr algn="r" indent="0" marL="0">
              <a:buNone/>
            </a:pPr>
            <a:r>
              <a:rPr lang="en-US" sz="2800" b="1" dirty="0">
                <a:solidFill>
                  <a:schemeClr val="accent1"/>
                </a:solidFill>
                <a:latin typeface="Cambria" pitchFamily="34" charset="0"/>
                <a:ea typeface="Cambria" pitchFamily="34" charset="-122"/>
                <a:cs typeface="Cambria" pitchFamily="34" charset="-120"/>
              </a:rPr>
              <a:t>2</a:t>
            </a:r>
            <a:endParaRPr lang="en-US" sz="2800" dirty="0"/>
          </a:p>
        </p:txBody>
      </p:sp>
      <p:sp>
        <p:nvSpPr>
          <p:cNvPr id="11" name="icooncirkel"/>
          <p:cNvSpPr/>
          <p:nvPr/>
        </p:nvSpPr>
        <p:spPr>
          <a:xfrm>
            <a:off x="4572000" y="1737360"/>
            <a:ext cx="731520" cy="731520"/>
          </a:xfrm>
          <a:prstGeom prst="ellipse">
            <a:avLst/>
          </a:prstGeom>
          <a:solidFill>
            <a:schemeClr val="accent2"/>
          </a:solidFill>
          <a:ln w="12700">
            <a:solidFill>
              <a:schemeClr val="accent2"/>
            </a:solidFill>
            <a:prstDash val="solid"/>
          </a:ln>
        </p:spPr>
      </p:sp>
      <p:pic>
        <p:nvPicPr>
          <p:cNvPr id="12" name="icoon" descr="preencoded.png">    </p:cNvPr>
          <p:cNvPicPr>
            <a:picLocks noChangeAspect="1"/>
          </p:cNvPicPr>
          <p:nvPr/>
        </p:nvPicPr>
        <p:blipFill>
          <a:blip r:embed="rId2"/>
          <a:stretch>
            <a:fillRect/>
          </a:stretch>
        </p:blipFill>
        <p:spPr>
          <a:xfrm>
            <a:off x="4754880" y="1920240"/>
            <a:ext cx="365760" cy="365760"/>
          </a:xfrm>
          <a:prstGeom prst="rect">
            <a:avLst/>
          </a:prstGeom>
        </p:spPr>
      </p:pic>
      <p:sp>
        <p:nvSpPr>
          <p:cNvPr id="13" name="Text 9"/>
          <p:cNvSpPr txBox="1"/>
          <p:nvPr/>
        </p:nvSpPr>
        <p:spPr>
          <a:xfrm>
            <a:off x="4572000" y="2560320"/>
            <a:ext cx="30175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Types in dynamische talen</a:t>
            </a:r>
            <a:endParaRPr lang="en-US" sz="1800" dirty="0"/>
          </a:p>
        </p:txBody>
      </p:sp>
      <p:sp>
        <p:nvSpPr>
          <p:cNvPr id="14" name="Text 10"/>
          <p:cNvSpPr txBox="1"/>
          <p:nvPr/>
        </p:nvSpPr>
        <p:spPr>
          <a:xfrm>
            <a:off x="4572000" y="2971800"/>
            <a:ext cx="3017520" cy="548640"/>
          </a:xfrm>
          <a:prstGeom prst="rect">
            <a:avLst/>
          </a:prstGeom>
          <a:noFill/>
          <a:ln/>
        </p:spPr>
        <p:txBody>
          <a:bodyPr wrap="square" lIns="0" tIns="0" rIns="0" bIns="0" rtlCol="0" anchor="t"/>
          <a:lstStyle/>
          <a:p>
            <a:pPr indent="0" marL="0">
              <a:buNone/>
            </a:pPr>
            <a:r>
              <a:rPr lang="en-US" sz="1400" dirty="0">
                <a:solidFill>
                  <a:schemeClr val="tx2"/>
                </a:solidFill>
              </a:rPr>
              <a:t>Type hints in Python, TypeScript bij JavaScript</a:t>
            </a:r>
            <a:endParaRPr lang="en-US" sz="1400" dirty="0"/>
          </a:p>
        </p:txBody>
      </p:sp>
      <p:sp>
        <p:nvSpPr>
          <p:cNvPr id="15" name="kaart"/>
          <p:cNvSpPr/>
          <p:nvPr/>
        </p:nvSpPr>
        <p:spPr>
          <a:xfrm>
            <a:off x="8046720" y="146304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6" name="Text 12"/>
          <p:cNvSpPr txBox="1"/>
          <p:nvPr/>
        </p:nvSpPr>
        <p:spPr>
          <a:xfrm>
            <a:off x="10881360" y="1645920"/>
            <a:ext cx="457200" cy="457200"/>
          </a:xfrm>
          <a:prstGeom prst="rect">
            <a:avLst/>
          </a:prstGeom>
          <a:noFill/>
          <a:ln/>
        </p:spPr>
        <p:txBody>
          <a:bodyPr wrap="square" lIns="0" tIns="0" rIns="0" bIns="0" rtlCol="0" anchor="t"/>
          <a:lstStyle/>
          <a:p>
            <a:pPr algn="r" indent="0" marL="0">
              <a:buNone/>
            </a:pPr>
            <a:r>
              <a:rPr lang="en-US" sz="2800" b="1" dirty="0">
                <a:solidFill>
                  <a:schemeClr val="accent1"/>
                </a:solidFill>
                <a:latin typeface="Cambria" pitchFamily="34" charset="0"/>
                <a:ea typeface="Cambria" pitchFamily="34" charset="-122"/>
                <a:cs typeface="Cambria" pitchFamily="34" charset="-120"/>
              </a:rPr>
              <a:t>3</a:t>
            </a:r>
            <a:endParaRPr lang="en-US" sz="2800" dirty="0"/>
          </a:p>
        </p:txBody>
      </p:sp>
      <p:sp>
        <p:nvSpPr>
          <p:cNvPr id="17" name="icooncirkel"/>
          <p:cNvSpPr/>
          <p:nvPr/>
        </p:nvSpPr>
        <p:spPr>
          <a:xfrm>
            <a:off x="8321040" y="1737360"/>
            <a:ext cx="731520" cy="731520"/>
          </a:xfrm>
          <a:prstGeom prst="ellipse">
            <a:avLst/>
          </a:prstGeom>
          <a:solidFill>
            <a:schemeClr val="accent5"/>
          </a:solidFill>
          <a:ln w="12700">
            <a:solidFill>
              <a:schemeClr val="accent5"/>
            </a:solidFill>
            <a:prstDash val="solid"/>
          </a:ln>
        </p:spPr>
      </p:sp>
      <p:pic>
        <p:nvPicPr>
          <p:cNvPr id="18" name="icoon" descr="preencoded.png">    </p:cNvPr>
          <p:cNvPicPr>
            <a:picLocks noChangeAspect="1"/>
          </p:cNvPicPr>
          <p:nvPr/>
        </p:nvPicPr>
        <p:blipFill>
          <a:blip r:embed="rId3"/>
          <a:stretch>
            <a:fillRect/>
          </a:stretch>
        </p:blipFill>
        <p:spPr>
          <a:xfrm>
            <a:off x="8503920" y="1920240"/>
            <a:ext cx="365760" cy="365760"/>
          </a:xfrm>
          <a:prstGeom prst="rect">
            <a:avLst/>
          </a:prstGeom>
        </p:spPr>
      </p:pic>
      <p:sp>
        <p:nvSpPr>
          <p:cNvPr id="19" name="Text 14"/>
          <p:cNvSpPr txBox="1"/>
          <p:nvPr/>
        </p:nvSpPr>
        <p:spPr>
          <a:xfrm>
            <a:off x="8321040" y="2560320"/>
            <a:ext cx="30175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Cloud en containers</a:t>
            </a:r>
            <a:endParaRPr lang="en-US" sz="1800" dirty="0"/>
          </a:p>
        </p:txBody>
      </p:sp>
      <p:sp>
        <p:nvSpPr>
          <p:cNvPr id="20" name="Text 15"/>
          <p:cNvSpPr txBox="1"/>
          <p:nvPr/>
        </p:nvSpPr>
        <p:spPr>
          <a:xfrm>
            <a:off x="8321040" y="2971800"/>
            <a:ext cx="3017520" cy="548640"/>
          </a:xfrm>
          <a:prstGeom prst="rect">
            <a:avLst/>
          </a:prstGeom>
          <a:noFill/>
          <a:ln/>
        </p:spPr>
        <p:txBody>
          <a:bodyPr wrap="square" lIns="0" tIns="0" rIns="0" bIns="0" rtlCol="0" anchor="t"/>
          <a:lstStyle/>
          <a:p>
            <a:pPr indent="0" marL="0">
              <a:buNone/>
            </a:pPr>
            <a:r>
              <a:rPr lang="en-US" sz="1400" dirty="0">
                <a:solidFill>
                  <a:schemeClr val="tx2"/>
                </a:solidFill>
              </a:rPr>
              <a:t>Draaien bij een aanbieder, overal dezelfde omgeving</a:t>
            </a:r>
            <a:endParaRPr lang="en-US" sz="1400" dirty="0"/>
          </a:p>
        </p:txBody>
      </p:sp>
      <p:sp>
        <p:nvSpPr>
          <p:cNvPr id="21" name="kaart"/>
          <p:cNvSpPr/>
          <p:nvPr/>
        </p:nvSpPr>
        <p:spPr>
          <a:xfrm>
            <a:off x="548640" y="384048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2" name="Text 17"/>
          <p:cNvSpPr txBox="1"/>
          <p:nvPr/>
        </p:nvSpPr>
        <p:spPr>
          <a:xfrm>
            <a:off x="3383280" y="4023360"/>
            <a:ext cx="457200" cy="457200"/>
          </a:xfrm>
          <a:prstGeom prst="rect">
            <a:avLst/>
          </a:prstGeom>
          <a:noFill/>
          <a:ln/>
        </p:spPr>
        <p:txBody>
          <a:bodyPr wrap="square" lIns="0" tIns="0" rIns="0" bIns="0" rtlCol="0" anchor="t"/>
          <a:lstStyle/>
          <a:p>
            <a:pPr algn="r" indent="0" marL="0">
              <a:buNone/>
            </a:pPr>
            <a:r>
              <a:rPr lang="en-US" sz="2800" b="1" dirty="0">
                <a:solidFill>
                  <a:schemeClr val="accent1"/>
                </a:solidFill>
                <a:latin typeface="Cambria" pitchFamily="34" charset="0"/>
                <a:ea typeface="Cambria" pitchFamily="34" charset="-122"/>
                <a:cs typeface="Cambria" pitchFamily="34" charset="-120"/>
              </a:rPr>
              <a:t>4</a:t>
            </a:r>
            <a:endParaRPr lang="en-US" sz="2800" dirty="0"/>
          </a:p>
        </p:txBody>
      </p:sp>
      <p:sp>
        <p:nvSpPr>
          <p:cNvPr id="23" name="icooncirkel"/>
          <p:cNvSpPr/>
          <p:nvPr/>
        </p:nvSpPr>
        <p:spPr>
          <a:xfrm>
            <a:off x="822960" y="4114800"/>
            <a:ext cx="731520" cy="731520"/>
          </a:xfrm>
          <a:prstGeom prst="ellipse">
            <a:avLst/>
          </a:prstGeom>
          <a:solidFill>
            <a:schemeClr val="accent4"/>
          </a:solidFill>
          <a:ln w="12700">
            <a:solidFill>
              <a:schemeClr val="accent4"/>
            </a:solidFill>
            <a:prstDash val="solid"/>
          </a:ln>
        </p:spPr>
      </p:sp>
      <p:pic>
        <p:nvPicPr>
          <p:cNvPr id="24" name="icoon" descr="preencoded.png">    </p:cNvPr>
          <p:cNvPicPr>
            <a:picLocks noChangeAspect="1"/>
          </p:cNvPicPr>
          <p:nvPr/>
        </p:nvPicPr>
        <p:blipFill>
          <a:blip r:embed="rId4"/>
          <a:stretch>
            <a:fillRect/>
          </a:stretch>
        </p:blipFill>
        <p:spPr>
          <a:xfrm>
            <a:off x="1005840" y="4297680"/>
            <a:ext cx="365760" cy="365760"/>
          </a:xfrm>
          <a:prstGeom prst="rect">
            <a:avLst/>
          </a:prstGeom>
        </p:spPr>
      </p:pic>
      <p:sp>
        <p:nvSpPr>
          <p:cNvPr id="25" name="Text 19"/>
          <p:cNvSpPr txBox="1"/>
          <p:nvPr/>
        </p:nvSpPr>
        <p:spPr>
          <a:xfrm>
            <a:off x="822960" y="4937760"/>
            <a:ext cx="30175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Opensource als fundament</a:t>
            </a:r>
            <a:endParaRPr lang="en-US" sz="1800" dirty="0"/>
          </a:p>
        </p:txBody>
      </p:sp>
      <p:sp>
        <p:nvSpPr>
          <p:cNvPr id="26" name="Text 20"/>
          <p:cNvSpPr txBox="1"/>
          <p:nvPr/>
        </p:nvSpPr>
        <p:spPr>
          <a:xfrm>
            <a:off x="822960" y="5349240"/>
            <a:ext cx="3017520" cy="548640"/>
          </a:xfrm>
          <a:prstGeom prst="rect">
            <a:avLst/>
          </a:prstGeom>
          <a:noFill/>
          <a:ln/>
        </p:spPr>
        <p:txBody>
          <a:bodyPr wrap="square" lIns="0" tIns="0" rIns="0" bIns="0" rtlCol="0" anchor="t"/>
          <a:lstStyle/>
          <a:p>
            <a:pPr indent="0" marL="0">
              <a:buNone/>
            </a:pPr>
            <a:r>
              <a:rPr lang="en-US" sz="1400" dirty="0">
                <a:solidFill>
                  <a:schemeClr val="tx2"/>
                </a:solidFill>
              </a:rPr>
              <a:t>Bijna alles bouwt op code van anderen</a:t>
            </a:r>
            <a:endParaRPr lang="en-US" sz="1400" dirty="0"/>
          </a:p>
        </p:txBody>
      </p:sp>
      <p:sp>
        <p:nvSpPr>
          <p:cNvPr id="27" name="kaart"/>
          <p:cNvSpPr/>
          <p:nvPr/>
        </p:nvSpPr>
        <p:spPr>
          <a:xfrm>
            <a:off x="4297680" y="384048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8" name="Text 22"/>
          <p:cNvSpPr txBox="1"/>
          <p:nvPr/>
        </p:nvSpPr>
        <p:spPr>
          <a:xfrm>
            <a:off x="7132320" y="4023360"/>
            <a:ext cx="457200" cy="457200"/>
          </a:xfrm>
          <a:prstGeom prst="rect">
            <a:avLst/>
          </a:prstGeom>
          <a:noFill/>
          <a:ln/>
        </p:spPr>
        <p:txBody>
          <a:bodyPr wrap="square" lIns="0" tIns="0" rIns="0" bIns="0" rtlCol="0" anchor="t"/>
          <a:lstStyle/>
          <a:p>
            <a:pPr algn="r" indent="0" marL="0">
              <a:buNone/>
            </a:pPr>
            <a:r>
              <a:rPr lang="en-US" sz="2800" b="1" dirty="0">
                <a:solidFill>
                  <a:schemeClr val="accent1"/>
                </a:solidFill>
                <a:latin typeface="Cambria" pitchFamily="34" charset="0"/>
                <a:ea typeface="Cambria" pitchFamily="34" charset="-122"/>
                <a:cs typeface="Cambria" pitchFamily="34" charset="-120"/>
              </a:rPr>
              <a:t>5</a:t>
            </a:r>
            <a:endParaRPr lang="en-US" sz="2800" dirty="0"/>
          </a:p>
        </p:txBody>
      </p:sp>
      <p:sp>
        <p:nvSpPr>
          <p:cNvPr id="29" name="icooncirkel"/>
          <p:cNvSpPr/>
          <p:nvPr/>
        </p:nvSpPr>
        <p:spPr>
          <a:xfrm>
            <a:off x="4572000" y="4114800"/>
            <a:ext cx="731520" cy="731520"/>
          </a:xfrm>
          <a:prstGeom prst="ellipse">
            <a:avLst/>
          </a:prstGeom>
          <a:solidFill>
            <a:schemeClr val="accent6"/>
          </a:solidFill>
          <a:ln w="12700">
            <a:solidFill>
              <a:schemeClr val="accent6"/>
            </a:solidFill>
            <a:prstDash val="solid"/>
          </a:ln>
        </p:spPr>
      </p:sp>
      <p:pic>
        <p:nvPicPr>
          <p:cNvPr id="30" name="icoon" descr="preencoded.png">    </p:cNvPr>
          <p:cNvPicPr>
            <a:picLocks noChangeAspect="1"/>
          </p:cNvPicPr>
          <p:nvPr/>
        </p:nvPicPr>
        <p:blipFill>
          <a:blip r:embed="rId5"/>
          <a:stretch>
            <a:fillRect/>
          </a:stretch>
        </p:blipFill>
        <p:spPr>
          <a:xfrm>
            <a:off x="4754880" y="4297680"/>
            <a:ext cx="365760" cy="365760"/>
          </a:xfrm>
          <a:prstGeom prst="rect">
            <a:avLst/>
          </a:prstGeom>
        </p:spPr>
      </p:pic>
      <p:sp>
        <p:nvSpPr>
          <p:cNvPr id="31" name="Text 24"/>
          <p:cNvSpPr txBox="1"/>
          <p:nvPr/>
        </p:nvSpPr>
        <p:spPr>
          <a:xfrm>
            <a:off x="4572000" y="4937760"/>
            <a:ext cx="30175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Low-code en no-code</a:t>
            </a:r>
            <a:endParaRPr lang="en-US" sz="1800" dirty="0"/>
          </a:p>
        </p:txBody>
      </p:sp>
      <p:sp>
        <p:nvSpPr>
          <p:cNvPr id="32" name="Text 25"/>
          <p:cNvSpPr txBox="1"/>
          <p:nvPr/>
        </p:nvSpPr>
        <p:spPr>
          <a:xfrm>
            <a:off x="4572000" y="5349240"/>
            <a:ext cx="3017520" cy="548640"/>
          </a:xfrm>
          <a:prstGeom prst="rect">
            <a:avLst/>
          </a:prstGeom>
          <a:noFill/>
          <a:ln/>
        </p:spPr>
        <p:txBody>
          <a:bodyPr wrap="square" lIns="0" tIns="0" rIns="0" bIns="0" rtlCol="0" anchor="t"/>
          <a:lstStyle/>
          <a:p>
            <a:pPr indent="0" marL="0">
              <a:buNone/>
            </a:pPr>
            <a:r>
              <a:rPr lang="en-US" sz="1400" dirty="0">
                <a:solidFill>
                  <a:schemeClr val="tx2"/>
                </a:solidFill>
              </a:rPr>
              <a:t>Iets bouwen zonder te programmeren</a:t>
            </a:r>
            <a:endParaRPr lang="en-US" sz="1400" dirty="0"/>
          </a:p>
        </p:txBody>
      </p:sp>
      <p:sp>
        <p:nvSpPr>
          <p:cNvPr id="33" name="kaart"/>
          <p:cNvSpPr/>
          <p:nvPr/>
        </p:nvSpPr>
        <p:spPr>
          <a:xfrm>
            <a:off x="8046720" y="384048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34" name="Text 27"/>
          <p:cNvSpPr txBox="1"/>
          <p:nvPr/>
        </p:nvSpPr>
        <p:spPr>
          <a:xfrm>
            <a:off x="10881360" y="4023360"/>
            <a:ext cx="457200" cy="457200"/>
          </a:xfrm>
          <a:prstGeom prst="rect">
            <a:avLst/>
          </a:prstGeom>
          <a:noFill/>
          <a:ln/>
        </p:spPr>
        <p:txBody>
          <a:bodyPr wrap="square" lIns="0" tIns="0" rIns="0" bIns="0" rtlCol="0" anchor="t"/>
          <a:lstStyle/>
          <a:p>
            <a:pPr algn="r" indent="0" marL="0">
              <a:buNone/>
            </a:pPr>
            <a:r>
              <a:rPr lang="en-US" sz="2800" b="1" dirty="0">
                <a:solidFill>
                  <a:schemeClr val="accent1"/>
                </a:solidFill>
                <a:latin typeface="Cambria" pitchFamily="34" charset="0"/>
                <a:ea typeface="Cambria" pitchFamily="34" charset="-122"/>
                <a:cs typeface="Cambria" pitchFamily="34" charset="-120"/>
              </a:rPr>
              <a:t>6</a:t>
            </a:r>
            <a:endParaRPr lang="en-US" sz="2800" dirty="0"/>
          </a:p>
        </p:txBody>
      </p:sp>
      <p:sp>
        <p:nvSpPr>
          <p:cNvPr id="35" name="icooncirkel"/>
          <p:cNvSpPr/>
          <p:nvPr/>
        </p:nvSpPr>
        <p:spPr>
          <a:xfrm>
            <a:off x="8321040" y="4114800"/>
            <a:ext cx="731520" cy="731520"/>
          </a:xfrm>
          <a:prstGeom prst="ellipse">
            <a:avLst/>
          </a:prstGeom>
          <a:solidFill>
            <a:schemeClr val="accent3"/>
          </a:solidFill>
          <a:ln w="12700">
            <a:solidFill>
              <a:schemeClr val="accent3"/>
            </a:solidFill>
            <a:prstDash val="solid"/>
          </a:ln>
        </p:spPr>
      </p:sp>
      <p:pic>
        <p:nvPicPr>
          <p:cNvPr id="36" name="icoon" descr="preencoded.png">    </p:cNvPr>
          <p:cNvPicPr>
            <a:picLocks noChangeAspect="1"/>
          </p:cNvPicPr>
          <p:nvPr/>
        </p:nvPicPr>
        <p:blipFill>
          <a:blip r:embed="rId6"/>
          <a:stretch>
            <a:fillRect/>
          </a:stretch>
        </p:blipFill>
        <p:spPr>
          <a:xfrm>
            <a:off x="8503920" y="4297680"/>
            <a:ext cx="365760" cy="365760"/>
          </a:xfrm>
          <a:prstGeom prst="rect">
            <a:avLst/>
          </a:prstGeom>
        </p:spPr>
      </p:pic>
      <p:sp>
        <p:nvSpPr>
          <p:cNvPr id="37" name="Text 29"/>
          <p:cNvSpPr txBox="1"/>
          <p:nvPr/>
        </p:nvSpPr>
        <p:spPr>
          <a:xfrm>
            <a:off x="8321040" y="4937760"/>
            <a:ext cx="301752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Kwaliteit vooraf</a:t>
            </a:r>
            <a:endParaRPr lang="en-US" sz="1800" dirty="0"/>
          </a:p>
        </p:txBody>
      </p:sp>
      <p:sp>
        <p:nvSpPr>
          <p:cNvPr id="38" name="Text 30"/>
          <p:cNvSpPr txBox="1"/>
          <p:nvPr/>
        </p:nvSpPr>
        <p:spPr>
          <a:xfrm>
            <a:off x="8321040" y="5349240"/>
            <a:ext cx="3017520" cy="548640"/>
          </a:xfrm>
          <a:prstGeom prst="rect">
            <a:avLst/>
          </a:prstGeom>
          <a:noFill/>
          <a:ln/>
        </p:spPr>
        <p:txBody>
          <a:bodyPr wrap="square" lIns="0" tIns="0" rIns="0" bIns="0" rtlCol="0" anchor="t"/>
          <a:lstStyle/>
          <a:p>
            <a:pPr indent="0" marL="0">
              <a:buNone/>
            </a:pPr>
            <a:r>
              <a:rPr lang="en-US" sz="1400" dirty="0">
                <a:solidFill>
                  <a:schemeClr val="tx2"/>
                </a:solidFill>
              </a:rPr>
              <a:t>Fouten vinden vóór de gebruiker ze vindt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1 · AI-assistentie bij het programmeren</a:t>
            </a:r>
            <a:endParaRPr lang="en-US" sz="3400" dirty="0"/>
          </a:p>
        </p:txBody>
      </p:sp>
      <p:sp>
        <p:nvSpPr>
          <p:cNvPr id="3" name="Text 1"/>
          <p:cNvSpPr txBox="1"/>
          <p:nvPr/>
        </p:nvSpPr>
        <p:spPr>
          <a:xfrm>
            <a:off x="548640" y="1325880"/>
            <a:ext cx="11064240" cy="457200"/>
          </a:xfrm>
          <a:prstGeom prst="rect">
            <a:avLst/>
          </a:prstGeom>
          <a:noFill/>
          <a:ln/>
        </p:spPr>
        <p:txBody>
          <a:bodyPr wrap="square" lIns="0" tIns="0" rIns="0" bIns="0" rtlCol="0" anchor="t"/>
          <a:lstStyle/>
          <a:p>
            <a:pPr indent="0" marL="0">
              <a:buNone/>
            </a:pPr>
            <a:r>
              <a:rPr lang="en-US" sz="1700" dirty="0">
                <a:solidFill>
                  <a:schemeClr val="tx2"/>
                </a:solidFill>
              </a:rPr>
              <a:t>Gereedschap dat code voorstelt terwijl je typt, ging in enkele jaren van nieuwigheid naar gewoonte.</a:t>
            </a:r>
            <a:endParaRPr lang="en-US" sz="1700" dirty="0"/>
          </a:p>
        </p:txBody>
      </p:sp>
      <p:sp>
        <p:nvSpPr>
          <p:cNvPr id="4" name="kaart"/>
          <p:cNvSpPr/>
          <p:nvPr/>
        </p:nvSpPr>
        <p:spPr>
          <a:xfrm>
            <a:off x="548640" y="1965960"/>
            <a:ext cx="3520440" cy="301752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5" name="Text 3"/>
          <p:cNvSpPr txBox="1"/>
          <p:nvPr/>
        </p:nvSpPr>
        <p:spPr>
          <a:xfrm>
            <a:off x="822960" y="2148840"/>
            <a:ext cx="301752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WAT HET GOED DOET</a:t>
            </a:r>
            <a:endParaRPr lang="en-US" sz="1200" dirty="0"/>
          </a:p>
        </p:txBody>
      </p:sp>
      <p:pic>
        <p:nvPicPr>
          <p:cNvPr id="6" name="teken" descr="preencoded.png">    </p:cNvPr>
          <p:cNvPicPr>
            <a:picLocks noChangeAspect="1"/>
          </p:cNvPicPr>
          <p:nvPr/>
        </p:nvPicPr>
        <p:blipFill>
          <a:blip r:embed="rId1"/>
          <a:stretch>
            <a:fillRect/>
          </a:stretch>
        </p:blipFill>
        <p:spPr>
          <a:xfrm>
            <a:off x="822960" y="2633472"/>
            <a:ext cx="256032" cy="256032"/>
          </a:xfrm>
          <a:prstGeom prst="rect">
            <a:avLst/>
          </a:prstGeom>
        </p:spPr>
      </p:pic>
      <p:sp>
        <p:nvSpPr>
          <p:cNvPr id="7" name="Text 4"/>
          <p:cNvSpPr txBox="1"/>
          <p:nvPr/>
        </p:nvSpPr>
        <p:spPr>
          <a:xfrm>
            <a:off x="1234440" y="2578608"/>
            <a:ext cx="2651760" cy="685800"/>
          </a:xfrm>
          <a:prstGeom prst="rect">
            <a:avLst/>
          </a:prstGeom>
          <a:noFill/>
          <a:ln/>
        </p:spPr>
        <p:txBody>
          <a:bodyPr wrap="square" lIns="0" tIns="0" rIns="0" bIns="0" rtlCol="0" anchor="t"/>
          <a:lstStyle/>
          <a:p>
            <a:pPr indent="0" marL="0">
              <a:buNone/>
            </a:pPr>
            <a:r>
              <a:rPr lang="en-US" sz="1500" dirty="0">
                <a:solidFill>
                  <a:schemeClr val="tx1"/>
                </a:solidFill>
              </a:rPr>
              <a:t>Herhalend werk: een lus, een testtabel, een docstring</a:t>
            </a:r>
            <a:endParaRPr lang="en-US" sz="1500" dirty="0"/>
          </a:p>
        </p:txBody>
      </p:sp>
      <p:pic>
        <p:nvPicPr>
          <p:cNvPr id="8" name="teken" descr="preencoded.png">    </p:cNvPr>
          <p:cNvPicPr>
            <a:picLocks noChangeAspect="1"/>
          </p:cNvPicPr>
          <p:nvPr/>
        </p:nvPicPr>
        <p:blipFill>
          <a:blip r:embed="rId2"/>
          <a:stretch>
            <a:fillRect/>
          </a:stretch>
        </p:blipFill>
        <p:spPr>
          <a:xfrm>
            <a:off x="822960" y="3392424"/>
            <a:ext cx="256032" cy="256032"/>
          </a:xfrm>
          <a:prstGeom prst="rect">
            <a:avLst/>
          </a:prstGeom>
        </p:spPr>
      </p:pic>
      <p:sp>
        <p:nvSpPr>
          <p:cNvPr id="9" name="Text 5"/>
          <p:cNvSpPr txBox="1"/>
          <p:nvPr/>
        </p:nvSpPr>
        <p:spPr>
          <a:xfrm>
            <a:off x="1234440" y="3337560"/>
            <a:ext cx="2651760" cy="685800"/>
          </a:xfrm>
          <a:prstGeom prst="rect">
            <a:avLst/>
          </a:prstGeom>
          <a:noFill/>
          <a:ln/>
        </p:spPr>
        <p:txBody>
          <a:bodyPr wrap="square" lIns="0" tIns="0" rIns="0" bIns="0" rtlCol="0" anchor="t"/>
          <a:lstStyle/>
          <a:p>
            <a:pPr indent="0" marL="0">
              <a:buNone/>
            </a:pPr>
            <a:r>
              <a:rPr lang="en-US" sz="1500" dirty="0">
                <a:solidFill>
                  <a:schemeClr val="tx1"/>
                </a:solidFill>
              </a:rPr>
              <a:t>Uitleg van code die je niet kent</a:t>
            </a:r>
            <a:endParaRPr lang="en-US" sz="1500" dirty="0"/>
          </a:p>
        </p:txBody>
      </p:sp>
      <p:pic>
        <p:nvPicPr>
          <p:cNvPr id="10" name="teken" descr="preencoded.png">    </p:cNvPr>
          <p:cNvPicPr>
            <a:picLocks noChangeAspect="1"/>
          </p:cNvPicPr>
          <p:nvPr/>
        </p:nvPicPr>
        <p:blipFill>
          <a:blip r:embed="rId3"/>
          <a:stretch>
            <a:fillRect/>
          </a:stretch>
        </p:blipFill>
        <p:spPr>
          <a:xfrm>
            <a:off x="822960" y="4151376"/>
            <a:ext cx="256032" cy="256032"/>
          </a:xfrm>
          <a:prstGeom prst="rect">
            <a:avLst/>
          </a:prstGeom>
        </p:spPr>
      </p:pic>
      <p:sp>
        <p:nvSpPr>
          <p:cNvPr id="11" name="Text 6"/>
          <p:cNvSpPr txBox="1"/>
          <p:nvPr/>
        </p:nvSpPr>
        <p:spPr>
          <a:xfrm>
            <a:off x="1234440" y="4096512"/>
            <a:ext cx="2651760" cy="685800"/>
          </a:xfrm>
          <a:prstGeom prst="rect">
            <a:avLst/>
          </a:prstGeom>
          <a:noFill/>
          <a:ln/>
        </p:spPr>
        <p:txBody>
          <a:bodyPr wrap="square" lIns="0" tIns="0" rIns="0" bIns="0" rtlCol="0" anchor="t"/>
          <a:lstStyle/>
          <a:p>
            <a:pPr indent="0" marL="0">
              <a:buNone/>
            </a:pPr>
            <a:r>
              <a:rPr lang="en-US" sz="1500" dirty="0">
                <a:solidFill>
                  <a:schemeClr val="tx1"/>
                </a:solidFill>
              </a:rPr>
              <a:t>Een eerste versie van iets bekends</a:t>
            </a:r>
            <a:endParaRPr lang="en-US" sz="1500" dirty="0"/>
          </a:p>
        </p:txBody>
      </p:sp>
      <p:sp>
        <p:nvSpPr>
          <p:cNvPr id="12" name="kaart"/>
          <p:cNvSpPr/>
          <p:nvPr/>
        </p:nvSpPr>
        <p:spPr>
          <a:xfrm>
            <a:off x="4251960" y="1965960"/>
            <a:ext cx="3520440" cy="3017520"/>
          </a:xfrm>
          <a:prstGeom prst="roundRect">
            <a:avLst>
              <a:gd name="adj" fmla="val 3636"/>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3" name="Text 8"/>
          <p:cNvSpPr txBox="1"/>
          <p:nvPr/>
        </p:nvSpPr>
        <p:spPr>
          <a:xfrm>
            <a:off x="4526280" y="2148840"/>
            <a:ext cx="3017520" cy="274320"/>
          </a:xfrm>
          <a:prstGeom prst="rect">
            <a:avLst/>
          </a:prstGeom>
          <a:noFill/>
          <a:ln/>
        </p:spPr>
        <p:txBody>
          <a:bodyPr wrap="square" lIns="0" tIns="0" rIns="0" bIns="0" rtlCol="0" anchor="ctr"/>
          <a:lstStyle/>
          <a:p>
            <a:pPr indent="0" marL="0">
              <a:buNone/>
            </a:pPr>
            <a:r>
              <a:rPr lang="en-US" sz="1200" b="1" spc="100" kern="0" dirty="0">
                <a:solidFill>
                  <a:schemeClr val="accent3"/>
                </a:solidFill>
              </a:rPr>
              <a:t>WAAR HET FAALT</a:t>
            </a:r>
            <a:endParaRPr lang="en-US" sz="1200" dirty="0"/>
          </a:p>
        </p:txBody>
      </p:sp>
      <p:pic>
        <p:nvPicPr>
          <p:cNvPr id="14" name="teken" descr="preencoded.png">    </p:cNvPr>
          <p:cNvPicPr>
            <a:picLocks noChangeAspect="1"/>
          </p:cNvPicPr>
          <p:nvPr/>
        </p:nvPicPr>
        <p:blipFill>
          <a:blip r:embed="rId4"/>
          <a:stretch>
            <a:fillRect/>
          </a:stretch>
        </p:blipFill>
        <p:spPr>
          <a:xfrm>
            <a:off x="4526280" y="2633472"/>
            <a:ext cx="256032" cy="256032"/>
          </a:xfrm>
          <a:prstGeom prst="rect">
            <a:avLst/>
          </a:prstGeom>
        </p:spPr>
      </p:pic>
      <p:sp>
        <p:nvSpPr>
          <p:cNvPr id="15" name="Text 9"/>
          <p:cNvSpPr txBox="1"/>
          <p:nvPr/>
        </p:nvSpPr>
        <p:spPr>
          <a:xfrm>
            <a:off x="4937760" y="2578608"/>
            <a:ext cx="2651760" cy="685800"/>
          </a:xfrm>
          <a:prstGeom prst="rect">
            <a:avLst/>
          </a:prstGeom>
          <a:noFill/>
          <a:ln/>
        </p:spPr>
        <p:txBody>
          <a:bodyPr wrap="square" lIns="0" tIns="0" rIns="0" bIns="0" rtlCol="0" anchor="t"/>
          <a:lstStyle/>
          <a:p>
            <a:pPr indent="0" marL="0">
              <a:buNone/>
            </a:pPr>
            <a:r>
              <a:rPr lang="en-US" sz="1500" dirty="0">
                <a:solidFill>
                  <a:schemeClr val="tx1"/>
                </a:solidFill>
              </a:rPr>
              <a:t>Het bedenkt de eisen niet</a:t>
            </a:r>
            <a:endParaRPr lang="en-US" sz="1500" dirty="0"/>
          </a:p>
        </p:txBody>
      </p:sp>
      <p:pic>
        <p:nvPicPr>
          <p:cNvPr id="16" name="teken" descr="preencoded.png">    </p:cNvPr>
          <p:cNvPicPr>
            <a:picLocks noChangeAspect="1"/>
          </p:cNvPicPr>
          <p:nvPr/>
        </p:nvPicPr>
        <p:blipFill>
          <a:blip r:embed="rId5"/>
          <a:stretch>
            <a:fillRect/>
          </a:stretch>
        </p:blipFill>
        <p:spPr>
          <a:xfrm>
            <a:off x="4526280" y="3392424"/>
            <a:ext cx="256032" cy="256032"/>
          </a:xfrm>
          <a:prstGeom prst="rect">
            <a:avLst/>
          </a:prstGeom>
        </p:spPr>
      </p:pic>
      <p:sp>
        <p:nvSpPr>
          <p:cNvPr id="17" name="Text 10"/>
          <p:cNvSpPr txBox="1"/>
          <p:nvPr/>
        </p:nvSpPr>
        <p:spPr>
          <a:xfrm>
            <a:off x="4937760" y="3337560"/>
            <a:ext cx="2651760" cy="685800"/>
          </a:xfrm>
          <a:prstGeom prst="rect">
            <a:avLst/>
          </a:prstGeom>
          <a:noFill/>
          <a:ln/>
        </p:spPr>
        <p:txBody>
          <a:bodyPr wrap="square" lIns="0" tIns="0" rIns="0" bIns="0" rtlCol="0" anchor="t"/>
          <a:lstStyle/>
          <a:p>
            <a:pPr indent="0" marL="0">
              <a:buNone/>
            </a:pPr>
            <a:r>
              <a:rPr lang="en-US" sz="1500" dirty="0">
                <a:solidFill>
                  <a:schemeClr val="tx1"/>
                </a:solidFill>
              </a:rPr>
              <a:t>Het weet niet wat jouw klant bedoelde</a:t>
            </a:r>
            <a:endParaRPr lang="en-US" sz="1500" dirty="0"/>
          </a:p>
        </p:txBody>
      </p:sp>
      <p:pic>
        <p:nvPicPr>
          <p:cNvPr id="18" name="teken" descr="preencoded.png">    </p:cNvPr>
          <p:cNvPicPr>
            <a:picLocks noChangeAspect="1"/>
          </p:cNvPicPr>
          <p:nvPr/>
        </p:nvPicPr>
        <p:blipFill>
          <a:blip r:embed="rId6"/>
          <a:stretch>
            <a:fillRect/>
          </a:stretch>
        </p:blipFill>
        <p:spPr>
          <a:xfrm>
            <a:off x="4526280" y="4151376"/>
            <a:ext cx="256032" cy="256032"/>
          </a:xfrm>
          <a:prstGeom prst="rect">
            <a:avLst/>
          </a:prstGeom>
        </p:spPr>
      </p:pic>
      <p:sp>
        <p:nvSpPr>
          <p:cNvPr id="19" name="Text 11"/>
          <p:cNvSpPr txBox="1"/>
          <p:nvPr/>
        </p:nvSpPr>
        <p:spPr>
          <a:xfrm>
            <a:off x="4937760" y="4096512"/>
            <a:ext cx="2651760" cy="685800"/>
          </a:xfrm>
          <a:prstGeom prst="rect">
            <a:avLst/>
          </a:prstGeom>
          <a:noFill/>
          <a:ln/>
        </p:spPr>
        <p:txBody>
          <a:bodyPr wrap="square" lIns="0" tIns="0" rIns="0" bIns="0" rtlCol="0" anchor="t"/>
          <a:lstStyle/>
          <a:p>
            <a:pPr indent="0" marL="0">
              <a:buNone/>
            </a:pPr>
            <a:r>
              <a:rPr lang="en-US" sz="1500" dirty="0">
                <a:solidFill>
                  <a:schemeClr val="tx1"/>
                </a:solidFill>
              </a:rPr>
              <a:t>Het geeft met evenveel overtuiging een fout antwoord</a:t>
            </a:r>
            <a:endParaRPr lang="en-US" sz="1500" dirty="0"/>
          </a:p>
        </p:txBody>
      </p:sp>
      <p:sp>
        <p:nvSpPr>
          <p:cNvPr id="20" name="kaart"/>
          <p:cNvSpPr/>
          <p:nvPr/>
        </p:nvSpPr>
        <p:spPr>
          <a:xfrm>
            <a:off x="8001000" y="1965960"/>
            <a:ext cx="3611880" cy="4023360"/>
          </a:xfrm>
          <a:prstGeom prst="roundRect">
            <a:avLst>
              <a:gd name="adj" fmla="val 3038"/>
            </a:avLst>
          </a:prstGeom>
          <a:solidFill>
            <a:schemeClr val="tx1"/>
          </a:solidFill>
          <a:ln w="12700">
            <a:solidFill>
              <a:schemeClr val="tx1"/>
            </a:solidFill>
            <a:prstDash val="solid"/>
          </a:ln>
        </p:spPr>
      </p:sp>
      <p:sp>
        <p:nvSpPr>
          <p:cNvPr id="21" name="icooncirkel"/>
          <p:cNvSpPr/>
          <p:nvPr/>
        </p:nvSpPr>
        <p:spPr>
          <a:xfrm>
            <a:off x="8275320" y="2240280"/>
            <a:ext cx="640080" cy="640080"/>
          </a:xfrm>
          <a:prstGeom prst="ellipse">
            <a:avLst/>
          </a:prstGeom>
          <a:solidFill>
            <a:schemeClr val="accent3"/>
          </a:solidFill>
          <a:ln w="12700">
            <a:solidFill>
              <a:schemeClr val="accent3"/>
            </a:solidFill>
            <a:prstDash val="solid"/>
          </a:ln>
        </p:spPr>
      </p:sp>
      <p:pic>
        <p:nvPicPr>
          <p:cNvPr id="22" name="icoon" descr="preencoded.png">    </p:cNvPr>
          <p:cNvPicPr>
            <a:picLocks noChangeAspect="1"/>
          </p:cNvPicPr>
          <p:nvPr/>
        </p:nvPicPr>
        <p:blipFill>
          <a:blip r:embed="rId7"/>
          <a:stretch>
            <a:fillRect/>
          </a:stretch>
        </p:blipFill>
        <p:spPr>
          <a:xfrm>
            <a:off x="8435340" y="2400300"/>
            <a:ext cx="320040" cy="320040"/>
          </a:xfrm>
          <a:prstGeom prst="rect">
            <a:avLst/>
          </a:prstGeom>
        </p:spPr>
      </p:pic>
      <p:sp>
        <p:nvSpPr>
          <p:cNvPr id="23" name="Text 14"/>
          <p:cNvSpPr txBox="1"/>
          <p:nvPr/>
        </p:nvSpPr>
        <p:spPr>
          <a:xfrm>
            <a:off x="9052560" y="2423160"/>
            <a:ext cx="22860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LET OP</a:t>
            </a:r>
            <a:endParaRPr lang="en-US" sz="1200" dirty="0"/>
          </a:p>
        </p:txBody>
      </p:sp>
      <p:sp>
        <p:nvSpPr>
          <p:cNvPr id="24" name="Text 15"/>
          <p:cNvSpPr txBox="1"/>
          <p:nvPr/>
        </p:nvSpPr>
        <p:spPr>
          <a:xfrm>
            <a:off x="8275320" y="3108960"/>
            <a:ext cx="3108960" cy="1554480"/>
          </a:xfrm>
          <a:prstGeom prst="rect">
            <a:avLst/>
          </a:prstGeom>
          <a:noFill/>
          <a:ln/>
        </p:spPr>
        <p:txBody>
          <a:bodyPr wrap="square" lIns="0" tIns="0" rIns="0" bIns="0" rtlCol="0" anchor="t"/>
          <a:lstStyle/>
          <a:p>
            <a:pPr indent="0" marL="0">
              <a:buNone/>
            </a:pPr>
            <a:r>
              <a:rPr lang="en-US" sz="1700" i="1" dirty="0">
                <a:solidFill>
                  <a:schemeClr val="bg1"/>
                </a:solidFill>
                <a:latin typeface="Cambria" pitchFamily="34" charset="0"/>
                <a:ea typeface="Cambria" pitchFamily="34" charset="-122"/>
                <a:cs typeface="Cambria" pitchFamily="34" charset="-120"/>
              </a:rPr>
              <a:t>Wie code aanvaardt die hij niet begrijpt, is verantwoordelijk voor code die hij niet kan herstellen.</a:t>
            </a:r>
            <a:endParaRPr lang="en-US" sz="1700" dirty="0"/>
          </a:p>
        </p:txBody>
      </p:sp>
      <p:sp>
        <p:nvSpPr>
          <p:cNvPr id="25" name="Text 16"/>
          <p:cNvSpPr txBox="1"/>
          <p:nvPr/>
        </p:nvSpPr>
        <p:spPr>
          <a:xfrm>
            <a:off x="8275320" y="4754880"/>
            <a:ext cx="3108960" cy="1005840"/>
          </a:xfrm>
          <a:prstGeom prst="rect">
            <a:avLst/>
          </a:prstGeom>
          <a:noFill/>
          <a:ln/>
        </p:spPr>
        <p:txBody>
          <a:bodyPr wrap="square" lIns="0" tIns="0" rIns="0" bIns="0" rtlCol="0" anchor="t"/>
          <a:lstStyle/>
          <a:p>
            <a:pPr indent="0" marL="0">
              <a:buNone/>
            </a:pPr>
            <a:r>
              <a:rPr lang="en-US" sz="1500" dirty="0">
                <a:solidFill>
                  <a:schemeClr val="bg2"/>
                </a:solidFill>
              </a:rPr>
              <a:t>Daarom leert deze cursus je lezen en testen, niet alleen typen.</a:t>
            </a:r>
            <a:endParaRPr lang="en-US" sz="1500" dirty="0"/>
          </a:p>
        </p:txBody>
      </p:sp>
      <p:sp>
        <p:nvSpPr>
          <p:cNvPr id="26" name="Text 17"/>
          <p:cNvSpPr txBox="1"/>
          <p:nvPr/>
        </p:nvSpPr>
        <p:spPr>
          <a:xfrm>
            <a:off x="548640" y="5257800"/>
            <a:ext cx="7223760" cy="731520"/>
          </a:xfrm>
          <a:prstGeom prst="rect">
            <a:avLst/>
          </a:prstGeom>
          <a:noFill/>
          <a:ln/>
        </p:spPr>
        <p:txBody>
          <a:bodyPr wrap="square" lIns="0" tIns="0" rIns="0" bIns="0" rtlCol="0" anchor="t"/>
          <a:lstStyle/>
          <a:p>
            <a:pPr indent="0" marL="0">
              <a:buNone/>
            </a:pPr>
            <a:r>
              <a:rPr lang="en-US" sz="1600" b="1" dirty="0">
                <a:solidFill>
                  <a:schemeClr val="tx1"/>
                </a:solidFill>
              </a:rPr>
              <a:t>De vaardigheid die er meer toe doet dan ooit: </a:t>
            </a:r>
            <a:pPr indent="0" marL="0">
              <a:buNone/>
            </a:pPr>
            <a:r>
              <a:rPr lang="en-US" sz="1600" dirty="0">
                <a:solidFill>
                  <a:schemeClr val="tx1"/>
                </a:solidFill>
              </a:rPr>
              <a:t>beoordelen of iets klopt. Daar gaan hoofdstuk 22 tot en met 28 over.</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2 · Types in dynamische talen</a:t>
            </a:r>
            <a:endParaRPr lang="en-US" sz="3400" dirty="0"/>
          </a:p>
        </p:txBody>
      </p:sp>
      <p:sp>
        <p:nvSpPr>
          <p:cNvPr id="3" name="Text 1"/>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700" dirty="0">
                <a:solidFill>
                  <a:schemeClr val="tx2"/>
                </a:solidFill>
              </a:rPr>
              <a:t>Python is dynamisch getypeerd (hoofdstuk 5). Sinds 2015 kun je er type hints bij schrijven, en in professionele projecten wordt dat de norm.</a:t>
            </a:r>
            <a:endParaRPr lang="en-US" sz="1700" dirty="0"/>
          </a:p>
        </p:txBody>
      </p:sp>
      <p:sp>
        <p:nvSpPr>
          <p:cNvPr id="4" name="codevak"/>
          <p:cNvSpPr/>
          <p:nvPr/>
        </p:nvSpPr>
        <p:spPr>
          <a:xfrm>
            <a:off x="548640" y="2194560"/>
            <a:ext cx="7589520" cy="2926080"/>
          </a:xfrm>
          <a:prstGeom prst="roundRect">
            <a:avLst>
              <a:gd name="adj" fmla="val 3125"/>
            </a:avLst>
          </a:prstGeom>
          <a:solidFill>
            <a:srgbClr val="161A33"/>
          </a:solidFill>
          <a:ln w="12700">
            <a:solidFill>
              <a:srgbClr val="161A33"/>
            </a:solidFill>
            <a:prstDash val="solid"/>
          </a:ln>
        </p:spPr>
      </p:sp>
      <p:sp>
        <p:nvSpPr>
          <p:cNvPr id="5" name="Text 3"/>
          <p:cNvSpPr txBox="1"/>
          <p:nvPr/>
        </p:nvSpPr>
        <p:spPr>
          <a:xfrm>
            <a:off x="777240" y="2304288"/>
            <a:ext cx="71323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PYTHON</a:t>
            </a:r>
            <a:endParaRPr lang="en-US" sz="1100" dirty="0"/>
          </a:p>
        </p:txBody>
      </p:sp>
      <p:sp>
        <p:nvSpPr>
          <p:cNvPr id="6" name="code"/>
          <p:cNvSpPr txBox="1"/>
          <p:nvPr/>
        </p:nvSpPr>
        <p:spPr>
          <a:xfrm>
            <a:off x="777240" y="2651760"/>
            <a:ext cx="7132320" cy="2331720"/>
          </a:xfrm>
          <a:prstGeom prst="rect">
            <a:avLst/>
          </a:prstGeom>
          <a:noFill/>
          <a:ln/>
        </p:spPr>
        <p:txBody>
          <a:bodyPr wrap="square" lIns="0" tIns="0" rIns="0" bIns="0" rtlCol="0" anchor="t"/>
          <a:lstStyle/>
          <a:p>
            <a:pPr indent="0" marL="0">
              <a:buNone/>
            </a:pPr>
            <a:r>
              <a:rPr lang="en-US" sz="1400" dirty="0">
                <a:solidFill>
                  <a:srgbClr val="E8ECF8"/>
                </a:solidFill>
                <a:latin typeface="Consolas" pitchFamily="34" charset="0"/>
                <a:ea typeface="Consolas" pitchFamily="34" charset="-122"/>
                <a:cs typeface="Consolas" pitchFamily="34" charset="-120"/>
              </a:rPr>
              <a:t>def bereken_lidgeld(leeftijd: int, is_student: bool = False) -&gt; int:</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    """Het lidgeld in hele euro's."""</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    if leeftijd &lt; 12:</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        return 0</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    return 15 if is_student else 30</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 </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print(bereken_lidgeld(34))</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print(bereken_lidgeld(20, is_student=True))</a:t>
            </a:r>
            <a:endParaRPr lang="en-US" sz="1400" dirty="0"/>
          </a:p>
        </p:txBody>
      </p:sp>
      <p:sp>
        <p:nvSpPr>
          <p:cNvPr id="7" name="uitvoervak"/>
          <p:cNvSpPr/>
          <p:nvPr/>
        </p:nvSpPr>
        <p:spPr>
          <a:xfrm>
            <a:off x="8458200" y="2194560"/>
            <a:ext cx="3154680" cy="1280160"/>
          </a:xfrm>
          <a:prstGeom prst="roundRect">
            <a:avLst>
              <a:gd name="adj" fmla="val 7143"/>
            </a:avLst>
          </a:prstGeom>
          <a:solidFill>
            <a:schemeClr val="bg2"/>
          </a:solidFill>
          <a:ln w="12700">
            <a:solidFill>
              <a:schemeClr val="bg2"/>
            </a:solidFill>
            <a:prstDash val="solid"/>
          </a:ln>
        </p:spPr>
      </p:sp>
      <p:sp>
        <p:nvSpPr>
          <p:cNvPr id="8" name="Text 6"/>
          <p:cNvSpPr txBox="1"/>
          <p:nvPr/>
        </p:nvSpPr>
        <p:spPr>
          <a:xfrm>
            <a:off x="8686800" y="2304288"/>
            <a:ext cx="1828800" cy="274320"/>
          </a:xfrm>
          <a:prstGeom prst="rect">
            <a:avLst/>
          </a:prstGeom>
          <a:noFill/>
          <a:ln/>
        </p:spPr>
        <p:txBody>
          <a:bodyPr wrap="square" lIns="0" tIns="0" rIns="0" bIns="0" rtlCol="0" anchor="ctr"/>
          <a:lstStyle/>
          <a:p>
            <a:pPr indent="0" marL="0">
              <a:buNone/>
            </a:pPr>
            <a:r>
              <a:rPr lang="en-US" sz="1100" b="1" spc="100" kern="0" dirty="0">
                <a:solidFill>
                  <a:schemeClr val="accent2"/>
                </a:solidFill>
              </a:rPr>
              <a:t>UITVOER</a:t>
            </a:r>
            <a:endParaRPr lang="en-US" sz="1100" dirty="0"/>
          </a:p>
        </p:txBody>
      </p:sp>
      <p:sp>
        <p:nvSpPr>
          <p:cNvPr id="9" name="uitvoer"/>
          <p:cNvSpPr txBox="1"/>
          <p:nvPr/>
        </p:nvSpPr>
        <p:spPr>
          <a:xfrm>
            <a:off x="8686800" y="2651760"/>
            <a:ext cx="2697480" cy="685800"/>
          </a:xfrm>
          <a:prstGeom prst="rect">
            <a:avLst/>
          </a:prstGeom>
          <a:noFill/>
          <a:ln/>
        </p:spPr>
        <p:txBody>
          <a:bodyPr wrap="square" lIns="0" tIns="0" rIns="0" bIns="0" rtlCol="0" anchor="t"/>
          <a:lstStyle/>
          <a:p>
            <a:pPr indent="0" marL="0">
              <a:buNone/>
            </a:pPr>
            <a:r>
              <a:rPr lang="en-US" sz="1400" dirty="0">
                <a:solidFill>
                  <a:schemeClr val="tx1"/>
                </a:solidFill>
                <a:latin typeface="Consolas" pitchFamily="34" charset="0"/>
                <a:ea typeface="Consolas" pitchFamily="34" charset="-122"/>
                <a:cs typeface="Consolas" pitchFamily="34" charset="-120"/>
              </a:rPr>
              <a:t>30</a:t>
            </a:r>
            <a:endParaRPr lang="en-US" sz="1400" dirty="0"/>
          </a:p>
          <a:p>
            <a:pPr indent="0" marL="0">
              <a:buNone/>
            </a:pPr>
            <a:r>
              <a:rPr lang="en-US" sz="1400" dirty="0">
                <a:solidFill>
                  <a:schemeClr val="tx1"/>
                </a:solidFill>
                <a:latin typeface="Consolas" pitchFamily="34" charset="0"/>
                <a:ea typeface="Consolas" pitchFamily="34" charset="-122"/>
                <a:cs typeface="Consolas" pitchFamily="34" charset="-120"/>
              </a:rPr>
              <a:t>15</a:t>
            </a:r>
            <a:endParaRPr lang="en-US" sz="1400" dirty="0"/>
          </a:p>
        </p:txBody>
      </p:sp>
      <p:sp>
        <p:nvSpPr>
          <p:cNvPr id="10" name="Text 8"/>
          <p:cNvSpPr txBox="1"/>
          <p:nvPr/>
        </p:nvSpPr>
        <p:spPr>
          <a:xfrm>
            <a:off x="8458200" y="3703320"/>
            <a:ext cx="1005840" cy="365760"/>
          </a:xfrm>
          <a:prstGeom prst="rect">
            <a:avLst/>
          </a:prstGeom>
          <a:noFill/>
          <a:ln/>
        </p:spPr>
        <p:txBody>
          <a:bodyPr wrap="square" lIns="0" tIns="0" rIns="0" bIns="0" rtlCol="0" anchor="t"/>
          <a:lstStyle/>
          <a:p>
            <a:pPr indent="0" marL="0">
              <a:buNone/>
            </a:pPr>
            <a:r>
              <a:rPr lang="en-US" sz="1600" b="1" dirty="0">
                <a:solidFill>
                  <a:schemeClr val="accent3"/>
                </a:solidFill>
                <a:latin typeface="Consolas" pitchFamily="34" charset="0"/>
                <a:ea typeface="Consolas" pitchFamily="34" charset="-122"/>
                <a:cs typeface="Consolas" pitchFamily="34" charset="-120"/>
              </a:rPr>
              <a:t>: int</a:t>
            </a:r>
            <a:endParaRPr lang="en-US" sz="1600" dirty="0"/>
          </a:p>
        </p:txBody>
      </p:sp>
      <p:sp>
        <p:nvSpPr>
          <p:cNvPr id="11" name="Text 9"/>
          <p:cNvSpPr txBox="1"/>
          <p:nvPr/>
        </p:nvSpPr>
        <p:spPr>
          <a:xfrm>
            <a:off x="9464040" y="3703320"/>
            <a:ext cx="2148840" cy="685800"/>
          </a:xfrm>
          <a:prstGeom prst="rect">
            <a:avLst/>
          </a:prstGeom>
          <a:noFill/>
          <a:ln/>
        </p:spPr>
        <p:txBody>
          <a:bodyPr wrap="square" lIns="0" tIns="0" rIns="0" bIns="0" rtlCol="0" anchor="t"/>
          <a:lstStyle/>
          <a:p>
            <a:pPr indent="0" marL="0">
              <a:buNone/>
            </a:pPr>
            <a:r>
              <a:rPr lang="en-US" sz="1400" dirty="0">
                <a:solidFill>
                  <a:schemeClr val="tx2"/>
                </a:solidFill>
              </a:rPr>
              <a:t>dit argument is een geheel getal</a:t>
            </a:r>
            <a:endParaRPr lang="en-US" sz="1400" dirty="0"/>
          </a:p>
        </p:txBody>
      </p:sp>
      <p:sp>
        <p:nvSpPr>
          <p:cNvPr id="12" name="Text 10"/>
          <p:cNvSpPr txBox="1"/>
          <p:nvPr/>
        </p:nvSpPr>
        <p:spPr>
          <a:xfrm>
            <a:off x="8458200" y="4434840"/>
            <a:ext cx="1005840" cy="365760"/>
          </a:xfrm>
          <a:prstGeom prst="rect">
            <a:avLst/>
          </a:prstGeom>
          <a:noFill/>
          <a:ln/>
        </p:spPr>
        <p:txBody>
          <a:bodyPr wrap="square" lIns="0" tIns="0" rIns="0" bIns="0" rtlCol="0" anchor="t"/>
          <a:lstStyle/>
          <a:p>
            <a:pPr indent="0" marL="0">
              <a:buNone/>
            </a:pPr>
            <a:r>
              <a:rPr lang="en-US" sz="1600" b="1" dirty="0">
                <a:solidFill>
                  <a:schemeClr val="accent3"/>
                </a:solidFill>
                <a:latin typeface="Consolas" pitchFamily="34" charset="0"/>
                <a:ea typeface="Consolas" pitchFamily="34" charset="-122"/>
                <a:cs typeface="Consolas" pitchFamily="34" charset="-120"/>
              </a:rPr>
              <a:t>-&gt; int</a:t>
            </a:r>
            <a:endParaRPr lang="en-US" sz="1600" dirty="0"/>
          </a:p>
        </p:txBody>
      </p:sp>
      <p:sp>
        <p:nvSpPr>
          <p:cNvPr id="13" name="Text 11"/>
          <p:cNvSpPr txBox="1"/>
          <p:nvPr/>
        </p:nvSpPr>
        <p:spPr>
          <a:xfrm>
            <a:off x="9464040" y="4434840"/>
            <a:ext cx="2148840" cy="685800"/>
          </a:xfrm>
          <a:prstGeom prst="rect">
            <a:avLst/>
          </a:prstGeom>
          <a:noFill/>
          <a:ln/>
        </p:spPr>
        <p:txBody>
          <a:bodyPr wrap="square" lIns="0" tIns="0" rIns="0" bIns="0" rtlCol="0" anchor="t"/>
          <a:lstStyle/>
          <a:p>
            <a:pPr indent="0" marL="0">
              <a:buNone/>
            </a:pPr>
            <a:r>
              <a:rPr lang="en-US" sz="1400" dirty="0">
                <a:solidFill>
                  <a:schemeClr val="tx2"/>
                </a:solidFill>
              </a:rPr>
              <a:t>de functie geeft een geheel getal terug</a:t>
            </a:r>
            <a:endParaRPr lang="en-US" sz="1400" dirty="0"/>
          </a:p>
        </p:txBody>
      </p:sp>
      <p:sp>
        <p:nvSpPr>
          <p:cNvPr id="14" name="icooncirkel"/>
          <p:cNvSpPr/>
          <p:nvPr/>
        </p:nvSpPr>
        <p:spPr>
          <a:xfrm>
            <a:off x="548640" y="5394960"/>
            <a:ext cx="640080" cy="640080"/>
          </a:xfrm>
          <a:prstGeom prst="ellipse">
            <a:avLst/>
          </a:prstGeom>
          <a:solidFill>
            <a:schemeClr val="accent2"/>
          </a:solidFill>
          <a:ln w="12700">
            <a:solidFill>
              <a:schemeClr val="accent2"/>
            </a:solidFill>
            <a:prstDash val="solid"/>
          </a:ln>
        </p:spPr>
      </p:sp>
      <p:pic>
        <p:nvPicPr>
          <p:cNvPr id="15" name="icoon" descr="preencoded.png">    </p:cNvPr>
          <p:cNvPicPr>
            <a:picLocks noChangeAspect="1"/>
          </p:cNvPicPr>
          <p:nvPr/>
        </p:nvPicPr>
        <p:blipFill>
          <a:blip r:embed="rId1"/>
          <a:stretch>
            <a:fillRect/>
          </a:stretch>
        </p:blipFill>
        <p:spPr>
          <a:xfrm>
            <a:off x="708660" y="5554980"/>
            <a:ext cx="320040" cy="320040"/>
          </a:xfrm>
          <a:prstGeom prst="rect">
            <a:avLst/>
          </a:prstGeom>
        </p:spPr>
      </p:pic>
      <p:sp>
        <p:nvSpPr>
          <p:cNvPr id="16" name="Text 13"/>
          <p:cNvSpPr txBox="1"/>
          <p:nvPr/>
        </p:nvSpPr>
        <p:spPr>
          <a:xfrm>
            <a:off x="1371600" y="5349240"/>
            <a:ext cx="10241280" cy="731520"/>
          </a:xfrm>
          <a:prstGeom prst="rect">
            <a:avLst/>
          </a:prstGeom>
          <a:noFill/>
          <a:ln/>
        </p:spPr>
        <p:txBody>
          <a:bodyPr wrap="square" lIns="0" tIns="0" rIns="0" bIns="0" rtlCol="0" anchor="ctr"/>
          <a:lstStyle/>
          <a:p>
            <a:pPr indent="0" marL="0">
              <a:buNone/>
            </a:pPr>
            <a:r>
              <a:rPr lang="en-US" sz="1600" b="1" dirty="0">
                <a:solidFill>
                  <a:schemeClr val="tx1"/>
                </a:solidFill>
              </a:rPr>
              <a:t>Python zelf controleert de hints niet; Pylance en mypy wel. </a:t>
            </a:r>
            <a:pPr indent="0" marL="0">
              <a:buNone/>
            </a:pPr>
            <a:r>
              <a:rPr lang="en-US" sz="1600" dirty="0">
                <a:solidFill>
                  <a:schemeClr val="tx1"/>
                </a:solidFill>
              </a:rPr>
              <a:t>Bij JavaScript zie je hetzelfde: TypeScript is intussen de gewone keuze.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3 · De cloud en containers</a:t>
            </a:r>
            <a:endParaRPr lang="en-US" sz="34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buNone/>
            </a:pPr>
            <a:r>
              <a:rPr lang="en-US" sz="1700" dirty="0">
                <a:solidFill>
                  <a:schemeClr val="tx2"/>
                </a:solidFill>
              </a:rPr>
              <a:t>Software draait steeds minder op een server in je kelder en steeds meer bij een aanbieder. Een container verpakt je programma mét zijn omgeving, zodat het overal hetzelfde draait.</a:t>
            </a:r>
            <a:endParaRPr lang="en-US" sz="1700" dirty="0"/>
          </a:p>
        </p:txBody>
      </p:sp>
      <p:sp>
        <p:nvSpPr>
          <p:cNvPr id="4" name="laag"/>
          <p:cNvSpPr/>
          <p:nvPr/>
        </p:nvSpPr>
        <p:spPr>
          <a:xfrm>
            <a:off x="5760720" y="2331720"/>
            <a:ext cx="5852160" cy="3657600"/>
          </a:xfrm>
          <a:prstGeom prst="roundRect">
            <a:avLst>
              <a:gd name="adj" fmla="val 2500"/>
            </a:avLst>
          </a:prstGeom>
          <a:solidFill>
            <a:schemeClr val="tx1"/>
          </a:solidFill>
          <a:ln w="12700">
            <a:solidFill>
              <a:schemeClr val="tx1"/>
            </a:solidFill>
            <a:prstDash val="solid"/>
          </a:ln>
        </p:spPr>
      </p:sp>
      <p:sp>
        <p:nvSpPr>
          <p:cNvPr id="5" name="Text 3"/>
          <p:cNvSpPr txBox="1"/>
          <p:nvPr/>
        </p:nvSpPr>
        <p:spPr>
          <a:xfrm>
            <a:off x="5989320" y="2423160"/>
            <a:ext cx="5394960" cy="320040"/>
          </a:xfrm>
          <a:prstGeom prst="rect">
            <a:avLst/>
          </a:prstGeom>
          <a:noFill/>
          <a:ln/>
        </p:spPr>
        <p:txBody>
          <a:bodyPr wrap="square" lIns="0" tIns="0" rIns="0" bIns="0" rtlCol="0" anchor="t"/>
          <a:lstStyle/>
          <a:p>
            <a:pPr indent="0" marL="0">
              <a:buNone/>
            </a:pPr>
            <a:r>
              <a:rPr lang="en-US" sz="1200" b="1" spc="100" kern="0" dirty="0">
                <a:solidFill>
                  <a:schemeClr val="accent1"/>
                </a:solidFill>
              </a:rPr>
              <a:t>CONTAINER</a:t>
            </a:r>
            <a:endParaRPr lang="en-US" sz="1200" dirty="0"/>
          </a:p>
        </p:txBody>
      </p:sp>
      <p:sp>
        <p:nvSpPr>
          <p:cNvPr id="6" name="laag"/>
          <p:cNvSpPr/>
          <p:nvPr/>
        </p:nvSpPr>
        <p:spPr>
          <a:xfrm>
            <a:off x="6080760" y="2788920"/>
            <a:ext cx="5212080" cy="2926080"/>
          </a:xfrm>
          <a:prstGeom prst="roundRect">
            <a:avLst>
              <a:gd name="adj" fmla="val 3125"/>
            </a:avLst>
          </a:prstGeom>
          <a:solidFill>
            <a:schemeClr val="tx2"/>
          </a:solidFill>
          <a:ln w="12700">
            <a:solidFill>
              <a:schemeClr val="tx2"/>
            </a:solidFill>
            <a:prstDash val="solid"/>
          </a:ln>
        </p:spPr>
      </p:sp>
      <p:sp>
        <p:nvSpPr>
          <p:cNvPr id="7" name="Text 5"/>
          <p:cNvSpPr txBox="1"/>
          <p:nvPr/>
        </p:nvSpPr>
        <p:spPr>
          <a:xfrm>
            <a:off x="6309360" y="2880360"/>
            <a:ext cx="4754880" cy="320040"/>
          </a:xfrm>
          <a:prstGeom prst="rect">
            <a:avLst/>
          </a:prstGeom>
          <a:noFill/>
          <a:ln/>
        </p:spPr>
        <p:txBody>
          <a:bodyPr wrap="square" lIns="0" tIns="0" rIns="0" bIns="0" rtlCol="0" anchor="t"/>
          <a:lstStyle/>
          <a:p>
            <a:pPr indent="0" marL="0">
              <a:buNone/>
            </a:pPr>
            <a:r>
              <a:rPr lang="en-US" sz="1200" b="1" spc="100" kern="0" dirty="0">
                <a:solidFill>
                  <a:schemeClr val="bg2"/>
                </a:solidFill>
              </a:rPr>
              <a:t>HELE BESTURINGSSYSTEEM</a:t>
            </a:r>
            <a:endParaRPr lang="en-US" sz="1200" dirty="0"/>
          </a:p>
        </p:txBody>
      </p:sp>
      <p:sp>
        <p:nvSpPr>
          <p:cNvPr id="8" name="laag"/>
          <p:cNvSpPr/>
          <p:nvPr/>
        </p:nvSpPr>
        <p:spPr>
          <a:xfrm>
            <a:off x="6400800" y="3246120"/>
            <a:ext cx="4572000" cy="2194560"/>
          </a:xfrm>
          <a:prstGeom prst="roundRect">
            <a:avLst>
              <a:gd name="adj" fmla="val 4167"/>
            </a:avLst>
          </a:prstGeom>
          <a:solidFill>
            <a:schemeClr val="accent2"/>
          </a:solidFill>
          <a:ln w="12700">
            <a:solidFill>
              <a:schemeClr val="accent2"/>
            </a:solidFill>
            <a:prstDash val="solid"/>
          </a:ln>
        </p:spPr>
      </p:sp>
      <p:sp>
        <p:nvSpPr>
          <p:cNvPr id="9" name="Text 7"/>
          <p:cNvSpPr txBox="1"/>
          <p:nvPr/>
        </p:nvSpPr>
        <p:spPr>
          <a:xfrm>
            <a:off x="6629400" y="3337560"/>
            <a:ext cx="4114800" cy="320040"/>
          </a:xfrm>
          <a:prstGeom prst="rect">
            <a:avLst/>
          </a:prstGeom>
          <a:noFill/>
          <a:ln/>
        </p:spPr>
        <p:txBody>
          <a:bodyPr wrap="square" lIns="0" tIns="0" rIns="0" bIns="0" rtlCol="0" anchor="t"/>
          <a:lstStyle/>
          <a:p>
            <a:pPr indent="0" marL="0">
              <a:buNone/>
            </a:pPr>
            <a:r>
              <a:rPr lang="en-US" sz="1200" b="1" spc="100" kern="0" dirty="0">
                <a:solidFill>
                  <a:schemeClr val="bg1"/>
                </a:solidFill>
              </a:rPr>
              <a:t>VENV  ·  PYTHON-PAKKETTEN</a:t>
            </a:r>
            <a:endParaRPr lang="en-US" sz="1200" dirty="0"/>
          </a:p>
        </p:txBody>
      </p:sp>
      <p:sp>
        <p:nvSpPr>
          <p:cNvPr id="10" name="laag"/>
          <p:cNvSpPr/>
          <p:nvPr/>
        </p:nvSpPr>
        <p:spPr>
          <a:xfrm>
            <a:off x="6720840" y="3749040"/>
            <a:ext cx="3931920" cy="1417320"/>
          </a:xfrm>
          <a:prstGeom prst="roundRect">
            <a:avLst>
              <a:gd name="adj" fmla="val 6452"/>
            </a:avLst>
          </a:prstGeom>
          <a:solidFill>
            <a:schemeClr val="bg1"/>
          </a:solidFill>
          <a:ln w="12700">
            <a:solidFill>
              <a:schemeClr val="bg1"/>
            </a:solidFill>
            <a:prstDash val="solid"/>
          </a:ln>
        </p:spPr>
      </p:sp>
      <p:sp>
        <p:nvSpPr>
          <p:cNvPr id="11" name="Text 9"/>
          <p:cNvSpPr txBox="1"/>
          <p:nvPr/>
        </p:nvSpPr>
        <p:spPr>
          <a:xfrm>
            <a:off x="6949440" y="3840480"/>
            <a:ext cx="3474720" cy="320040"/>
          </a:xfrm>
          <a:prstGeom prst="rect">
            <a:avLst/>
          </a:prstGeom>
          <a:noFill/>
          <a:ln/>
        </p:spPr>
        <p:txBody>
          <a:bodyPr wrap="square" lIns="0" tIns="0" rIns="0" bIns="0" rtlCol="0" anchor="t"/>
          <a:lstStyle/>
          <a:p>
            <a:pPr indent="0" marL="0">
              <a:buNone/>
            </a:pPr>
            <a:r>
              <a:rPr lang="en-US" sz="1200" b="1" spc="100" kern="0" dirty="0">
                <a:solidFill>
                  <a:schemeClr val="tx1"/>
                </a:solidFill>
              </a:rPr>
              <a:t>JOUW PROGRAMMA</a:t>
            </a:r>
            <a:endParaRPr lang="en-US" sz="1200" dirty="0"/>
          </a:p>
        </p:txBody>
      </p:sp>
      <p:sp>
        <p:nvSpPr>
          <p:cNvPr id="12" name="Text 10"/>
          <p:cNvSpPr txBox="1"/>
          <p:nvPr/>
        </p:nvSpPr>
        <p:spPr>
          <a:xfrm>
            <a:off x="6949440" y="4206240"/>
            <a:ext cx="3474720" cy="457200"/>
          </a:xfrm>
          <a:prstGeom prst="rect">
            <a:avLst/>
          </a:prstGeom>
          <a:noFill/>
          <a:ln/>
        </p:spPr>
        <p:txBody>
          <a:bodyPr wrap="square" lIns="0" tIns="0" rIns="0" bIns="0" rtlCol="0" anchor="t"/>
          <a:lstStyle/>
          <a:p>
            <a:pPr indent="0" marL="0">
              <a:buNone/>
            </a:pPr>
            <a:r>
              <a:rPr lang="en-US" sz="1800" dirty="0">
                <a:solidFill>
                  <a:schemeClr val="tx1"/>
                </a:solidFill>
                <a:latin typeface="Consolas" pitchFamily="34" charset="0"/>
                <a:ea typeface="Consolas" pitchFamily="34" charset="-122"/>
                <a:cs typeface="Consolas" pitchFamily="34" charset="-120"/>
              </a:rPr>
              <a:t>hoofdstuk1.py</a:t>
            </a:r>
            <a:endParaRPr lang="en-US" sz="1800" dirty="0"/>
          </a:p>
        </p:txBody>
      </p:sp>
      <p:sp>
        <p:nvSpPr>
          <p:cNvPr id="13" name="icooncirkel"/>
          <p:cNvSpPr/>
          <p:nvPr/>
        </p:nvSpPr>
        <p:spPr>
          <a:xfrm>
            <a:off x="548640" y="2468880"/>
            <a:ext cx="731520" cy="731520"/>
          </a:xfrm>
          <a:prstGeom prst="ellipse">
            <a:avLst/>
          </a:prstGeom>
          <a:solidFill>
            <a:schemeClr val="accent1"/>
          </a:solidFill>
          <a:ln w="12700">
            <a:solidFill>
              <a:schemeClr val="accent1"/>
            </a:solidFill>
            <a:prstDash val="solid"/>
          </a:ln>
        </p:spPr>
      </p:sp>
      <p:pic>
        <p:nvPicPr>
          <p:cNvPr id="14" name="icoon" descr="preencoded.png">    </p:cNvPr>
          <p:cNvPicPr>
            <a:picLocks noChangeAspect="1"/>
          </p:cNvPicPr>
          <p:nvPr/>
        </p:nvPicPr>
        <p:blipFill>
          <a:blip r:embed="rId1"/>
          <a:stretch>
            <a:fillRect/>
          </a:stretch>
        </p:blipFill>
        <p:spPr>
          <a:xfrm>
            <a:off x="731520" y="2651760"/>
            <a:ext cx="365760" cy="365760"/>
          </a:xfrm>
          <a:prstGeom prst="rect">
            <a:avLst/>
          </a:prstGeom>
        </p:spPr>
      </p:pic>
      <p:sp>
        <p:nvSpPr>
          <p:cNvPr id="15" name="Text 12"/>
          <p:cNvSpPr txBox="1"/>
          <p:nvPr/>
        </p:nvSpPr>
        <p:spPr>
          <a:xfrm>
            <a:off x="1463040" y="2514600"/>
            <a:ext cx="4023360" cy="64008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Herken je het probleem?</a:t>
            </a:r>
            <a:endParaRPr lang="en-US" sz="2100" dirty="0"/>
          </a:p>
        </p:txBody>
      </p:sp>
      <p:sp>
        <p:nvSpPr>
          <p:cNvPr id="16" name="Text 13"/>
          <p:cNvSpPr txBox="1"/>
          <p:nvPr/>
        </p:nvSpPr>
        <p:spPr>
          <a:xfrm>
            <a:off x="548640" y="3383280"/>
            <a:ext cx="4937760" cy="914400"/>
          </a:xfrm>
          <a:prstGeom prst="rect">
            <a:avLst/>
          </a:prstGeom>
          <a:noFill/>
          <a:ln/>
        </p:spPr>
        <p:txBody>
          <a:bodyPr wrap="square" lIns="0" tIns="0" rIns="0" bIns="0" rtlCol="0" anchor="t"/>
          <a:lstStyle/>
          <a:p>
            <a:pPr indent="0" marL="0">
              <a:buNone/>
            </a:pPr>
            <a:r>
              <a:rPr lang="en-US" sz="1600" dirty="0">
                <a:solidFill>
                  <a:schemeClr val="tx1"/>
                </a:solidFill>
              </a:rPr>
              <a:t>„Het werkt op mijn computer.” Daarom maakte je in hoofdstuk 1 een virtuele omgeving.</a:t>
            </a:r>
            <a:endParaRPr lang="en-US" sz="1600" dirty="0"/>
          </a:p>
        </p:txBody>
      </p:sp>
      <p:sp>
        <p:nvSpPr>
          <p:cNvPr id="17" name="Text 14"/>
          <p:cNvSpPr txBox="1"/>
          <p:nvPr/>
        </p:nvSpPr>
        <p:spPr>
          <a:xfrm>
            <a:off x="548640" y="4434840"/>
            <a:ext cx="4937760" cy="155448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Een venv </a:t>
            </a:r>
            <a:pPr indent="0" marL="0">
              <a:spcAft>
                <a:spcPts val="600"/>
              </a:spcAft>
              <a:buNone/>
            </a:pPr>
            <a:r>
              <a:rPr lang="en-US" sz="1600" dirty="0">
                <a:solidFill>
                  <a:schemeClr val="tx1"/>
                </a:solidFill>
              </a:rPr>
              <a:t>isoleert je Python-pakketten.</a:t>
            </a:r>
            <a:endParaRPr lang="en-US" sz="1600" dirty="0"/>
          </a:p>
          <a:p>
            <a:pPr indent="0" marL="0">
              <a:spcAft>
                <a:spcPts val="600"/>
              </a:spcAft>
              <a:buNone/>
            </a:pPr>
            <a:r>
              <a:rPr lang="en-US" sz="1600" b="1" dirty="0">
                <a:solidFill>
                  <a:schemeClr val="tx1"/>
                </a:solidFill>
              </a:rPr>
              <a:t>Een container </a:t>
            </a:r>
            <a:pPr indent="0" marL="0">
              <a:spcAft>
                <a:spcPts val="600"/>
              </a:spcAft>
              <a:buNone/>
            </a:pPr>
            <a:r>
              <a:rPr lang="en-US" sz="1600" dirty="0">
                <a:solidFill>
                  <a:schemeClr val="tx1"/>
                </a:solidFill>
              </a:rPr>
              <a:t>isoleert je hele besturingssysteem.</a:t>
            </a:r>
            <a:endParaRPr lang="en-US" sz="1600" dirty="0"/>
          </a:p>
          <a:p>
            <a:pPr indent="0" marL="0">
              <a:spcAft>
                <a:spcPts val="600"/>
              </a:spcAft>
              <a:buNone/>
            </a:pPr>
            <a:r>
              <a:rPr lang="en-US" sz="1600" i="1" dirty="0">
                <a:solidFill>
                  <a:schemeClr val="accent2"/>
                </a:solidFill>
              </a:rPr>
              <a:t>Hetzelfde idee, een niveau hoger.</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4 · Opensource als fundament</a:t>
            </a:r>
            <a:endParaRPr lang="en-US" sz="3400" dirty="0"/>
          </a:p>
        </p:txBody>
      </p:sp>
      <p:sp>
        <p:nvSpPr>
          <p:cNvPr id="3" name="Text 1"/>
          <p:cNvSpPr txBox="1"/>
          <p:nvPr/>
        </p:nvSpPr>
        <p:spPr>
          <a:xfrm>
            <a:off x="548640" y="1325880"/>
            <a:ext cx="11064240" cy="685800"/>
          </a:xfrm>
          <a:prstGeom prst="rect">
            <a:avLst/>
          </a:prstGeom>
          <a:noFill/>
          <a:ln/>
        </p:spPr>
        <p:txBody>
          <a:bodyPr wrap="square" lIns="0" tIns="0" rIns="0" bIns="0" rtlCol="0" anchor="t"/>
          <a:lstStyle/>
          <a:p>
            <a:pPr indent="0" marL="0">
              <a:buNone/>
            </a:pPr>
            <a:r>
              <a:rPr lang="en-US" sz="1700" dirty="0">
                <a:solidFill>
                  <a:schemeClr val="tx2"/>
                </a:solidFill>
              </a:rPr>
              <a:t>Vrijwel elk programma bouwt op code van anderen. Python zelf, elke module die je importeerde, VS Code, Git: allemaal opensource.</a:t>
            </a:r>
            <a:endParaRPr lang="en-US" sz="1700" dirty="0"/>
          </a:p>
        </p:txBody>
      </p:sp>
      <p:sp>
        <p:nvSpPr>
          <p:cNvPr id="4" name="Text 2"/>
          <p:cNvSpPr txBox="1"/>
          <p:nvPr/>
        </p:nvSpPr>
        <p:spPr>
          <a:xfrm>
            <a:off x="822960" y="2240280"/>
            <a:ext cx="45720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WAT HET JE OPLEVERT</a:t>
            </a:r>
            <a:endParaRPr lang="en-US" sz="1200" dirty="0"/>
          </a:p>
        </p:txBody>
      </p:sp>
      <p:sp>
        <p:nvSpPr>
          <p:cNvPr id="5" name="Text 3"/>
          <p:cNvSpPr txBox="1"/>
          <p:nvPr/>
        </p:nvSpPr>
        <p:spPr>
          <a:xfrm>
            <a:off x="6537960" y="2240280"/>
            <a:ext cx="4572000" cy="274320"/>
          </a:xfrm>
          <a:prstGeom prst="rect">
            <a:avLst/>
          </a:prstGeom>
          <a:noFill/>
          <a:ln/>
        </p:spPr>
        <p:txBody>
          <a:bodyPr wrap="square" lIns="0" tIns="0" rIns="0" bIns="0" rtlCol="0" anchor="ctr"/>
          <a:lstStyle/>
          <a:p>
            <a:pPr indent="0" marL="0">
              <a:buNone/>
            </a:pPr>
            <a:r>
              <a:rPr lang="en-US" sz="1200" b="1" spc="100" kern="0" dirty="0">
                <a:solidFill>
                  <a:schemeClr val="accent3"/>
                </a:solidFill>
              </a:rPr>
              <a:t>WAAR JE OP LET</a:t>
            </a:r>
            <a:endParaRPr lang="en-US" sz="1200" dirty="0"/>
          </a:p>
        </p:txBody>
      </p:sp>
      <p:sp>
        <p:nvSpPr>
          <p:cNvPr id="6" name="kaart"/>
          <p:cNvSpPr/>
          <p:nvPr/>
        </p:nvSpPr>
        <p:spPr>
          <a:xfrm>
            <a:off x="548640" y="2651760"/>
            <a:ext cx="512064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pic>
        <p:nvPicPr>
          <p:cNvPr id="7" name="teken" descr="preencoded.png">    </p:cNvPr>
          <p:cNvPicPr>
            <a:picLocks noChangeAspect="1"/>
          </p:cNvPicPr>
          <p:nvPr/>
        </p:nvPicPr>
        <p:blipFill>
          <a:blip r:embed="rId1"/>
          <a:stretch>
            <a:fillRect/>
          </a:stretch>
        </p:blipFill>
        <p:spPr>
          <a:xfrm>
            <a:off x="822960" y="2999232"/>
            <a:ext cx="274320" cy="274320"/>
          </a:xfrm>
          <a:prstGeom prst="rect">
            <a:avLst/>
          </a:prstGeom>
        </p:spPr>
      </p:pic>
      <p:sp>
        <p:nvSpPr>
          <p:cNvPr id="8" name="Text 5"/>
          <p:cNvSpPr txBox="1"/>
          <p:nvPr/>
        </p:nvSpPr>
        <p:spPr>
          <a:xfrm>
            <a:off x="1280160" y="2651760"/>
            <a:ext cx="4206240" cy="960120"/>
          </a:xfrm>
          <a:prstGeom prst="rect">
            <a:avLst/>
          </a:prstGeom>
          <a:noFill/>
          <a:ln/>
        </p:spPr>
        <p:txBody>
          <a:bodyPr wrap="square" lIns="0" tIns="0" rIns="0" bIns="0" rtlCol="0" anchor="ctr"/>
          <a:lstStyle/>
          <a:p>
            <a:pPr indent="0" marL="0">
              <a:buNone/>
            </a:pPr>
            <a:r>
              <a:rPr lang="en-US" sz="1600" dirty="0">
                <a:solidFill>
                  <a:schemeClr val="tx1"/>
                </a:solidFill>
              </a:rPr>
              <a:t>Je hoeft niet alles zelf te schrijven</a:t>
            </a:r>
            <a:endParaRPr lang="en-US" sz="1600" dirty="0"/>
          </a:p>
        </p:txBody>
      </p:sp>
      <p:sp>
        <p:nvSpPr>
          <p:cNvPr id="9" name="kaart"/>
          <p:cNvSpPr/>
          <p:nvPr/>
        </p:nvSpPr>
        <p:spPr>
          <a:xfrm>
            <a:off x="6263640" y="2651760"/>
            <a:ext cx="534924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pic>
        <p:nvPicPr>
          <p:cNvPr id="10" name="teken" descr="preencoded.png">    </p:cNvPr>
          <p:cNvPicPr>
            <a:picLocks noChangeAspect="1"/>
          </p:cNvPicPr>
          <p:nvPr/>
        </p:nvPicPr>
        <p:blipFill>
          <a:blip r:embed="rId2"/>
          <a:stretch>
            <a:fillRect/>
          </a:stretch>
        </p:blipFill>
        <p:spPr>
          <a:xfrm>
            <a:off x="6537960" y="2999232"/>
            <a:ext cx="274320" cy="274320"/>
          </a:xfrm>
          <a:prstGeom prst="rect">
            <a:avLst/>
          </a:prstGeom>
        </p:spPr>
      </p:pic>
      <p:sp>
        <p:nvSpPr>
          <p:cNvPr id="11" name="Text 7"/>
          <p:cNvSpPr txBox="1"/>
          <p:nvPr/>
        </p:nvSpPr>
        <p:spPr>
          <a:xfrm>
            <a:off x="6995160" y="2651760"/>
            <a:ext cx="4434840" cy="960120"/>
          </a:xfrm>
          <a:prstGeom prst="rect">
            <a:avLst/>
          </a:prstGeom>
          <a:noFill/>
          <a:ln/>
        </p:spPr>
        <p:txBody>
          <a:bodyPr wrap="square" lIns="0" tIns="0" rIns="0" bIns="0" rtlCol="0" anchor="ctr"/>
          <a:lstStyle/>
          <a:p>
            <a:pPr indent="0" marL="0">
              <a:buNone/>
            </a:pPr>
            <a:r>
              <a:rPr lang="en-US" sz="1600" dirty="0">
                <a:solidFill>
                  <a:schemeClr val="tx1"/>
                </a:solidFill>
              </a:rPr>
              <a:t>Elk pakket is een afhankelijkheid die kan breken</a:t>
            </a:r>
            <a:endParaRPr lang="en-US" sz="1600" dirty="0"/>
          </a:p>
        </p:txBody>
      </p:sp>
      <p:sp>
        <p:nvSpPr>
          <p:cNvPr id="12" name="kaart"/>
          <p:cNvSpPr/>
          <p:nvPr/>
        </p:nvSpPr>
        <p:spPr>
          <a:xfrm>
            <a:off x="548640" y="3794760"/>
            <a:ext cx="512064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pic>
        <p:nvPicPr>
          <p:cNvPr id="13" name="teken" descr="preencoded.png">    </p:cNvPr>
          <p:cNvPicPr>
            <a:picLocks noChangeAspect="1"/>
          </p:cNvPicPr>
          <p:nvPr/>
        </p:nvPicPr>
        <p:blipFill>
          <a:blip r:embed="rId3"/>
          <a:stretch>
            <a:fillRect/>
          </a:stretch>
        </p:blipFill>
        <p:spPr>
          <a:xfrm>
            <a:off x="822960" y="4142232"/>
            <a:ext cx="274320" cy="274320"/>
          </a:xfrm>
          <a:prstGeom prst="rect">
            <a:avLst/>
          </a:prstGeom>
        </p:spPr>
      </p:pic>
      <p:sp>
        <p:nvSpPr>
          <p:cNvPr id="14" name="Text 9"/>
          <p:cNvSpPr txBox="1"/>
          <p:nvPr/>
        </p:nvSpPr>
        <p:spPr>
          <a:xfrm>
            <a:off x="1280160" y="3794760"/>
            <a:ext cx="4206240" cy="960120"/>
          </a:xfrm>
          <a:prstGeom prst="rect">
            <a:avLst/>
          </a:prstGeom>
          <a:noFill/>
          <a:ln/>
        </p:spPr>
        <p:txBody>
          <a:bodyPr wrap="square" lIns="0" tIns="0" rIns="0" bIns="0" rtlCol="0" anchor="ctr"/>
          <a:lstStyle/>
          <a:p>
            <a:pPr indent="0" marL="0">
              <a:buNone/>
            </a:pPr>
            <a:r>
              <a:rPr lang="en-US" sz="1600" dirty="0">
                <a:solidFill>
                  <a:schemeClr val="tx1"/>
                </a:solidFill>
              </a:rPr>
              <a:t>Je kunt de broncode lezen wanneer iets onduidelijk is</a:t>
            </a:r>
            <a:endParaRPr lang="en-US" sz="1600" dirty="0"/>
          </a:p>
        </p:txBody>
      </p:sp>
      <p:sp>
        <p:nvSpPr>
          <p:cNvPr id="15" name="kaart"/>
          <p:cNvSpPr/>
          <p:nvPr/>
        </p:nvSpPr>
        <p:spPr>
          <a:xfrm>
            <a:off x="6263640" y="3794760"/>
            <a:ext cx="534924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pic>
        <p:nvPicPr>
          <p:cNvPr id="16" name="teken" descr="preencoded.png">    </p:cNvPr>
          <p:cNvPicPr>
            <a:picLocks noChangeAspect="1"/>
          </p:cNvPicPr>
          <p:nvPr/>
        </p:nvPicPr>
        <p:blipFill>
          <a:blip r:embed="rId4"/>
          <a:stretch>
            <a:fillRect/>
          </a:stretch>
        </p:blipFill>
        <p:spPr>
          <a:xfrm>
            <a:off x="6537960" y="4142232"/>
            <a:ext cx="274320" cy="274320"/>
          </a:xfrm>
          <a:prstGeom prst="rect">
            <a:avLst/>
          </a:prstGeom>
        </p:spPr>
      </p:pic>
      <p:sp>
        <p:nvSpPr>
          <p:cNvPr id="17" name="Text 11"/>
          <p:cNvSpPr txBox="1"/>
          <p:nvPr/>
        </p:nvSpPr>
        <p:spPr>
          <a:xfrm>
            <a:off x="6995160" y="3794760"/>
            <a:ext cx="4434840" cy="960120"/>
          </a:xfrm>
          <a:prstGeom prst="rect">
            <a:avLst/>
          </a:prstGeom>
          <a:noFill/>
          <a:ln/>
        </p:spPr>
        <p:txBody>
          <a:bodyPr wrap="square" lIns="0" tIns="0" rIns="0" bIns="0" rtlCol="0" anchor="ctr"/>
          <a:lstStyle/>
          <a:p>
            <a:pPr indent="0" marL="0">
              <a:buNone/>
            </a:pPr>
            <a:r>
              <a:rPr lang="en-US" sz="1600" dirty="0">
                <a:solidFill>
                  <a:schemeClr val="tx1"/>
                </a:solidFill>
              </a:rPr>
              <a:t>Een lek in dat pakket is jouw lek</a:t>
            </a:r>
            <a:endParaRPr lang="en-US" sz="1600" dirty="0"/>
          </a:p>
        </p:txBody>
      </p:sp>
      <p:sp>
        <p:nvSpPr>
          <p:cNvPr id="18" name="kaart"/>
          <p:cNvSpPr/>
          <p:nvPr/>
        </p:nvSpPr>
        <p:spPr>
          <a:xfrm>
            <a:off x="548640" y="4937760"/>
            <a:ext cx="512064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pic>
        <p:nvPicPr>
          <p:cNvPr id="19" name="teken" descr="preencoded.png">    </p:cNvPr>
          <p:cNvPicPr>
            <a:picLocks noChangeAspect="1"/>
          </p:cNvPicPr>
          <p:nvPr/>
        </p:nvPicPr>
        <p:blipFill>
          <a:blip r:embed="rId5"/>
          <a:stretch>
            <a:fillRect/>
          </a:stretch>
        </p:blipFill>
        <p:spPr>
          <a:xfrm>
            <a:off x="822960" y="5285232"/>
            <a:ext cx="274320" cy="274320"/>
          </a:xfrm>
          <a:prstGeom prst="rect">
            <a:avLst/>
          </a:prstGeom>
        </p:spPr>
      </p:pic>
      <p:sp>
        <p:nvSpPr>
          <p:cNvPr id="20" name="Text 13"/>
          <p:cNvSpPr txBox="1"/>
          <p:nvPr/>
        </p:nvSpPr>
        <p:spPr>
          <a:xfrm>
            <a:off x="1280160" y="4937760"/>
            <a:ext cx="4206240" cy="960120"/>
          </a:xfrm>
          <a:prstGeom prst="rect">
            <a:avLst/>
          </a:prstGeom>
          <a:noFill/>
          <a:ln/>
        </p:spPr>
        <p:txBody>
          <a:bodyPr wrap="square" lIns="0" tIns="0" rIns="0" bIns="0" rtlCol="0" anchor="ctr"/>
          <a:lstStyle/>
          <a:p>
            <a:pPr indent="0" marL="0">
              <a:buNone/>
            </a:pPr>
            <a:r>
              <a:rPr lang="en-US" sz="1600" dirty="0">
                <a:solidFill>
                  <a:schemeClr val="tx1"/>
                </a:solidFill>
              </a:rPr>
              <a:t>Je kunt zelf bijdragen</a:t>
            </a:r>
            <a:endParaRPr lang="en-US" sz="1600" dirty="0"/>
          </a:p>
        </p:txBody>
      </p:sp>
      <p:sp>
        <p:nvSpPr>
          <p:cNvPr id="21" name="kaart"/>
          <p:cNvSpPr/>
          <p:nvPr/>
        </p:nvSpPr>
        <p:spPr>
          <a:xfrm>
            <a:off x="6263640" y="4937760"/>
            <a:ext cx="5349240" cy="960120"/>
          </a:xfrm>
          <a:prstGeom prst="roundRect">
            <a:avLst>
              <a:gd name="adj" fmla="val 11429"/>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pic>
        <p:nvPicPr>
          <p:cNvPr id="22" name="teken" descr="preencoded.png">    </p:cNvPr>
          <p:cNvPicPr>
            <a:picLocks noChangeAspect="1"/>
          </p:cNvPicPr>
          <p:nvPr/>
        </p:nvPicPr>
        <p:blipFill>
          <a:blip r:embed="rId6"/>
          <a:stretch>
            <a:fillRect/>
          </a:stretch>
        </p:blipFill>
        <p:spPr>
          <a:xfrm>
            <a:off x="6537960" y="5285232"/>
            <a:ext cx="274320" cy="274320"/>
          </a:xfrm>
          <a:prstGeom prst="rect">
            <a:avLst/>
          </a:prstGeom>
        </p:spPr>
      </p:pic>
      <p:sp>
        <p:nvSpPr>
          <p:cNvPr id="23" name="Text 15"/>
          <p:cNvSpPr txBox="1"/>
          <p:nvPr/>
        </p:nvSpPr>
        <p:spPr>
          <a:xfrm>
            <a:off x="6995160" y="4937760"/>
            <a:ext cx="4434840" cy="960120"/>
          </a:xfrm>
          <a:prstGeom prst="rect">
            <a:avLst/>
          </a:prstGeom>
          <a:noFill/>
          <a:ln/>
        </p:spPr>
        <p:txBody>
          <a:bodyPr wrap="square" lIns="0" tIns="0" rIns="0" bIns="0" rtlCol="0" anchor="ctr"/>
          <a:lstStyle/>
          <a:p>
            <a:pPr indent="0" marL="0">
              <a:buNone/>
            </a:pPr>
            <a:r>
              <a:rPr lang="en-US" sz="1600" dirty="0">
                <a:solidFill>
                  <a:schemeClr val="tx1"/>
                </a:solidFill>
              </a:rPr>
              <a:t>Controleer de licentie vóór je iets in een product gebruikt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5 · Low-code   en   6 · Kwaliteit vooraf</a:t>
            </a:r>
            <a:endParaRPr lang="en-US" sz="3400" dirty="0"/>
          </a:p>
        </p:txBody>
      </p:sp>
      <p:sp>
        <p:nvSpPr>
          <p:cNvPr id="3" name="kaart"/>
          <p:cNvSpPr/>
          <p:nvPr/>
        </p:nvSpPr>
        <p:spPr>
          <a:xfrm>
            <a:off x="548640" y="1417320"/>
            <a:ext cx="4206240" cy="4572000"/>
          </a:xfrm>
          <a:prstGeom prst="roundRect">
            <a:avLst>
              <a:gd name="adj" fmla="val 2609"/>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icooncirkel"/>
          <p:cNvSpPr/>
          <p:nvPr/>
        </p:nvSpPr>
        <p:spPr>
          <a:xfrm>
            <a:off x="822960" y="1691640"/>
            <a:ext cx="777240" cy="777240"/>
          </a:xfrm>
          <a:prstGeom prst="ellipse">
            <a:avLst/>
          </a:prstGeom>
          <a:solidFill>
            <a:schemeClr val="accent6"/>
          </a:solidFill>
          <a:ln w="12700">
            <a:solidFill>
              <a:schemeClr val="accent6"/>
            </a:solidFill>
            <a:prstDash val="solid"/>
          </a:ln>
        </p:spPr>
      </p:sp>
      <p:pic>
        <p:nvPicPr>
          <p:cNvPr id="5" name="icoon" descr="preencoded.png">    </p:cNvPr>
          <p:cNvPicPr>
            <a:picLocks noChangeAspect="1"/>
          </p:cNvPicPr>
          <p:nvPr/>
        </p:nvPicPr>
        <p:blipFill>
          <a:blip r:embed="rId1"/>
          <a:stretch>
            <a:fillRect/>
          </a:stretch>
        </p:blipFill>
        <p:spPr>
          <a:xfrm>
            <a:off x="1017270" y="1885950"/>
            <a:ext cx="388620" cy="388620"/>
          </a:xfrm>
          <a:prstGeom prst="rect">
            <a:avLst/>
          </a:prstGeom>
        </p:spPr>
      </p:pic>
      <p:sp>
        <p:nvSpPr>
          <p:cNvPr id="6" name="Text 3"/>
          <p:cNvSpPr txBox="1"/>
          <p:nvPr/>
        </p:nvSpPr>
        <p:spPr>
          <a:xfrm>
            <a:off x="822960" y="2651760"/>
            <a:ext cx="365760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Low-code en no-code</a:t>
            </a:r>
            <a:endParaRPr lang="en-US" sz="2000" dirty="0"/>
          </a:p>
        </p:txBody>
      </p:sp>
      <p:sp>
        <p:nvSpPr>
          <p:cNvPr id="7" name="Text 4"/>
          <p:cNvSpPr txBox="1"/>
          <p:nvPr/>
        </p:nvSpPr>
        <p:spPr>
          <a:xfrm>
            <a:off x="822960" y="3154680"/>
            <a:ext cx="3657600" cy="1188720"/>
          </a:xfrm>
          <a:prstGeom prst="rect">
            <a:avLst/>
          </a:prstGeom>
          <a:noFill/>
          <a:ln/>
        </p:spPr>
        <p:txBody>
          <a:bodyPr wrap="square" lIns="0" tIns="0" rIns="0" bIns="0" rtlCol="0" anchor="t"/>
          <a:lstStyle/>
          <a:p>
            <a:pPr indent="0" marL="0">
              <a:buNone/>
            </a:pPr>
            <a:r>
              <a:rPr lang="en-US" sz="1500" dirty="0">
                <a:solidFill>
                  <a:schemeClr val="tx2"/>
                </a:solidFill>
              </a:rPr>
              <a:t>Gereedschap waarmee je zonder te programmeren toch iets bouwt. Het neemt eenvoudig werk over.</a:t>
            </a:r>
            <a:endParaRPr lang="en-US" sz="1500" dirty="0"/>
          </a:p>
        </p:txBody>
      </p:sp>
      <p:sp>
        <p:nvSpPr>
          <p:cNvPr id="8" name="Text 5"/>
          <p:cNvSpPr txBox="1"/>
          <p:nvPr/>
        </p:nvSpPr>
        <p:spPr>
          <a:xfrm>
            <a:off x="822960" y="4526280"/>
            <a:ext cx="3657600" cy="1097280"/>
          </a:xfrm>
          <a:prstGeom prst="rect">
            <a:avLst/>
          </a:prstGeom>
          <a:noFill/>
          <a:ln/>
        </p:spPr>
        <p:txBody>
          <a:bodyPr wrap="square" lIns="0" tIns="0" rIns="0" bIns="0" rtlCol="0" anchor="t"/>
          <a:lstStyle/>
          <a:p>
            <a:pPr indent="0" marL="0">
              <a:buNone/>
            </a:pPr>
            <a:r>
              <a:rPr lang="en-US" sz="1600" b="1" dirty="0">
                <a:solidFill>
                  <a:schemeClr val="accent3"/>
                </a:solidFill>
              </a:rPr>
              <a:t>Wat het níet kan: nadenken over wat er moet gebeuren.</a:t>
            </a:r>
            <a:endParaRPr lang="en-US" sz="1600" dirty="0"/>
          </a:p>
        </p:txBody>
      </p:sp>
      <p:sp>
        <p:nvSpPr>
          <p:cNvPr id="9" name="Text 6"/>
          <p:cNvSpPr txBox="1"/>
          <p:nvPr/>
        </p:nvSpPr>
        <p:spPr>
          <a:xfrm>
            <a:off x="5120640" y="1417320"/>
            <a:ext cx="649224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Hoe later een fout gevonden wordt, hoe duurder</a:t>
            </a:r>
            <a:endParaRPr lang="en-US" sz="1900" dirty="0"/>
          </a:p>
        </p:txBody>
      </p:sp>
      <p:sp>
        <p:nvSpPr>
          <p:cNvPr id="10" name="Text 7"/>
          <p:cNvSpPr txBox="1"/>
          <p:nvPr/>
        </p:nvSpPr>
        <p:spPr>
          <a:xfrm>
            <a:off x="5120640" y="1828800"/>
            <a:ext cx="6492240" cy="411480"/>
          </a:xfrm>
          <a:prstGeom prst="rect">
            <a:avLst/>
          </a:prstGeom>
          <a:noFill/>
          <a:ln/>
        </p:spPr>
        <p:txBody>
          <a:bodyPr wrap="square" lIns="0" tIns="0" rIns="0" bIns="0" rtlCol="0" anchor="t"/>
          <a:lstStyle/>
          <a:p>
            <a:pPr indent="0" marL="0">
              <a:buNone/>
            </a:pPr>
            <a:r>
              <a:rPr lang="en-US" sz="1500" dirty="0">
                <a:solidFill>
                  <a:schemeClr val="tx2"/>
                </a:solidFill>
              </a:rPr>
              <a:t>Linters, formatters, tests en code review vinden fouten vóór de gebruiker ze vindt.</a:t>
            </a:r>
            <a:endParaRPr lang="en-US" sz="1500" dirty="0"/>
          </a:p>
        </p:txBody>
      </p:sp>
      <p:sp>
        <p:nvSpPr>
          <p:cNvPr id="11" name="kostbalk"/>
          <p:cNvSpPr/>
          <p:nvPr/>
        </p:nvSpPr>
        <p:spPr>
          <a:xfrm>
            <a:off x="5120640" y="4937760"/>
            <a:ext cx="1417320" cy="502920"/>
          </a:xfrm>
          <a:prstGeom prst="roundRect">
            <a:avLst>
              <a:gd name="adj" fmla="val 14545"/>
            </a:avLst>
          </a:prstGeom>
          <a:solidFill>
            <a:schemeClr val="accent4"/>
          </a:solidFill>
          <a:ln w="12700">
            <a:solidFill>
              <a:schemeClr val="accent4"/>
            </a:solidFill>
            <a:prstDash val="solid"/>
          </a:ln>
        </p:spPr>
      </p:sp>
      <p:sp>
        <p:nvSpPr>
          <p:cNvPr id="12" name="Text 9"/>
          <p:cNvSpPr txBox="1"/>
          <p:nvPr/>
        </p:nvSpPr>
        <p:spPr>
          <a:xfrm>
            <a:off x="5120640" y="4480560"/>
            <a:ext cx="1417320" cy="411480"/>
          </a:xfrm>
          <a:prstGeom prst="rect">
            <a:avLst/>
          </a:prstGeom>
          <a:noFill/>
          <a:ln/>
        </p:spPr>
        <p:txBody>
          <a:bodyPr wrap="square" lIns="0" tIns="0" rIns="0" bIns="0" rtlCol="0" anchor="b"/>
          <a:lstStyle/>
          <a:p>
            <a:pPr algn="ctr" indent="0" marL="0">
              <a:buNone/>
            </a:pPr>
            <a:r>
              <a:rPr lang="en-US" sz="1400" b="1" dirty="0">
                <a:solidFill>
                  <a:schemeClr val="tx1"/>
                </a:solidFill>
              </a:rPr>
              <a:t>seconden</a:t>
            </a:r>
            <a:endParaRPr lang="en-US" sz="1400" dirty="0"/>
          </a:p>
        </p:txBody>
      </p:sp>
      <p:sp>
        <p:nvSpPr>
          <p:cNvPr id="13" name="Text 10"/>
          <p:cNvSpPr txBox="1"/>
          <p:nvPr/>
        </p:nvSpPr>
        <p:spPr>
          <a:xfrm>
            <a:off x="5074920" y="5513832"/>
            <a:ext cx="1508760" cy="274320"/>
          </a:xfrm>
          <a:prstGeom prst="rect">
            <a:avLst/>
          </a:prstGeom>
          <a:noFill/>
          <a:ln/>
        </p:spPr>
        <p:txBody>
          <a:bodyPr wrap="square" lIns="0" tIns="0" rIns="0" bIns="0" rtlCol="0" anchor="t"/>
          <a:lstStyle/>
          <a:p>
            <a:pPr algn="ctr" indent="0" marL="0">
              <a:buNone/>
            </a:pPr>
            <a:r>
              <a:rPr lang="en-US" sz="1300" b="1" dirty="0">
                <a:solidFill>
                  <a:schemeClr val="tx1"/>
                </a:solidFill>
              </a:rPr>
              <a:t>Terwijl je typt</a:t>
            </a:r>
            <a:endParaRPr lang="en-US" sz="1300" dirty="0"/>
          </a:p>
        </p:txBody>
      </p:sp>
      <p:sp>
        <p:nvSpPr>
          <p:cNvPr id="14" name="Text 11"/>
          <p:cNvSpPr txBox="1"/>
          <p:nvPr/>
        </p:nvSpPr>
        <p:spPr>
          <a:xfrm>
            <a:off x="5074920" y="5788152"/>
            <a:ext cx="1508760" cy="274320"/>
          </a:xfrm>
          <a:prstGeom prst="rect">
            <a:avLst/>
          </a:prstGeom>
          <a:noFill/>
          <a:ln/>
        </p:spPr>
        <p:txBody>
          <a:bodyPr wrap="square" lIns="0" tIns="0" rIns="0" bIns="0" rtlCol="0" anchor="t"/>
          <a:lstStyle/>
          <a:p>
            <a:pPr algn="ctr" indent="0" marL="0">
              <a:buNone/>
            </a:pPr>
            <a:r>
              <a:rPr lang="en-US" sz="1200" dirty="0">
                <a:solidFill>
                  <a:schemeClr val="tx2"/>
                </a:solidFill>
              </a:rPr>
              <a:t>door je linter</a:t>
            </a:r>
            <a:endParaRPr lang="en-US" sz="1200" dirty="0"/>
          </a:p>
        </p:txBody>
      </p:sp>
      <p:sp>
        <p:nvSpPr>
          <p:cNvPr id="15" name="kostbalk"/>
          <p:cNvSpPr/>
          <p:nvPr/>
        </p:nvSpPr>
        <p:spPr>
          <a:xfrm>
            <a:off x="6766560" y="4343400"/>
            <a:ext cx="1417320" cy="1097280"/>
          </a:xfrm>
          <a:prstGeom prst="roundRect">
            <a:avLst>
              <a:gd name="adj" fmla="val 6667"/>
            </a:avLst>
          </a:prstGeom>
          <a:solidFill>
            <a:schemeClr val="accent2"/>
          </a:solidFill>
          <a:ln w="12700">
            <a:solidFill>
              <a:schemeClr val="accent2"/>
            </a:solidFill>
            <a:prstDash val="solid"/>
          </a:ln>
        </p:spPr>
      </p:sp>
      <p:sp>
        <p:nvSpPr>
          <p:cNvPr id="16" name="Text 13"/>
          <p:cNvSpPr txBox="1"/>
          <p:nvPr/>
        </p:nvSpPr>
        <p:spPr>
          <a:xfrm>
            <a:off x="6766560" y="3886200"/>
            <a:ext cx="1417320" cy="411480"/>
          </a:xfrm>
          <a:prstGeom prst="rect">
            <a:avLst/>
          </a:prstGeom>
          <a:noFill/>
          <a:ln/>
        </p:spPr>
        <p:txBody>
          <a:bodyPr wrap="square" lIns="0" tIns="0" rIns="0" bIns="0" rtlCol="0" anchor="b"/>
          <a:lstStyle/>
          <a:p>
            <a:pPr algn="ctr" indent="0" marL="0">
              <a:buNone/>
            </a:pPr>
            <a:r>
              <a:rPr lang="en-US" sz="1400" b="1" dirty="0">
                <a:solidFill>
                  <a:schemeClr val="tx1"/>
                </a:solidFill>
              </a:rPr>
              <a:t>minuten</a:t>
            </a:r>
            <a:endParaRPr lang="en-US" sz="1400" dirty="0"/>
          </a:p>
        </p:txBody>
      </p:sp>
      <p:sp>
        <p:nvSpPr>
          <p:cNvPr id="17" name="Text 14"/>
          <p:cNvSpPr txBox="1"/>
          <p:nvPr/>
        </p:nvSpPr>
        <p:spPr>
          <a:xfrm>
            <a:off x="6720840" y="5513832"/>
            <a:ext cx="1508760" cy="274320"/>
          </a:xfrm>
          <a:prstGeom prst="rect">
            <a:avLst/>
          </a:prstGeom>
          <a:noFill/>
          <a:ln/>
        </p:spPr>
        <p:txBody>
          <a:bodyPr wrap="square" lIns="0" tIns="0" rIns="0" bIns="0" rtlCol="0" anchor="t"/>
          <a:lstStyle/>
          <a:p>
            <a:pPr algn="ctr" indent="0" marL="0">
              <a:buNone/>
            </a:pPr>
            <a:r>
              <a:rPr lang="en-US" sz="1300" b="1" dirty="0">
                <a:solidFill>
                  <a:schemeClr val="tx1"/>
                </a:solidFill>
              </a:rPr>
              <a:t>Bij je tests</a:t>
            </a:r>
            <a:endParaRPr lang="en-US" sz="1300" dirty="0"/>
          </a:p>
        </p:txBody>
      </p:sp>
      <p:sp>
        <p:nvSpPr>
          <p:cNvPr id="18" name="Text 15"/>
          <p:cNvSpPr txBox="1"/>
          <p:nvPr/>
        </p:nvSpPr>
        <p:spPr>
          <a:xfrm>
            <a:off x="6720840" y="5788152"/>
            <a:ext cx="1508760" cy="274320"/>
          </a:xfrm>
          <a:prstGeom prst="rect">
            <a:avLst/>
          </a:prstGeom>
          <a:noFill/>
          <a:ln/>
        </p:spPr>
        <p:txBody>
          <a:bodyPr wrap="square" lIns="0" tIns="0" rIns="0" bIns="0" rtlCol="0" anchor="t"/>
          <a:lstStyle/>
          <a:p>
            <a:pPr algn="ctr" indent="0" marL="0">
              <a:buNone/>
            </a:pPr>
            <a:r>
              <a:rPr lang="en-US" sz="1200" dirty="0">
                <a:solidFill>
                  <a:schemeClr val="tx2"/>
                </a:solidFill>
              </a:rPr>
              <a:t>automatisch</a:t>
            </a:r>
            <a:endParaRPr lang="en-US" sz="1200" dirty="0"/>
          </a:p>
        </p:txBody>
      </p:sp>
      <p:sp>
        <p:nvSpPr>
          <p:cNvPr id="19" name="kostbalk"/>
          <p:cNvSpPr/>
          <p:nvPr/>
        </p:nvSpPr>
        <p:spPr>
          <a:xfrm>
            <a:off x="8412480" y="3611880"/>
            <a:ext cx="1417320" cy="1828800"/>
          </a:xfrm>
          <a:prstGeom prst="roundRect">
            <a:avLst>
              <a:gd name="adj" fmla="val 5161"/>
            </a:avLst>
          </a:prstGeom>
          <a:solidFill>
            <a:schemeClr val="accent1"/>
          </a:solidFill>
          <a:ln w="12700">
            <a:solidFill>
              <a:schemeClr val="accent1"/>
            </a:solidFill>
            <a:prstDash val="solid"/>
          </a:ln>
        </p:spPr>
      </p:sp>
      <p:sp>
        <p:nvSpPr>
          <p:cNvPr id="20" name="Text 17"/>
          <p:cNvSpPr txBox="1"/>
          <p:nvPr/>
        </p:nvSpPr>
        <p:spPr>
          <a:xfrm>
            <a:off x="8412480" y="3154680"/>
            <a:ext cx="1417320" cy="411480"/>
          </a:xfrm>
          <a:prstGeom prst="rect">
            <a:avLst/>
          </a:prstGeom>
          <a:noFill/>
          <a:ln/>
        </p:spPr>
        <p:txBody>
          <a:bodyPr wrap="square" lIns="0" tIns="0" rIns="0" bIns="0" rtlCol="0" anchor="b"/>
          <a:lstStyle/>
          <a:p>
            <a:pPr algn="ctr" indent="0" marL="0">
              <a:buNone/>
            </a:pPr>
            <a:r>
              <a:rPr lang="en-US" sz="1400" b="1" dirty="0">
                <a:solidFill>
                  <a:schemeClr val="tx1"/>
                </a:solidFill>
              </a:rPr>
              <a:t>een uur</a:t>
            </a:r>
            <a:endParaRPr lang="en-US" sz="1400" dirty="0"/>
          </a:p>
        </p:txBody>
      </p:sp>
      <p:sp>
        <p:nvSpPr>
          <p:cNvPr id="21" name="Text 18"/>
          <p:cNvSpPr txBox="1"/>
          <p:nvPr/>
        </p:nvSpPr>
        <p:spPr>
          <a:xfrm>
            <a:off x="8366760" y="5513832"/>
            <a:ext cx="1508760" cy="274320"/>
          </a:xfrm>
          <a:prstGeom prst="rect">
            <a:avLst/>
          </a:prstGeom>
          <a:noFill/>
          <a:ln/>
        </p:spPr>
        <p:txBody>
          <a:bodyPr wrap="square" lIns="0" tIns="0" rIns="0" bIns="0" rtlCol="0" anchor="t"/>
          <a:lstStyle/>
          <a:p>
            <a:pPr algn="ctr" indent="0" marL="0">
              <a:buNone/>
            </a:pPr>
            <a:r>
              <a:rPr lang="en-US" sz="1300" b="1" dirty="0">
                <a:solidFill>
                  <a:schemeClr val="tx1"/>
                </a:solidFill>
              </a:rPr>
              <a:t>Bij de code review</a:t>
            </a:r>
            <a:endParaRPr lang="en-US" sz="1300" dirty="0"/>
          </a:p>
        </p:txBody>
      </p:sp>
      <p:sp>
        <p:nvSpPr>
          <p:cNvPr id="22" name="Text 19"/>
          <p:cNvSpPr txBox="1"/>
          <p:nvPr/>
        </p:nvSpPr>
        <p:spPr>
          <a:xfrm>
            <a:off x="8366760" y="5788152"/>
            <a:ext cx="1508760" cy="274320"/>
          </a:xfrm>
          <a:prstGeom prst="rect">
            <a:avLst/>
          </a:prstGeom>
          <a:noFill/>
          <a:ln/>
        </p:spPr>
        <p:txBody>
          <a:bodyPr wrap="square" lIns="0" tIns="0" rIns="0" bIns="0" rtlCol="0" anchor="t"/>
          <a:lstStyle/>
          <a:p>
            <a:pPr algn="ctr" indent="0" marL="0">
              <a:buNone/>
            </a:pPr>
            <a:r>
              <a:rPr lang="en-US" sz="1200" dirty="0">
                <a:solidFill>
                  <a:schemeClr val="tx2"/>
                </a:solidFill>
              </a:rPr>
              <a:t>door een collega</a:t>
            </a:r>
            <a:endParaRPr lang="en-US" sz="1200" dirty="0"/>
          </a:p>
        </p:txBody>
      </p:sp>
      <p:sp>
        <p:nvSpPr>
          <p:cNvPr id="23" name="kostbalk"/>
          <p:cNvSpPr/>
          <p:nvPr/>
        </p:nvSpPr>
        <p:spPr>
          <a:xfrm>
            <a:off x="10058400" y="2697480"/>
            <a:ext cx="1417320" cy="2743200"/>
          </a:xfrm>
          <a:prstGeom prst="roundRect">
            <a:avLst>
              <a:gd name="adj" fmla="val 5161"/>
            </a:avLst>
          </a:prstGeom>
          <a:solidFill>
            <a:schemeClr val="accent3"/>
          </a:solidFill>
          <a:ln w="12700">
            <a:solidFill>
              <a:schemeClr val="accent3"/>
            </a:solidFill>
            <a:prstDash val="solid"/>
          </a:ln>
        </p:spPr>
      </p:sp>
      <p:sp>
        <p:nvSpPr>
          <p:cNvPr id="24" name="Text 21"/>
          <p:cNvSpPr txBox="1"/>
          <p:nvPr/>
        </p:nvSpPr>
        <p:spPr>
          <a:xfrm>
            <a:off x="10058400" y="2240280"/>
            <a:ext cx="1417320" cy="411480"/>
          </a:xfrm>
          <a:prstGeom prst="rect">
            <a:avLst/>
          </a:prstGeom>
          <a:noFill/>
          <a:ln/>
        </p:spPr>
        <p:txBody>
          <a:bodyPr wrap="square" lIns="0" tIns="0" rIns="0" bIns="0" rtlCol="0" anchor="b"/>
          <a:lstStyle/>
          <a:p>
            <a:pPr algn="ctr" indent="0" marL="0">
              <a:buNone/>
            </a:pPr>
            <a:r>
              <a:rPr lang="en-US" sz="1400" b="1" dirty="0">
                <a:solidFill>
                  <a:schemeClr val="tx1"/>
                </a:solidFill>
              </a:rPr>
              <a:t>dagen + vertrouwen</a:t>
            </a:r>
            <a:endParaRPr lang="en-US" sz="1400" dirty="0"/>
          </a:p>
        </p:txBody>
      </p:sp>
      <p:sp>
        <p:nvSpPr>
          <p:cNvPr id="25" name="Text 22"/>
          <p:cNvSpPr txBox="1"/>
          <p:nvPr/>
        </p:nvSpPr>
        <p:spPr>
          <a:xfrm>
            <a:off x="10012680" y="5513832"/>
            <a:ext cx="1508760" cy="274320"/>
          </a:xfrm>
          <a:prstGeom prst="rect">
            <a:avLst/>
          </a:prstGeom>
          <a:noFill/>
          <a:ln/>
        </p:spPr>
        <p:txBody>
          <a:bodyPr wrap="square" lIns="0" tIns="0" rIns="0" bIns="0" rtlCol="0" anchor="t"/>
          <a:lstStyle/>
          <a:p>
            <a:pPr algn="ctr" indent="0" marL="0">
              <a:buNone/>
            </a:pPr>
            <a:r>
              <a:rPr lang="en-US" sz="1300" b="1" dirty="0">
                <a:solidFill>
                  <a:schemeClr val="tx1"/>
                </a:solidFill>
              </a:rPr>
              <a:t>Bij de gebruiker</a:t>
            </a:r>
            <a:endParaRPr lang="en-US" sz="1300" dirty="0"/>
          </a:p>
        </p:txBody>
      </p:sp>
      <p:sp>
        <p:nvSpPr>
          <p:cNvPr id="26" name="Text 23"/>
          <p:cNvSpPr txBox="1"/>
          <p:nvPr/>
        </p:nvSpPr>
        <p:spPr>
          <a:xfrm>
            <a:off x="10012680" y="5788152"/>
            <a:ext cx="1508760" cy="274320"/>
          </a:xfrm>
          <a:prstGeom prst="rect">
            <a:avLst/>
          </a:prstGeom>
          <a:noFill/>
          <a:ln/>
        </p:spPr>
        <p:txBody>
          <a:bodyPr wrap="square" lIns="0" tIns="0" rIns="0" bIns="0" rtlCol="0" anchor="t"/>
          <a:lstStyle/>
          <a:p>
            <a:pPr algn="ctr" indent="0" marL="0">
              <a:buNone/>
            </a:pPr>
            <a:r>
              <a:rPr lang="en-US" sz="1200" dirty="0">
                <a:solidFill>
                  <a:schemeClr val="tx2"/>
                </a:solidFill>
              </a:rPr>
              <a:t>in productie</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731520" y="3017520"/>
            <a:ext cx="10698480" cy="1097280"/>
          </a:xfrm>
          <a:prstGeom prst="rect">
            <a:avLst/>
          </a:prstGeom>
          <a:noFill/>
          <a:ln/>
        </p:spPr>
        <p:txBody>
          <a:bodyPr wrap="square" lIns="0" tIns="0" rIns="0" bIns="0" rtlCol="0" anchor="t"/>
          <a:lstStyle/>
          <a:p>
            <a:pPr algn="l" indent="0" marL="0">
              <a:buNone/>
            </a:pPr>
            <a:r>
              <a:rPr lang="en-US" sz="4400" b="1" dirty="0">
                <a:solidFill>
                  <a:schemeClr val="bg1"/>
                </a:solidFill>
              </a:rPr>
              <a:t>Hoe je zelf een trend beoordeelt</a:t>
            </a:r>
            <a:endParaRPr lang="en-US" sz="4400" dirty="0"/>
          </a:p>
        </p:txBody>
      </p:sp>
      <p:sp>
        <p:nvSpPr>
          <p:cNvPr id="3" name="Text 0"/>
          <p:cNvSpPr/>
          <p:nvPr>
            <p:ph idx="100" type="body" hasCustomPrompt="1"/>
          </p:nvPr>
        </p:nvSpPr>
        <p:spPr>
          <a:xfrm>
            <a:off x="731520" y="1463040"/>
            <a:ext cx="3657600" cy="1463040"/>
          </a:xfrm>
          <a:prstGeom prst="rect">
            <a:avLst/>
          </a:prstGeom>
          <a:noFill/>
          <a:ln/>
        </p:spPr>
        <p:txBody>
          <a:bodyPr wrap="square" lIns="0" tIns="0" rIns="0" bIns="0" rtlCol="0" anchor="b"/>
          <a:lstStyle/>
          <a:p>
            <a:pPr indent="0" marL="0">
              <a:buNone/>
            </a:pPr>
            <a:r>
              <a:rPr lang="en-US" sz="9600" b="1" dirty="0">
                <a:solidFill>
                  <a:schemeClr val="accent1"/>
                </a:solidFill>
                <a:latin typeface="Cambria" pitchFamily="34" charset="0"/>
                <a:ea typeface="Cambria" pitchFamily="34" charset="-122"/>
                <a:cs typeface="Cambria" pitchFamily="34" charset="-120"/>
              </a:rPr>
              <a:t>20.5</a:t>
            </a:r>
            <a:endParaRPr lang="en-US" sz="9600" dirty="0"/>
          </a:p>
        </p:txBody>
      </p:sp>
      <p:sp>
        <p:nvSpPr>
          <p:cNvPr id="4" name="Text 0"/>
          <p:cNvSpPr/>
          <p:nvPr>
            <p:ph idx="102" type="body" hasCustomPrompt="1"/>
          </p:nvPr>
        </p:nvSpPr>
        <p:spPr>
          <a:xfrm>
            <a:off x="731520" y="4206240"/>
            <a:ext cx="9601200" cy="1097280"/>
          </a:xfrm>
          <a:prstGeom prst="rect">
            <a:avLst/>
          </a:prstGeom>
          <a:noFill/>
          <a:ln/>
        </p:spPr>
        <p:txBody>
          <a:bodyPr wrap="square" lIns="0" tIns="0" rIns="0" bIns="0" rtlCol="0" anchor="t"/>
          <a:lstStyle/>
          <a:p>
            <a:pPr indent="0" marL="0">
              <a:buNone/>
            </a:pPr>
            <a:r>
              <a:rPr lang="en-US" sz="2000" dirty="0">
                <a:solidFill>
                  <a:schemeClr val="bg2"/>
                </a:solidFill>
              </a:rPr>
              <a:t>Het nuttigste deel van dit hoofdstuk: zes vragen die je stelt wanneer je iets nieuws tegenkomt.</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Zes vragen bij elke nieuwe trend</a:t>
            </a:r>
            <a:endParaRPr lang="en-US" sz="3400" dirty="0"/>
          </a:p>
        </p:txBody>
      </p:sp>
      <p:sp>
        <p:nvSpPr>
          <p:cNvPr id="3" name="kaart"/>
          <p:cNvSpPr/>
          <p:nvPr/>
        </p:nvSpPr>
        <p:spPr>
          <a:xfrm>
            <a:off x="548640" y="137160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nummercirkel"/>
          <p:cNvSpPr/>
          <p:nvPr/>
        </p:nvSpPr>
        <p:spPr>
          <a:xfrm>
            <a:off x="777240" y="1691640"/>
            <a:ext cx="777240" cy="777240"/>
          </a:xfrm>
          <a:prstGeom prst="ellipse">
            <a:avLst/>
          </a:prstGeom>
          <a:solidFill>
            <a:schemeClr val="accent1"/>
          </a:solidFill>
          <a:ln w="12700">
            <a:solidFill>
              <a:schemeClr val="bg1"/>
            </a:solidFill>
            <a:prstDash val="solid"/>
          </a:ln>
        </p:spPr>
      </p:sp>
      <p:sp>
        <p:nvSpPr>
          <p:cNvPr id="5" name="Text 3"/>
          <p:cNvSpPr txBox="1"/>
          <p:nvPr/>
        </p:nvSpPr>
        <p:spPr>
          <a:xfrm>
            <a:off x="777240" y="169164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1</a:t>
            </a:r>
            <a:endParaRPr lang="en-US" sz="2600" dirty="0"/>
          </a:p>
        </p:txBody>
      </p:sp>
      <p:sp>
        <p:nvSpPr>
          <p:cNvPr id="6" name="Text 4"/>
          <p:cNvSpPr txBox="1"/>
          <p:nvPr/>
        </p:nvSpPr>
        <p:spPr>
          <a:xfrm>
            <a:off x="1783080" y="155448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Welk probleem lost het op?</a:t>
            </a:r>
            <a:endParaRPr lang="en-US" sz="1700" dirty="0"/>
          </a:p>
        </p:txBody>
      </p:sp>
      <p:sp>
        <p:nvSpPr>
          <p:cNvPr id="7" name="Text 5"/>
          <p:cNvSpPr txBox="1"/>
          <p:nvPr/>
        </p:nvSpPr>
        <p:spPr>
          <a:xfrm>
            <a:off x="1783080" y="2103120"/>
            <a:ext cx="4023360" cy="594360"/>
          </a:xfrm>
          <a:prstGeom prst="rect">
            <a:avLst/>
          </a:prstGeom>
          <a:noFill/>
          <a:ln/>
        </p:spPr>
        <p:txBody>
          <a:bodyPr wrap="square" lIns="0" tIns="0" rIns="0" bIns="0" rtlCol="0" anchor="t"/>
          <a:lstStyle/>
          <a:p>
            <a:pPr indent="0" marL="0">
              <a:buNone/>
            </a:pPr>
            <a:r>
              <a:rPr lang="en-US" sz="1400" dirty="0">
                <a:solidFill>
                  <a:schemeClr val="tx2"/>
                </a:solidFill>
              </a:rPr>
              <a:t>Kun je dat niet benoemen, dan is het gereedschap op zoek naar een probleem.</a:t>
            </a:r>
            <a:endParaRPr lang="en-US" sz="1400" dirty="0"/>
          </a:p>
        </p:txBody>
      </p:sp>
      <p:sp>
        <p:nvSpPr>
          <p:cNvPr id="8" name="kaart"/>
          <p:cNvSpPr/>
          <p:nvPr/>
        </p:nvSpPr>
        <p:spPr>
          <a:xfrm>
            <a:off x="6172200" y="137160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9" name="nummercirkel"/>
          <p:cNvSpPr/>
          <p:nvPr/>
        </p:nvSpPr>
        <p:spPr>
          <a:xfrm>
            <a:off x="6400800" y="1691640"/>
            <a:ext cx="777240" cy="777240"/>
          </a:xfrm>
          <a:prstGeom prst="ellipse">
            <a:avLst/>
          </a:prstGeom>
          <a:solidFill>
            <a:schemeClr val="accent1"/>
          </a:solidFill>
          <a:ln w="12700">
            <a:solidFill>
              <a:schemeClr val="bg1"/>
            </a:solidFill>
            <a:prstDash val="solid"/>
          </a:ln>
        </p:spPr>
      </p:sp>
      <p:sp>
        <p:nvSpPr>
          <p:cNvPr id="10" name="Text 8"/>
          <p:cNvSpPr txBox="1"/>
          <p:nvPr/>
        </p:nvSpPr>
        <p:spPr>
          <a:xfrm>
            <a:off x="6400800" y="169164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2</a:t>
            </a:r>
            <a:endParaRPr lang="en-US" sz="2600" dirty="0"/>
          </a:p>
        </p:txBody>
      </p:sp>
      <p:sp>
        <p:nvSpPr>
          <p:cNvPr id="11" name="Text 9"/>
          <p:cNvSpPr txBox="1"/>
          <p:nvPr/>
        </p:nvSpPr>
        <p:spPr>
          <a:xfrm>
            <a:off x="7406640" y="155448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Wat is het alternatief, en wat is daar mis mee?</a:t>
            </a:r>
            <a:endParaRPr lang="en-US" sz="1700" dirty="0"/>
          </a:p>
        </p:txBody>
      </p:sp>
      <p:sp>
        <p:nvSpPr>
          <p:cNvPr id="12" name="Text 10"/>
          <p:cNvSpPr txBox="1"/>
          <p:nvPr/>
        </p:nvSpPr>
        <p:spPr>
          <a:xfrm>
            <a:off x="7406640" y="2103120"/>
            <a:ext cx="4023360" cy="594360"/>
          </a:xfrm>
          <a:prstGeom prst="rect">
            <a:avLst/>
          </a:prstGeom>
          <a:noFill/>
          <a:ln/>
        </p:spPr>
        <p:txBody>
          <a:bodyPr wrap="square" lIns="0" tIns="0" rIns="0" bIns="0" rtlCol="0" anchor="t"/>
          <a:lstStyle/>
          <a:p>
            <a:pPr indent="0" marL="0">
              <a:buNone/>
            </a:pPr>
            <a:r>
              <a:rPr lang="en-US" sz="1400" dirty="0">
                <a:solidFill>
                  <a:schemeClr val="tx2"/>
                </a:solidFill>
              </a:rPr>
              <a:t>Zonder vergelijking is elke belofte indrukwekkend.</a:t>
            </a:r>
            <a:endParaRPr lang="en-US" sz="1400" dirty="0"/>
          </a:p>
        </p:txBody>
      </p:sp>
      <p:sp>
        <p:nvSpPr>
          <p:cNvPr id="13" name="kaart"/>
          <p:cNvSpPr/>
          <p:nvPr/>
        </p:nvSpPr>
        <p:spPr>
          <a:xfrm>
            <a:off x="548640" y="297180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4" name="nummercirkel"/>
          <p:cNvSpPr/>
          <p:nvPr/>
        </p:nvSpPr>
        <p:spPr>
          <a:xfrm>
            <a:off x="777240" y="3291840"/>
            <a:ext cx="777240" cy="777240"/>
          </a:xfrm>
          <a:prstGeom prst="ellipse">
            <a:avLst/>
          </a:prstGeom>
          <a:solidFill>
            <a:schemeClr val="accent1"/>
          </a:solidFill>
          <a:ln w="12700">
            <a:solidFill>
              <a:schemeClr val="bg1"/>
            </a:solidFill>
            <a:prstDash val="solid"/>
          </a:ln>
        </p:spPr>
      </p:sp>
      <p:sp>
        <p:nvSpPr>
          <p:cNvPr id="15" name="Text 13"/>
          <p:cNvSpPr txBox="1"/>
          <p:nvPr/>
        </p:nvSpPr>
        <p:spPr>
          <a:xfrm>
            <a:off x="777240" y="329184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3</a:t>
            </a:r>
            <a:endParaRPr lang="en-US" sz="2600" dirty="0"/>
          </a:p>
        </p:txBody>
      </p:sp>
      <p:sp>
        <p:nvSpPr>
          <p:cNvPr id="16" name="Text 14"/>
          <p:cNvSpPr txBox="1"/>
          <p:nvPr/>
        </p:nvSpPr>
        <p:spPr>
          <a:xfrm>
            <a:off x="1783080" y="315468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Wie betaalt ervoor, en waarom?</a:t>
            </a:r>
            <a:endParaRPr lang="en-US" sz="1700" dirty="0"/>
          </a:p>
        </p:txBody>
      </p:sp>
      <p:sp>
        <p:nvSpPr>
          <p:cNvPr id="17" name="Text 15"/>
          <p:cNvSpPr txBox="1"/>
          <p:nvPr/>
        </p:nvSpPr>
        <p:spPr>
          <a:xfrm>
            <a:off x="1783080" y="3703320"/>
            <a:ext cx="4023360" cy="594360"/>
          </a:xfrm>
          <a:prstGeom prst="rect">
            <a:avLst/>
          </a:prstGeom>
          <a:noFill/>
          <a:ln/>
        </p:spPr>
        <p:txBody>
          <a:bodyPr wrap="square" lIns="0" tIns="0" rIns="0" bIns="0" rtlCol="0" anchor="t"/>
          <a:lstStyle/>
          <a:p>
            <a:pPr indent="0" marL="0">
              <a:buNone/>
            </a:pPr>
            <a:r>
              <a:rPr lang="en-US" sz="1400" dirty="0">
                <a:solidFill>
                  <a:schemeClr val="tx2"/>
                </a:solidFill>
              </a:rPr>
              <a:t>Volg het geld: dat verklaart veel enthousiasme.</a:t>
            </a:r>
            <a:endParaRPr lang="en-US" sz="1400" dirty="0"/>
          </a:p>
        </p:txBody>
      </p:sp>
      <p:sp>
        <p:nvSpPr>
          <p:cNvPr id="18" name="kaart"/>
          <p:cNvSpPr/>
          <p:nvPr/>
        </p:nvSpPr>
        <p:spPr>
          <a:xfrm>
            <a:off x="6172200" y="297180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9" name="nummercirkel"/>
          <p:cNvSpPr/>
          <p:nvPr/>
        </p:nvSpPr>
        <p:spPr>
          <a:xfrm>
            <a:off x="6400800" y="3291840"/>
            <a:ext cx="777240" cy="777240"/>
          </a:xfrm>
          <a:prstGeom prst="ellipse">
            <a:avLst/>
          </a:prstGeom>
          <a:solidFill>
            <a:schemeClr val="accent1"/>
          </a:solidFill>
          <a:ln w="12700">
            <a:solidFill>
              <a:schemeClr val="bg1"/>
            </a:solidFill>
            <a:prstDash val="solid"/>
          </a:ln>
        </p:spPr>
      </p:sp>
      <p:sp>
        <p:nvSpPr>
          <p:cNvPr id="20" name="Text 18"/>
          <p:cNvSpPr txBox="1"/>
          <p:nvPr/>
        </p:nvSpPr>
        <p:spPr>
          <a:xfrm>
            <a:off x="6400800" y="329184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4</a:t>
            </a:r>
            <a:endParaRPr lang="en-US" sz="2600" dirty="0"/>
          </a:p>
        </p:txBody>
      </p:sp>
      <p:sp>
        <p:nvSpPr>
          <p:cNvPr id="21" name="Text 19"/>
          <p:cNvSpPr txBox="1"/>
          <p:nvPr/>
        </p:nvSpPr>
        <p:spPr>
          <a:xfrm>
            <a:off x="7406640" y="315468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Hoeveel bewijs is er, en van welke soort?</a:t>
            </a:r>
            <a:endParaRPr lang="en-US" sz="1700" dirty="0"/>
          </a:p>
        </p:txBody>
      </p:sp>
      <p:sp>
        <p:nvSpPr>
          <p:cNvPr id="22" name="Text 20"/>
          <p:cNvSpPr txBox="1"/>
          <p:nvPr/>
        </p:nvSpPr>
        <p:spPr>
          <a:xfrm>
            <a:off x="7406640" y="3703320"/>
            <a:ext cx="4023360" cy="594360"/>
          </a:xfrm>
          <a:prstGeom prst="rect">
            <a:avLst/>
          </a:prstGeom>
          <a:noFill/>
          <a:ln/>
        </p:spPr>
        <p:txBody>
          <a:bodyPr wrap="square" lIns="0" tIns="0" rIns="0" bIns="0" rtlCol="0" anchor="t"/>
          <a:lstStyle/>
          <a:p>
            <a:pPr indent="0" marL="0">
              <a:buNone/>
            </a:pPr>
            <a:r>
              <a:rPr lang="en-US" sz="1400" dirty="0">
                <a:solidFill>
                  <a:schemeClr val="tx2"/>
                </a:solidFill>
              </a:rPr>
              <a:t>Een demo is geen bewijs. Drie jaar productiegebruik wel.</a:t>
            </a:r>
            <a:endParaRPr lang="en-US" sz="1400" dirty="0"/>
          </a:p>
        </p:txBody>
      </p:sp>
      <p:sp>
        <p:nvSpPr>
          <p:cNvPr id="23" name="kaart"/>
          <p:cNvSpPr/>
          <p:nvPr/>
        </p:nvSpPr>
        <p:spPr>
          <a:xfrm>
            <a:off x="548640" y="457200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4" name="nummercirkel"/>
          <p:cNvSpPr/>
          <p:nvPr/>
        </p:nvSpPr>
        <p:spPr>
          <a:xfrm>
            <a:off x="777240" y="4892040"/>
            <a:ext cx="777240" cy="777240"/>
          </a:xfrm>
          <a:prstGeom prst="ellipse">
            <a:avLst/>
          </a:prstGeom>
          <a:solidFill>
            <a:schemeClr val="accent3"/>
          </a:solidFill>
          <a:ln w="12700">
            <a:solidFill>
              <a:schemeClr val="bg1"/>
            </a:solidFill>
            <a:prstDash val="solid"/>
          </a:ln>
        </p:spPr>
      </p:sp>
      <p:sp>
        <p:nvSpPr>
          <p:cNvPr id="25" name="Text 23"/>
          <p:cNvSpPr txBox="1"/>
          <p:nvPr/>
        </p:nvSpPr>
        <p:spPr>
          <a:xfrm>
            <a:off x="777240" y="489204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5</a:t>
            </a:r>
            <a:endParaRPr lang="en-US" sz="2600" dirty="0"/>
          </a:p>
        </p:txBody>
      </p:sp>
      <p:sp>
        <p:nvSpPr>
          <p:cNvPr id="26" name="Text 24"/>
          <p:cNvSpPr txBox="1"/>
          <p:nvPr/>
        </p:nvSpPr>
        <p:spPr>
          <a:xfrm>
            <a:off x="1783080" y="475488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Wat kost het om ervanaf te stappen?</a:t>
            </a:r>
            <a:endParaRPr lang="en-US" sz="1700" dirty="0"/>
          </a:p>
        </p:txBody>
      </p:sp>
      <p:sp>
        <p:nvSpPr>
          <p:cNvPr id="27" name="Text 25"/>
          <p:cNvSpPr txBox="1"/>
          <p:nvPr/>
        </p:nvSpPr>
        <p:spPr>
          <a:xfrm>
            <a:off x="1783080" y="5303520"/>
            <a:ext cx="4023360" cy="594360"/>
          </a:xfrm>
          <a:prstGeom prst="rect">
            <a:avLst/>
          </a:prstGeom>
          <a:noFill/>
          <a:ln/>
        </p:spPr>
        <p:txBody>
          <a:bodyPr wrap="square" lIns="0" tIns="0" rIns="0" bIns="0" rtlCol="0" anchor="t"/>
          <a:lstStyle/>
          <a:p>
            <a:pPr indent="0" marL="0">
              <a:buNone/>
            </a:pPr>
            <a:r>
              <a:rPr lang="en-US" sz="1400" dirty="0">
                <a:solidFill>
                  <a:schemeClr val="tx2"/>
                </a:solidFill>
              </a:rPr>
              <a:t>De belangrijkste vraag, en de minst gestelde.</a:t>
            </a:r>
            <a:endParaRPr lang="en-US" sz="1400" dirty="0"/>
          </a:p>
        </p:txBody>
      </p:sp>
      <p:sp>
        <p:nvSpPr>
          <p:cNvPr id="28" name="kaart"/>
          <p:cNvSpPr/>
          <p:nvPr/>
        </p:nvSpPr>
        <p:spPr>
          <a:xfrm>
            <a:off x="6172200" y="4572000"/>
            <a:ext cx="5440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9" name="nummercirkel"/>
          <p:cNvSpPr/>
          <p:nvPr/>
        </p:nvSpPr>
        <p:spPr>
          <a:xfrm>
            <a:off x="6400800" y="4892040"/>
            <a:ext cx="777240" cy="777240"/>
          </a:xfrm>
          <a:prstGeom prst="ellipse">
            <a:avLst/>
          </a:prstGeom>
          <a:solidFill>
            <a:schemeClr val="accent1"/>
          </a:solidFill>
          <a:ln w="12700">
            <a:solidFill>
              <a:schemeClr val="bg1"/>
            </a:solidFill>
            <a:prstDash val="solid"/>
          </a:ln>
        </p:spPr>
      </p:sp>
      <p:sp>
        <p:nvSpPr>
          <p:cNvPr id="30" name="Text 28"/>
          <p:cNvSpPr txBox="1"/>
          <p:nvPr/>
        </p:nvSpPr>
        <p:spPr>
          <a:xfrm>
            <a:off x="6400800" y="4892040"/>
            <a:ext cx="777240" cy="77724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6</a:t>
            </a:r>
            <a:endParaRPr lang="en-US" sz="2600" dirty="0"/>
          </a:p>
        </p:txBody>
      </p:sp>
      <p:sp>
        <p:nvSpPr>
          <p:cNvPr id="31" name="Text 29"/>
          <p:cNvSpPr txBox="1"/>
          <p:nvPr/>
        </p:nvSpPr>
        <p:spPr>
          <a:xfrm>
            <a:off x="7406640" y="4754880"/>
            <a:ext cx="4023360" cy="548640"/>
          </a:xfrm>
          <a:prstGeom prst="rect">
            <a:avLst/>
          </a:prstGeom>
          <a:noFill/>
          <a:ln/>
        </p:spPr>
        <p:txBody>
          <a:bodyPr wrap="square" lIns="0" tIns="0" rIns="0" bIns="0" rtlCol="0" anchor="ctr"/>
          <a:lstStyle/>
          <a:p>
            <a:pPr indent="0" marL="0">
              <a:buNone/>
            </a:pPr>
            <a:r>
              <a:rPr lang="en-US" sz="1700" b="1" dirty="0">
                <a:solidFill>
                  <a:schemeClr val="tx1"/>
                </a:solidFill>
              </a:rPr>
              <a:t>Wat als het overwaait?</a:t>
            </a:r>
            <a:endParaRPr lang="en-US" sz="1700" dirty="0"/>
          </a:p>
        </p:txBody>
      </p:sp>
      <p:sp>
        <p:nvSpPr>
          <p:cNvPr id="32" name="Text 30"/>
          <p:cNvSpPr txBox="1"/>
          <p:nvPr/>
        </p:nvSpPr>
        <p:spPr>
          <a:xfrm>
            <a:off x="7406640" y="5303520"/>
            <a:ext cx="4023360" cy="594360"/>
          </a:xfrm>
          <a:prstGeom prst="rect">
            <a:avLst/>
          </a:prstGeom>
          <a:noFill/>
          <a:ln/>
        </p:spPr>
        <p:txBody>
          <a:bodyPr wrap="square" lIns="0" tIns="0" rIns="0" bIns="0" rtlCol="0" anchor="t"/>
          <a:lstStyle/>
          <a:p>
            <a:pPr indent="0" marL="0">
              <a:buNone/>
            </a:pPr>
            <a:r>
              <a:rPr lang="en-US" sz="1400" dirty="0">
                <a:solidFill>
                  <a:schemeClr val="tx2"/>
                </a:solidFill>
              </a:rPr>
              <a:t>Sommige dingen overwaaien. De meeste, zelfs.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Geen cynisme, maar redeneren</a:t>
            </a:r>
            <a:endParaRPr lang="en-US" sz="3400" dirty="0"/>
          </a:p>
        </p:txBody>
      </p:sp>
      <p:sp>
        <p:nvSpPr>
          <p:cNvPr id="3" name="kaart"/>
          <p:cNvSpPr/>
          <p:nvPr/>
        </p:nvSpPr>
        <p:spPr>
          <a:xfrm>
            <a:off x="548640" y="1463040"/>
            <a:ext cx="11064240" cy="2377440"/>
          </a:xfrm>
          <a:prstGeom prst="roundRect">
            <a:avLst>
              <a:gd name="adj" fmla="val 4615"/>
            </a:avLst>
          </a:prstGeom>
          <a:solidFill>
            <a:schemeClr val="tx1"/>
          </a:solidFill>
          <a:ln w="12700">
            <a:solidFill>
              <a:schemeClr val="tx1"/>
            </a:solidFill>
            <a:prstDash val="solid"/>
          </a:ln>
        </p:spPr>
      </p:sp>
      <p:sp>
        <p:nvSpPr>
          <p:cNvPr id="4" name="Text 2"/>
          <p:cNvSpPr txBox="1"/>
          <p:nvPr/>
        </p:nvSpPr>
        <p:spPr>
          <a:xfrm>
            <a:off x="1005840" y="1691640"/>
            <a:ext cx="10149840" cy="1920240"/>
          </a:xfrm>
          <a:prstGeom prst="rect">
            <a:avLst/>
          </a:prstGeom>
          <a:noFill/>
          <a:ln/>
        </p:spPr>
        <p:txBody>
          <a:bodyPr wrap="square" lIns="0" tIns="0" rIns="0" bIns="0" rtlCol="0" anchor="ctr"/>
          <a:lstStyle/>
          <a:p>
            <a:pPr indent="0" marL="0">
              <a:buNone/>
            </a:pPr>
            <a:r>
              <a:rPr lang="en-US" sz="3200" dirty="0">
                <a:solidFill>
                  <a:schemeClr val="bg1"/>
                </a:solidFill>
                <a:latin typeface="Cambria" pitchFamily="34" charset="0"/>
                <a:ea typeface="Cambria" pitchFamily="34" charset="-122"/>
                <a:cs typeface="Cambria" pitchFamily="34" charset="-120"/>
              </a:rPr>
              <a:t>Een demo is één waarneming.</a:t>
            </a:r>
            <a:endParaRPr lang="en-US" sz="3200" dirty="0"/>
          </a:p>
          <a:p>
            <a:pPr indent="0" marL="0">
              <a:buNone/>
            </a:pPr>
            <a:r>
              <a:rPr lang="en-US" sz="3200" dirty="0">
                <a:solidFill>
                  <a:schemeClr val="bg1"/>
                </a:solidFill>
                <a:latin typeface="Cambria" pitchFamily="34" charset="0"/>
                <a:ea typeface="Cambria" pitchFamily="34" charset="-122"/>
                <a:cs typeface="Cambria" pitchFamily="34" charset="-120"/>
              </a:rPr>
              <a:t>Eén waarneming draagt geen algemene conclusie.</a:t>
            </a:r>
            <a:endParaRPr lang="en-US" sz="3200" dirty="0"/>
          </a:p>
        </p:txBody>
      </p:sp>
      <p:sp>
        <p:nvSpPr>
          <p:cNvPr id="5" name="icooncirkel"/>
          <p:cNvSpPr/>
          <p:nvPr/>
        </p:nvSpPr>
        <p:spPr>
          <a:xfrm>
            <a:off x="548640" y="4343400"/>
            <a:ext cx="822960" cy="822960"/>
          </a:xfrm>
          <a:prstGeom prst="ellipse">
            <a:avLst/>
          </a:prstGeom>
          <a:solidFill>
            <a:schemeClr val="accent1"/>
          </a:solidFill>
          <a:ln w="12700">
            <a:solidFill>
              <a:schemeClr val="accent1"/>
            </a:solidFill>
            <a:prstDash val="solid"/>
          </a:ln>
        </p:spPr>
      </p:sp>
      <p:pic>
        <p:nvPicPr>
          <p:cNvPr id="6" name="icoon" descr="preencoded.png">    </p:cNvPr>
          <p:cNvPicPr>
            <a:picLocks noChangeAspect="1"/>
          </p:cNvPicPr>
          <p:nvPr/>
        </p:nvPicPr>
        <p:blipFill>
          <a:blip r:embed="rId1"/>
          <a:stretch>
            <a:fillRect/>
          </a:stretch>
        </p:blipFill>
        <p:spPr>
          <a:xfrm>
            <a:off x="754380" y="4549140"/>
            <a:ext cx="411480" cy="411480"/>
          </a:xfrm>
          <a:prstGeom prst="rect">
            <a:avLst/>
          </a:prstGeom>
        </p:spPr>
      </p:pic>
      <p:sp>
        <p:nvSpPr>
          <p:cNvPr id="7" name="Text 4"/>
          <p:cNvSpPr txBox="1"/>
          <p:nvPr/>
        </p:nvSpPr>
        <p:spPr>
          <a:xfrm>
            <a:off x="1645920" y="4251960"/>
            <a:ext cx="9966960" cy="1097280"/>
          </a:xfrm>
          <a:prstGeom prst="rect">
            <a:avLst/>
          </a:prstGeom>
          <a:noFill/>
          <a:ln/>
        </p:spPr>
        <p:txBody>
          <a:bodyPr wrap="square" lIns="0" tIns="0" rIns="0" bIns="0" rtlCol="0" anchor="ctr"/>
          <a:lstStyle/>
          <a:p>
            <a:pPr indent="0" marL="0">
              <a:buNone/>
            </a:pPr>
            <a:r>
              <a:rPr lang="en-US" sz="1800" dirty="0">
                <a:solidFill>
                  <a:schemeClr val="tx1"/>
                </a:solidFill>
              </a:rPr>
              <a:t>De zes vragen zijn de toepassing van inductief redeneren: een besluit trekken uit waarnemingen, en weten hoe sterk dat besluit is. Dat leer je grondig in hoofdstuk 27.</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Oefening 20.1 — De trendkaart</a:t>
            </a:r>
            <a:endParaRPr lang="en-US" sz="3400" dirty="0"/>
          </a:p>
        </p:txBody>
      </p:sp>
      <p:sp>
        <p:nvSpPr>
          <p:cNvPr id="3" name="Text 1"/>
          <p:cNvSpPr txBox="1"/>
          <p:nvPr/>
        </p:nvSpPr>
        <p:spPr>
          <a:xfrm>
            <a:off x="548640" y="1325880"/>
            <a:ext cx="54864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ZES UITSPRAKEN UIT DE VAKPERS</a:t>
            </a:r>
            <a:endParaRPr lang="en-US" sz="1200" dirty="0"/>
          </a:p>
        </p:txBody>
      </p:sp>
      <p:sp>
        <p:nvSpPr>
          <p:cNvPr id="4" name="kaart"/>
          <p:cNvSpPr/>
          <p:nvPr/>
        </p:nvSpPr>
        <p:spPr>
          <a:xfrm>
            <a:off x="548640" y="1737360"/>
            <a:ext cx="6675120" cy="603504"/>
          </a:xfrm>
          <a:prstGeom prst="roundRect">
            <a:avLst>
              <a:gd name="adj" fmla="val 18182"/>
            </a:avLst>
          </a:prstGeom>
          <a:solidFill>
            <a:schemeClr val="bg2"/>
          </a:solidFill>
          <a:ln w="12700">
            <a:solidFill>
              <a:schemeClr val="bg2"/>
            </a:solidFill>
            <a:prstDash val="solid"/>
          </a:ln>
        </p:spPr>
      </p:sp>
      <p:sp>
        <p:nvSpPr>
          <p:cNvPr id="5" name="Text 3"/>
          <p:cNvSpPr txBox="1"/>
          <p:nvPr/>
        </p:nvSpPr>
        <p:spPr>
          <a:xfrm>
            <a:off x="731520" y="1737360"/>
            <a:ext cx="365760" cy="603504"/>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143000" y="1737360"/>
            <a:ext cx="5943600" cy="603504"/>
          </a:xfrm>
          <a:prstGeom prst="rect">
            <a:avLst/>
          </a:prstGeom>
          <a:noFill/>
          <a:ln/>
        </p:spPr>
        <p:txBody>
          <a:bodyPr wrap="square" lIns="0" tIns="0" rIns="0" bIns="0" rtlCol="0" anchor="ctr"/>
          <a:lstStyle/>
          <a:p>
            <a:pPr indent="0" marL="0">
              <a:buNone/>
            </a:pPr>
            <a:r>
              <a:rPr lang="en-US" sz="1500" i="1" dirty="0">
                <a:solidFill>
                  <a:schemeClr val="tx1"/>
                </a:solidFill>
              </a:rPr>
              <a:t>„Objectgeoriënteerd programmeren is achterhaald; functioneel is de toekomst.”</a:t>
            </a:r>
            <a:endParaRPr lang="en-US" sz="1500" dirty="0"/>
          </a:p>
        </p:txBody>
      </p:sp>
      <p:sp>
        <p:nvSpPr>
          <p:cNvPr id="7" name="kaart"/>
          <p:cNvSpPr/>
          <p:nvPr/>
        </p:nvSpPr>
        <p:spPr>
          <a:xfrm>
            <a:off x="548640" y="2450592"/>
            <a:ext cx="6675120" cy="603504"/>
          </a:xfrm>
          <a:prstGeom prst="roundRect">
            <a:avLst>
              <a:gd name="adj" fmla="val 18182"/>
            </a:avLst>
          </a:prstGeom>
          <a:solidFill>
            <a:schemeClr val="bg2"/>
          </a:solidFill>
          <a:ln w="12700">
            <a:solidFill>
              <a:schemeClr val="bg2"/>
            </a:solidFill>
            <a:prstDash val="solid"/>
          </a:ln>
        </p:spPr>
      </p:sp>
      <p:sp>
        <p:nvSpPr>
          <p:cNvPr id="8" name="Text 6"/>
          <p:cNvSpPr txBox="1"/>
          <p:nvPr/>
        </p:nvSpPr>
        <p:spPr>
          <a:xfrm>
            <a:off x="731520" y="2450592"/>
            <a:ext cx="365760" cy="603504"/>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143000" y="2450592"/>
            <a:ext cx="5943600" cy="603504"/>
          </a:xfrm>
          <a:prstGeom prst="rect">
            <a:avLst/>
          </a:prstGeom>
          <a:noFill/>
          <a:ln/>
        </p:spPr>
        <p:txBody>
          <a:bodyPr wrap="square" lIns="0" tIns="0" rIns="0" bIns="0" rtlCol="0" anchor="ctr"/>
          <a:lstStyle/>
          <a:p>
            <a:pPr indent="0" marL="0">
              <a:buNone/>
            </a:pPr>
            <a:r>
              <a:rPr lang="en-US" sz="1500" i="1" dirty="0">
                <a:solidFill>
                  <a:schemeClr val="tx1"/>
                </a:solidFill>
              </a:rPr>
              <a:t>„Binnen vijf jaar schrijft niemand nog zelf code.”</a:t>
            </a:r>
            <a:endParaRPr lang="en-US" sz="1500" dirty="0"/>
          </a:p>
        </p:txBody>
      </p:sp>
      <p:sp>
        <p:nvSpPr>
          <p:cNvPr id="10" name="kaart"/>
          <p:cNvSpPr/>
          <p:nvPr/>
        </p:nvSpPr>
        <p:spPr>
          <a:xfrm>
            <a:off x="548640" y="3163824"/>
            <a:ext cx="6675120" cy="603504"/>
          </a:xfrm>
          <a:prstGeom prst="roundRect">
            <a:avLst>
              <a:gd name="adj" fmla="val 18182"/>
            </a:avLst>
          </a:prstGeom>
          <a:solidFill>
            <a:schemeClr val="bg2"/>
          </a:solidFill>
          <a:ln w="12700">
            <a:solidFill>
              <a:schemeClr val="bg2"/>
            </a:solidFill>
            <a:prstDash val="solid"/>
          </a:ln>
        </p:spPr>
      </p:sp>
      <p:sp>
        <p:nvSpPr>
          <p:cNvPr id="11" name="Text 9"/>
          <p:cNvSpPr txBox="1"/>
          <p:nvPr/>
        </p:nvSpPr>
        <p:spPr>
          <a:xfrm>
            <a:off x="731520" y="3163824"/>
            <a:ext cx="365760" cy="603504"/>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143000" y="3163824"/>
            <a:ext cx="5943600" cy="603504"/>
          </a:xfrm>
          <a:prstGeom prst="rect">
            <a:avLst/>
          </a:prstGeom>
          <a:noFill/>
          <a:ln/>
        </p:spPr>
        <p:txBody>
          <a:bodyPr wrap="square" lIns="0" tIns="0" rIns="0" bIns="0" rtlCol="0" anchor="ctr"/>
          <a:lstStyle/>
          <a:p>
            <a:pPr indent="0" marL="0">
              <a:buNone/>
            </a:pPr>
            <a:r>
              <a:rPr lang="en-US" sz="1500" i="1" dirty="0">
                <a:solidFill>
                  <a:schemeClr val="tx1"/>
                </a:solidFill>
              </a:rPr>
              <a:t>„Elk nieuw project hoort in TypeScript in plaats van in JavaScript.”</a:t>
            </a:r>
            <a:endParaRPr lang="en-US" sz="1500" dirty="0"/>
          </a:p>
        </p:txBody>
      </p:sp>
      <p:sp>
        <p:nvSpPr>
          <p:cNvPr id="13" name="kaart"/>
          <p:cNvSpPr/>
          <p:nvPr/>
        </p:nvSpPr>
        <p:spPr>
          <a:xfrm>
            <a:off x="548640" y="3877056"/>
            <a:ext cx="6675120" cy="603504"/>
          </a:xfrm>
          <a:prstGeom prst="roundRect">
            <a:avLst>
              <a:gd name="adj" fmla="val 18182"/>
            </a:avLst>
          </a:prstGeom>
          <a:solidFill>
            <a:schemeClr val="bg2"/>
          </a:solidFill>
          <a:ln w="12700">
            <a:solidFill>
              <a:schemeClr val="bg2"/>
            </a:solidFill>
            <a:prstDash val="solid"/>
          </a:ln>
        </p:spPr>
      </p:sp>
      <p:sp>
        <p:nvSpPr>
          <p:cNvPr id="14" name="Text 12"/>
          <p:cNvSpPr txBox="1"/>
          <p:nvPr/>
        </p:nvSpPr>
        <p:spPr>
          <a:xfrm>
            <a:off x="731520" y="3877056"/>
            <a:ext cx="365760" cy="603504"/>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4</a:t>
            </a:r>
            <a:endParaRPr lang="en-US" sz="1800" dirty="0"/>
          </a:p>
        </p:txBody>
      </p:sp>
      <p:sp>
        <p:nvSpPr>
          <p:cNvPr id="15" name="Text 13"/>
          <p:cNvSpPr txBox="1"/>
          <p:nvPr/>
        </p:nvSpPr>
        <p:spPr>
          <a:xfrm>
            <a:off x="1143000" y="3877056"/>
            <a:ext cx="5943600" cy="603504"/>
          </a:xfrm>
          <a:prstGeom prst="rect">
            <a:avLst/>
          </a:prstGeom>
          <a:noFill/>
          <a:ln/>
        </p:spPr>
        <p:txBody>
          <a:bodyPr wrap="square" lIns="0" tIns="0" rIns="0" bIns="0" rtlCol="0" anchor="ctr"/>
          <a:lstStyle/>
          <a:p>
            <a:pPr indent="0" marL="0">
              <a:buNone/>
            </a:pPr>
            <a:r>
              <a:rPr lang="en-US" sz="1500" i="1" dirty="0">
                <a:solidFill>
                  <a:schemeClr val="tx1"/>
                </a:solidFill>
              </a:rPr>
              <a:t>„Je moet alles in containers draaien.”</a:t>
            </a:r>
            <a:endParaRPr lang="en-US" sz="1500" dirty="0"/>
          </a:p>
        </p:txBody>
      </p:sp>
      <p:sp>
        <p:nvSpPr>
          <p:cNvPr id="16" name="kaart"/>
          <p:cNvSpPr/>
          <p:nvPr/>
        </p:nvSpPr>
        <p:spPr>
          <a:xfrm>
            <a:off x="548640" y="4590288"/>
            <a:ext cx="6675120" cy="603504"/>
          </a:xfrm>
          <a:prstGeom prst="roundRect">
            <a:avLst>
              <a:gd name="adj" fmla="val 18182"/>
            </a:avLst>
          </a:prstGeom>
          <a:solidFill>
            <a:schemeClr val="bg2"/>
          </a:solidFill>
          <a:ln w="12700">
            <a:solidFill>
              <a:schemeClr val="bg2"/>
            </a:solidFill>
            <a:prstDash val="solid"/>
          </a:ln>
        </p:spPr>
      </p:sp>
      <p:sp>
        <p:nvSpPr>
          <p:cNvPr id="17" name="Text 15"/>
          <p:cNvSpPr txBox="1"/>
          <p:nvPr/>
        </p:nvSpPr>
        <p:spPr>
          <a:xfrm>
            <a:off x="731520" y="4590288"/>
            <a:ext cx="365760" cy="603504"/>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5</a:t>
            </a:r>
            <a:endParaRPr lang="en-US" sz="1800" dirty="0"/>
          </a:p>
        </p:txBody>
      </p:sp>
      <p:sp>
        <p:nvSpPr>
          <p:cNvPr id="18" name="Text 16"/>
          <p:cNvSpPr txBox="1"/>
          <p:nvPr/>
        </p:nvSpPr>
        <p:spPr>
          <a:xfrm>
            <a:off x="1143000" y="4590288"/>
            <a:ext cx="5943600" cy="603504"/>
          </a:xfrm>
          <a:prstGeom prst="rect">
            <a:avLst/>
          </a:prstGeom>
          <a:noFill/>
          <a:ln/>
        </p:spPr>
        <p:txBody>
          <a:bodyPr wrap="square" lIns="0" tIns="0" rIns="0" bIns="0" rtlCol="0" anchor="ctr"/>
          <a:lstStyle/>
          <a:p>
            <a:pPr indent="0" marL="0">
              <a:buNone/>
            </a:pPr>
            <a:r>
              <a:rPr lang="en-US" sz="1500" i="1" dirty="0">
                <a:solidFill>
                  <a:schemeClr val="tx1"/>
                </a:solidFill>
              </a:rPr>
              <a:t>„Testen kost meer dan het opbrengt.”</a:t>
            </a:r>
            <a:endParaRPr lang="en-US" sz="1500" dirty="0"/>
          </a:p>
        </p:txBody>
      </p:sp>
      <p:sp>
        <p:nvSpPr>
          <p:cNvPr id="19" name="kaart"/>
          <p:cNvSpPr/>
          <p:nvPr/>
        </p:nvSpPr>
        <p:spPr>
          <a:xfrm>
            <a:off x="548640" y="5303520"/>
            <a:ext cx="6675120" cy="603504"/>
          </a:xfrm>
          <a:prstGeom prst="roundRect">
            <a:avLst>
              <a:gd name="adj" fmla="val 18182"/>
            </a:avLst>
          </a:prstGeom>
          <a:solidFill>
            <a:schemeClr val="bg2"/>
          </a:solidFill>
          <a:ln w="12700">
            <a:solidFill>
              <a:schemeClr val="bg2"/>
            </a:solidFill>
            <a:prstDash val="solid"/>
          </a:ln>
        </p:spPr>
      </p:sp>
      <p:sp>
        <p:nvSpPr>
          <p:cNvPr id="20" name="Text 18"/>
          <p:cNvSpPr txBox="1"/>
          <p:nvPr/>
        </p:nvSpPr>
        <p:spPr>
          <a:xfrm>
            <a:off x="731520" y="5303520"/>
            <a:ext cx="365760" cy="603504"/>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6</a:t>
            </a:r>
            <a:endParaRPr lang="en-US" sz="1800" dirty="0"/>
          </a:p>
        </p:txBody>
      </p:sp>
      <p:sp>
        <p:nvSpPr>
          <p:cNvPr id="21" name="Text 19"/>
          <p:cNvSpPr txBox="1"/>
          <p:nvPr/>
        </p:nvSpPr>
        <p:spPr>
          <a:xfrm>
            <a:off x="1143000" y="5303520"/>
            <a:ext cx="5943600" cy="603504"/>
          </a:xfrm>
          <a:prstGeom prst="rect">
            <a:avLst/>
          </a:prstGeom>
          <a:noFill/>
          <a:ln/>
        </p:spPr>
        <p:txBody>
          <a:bodyPr wrap="square" lIns="0" tIns="0" rIns="0" bIns="0" rtlCol="0" anchor="ctr"/>
          <a:lstStyle/>
          <a:p>
            <a:pPr indent="0" marL="0">
              <a:buNone/>
            </a:pPr>
            <a:r>
              <a:rPr lang="en-US" sz="1500" i="1" dirty="0">
                <a:solidFill>
                  <a:schemeClr val="tx1"/>
                </a:solidFill>
              </a:rPr>
              <a:t>„Python is te traag voor echt werk.”</a:t>
            </a:r>
            <a:endParaRPr lang="en-US" sz="1500" dirty="0"/>
          </a:p>
        </p:txBody>
      </p:sp>
      <p:sp>
        <p:nvSpPr>
          <p:cNvPr id="22" name="kaart"/>
          <p:cNvSpPr/>
          <p:nvPr/>
        </p:nvSpPr>
        <p:spPr>
          <a:xfrm>
            <a:off x="7589520" y="1325880"/>
            <a:ext cx="4023360" cy="4709160"/>
          </a:xfrm>
          <a:prstGeom prst="roundRect">
            <a:avLst>
              <a:gd name="adj" fmla="val 2727"/>
            </a:avLst>
          </a:prstGeom>
          <a:solidFill>
            <a:schemeClr val="tx1"/>
          </a:solidFill>
          <a:ln w="12700">
            <a:solidFill>
              <a:schemeClr val="tx1"/>
            </a:solidFill>
            <a:prstDash val="solid"/>
          </a:ln>
        </p:spPr>
      </p:sp>
      <p:sp>
        <p:nvSpPr>
          <p:cNvPr id="23" name="icooncirkel"/>
          <p:cNvSpPr/>
          <p:nvPr/>
        </p:nvSpPr>
        <p:spPr>
          <a:xfrm>
            <a:off x="7863840" y="1600200"/>
            <a:ext cx="731520" cy="731520"/>
          </a:xfrm>
          <a:prstGeom prst="ellipse">
            <a:avLst/>
          </a:prstGeom>
          <a:solidFill>
            <a:schemeClr val="accent1"/>
          </a:solidFill>
          <a:ln w="12700">
            <a:solidFill>
              <a:schemeClr val="accent1"/>
            </a:solidFill>
            <a:prstDash val="solid"/>
          </a:ln>
        </p:spPr>
      </p:sp>
      <p:pic>
        <p:nvPicPr>
          <p:cNvPr id="24" name="icoon" descr="preencoded.png">    </p:cNvPr>
          <p:cNvPicPr>
            <a:picLocks noChangeAspect="1"/>
          </p:cNvPicPr>
          <p:nvPr/>
        </p:nvPicPr>
        <p:blipFill>
          <a:blip r:embed="rId1"/>
          <a:stretch>
            <a:fillRect/>
          </a:stretch>
        </p:blipFill>
        <p:spPr>
          <a:xfrm>
            <a:off x="8046720" y="1783080"/>
            <a:ext cx="365760" cy="365760"/>
          </a:xfrm>
          <a:prstGeom prst="rect">
            <a:avLst/>
          </a:prstGeom>
        </p:spPr>
      </p:pic>
      <p:sp>
        <p:nvSpPr>
          <p:cNvPr id="25" name="Text 22"/>
          <p:cNvSpPr txBox="1"/>
          <p:nvPr/>
        </p:nvSpPr>
        <p:spPr>
          <a:xfrm>
            <a:off x="8778240" y="1828800"/>
            <a:ext cx="265176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WAT JE DOET</a:t>
            </a:r>
            <a:endParaRPr lang="en-US" sz="1200" dirty="0"/>
          </a:p>
        </p:txBody>
      </p:sp>
      <p:sp>
        <p:nvSpPr>
          <p:cNvPr id="26" name="Text 23"/>
          <p:cNvSpPr txBox="1"/>
          <p:nvPr/>
        </p:nvSpPr>
        <p:spPr>
          <a:xfrm>
            <a:off x="7863840" y="2560320"/>
            <a:ext cx="3520440" cy="1828800"/>
          </a:xfrm>
          <a:prstGeom prst="rect">
            <a:avLst/>
          </a:prstGeom>
          <a:noFill/>
          <a:ln/>
        </p:spPr>
        <p:txBody>
          <a:bodyPr wrap="square" lIns="0" tIns="0" rIns="0" bIns="0" rtlCol="0" anchor="t"/>
          <a:lstStyle/>
          <a:p>
            <a:pPr indent="0" marL="0">
              <a:spcAft>
                <a:spcPts val="1000"/>
              </a:spcAft>
              <a:buNone/>
            </a:pPr>
            <a:r>
              <a:rPr lang="en-US" sz="1600" b="1" dirty="0">
                <a:solidFill>
                  <a:schemeClr val="accent1"/>
                </a:solidFill>
              </a:rPr>
              <a:t>1   </a:t>
            </a:r>
            <a:pPr indent="0" marL="0">
              <a:spcAft>
                <a:spcPts val="1000"/>
              </a:spcAft>
              <a:buNone/>
            </a:pPr>
            <a:r>
              <a:rPr lang="en-US" sz="1600" dirty="0">
                <a:solidFill>
                  <a:schemeClr val="bg1"/>
                </a:solidFill>
              </a:rPr>
              <a:t>Kies er drie.</a:t>
            </a:r>
            <a:endParaRPr lang="en-US" sz="1600" dirty="0"/>
          </a:p>
          <a:p>
            <a:pPr indent="0" marL="0">
              <a:spcAft>
                <a:spcPts val="1000"/>
              </a:spcAft>
              <a:buNone/>
            </a:pPr>
            <a:r>
              <a:rPr lang="en-US" sz="1600" b="1" dirty="0">
                <a:solidFill>
                  <a:schemeClr val="accent1"/>
                </a:solidFill>
              </a:rPr>
              <a:t>2   </a:t>
            </a:r>
            <a:pPr indent="0" marL="0">
              <a:spcAft>
                <a:spcPts val="1000"/>
              </a:spcAft>
              <a:buNone/>
            </a:pPr>
            <a:r>
              <a:rPr lang="en-US" sz="1600" dirty="0">
                <a:solidFill>
                  <a:schemeClr val="bg1"/>
                </a:solidFill>
              </a:rPr>
              <a:t>Beantwoord per uitspraak de zes vragen.</a:t>
            </a:r>
            <a:endParaRPr lang="en-US" sz="1600" dirty="0"/>
          </a:p>
          <a:p>
            <a:pPr indent="0" marL="0">
              <a:spcAft>
                <a:spcPts val="1000"/>
              </a:spcAft>
              <a:buNone/>
            </a:pPr>
            <a:r>
              <a:rPr lang="en-US" sz="1600" b="1" dirty="0">
                <a:solidFill>
                  <a:schemeClr val="accent1"/>
                </a:solidFill>
              </a:rPr>
              <a:t>3   </a:t>
            </a:r>
            <a:pPr indent="0" marL="0">
              <a:spcAft>
                <a:spcPts val="1000"/>
              </a:spcAft>
              <a:buNone/>
            </a:pPr>
            <a:r>
              <a:rPr lang="en-US" sz="1600" dirty="0">
                <a:solidFill>
                  <a:schemeClr val="bg1"/>
                </a:solidFill>
              </a:rPr>
              <a:t>Formuleer je standpunt in twee zinnen.</a:t>
            </a:r>
            <a:endParaRPr lang="en-US" sz="1600" dirty="0"/>
          </a:p>
        </p:txBody>
      </p:sp>
      <p:sp>
        <p:nvSpPr>
          <p:cNvPr id="27" name="Text 24"/>
          <p:cNvSpPr txBox="1"/>
          <p:nvPr/>
        </p:nvSpPr>
        <p:spPr>
          <a:xfrm>
            <a:off x="7863840" y="4572000"/>
            <a:ext cx="3520440" cy="1188720"/>
          </a:xfrm>
          <a:prstGeom prst="rect">
            <a:avLst/>
          </a:prstGeom>
          <a:noFill/>
          <a:ln/>
        </p:spPr>
        <p:txBody>
          <a:bodyPr wrap="square" lIns="0" tIns="0" rIns="0" bIns="0" rtlCol="0" anchor="t"/>
          <a:lstStyle/>
          <a:p>
            <a:pPr indent="0" marL="0">
              <a:buNone/>
            </a:pPr>
            <a:r>
              <a:rPr lang="en-US" sz="1600" i="1" dirty="0">
                <a:solidFill>
                  <a:schemeClr val="accent1"/>
                </a:solidFill>
                <a:latin typeface="Cambria" pitchFamily="34" charset="0"/>
                <a:ea typeface="Cambria" pitchFamily="34" charset="-122"/>
                <a:cs typeface="Cambria" pitchFamily="34" charset="-120"/>
              </a:rPr>
              <a:t>„Het hangt ervan af” mag, op voorwaarde dat je zegt wáárvan.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Uitgewerkt: „Niemand schrijft nog zelf code”</a:t>
            </a:r>
            <a:endParaRPr lang="en-US" sz="3400" dirty="0"/>
          </a:p>
        </p:txBody>
      </p:sp>
      <p:sp>
        <p:nvSpPr>
          <p:cNvPr id="3" name="tabelrij"/>
          <p:cNvSpPr/>
          <p:nvPr/>
        </p:nvSpPr>
        <p:spPr>
          <a:xfrm>
            <a:off x="548640" y="1371600"/>
            <a:ext cx="6675120" cy="585216"/>
          </a:xfrm>
          <a:prstGeom prst="rect">
            <a:avLst/>
          </a:prstGeom>
          <a:solidFill>
            <a:schemeClr val="bg2"/>
          </a:solidFill>
          <a:ln w="9525">
            <a:solidFill>
              <a:schemeClr val="bg2"/>
            </a:solidFill>
            <a:prstDash val="solid"/>
          </a:ln>
        </p:spPr>
      </p:sp>
      <p:sp>
        <p:nvSpPr>
          <p:cNvPr id="4" name="Text 2"/>
          <p:cNvSpPr txBox="1"/>
          <p:nvPr/>
        </p:nvSpPr>
        <p:spPr>
          <a:xfrm>
            <a:off x="731520" y="1371600"/>
            <a:ext cx="1920240" cy="585216"/>
          </a:xfrm>
          <a:prstGeom prst="rect">
            <a:avLst/>
          </a:prstGeom>
          <a:noFill/>
          <a:ln/>
        </p:spPr>
        <p:txBody>
          <a:bodyPr wrap="square" lIns="0" tIns="0" rIns="0" bIns="0" rtlCol="0" anchor="ctr"/>
          <a:lstStyle/>
          <a:p>
            <a:pPr indent="0" marL="0">
              <a:buNone/>
            </a:pPr>
            <a:r>
              <a:rPr lang="en-US" sz="1400" b="1" dirty="0">
                <a:solidFill>
                  <a:schemeClr val="accent2"/>
                </a:solidFill>
              </a:rPr>
              <a:t>1  Welk probleem</a:t>
            </a:r>
            <a:endParaRPr lang="en-US" sz="1400" dirty="0"/>
          </a:p>
        </p:txBody>
      </p:sp>
      <p:sp>
        <p:nvSpPr>
          <p:cNvPr id="5" name="Text 3"/>
          <p:cNvSpPr txBox="1"/>
          <p:nvPr/>
        </p:nvSpPr>
        <p:spPr>
          <a:xfrm>
            <a:off x="2697480" y="1371600"/>
            <a:ext cx="4434840" cy="585216"/>
          </a:xfrm>
          <a:prstGeom prst="rect">
            <a:avLst/>
          </a:prstGeom>
          <a:noFill/>
          <a:ln/>
        </p:spPr>
        <p:txBody>
          <a:bodyPr wrap="square" lIns="0" tIns="0" rIns="0" bIns="0" rtlCol="0" anchor="ctr"/>
          <a:lstStyle/>
          <a:p>
            <a:pPr indent="0" marL="0">
              <a:buNone/>
            </a:pPr>
            <a:r>
              <a:rPr lang="en-US" sz="1400" dirty="0">
                <a:solidFill>
                  <a:schemeClr val="tx1"/>
                </a:solidFill>
              </a:rPr>
              <a:t>Code schrijven is traag en foutgevoelig. Dat klopt.</a:t>
            </a:r>
            <a:endParaRPr lang="en-US" sz="1400" dirty="0"/>
          </a:p>
        </p:txBody>
      </p:sp>
      <p:sp>
        <p:nvSpPr>
          <p:cNvPr id="6" name="tabelrij"/>
          <p:cNvSpPr/>
          <p:nvPr/>
        </p:nvSpPr>
        <p:spPr>
          <a:xfrm>
            <a:off x="548640" y="2029968"/>
            <a:ext cx="6675120" cy="585216"/>
          </a:xfrm>
          <a:prstGeom prst="rect">
            <a:avLst/>
          </a:prstGeom>
          <a:solidFill>
            <a:schemeClr val="bg1"/>
          </a:solidFill>
          <a:ln w="9525">
            <a:solidFill>
              <a:schemeClr val="bg2"/>
            </a:solidFill>
            <a:prstDash val="solid"/>
          </a:ln>
        </p:spPr>
      </p:sp>
      <p:sp>
        <p:nvSpPr>
          <p:cNvPr id="7" name="Text 5"/>
          <p:cNvSpPr txBox="1"/>
          <p:nvPr/>
        </p:nvSpPr>
        <p:spPr>
          <a:xfrm>
            <a:off x="731520" y="2029968"/>
            <a:ext cx="1920240" cy="585216"/>
          </a:xfrm>
          <a:prstGeom prst="rect">
            <a:avLst/>
          </a:prstGeom>
          <a:noFill/>
          <a:ln/>
        </p:spPr>
        <p:txBody>
          <a:bodyPr wrap="square" lIns="0" tIns="0" rIns="0" bIns="0" rtlCol="0" anchor="ctr"/>
          <a:lstStyle/>
          <a:p>
            <a:pPr indent="0" marL="0">
              <a:buNone/>
            </a:pPr>
            <a:r>
              <a:rPr lang="en-US" sz="1400" b="1" dirty="0">
                <a:solidFill>
                  <a:schemeClr val="accent2"/>
                </a:solidFill>
              </a:rPr>
              <a:t>2  Alternatief</a:t>
            </a:r>
            <a:endParaRPr lang="en-US" sz="1400" dirty="0"/>
          </a:p>
        </p:txBody>
      </p:sp>
      <p:sp>
        <p:nvSpPr>
          <p:cNvPr id="8" name="Text 6"/>
          <p:cNvSpPr txBox="1"/>
          <p:nvPr/>
        </p:nvSpPr>
        <p:spPr>
          <a:xfrm>
            <a:off x="2697480" y="2029968"/>
            <a:ext cx="4434840" cy="585216"/>
          </a:xfrm>
          <a:prstGeom prst="rect">
            <a:avLst/>
          </a:prstGeom>
          <a:noFill/>
          <a:ln/>
        </p:spPr>
        <p:txBody>
          <a:bodyPr wrap="square" lIns="0" tIns="0" rIns="0" bIns="0" rtlCol="0" anchor="ctr"/>
          <a:lstStyle/>
          <a:p>
            <a:pPr indent="0" marL="0">
              <a:buNone/>
            </a:pPr>
            <a:r>
              <a:rPr lang="en-US" sz="1400" dirty="0">
                <a:solidFill>
                  <a:schemeClr val="tx1"/>
                </a:solidFill>
              </a:rPr>
              <a:t>Zelf schrijven, met assistentie. Dat gebeurt nu al.</a:t>
            </a:r>
            <a:endParaRPr lang="en-US" sz="1400" dirty="0"/>
          </a:p>
        </p:txBody>
      </p:sp>
      <p:sp>
        <p:nvSpPr>
          <p:cNvPr id="9" name="tabelrij"/>
          <p:cNvSpPr/>
          <p:nvPr/>
        </p:nvSpPr>
        <p:spPr>
          <a:xfrm>
            <a:off x="548640" y="2688336"/>
            <a:ext cx="6675120" cy="585216"/>
          </a:xfrm>
          <a:prstGeom prst="rect">
            <a:avLst/>
          </a:prstGeom>
          <a:solidFill>
            <a:schemeClr val="bg2"/>
          </a:solidFill>
          <a:ln w="9525">
            <a:solidFill>
              <a:schemeClr val="bg2"/>
            </a:solidFill>
            <a:prstDash val="solid"/>
          </a:ln>
        </p:spPr>
      </p:sp>
      <p:sp>
        <p:nvSpPr>
          <p:cNvPr id="10" name="Text 8"/>
          <p:cNvSpPr txBox="1"/>
          <p:nvPr/>
        </p:nvSpPr>
        <p:spPr>
          <a:xfrm>
            <a:off x="731520" y="2688336"/>
            <a:ext cx="1920240" cy="585216"/>
          </a:xfrm>
          <a:prstGeom prst="rect">
            <a:avLst/>
          </a:prstGeom>
          <a:noFill/>
          <a:ln/>
        </p:spPr>
        <p:txBody>
          <a:bodyPr wrap="square" lIns="0" tIns="0" rIns="0" bIns="0" rtlCol="0" anchor="ctr"/>
          <a:lstStyle/>
          <a:p>
            <a:pPr indent="0" marL="0">
              <a:buNone/>
            </a:pPr>
            <a:r>
              <a:rPr lang="en-US" sz="1400" b="1" dirty="0">
                <a:solidFill>
                  <a:schemeClr val="accent2"/>
                </a:solidFill>
              </a:rPr>
              <a:t>3  Wie betaalt</a:t>
            </a:r>
            <a:endParaRPr lang="en-US" sz="1400" dirty="0"/>
          </a:p>
        </p:txBody>
      </p:sp>
      <p:sp>
        <p:nvSpPr>
          <p:cNvPr id="11" name="Text 9"/>
          <p:cNvSpPr txBox="1"/>
          <p:nvPr/>
        </p:nvSpPr>
        <p:spPr>
          <a:xfrm>
            <a:off x="2697480" y="2688336"/>
            <a:ext cx="4434840" cy="585216"/>
          </a:xfrm>
          <a:prstGeom prst="rect">
            <a:avLst/>
          </a:prstGeom>
          <a:noFill/>
          <a:ln/>
        </p:spPr>
        <p:txBody>
          <a:bodyPr wrap="square" lIns="0" tIns="0" rIns="0" bIns="0" rtlCol="0" anchor="ctr"/>
          <a:lstStyle/>
          <a:p>
            <a:pPr indent="0" marL="0">
              <a:buNone/>
            </a:pPr>
            <a:r>
              <a:rPr lang="en-US" sz="1400" dirty="0">
                <a:solidFill>
                  <a:schemeClr val="tx1"/>
                </a:solidFill>
              </a:rPr>
              <a:t>Bedrijven die dit gereedschap verkopen, doen deze uitspraak het vaakst.</a:t>
            </a:r>
            <a:endParaRPr lang="en-US" sz="1400" dirty="0"/>
          </a:p>
        </p:txBody>
      </p:sp>
      <p:sp>
        <p:nvSpPr>
          <p:cNvPr id="12" name="tabelrij"/>
          <p:cNvSpPr/>
          <p:nvPr/>
        </p:nvSpPr>
        <p:spPr>
          <a:xfrm>
            <a:off x="548640" y="3346704"/>
            <a:ext cx="6675120" cy="585216"/>
          </a:xfrm>
          <a:prstGeom prst="rect">
            <a:avLst/>
          </a:prstGeom>
          <a:solidFill>
            <a:schemeClr val="bg1"/>
          </a:solidFill>
          <a:ln w="9525">
            <a:solidFill>
              <a:schemeClr val="bg2"/>
            </a:solidFill>
            <a:prstDash val="solid"/>
          </a:ln>
        </p:spPr>
      </p:sp>
      <p:sp>
        <p:nvSpPr>
          <p:cNvPr id="13" name="Text 11"/>
          <p:cNvSpPr txBox="1"/>
          <p:nvPr/>
        </p:nvSpPr>
        <p:spPr>
          <a:xfrm>
            <a:off x="731520" y="3346704"/>
            <a:ext cx="1920240" cy="585216"/>
          </a:xfrm>
          <a:prstGeom prst="rect">
            <a:avLst/>
          </a:prstGeom>
          <a:noFill/>
          <a:ln/>
        </p:spPr>
        <p:txBody>
          <a:bodyPr wrap="square" lIns="0" tIns="0" rIns="0" bIns="0" rtlCol="0" anchor="ctr"/>
          <a:lstStyle/>
          <a:p>
            <a:pPr indent="0" marL="0">
              <a:buNone/>
            </a:pPr>
            <a:r>
              <a:rPr lang="en-US" sz="1400" b="1" dirty="0">
                <a:solidFill>
                  <a:schemeClr val="accent2"/>
                </a:solidFill>
              </a:rPr>
              <a:t>4  Bewijs</a:t>
            </a:r>
            <a:endParaRPr lang="en-US" sz="1400" dirty="0"/>
          </a:p>
        </p:txBody>
      </p:sp>
      <p:sp>
        <p:nvSpPr>
          <p:cNvPr id="14" name="Text 12"/>
          <p:cNvSpPr txBox="1"/>
          <p:nvPr/>
        </p:nvSpPr>
        <p:spPr>
          <a:xfrm>
            <a:off x="2697480" y="3346704"/>
            <a:ext cx="4434840" cy="585216"/>
          </a:xfrm>
          <a:prstGeom prst="rect">
            <a:avLst/>
          </a:prstGeom>
          <a:noFill/>
          <a:ln/>
        </p:spPr>
        <p:txBody>
          <a:bodyPr wrap="square" lIns="0" tIns="0" rIns="0" bIns="0" rtlCol="0" anchor="ctr"/>
          <a:lstStyle/>
          <a:p>
            <a:pPr indent="0" marL="0">
              <a:buNone/>
            </a:pPr>
            <a:r>
              <a:rPr lang="en-US" sz="1400" dirty="0">
                <a:solidFill>
                  <a:schemeClr val="tx1"/>
                </a:solidFill>
              </a:rPr>
              <a:t>Veel demo's, weinig cijfers over onderhoud op lange termijn.</a:t>
            </a:r>
            <a:endParaRPr lang="en-US" sz="1400" dirty="0"/>
          </a:p>
        </p:txBody>
      </p:sp>
      <p:sp>
        <p:nvSpPr>
          <p:cNvPr id="15" name="tabelrij"/>
          <p:cNvSpPr/>
          <p:nvPr/>
        </p:nvSpPr>
        <p:spPr>
          <a:xfrm>
            <a:off x="548640" y="4005072"/>
            <a:ext cx="6675120" cy="585216"/>
          </a:xfrm>
          <a:prstGeom prst="rect">
            <a:avLst/>
          </a:prstGeom>
          <a:solidFill>
            <a:schemeClr val="bg2"/>
          </a:solidFill>
          <a:ln w="9525">
            <a:solidFill>
              <a:schemeClr val="bg2"/>
            </a:solidFill>
            <a:prstDash val="solid"/>
          </a:ln>
        </p:spPr>
      </p:sp>
      <p:sp>
        <p:nvSpPr>
          <p:cNvPr id="16" name="Text 14"/>
          <p:cNvSpPr txBox="1"/>
          <p:nvPr/>
        </p:nvSpPr>
        <p:spPr>
          <a:xfrm>
            <a:off x="731520" y="4005072"/>
            <a:ext cx="1920240" cy="585216"/>
          </a:xfrm>
          <a:prstGeom prst="rect">
            <a:avLst/>
          </a:prstGeom>
          <a:noFill/>
          <a:ln/>
        </p:spPr>
        <p:txBody>
          <a:bodyPr wrap="square" lIns="0" tIns="0" rIns="0" bIns="0" rtlCol="0" anchor="ctr"/>
          <a:lstStyle/>
          <a:p>
            <a:pPr indent="0" marL="0">
              <a:buNone/>
            </a:pPr>
            <a:r>
              <a:rPr lang="en-US" sz="1400" b="1" dirty="0">
                <a:solidFill>
                  <a:schemeClr val="accent2"/>
                </a:solidFill>
              </a:rPr>
              <a:t>5  Ervanaf stappen</a:t>
            </a:r>
            <a:endParaRPr lang="en-US" sz="1400" dirty="0"/>
          </a:p>
        </p:txBody>
      </p:sp>
      <p:sp>
        <p:nvSpPr>
          <p:cNvPr id="17" name="Text 15"/>
          <p:cNvSpPr txBox="1"/>
          <p:nvPr/>
        </p:nvSpPr>
        <p:spPr>
          <a:xfrm>
            <a:off x="2697480" y="4005072"/>
            <a:ext cx="4434840" cy="585216"/>
          </a:xfrm>
          <a:prstGeom prst="rect">
            <a:avLst/>
          </a:prstGeom>
          <a:noFill/>
          <a:ln/>
        </p:spPr>
        <p:txBody>
          <a:bodyPr wrap="square" lIns="0" tIns="0" rIns="0" bIns="0" rtlCol="0" anchor="ctr"/>
          <a:lstStyle/>
          <a:p>
            <a:pPr indent="0" marL="0">
              <a:buNone/>
            </a:pPr>
            <a:r>
              <a:rPr lang="en-US" sz="1400" dirty="0">
                <a:solidFill>
                  <a:schemeClr val="tx1"/>
                </a:solidFill>
              </a:rPr>
              <a:t>Als je team niet meer kan lezen wat het oplevert: veel.</a:t>
            </a:r>
            <a:endParaRPr lang="en-US" sz="1400" dirty="0"/>
          </a:p>
        </p:txBody>
      </p:sp>
      <p:sp>
        <p:nvSpPr>
          <p:cNvPr id="18" name="tabelrij"/>
          <p:cNvSpPr/>
          <p:nvPr/>
        </p:nvSpPr>
        <p:spPr>
          <a:xfrm>
            <a:off x="548640" y="4663440"/>
            <a:ext cx="6675120" cy="585216"/>
          </a:xfrm>
          <a:prstGeom prst="rect">
            <a:avLst/>
          </a:prstGeom>
          <a:solidFill>
            <a:schemeClr val="bg1"/>
          </a:solidFill>
          <a:ln w="9525">
            <a:solidFill>
              <a:schemeClr val="bg2"/>
            </a:solidFill>
            <a:prstDash val="solid"/>
          </a:ln>
        </p:spPr>
      </p:sp>
      <p:sp>
        <p:nvSpPr>
          <p:cNvPr id="19" name="Text 17"/>
          <p:cNvSpPr txBox="1"/>
          <p:nvPr/>
        </p:nvSpPr>
        <p:spPr>
          <a:xfrm>
            <a:off x="731520" y="4663440"/>
            <a:ext cx="1920240" cy="585216"/>
          </a:xfrm>
          <a:prstGeom prst="rect">
            <a:avLst/>
          </a:prstGeom>
          <a:noFill/>
          <a:ln/>
        </p:spPr>
        <p:txBody>
          <a:bodyPr wrap="square" lIns="0" tIns="0" rIns="0" bIns="0" rtlCol="0" anchor="ctr"/>
          <a:lstStyle/>
          <a:p>
            <a:pPr indent="0" marL="0">
              <a:buNone/>
            </a:pPr>
            <a:r>
              <a:rPr lang="en-US" sz="1400" b="1" dirty="0">
                <a:solidFill>
                  <a:schemeClr val="accent2"/>
                </a:solidFill>
              </a:rPr>
              <a:t>6  Overwaaien</a:t>
            </a:r>
            <a:endParaRPr lang="en-US" sz="1400" dirty="0"/>
          </a:p>
        </p:txBody>
      </p:sp>
      <p:sp>
        <p:nvSpPr>
          <p:cNvPr id="20" name="Text 18"/>
          <p:cNvSpPr txBox="1"/>
          <p:nvPr/>
        </p:nvSpPr>
        <p:spPr>
          <a:xfrm>
            <a:off x="2697480" y="4663440"/>
            <a:ext cx="4434840" cy="585216"/>
          </a:xfrm>
          <a:prstGeom prst="rect">
            <a:avLst/>
          </a:prstGeom>
          <a:noFill/>
          <a:ln/>
        </p:spPr>
        <p:txBody>
          <a:bodyPr wrap="square" lIns="0" tIns="0" rIns="0" bIns="0" rtlCol="0" anchor="ctr"/>
          <a:lstStyle/>
          <a:p>
            <a:pPr indent="0" marL="0">
              <a:buNone/>
            </a:pPr>
            <a:r>
              <a:rPr lang="en-US" sz="1400" dirty="0">
                <a:solidFill>
                  <a:schemeClr val="tx1"/>
                </a:solidFill>
              </a:rPr>
              <a:t>Dezelfde voorspelling bij CASE-tools (jaren 80) en low-code (jaren 2010).</a:t>
            </a:r>
            <a:endParaRPr lang="en-US" sz="1400" dirty="0"/>
          </a:p>
        </p:txBody>
      </p:sp>
      <p:sp>
        <p:nvSpPr>
          <p:cNvPr id="21" name="kaart"/>
          <p:cNvSpPr/>
          <p:nvPr/>
        </p:nvSpPr>
        <p:spPr>
          <a:xfrm>
            <a:off x="7589520" y="1371600"/>
            <a:ext cx="4023360" cy="3877056"/>
          </a:xfrm>
          <a:prstGeom prst="roundRect">
            <a:avLst>
              <a:gd name="adj" fmla="val 2830"/>
            </a:avLst>
          </a:prstGeom>
          <a:solidFill>
            <a:schemeClr val="tx1"/>
          </a:solidFill>
          <a:ln w="12700">
            <a:solidFill>
              <a:schemeClr val="tx1"/>
            </a:solidFill>
            <a:prstDash val="solid"/>
          </a:ln>
        </p:spPr>
      </p:sp>
      <p:sp>
        <p:nvSpPr>
          <p:cNvPr id="22" name="Text 20"/>
          <p:cNvSpPr txBox="1"/>
          <p:nvPr/>
        </p:nvSpPr>
        <p:spPr>
          <a:xfrm>
            <a:off x="7909560" y="1645920"/>
            <a:ext cx="329184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STANDPUNT</a:t>
            </a:r>
            <a:endParaRPr lang="en-US" sz="1200" dirty="0"/>
          </a:p>
        </p:txBody>
      </p:sp>
      <p:sp>
        <p:nvSpPr>
          <p:cNvPr id="23" name="Text 21"/>
          <p:cNvSpPr txBox="1"/>
          <p:nvPr/>
        </p:nvSpPr>
        <p:spPr>
          <a:xfrm>
            <a:off x="7909560" y="2057400"/>
            <a:ext cx="3383280" cy="3017520"/>
          </a:xfrm>
          <a:prstGeom prst="rect">
            <a:avLst/>
          </a:prstGeom>
          <a:noFill/>
          <a:ln/>
        </p:spPr>
        <p:txBody>
          <a:bodyPr wrap="square" lIns="0" tIns="0" rIns="0" bIns="0" rtlCol="0" anchor="t"/>
          <a:lstStyle/>
          <a:p>
            <a:pPr indent="0" marL="0">
              <a:buNone/>
            </a:pPr>
            <a:r>
              <a:rPr lang="en-US" sz="1600" dirty="0">
                <a:solidFill>
                  <a:schemeClr val="bg1"/>
                </a:solidFill>
              </a:rPr>
              <a:t>De verhouding tussen typen en nadenken verschuift: typen wordt minder werk. Maar iemand moet nog altijd bepalen wát er moet gebeuren en vaststellen of het klopt. Dat is het moeilijke deel van dit vak.</a:t>
            </a:r>
            <a:endParaRPr lang="en-US" sz="1600" dirty="0"/>
          </a:p>
        </p:txBody>
      </p:sp>
      <p:sp>
        <p:nvSpPr>
          <p:cNvPr id="24" name="Text 22"/>
          <p:cNvSpPr txBox="1"/>
          <p:nvPr/>
        </p:nvSpPr>
        <p:spPr>
          <a:xfrm>
            <a:off x="548640" y="5532120"/>
            <a:ext cx="11064240" cy="411480"/>
          </a:xfrm>
          <a:prstGeom prst="rect">
            <a:avLst/>
          </a:prstGeom>
          <a:noFill/>
          <a:ln/>
        </p:spPr>
        <p:txBody>
          <a:bodyPr wrap="square" lIns="0" tIns="0" rIns="0" bIns="0" rtlCol="0" anchor="t"/>
          <a:lstStyle/>
          <a:p>
            <a:pPr indent="0" marL="0">
              <a:buNone/>
            </a:pPr>
            <a:r>
              <a:rPr lang="en-US" sz="1500" i="1" dirty="0">
                <a:solidFill>
                  <a:schemeClr val="tx2"/>
                </a:solidFill>
              </a:rPr>
              <a:t>Elke rij is één van de zes vragen. Het standpunt volgt pas ná de vragen.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Drie standpunten, één patroon</a:t>
            </a:r>
            <a:endParaRPr lang="en-US" sz="3400" dirty="0"/>
          </a:p>
        </p:txBody>
      </p:sp>
      <p:sp>
        <p:nvSpPr>
          <p:cNvPr id="3" name="kaart"/>
          <p:cNvSpPr/>
          <p:nvPr/>
        </p:nvSpPr>
        <p:spPr>
          <a:xfrm>
            <a:off x="548640" y="1417320"/>
            <a:ext cx="3520440"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Text 2"/>
          <p:cNvSpPr txBox="1"/>
          <p:nvPr/>
        </p:nvSpPr>
        <p:spPr>
          <a:xfrm>
            <a:off x="822960" y="1645920"/>
            <a:ext cx="2971800" cy="822960"/>
          </a:xfrm>
          <a:prstGeom prst="rect">
            <a:avLst/>
          </a:prstGeom>
          <a:noFill/>
          <a:ln/>
        </p:spPr>
        <p:txBody>
          <a:bodyPr wrap="square" lIns="0" tIns="0" rIns="0" bIns="0" rtlCol="0" anchor="t"/>
          <a:lstStyle/>
          <a:p>
            <a:pPr indent="0" marL="0">
              <a:buNone/>
            </a:pPr>
            <a:r>
              <a:rPr lang="en-US" sz="1700" b="1" i="1" dirty="0">
                <a:solidFill>
                  <a:schemeClr val="accent3"/>
                </a:solidFill>
                <a:latin typeface="Cambria" pitchFamily="34" charset="0"/>
                <a:ea typeface="Cambria" pitchFamily="34" charset="-122"/>
                <a:cs typeface="Cambria" pitchFamily="34" charset="-120"/>
              </a:rPr>
              <a:t>„Niemand schrijft nog zelf code”</a:t>
            </a:r>
            <a:endParaRPr lang="en-US" sz="1700" dirty="0"/>
          </a:p>
        </p:txBody>
      </p:sp>
      <p:sp>
        <p:nvSpPr>
          <p:cNvPr id="5" name="Text 3"/>
          <p:cNvSpPr txBox="1"/>
          <p:nvPr/>
        </p:nvSpPr>
        <p:spPr>
          <a:xfrm>
            <a:off x="822960" y="2514600"/>
            <a:ext cx="2971800" cy="2240280"/>
          </a:xfrm>
          <a:prstGeom prst="rect">
            <a:avLst/>
          </a:prstGeom>
          <a:noFill/>
          <a:ln/>
        </p:spPr>
        <p:txBody>
          <a:bodyPr wrap="square" lIns="0" tIns="0" rIns="0" bIns="0" rtlCol="0" anchor="t"/>
          <a:lstStyle/>
          <a:p>
            <a:pPr indent="0" marL="0">
              <a:buNone/>
            </a:pPr>
            <a:r>
              <a:rPr lang="en-US" sz="1500" dirty="0">
                <a:solidFill>
                  <a:schemeClr val="tx1"/>
                </a:solidFill>
              </a:rPr>
              <a:t>Typen wordt minder werk. Bepalen wat er moet gebeuren en vaststellen of het klopt, blijft mensenwerk.</a:t>
            </a:r>
            <a:endParaRPr lang="en-US" sz="1500" dirty="0"/>
          </a:p>
        </p:txBody>
      </p:sp>
      <p:sp>
        <p:nvSpPr>
          <p:cNvPr id="6" name="kaart"/>
          <p:cNvSpPr/>
          <p:nvPr/>
        </p:nvSpPr>
        <p:spPr>
          <a:xfrm>
            <a:off x="4297680" y="1417320"/>
            <a:ext cx="3520440"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7" name="Text 5"/>
          <p:cNvSpPr txBox="1"/>
          <p:nvPr/>
        </p:nvSpPr>
        <p:spPr>
          <a:xfrm>
            <a:off x="4572000" y="1645920"/>
            <a:ext cx="2971800" cy="822960"/>
          </a:xfrm>
          <a:prstGeom prst="rect">
            <a:avLst/>
          </a:prstGeom>
          <a:noFill/>
          <a:ln/>
        </p:spPr>
        <p:txBody>
          <a:bodyPr wrap="square" lIns="0" tIns="0" rIns="0" bIns="0" rtlCol="0" anchor="t"/>
          <a:lstStyle/>
          <a:p>
            <a:pPr indent="0" marL="0">
              <a:buNone/>
            </a:pPr>
            <a:r>
              <a:rPr lang="en-US" sz="1700" b="1" i="1" dirty="0">
                <a:solidFill>
                  <a:schemeClr val="accent3"/>
                </a:solidFill>
                <a:latin typeface="Cambria" pitchFamily="34" charset="0"/>
                <a:ea typeface="Cambria" pitchFamily="34" charset="-122"/>
                <a:cs typeface="Cambria" pitchFamily="34" charset="-120"/>
              </a:rPr>
              <a:t>„Testen kost meer dan het opbrengt”</a:t>
            </a:r>
            <a:endParaRPr lang="en-US" sz="1700" dirty="0"/>
          </a:p>
        </p:txBody>
      </p:sp>
      <p:sp>
        <p:nvSpPr>
          <p:cNvPr id="8" name="Text 6"/>
          <p:cNvSpPr txBox="1"/>
          <p:nvPr/>
        </p:nvSpPr>
        <p:spPr>
          <a:xfrm>
            <a:off x="4572000" y="2514600"/>
            <a:ext cx="2971800" cy="2240280"/>
          </a:xfrm>
          <a:prstGeom prst="rect">
            <a:avLst/>
          </a:prstGeom>
          <a:noFill/>
          <a:ln/>
        </p:spPr>
        <p:txBody>
          <a:bodyPr wrap="square" lIns="0" tIns="0" rIns="0" bIns="0" rtlCol="0" anchor="t"/>
          <a:lstStyle/>
          <a:p>
            <a:pPr indent="0" marL="0">
              <a:buNone/>
            </a:pPr>
            <a:r>
              <a:rPr lang="en-US" sz="1500" dirty="0">
                <a:solidFill>
                  <a:schemeClr val="tx1"/>
                </a:solidFill>
              </a:rPr>
              <a:t>Hangt af van de levensduur. Een script dat je één keer draait: niet testen. Code die een jaar meegaat en door anderen wordt aangepast: elke test verdient zich terug.</a:t>
            </a:r>
            <a:endParaRPr lang="en-US" sz="1500" dirty="0"/>
          </a:p>
        </p:txBody>
      </p:sp>
      <p:sp>
        <p:nvSpPr>
          <p:cNvPr id="9" name="kaart"/>
          <p:cNvSpPr/>
          <p:nvPr/>
        </p:nvSpPr>
        <p:spPr>
          <a:xfrm>
            <a:off x="8046720" y="1417320"/>
            <a:ext cx="3520440" cy="3429000"/>
          </a:xfrm>
          <a:prstGeom prst="roundRect">
            <a:avLst>
              <a:gd name="adj" fmla="val 3200"/>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0" name="Text 8"/>
          <p:cNvSpPr txBox="1"/>
          <p:nvPr/>
        </p:nvSpPr>
        <p:spPr>
          <a:xfrm>
            <a:off x="8321040" y="1645920"/>
            <a:ext cx="2971800" cy="822960"/>
          </a:xfrm>
          <a:prstGeom prst="rect">
            <a:avLst/>
          </a:prstGeom>
          <a:noFill/>
          <a:ln/>
        </p:spPr>
        <p:txBody>
          <a:bodyPr wrap="square" lIns="0" tIns="0" rIns="0" bIns="0" rtlCol="0" anchor="t"/>
          <a:lstStyle/>
          <a:p>
            <a:pPr indent="0" marL="0">
              <a:buNone/>
            </a:pPr>
            <a:r>
              <a:rPr lang="en-US" sz="1700" b="1" i="1" dirty="0">
                <a:solidFill>
                  <a:schemeClr val="accent3"/>
                </a:solidFill>
                <a:latin typeface="Cambria" pitchFamily="34" charset="0"/>
                <a:ea typeface="Cambria" pitchFamily="34" charset="-122"/>
                <a:cs typeface="Cambria" pitchFamily="34" charset="-120"/>
              </a:rPr>
              <a:t>„Python is te traag”</a:t>
            </a:r>
            <a:endParaRPr lang="en-US" sz="1700" dirty="0"/>
          </a:p>
        </p:txBody>
      </p:sp>
      <p:sp>
        <p:nvSpPr>
          <p:cNvPr id="11" name="Text 9"/>
          <p:cNvSpPr txBox="1"/>
          <p:nvPr/>
        </p:nvSpPr>
        <p:spPr>
          <a:xfrm>
            <a:off x="8321040" y="2514600"/>
            <a:ext cx="2971800" cy="2240280"/>
          </a:xfrm>
          <a:prstGeom prst="rect">
            <a:avLst/>
          </a:prstGeom>
          <a:noFill/>
          <a:ln/>
        </p:spPr>
        <p:txBody>
          <a:bodyPr wrap="square" lIns="0" tIns="0" rIns="0" bIns="0" rtlCol="0" anchor="t"/>
          <a:lstStyle/>
          <a:p>
            <a:pPr indent="0" marL="0">
              <a:buNone/>
            </a:pPr>
            <a:r>
              <a:rPr lang="en-US" sz="1500" dirty="0">
                <a:solidFill>
                  <a:schemeClr val="tx1"/>
                </a:solidFill>
              </a:rPr>
              <a:t>Hangt af van waar je tijd naartoe gaat. Wacht je op een databank of het netwerk: irrelevant. Reken je over miljoenen getallen: gebruik een bibliotheek in C.</a:t>
            </a:r>
            <a:endParaRPr lang="en-US" sz="1500" dirty="0"/>
          </a:p>
        </p:txBody>
      </p:sp>
      <p:sp>
        <p:nvSpPr>
          <p:cNvPr id="12" name="kaart"/>
          <p:cNvSpPr/>
          <p:nvPr/>
        </p:nvSpPr>
        <p:spPr>
          <a:xfrm>
            <a:off x="548640" y="5120640"/>
            <a:ext cx="11064240" cy="868680"/>
          </a:xfrm>
          <a:prstGeom prst="roundRect">
            <a:avLst>
              <a:gd name="adj" fmla="val 12632"/>
            </a:avLst>
          </a:prstGeom>
          <a:solidFill>
            <a:schemeClr val="accent2"/>
          </a:solidFill>
          <a:ln w="12700">
            <a:solidFill>
              <a:schemeClr val="accent2"/>
            </a:solidFill>
            <a:prstDash val="solid"/>
          </a:ln>
        </p:spPr>
      </p:sp>
      <p:sp>
        <p:nvSpPr>
          <p:cNvPr id="13" name="Text 11"/>
          <p:cNvSpPr txBox="1"/>
          <p:nvPr/>
        </p:nvSpPr>
        <p:spPr>
          <a:xfrm>
            <a:off x="868680" y="5120640"/>
            <a:ext cx="10515600" cy="868680"/>
          </a:xfrm>
          <a:prstGeom prst="rect">
            <a:avLst/>
          </a:prstGeom>
          <a:noFill/>
          <a:ln/>
        </p:spPr>
        <p:txBody>
          <a:bodyPr wrap="square" lIns="0" tIns="0" rIns="0" bIns="0" rtlCol="0" anchor="ctr"/>
          <a:lstStyle/>
          <a:p>
            <a:pPr indent="0" marL="0">
              <a:buNone/>
            </a:pPr>
            <a:r>
              <a:rPr lang="en-US" sz="1800" b="1" dirty="0">
                <a:solidFill>
                  <a:schemeClr val="bg1"/>
                </a:solidFill>
              </a:rPr>
              <a:t>Het patroon: </a:t>
            </a:r>
            <a:pPr indent="0" marL="0">
              <a:buNone/>
            </a:pPr>
            <a:r>
              <a:rPr lang="en-US" sz="1800" dirty="0">
                <a:solidFill>
                  <a:schemeClr val="bg1"/>
                </a:solidFill>
              </a:rPr>
              <a:t>„het hangt ervan af”, en dan zeggen waarvan. Dat maakt een nietszeggend antwoord bruikbaar.</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Oefening 20.2 — Eén probleem, vier stijlen</a:t>
            </a:r>
            <a:endParaRPr lang="en-US" sz="3400" dirty="0"/>
          </a:p>
        </p:txBody>
      </p:sp>
      <p:sp>
        <p:nvSpPr>
          <p:cNvPr id="3" name="kaart"/>
          <p:cNvSpPr/>
          <p:nvPr/>
        </p:nvSpPr>
        <p:spPr>
          <a:xfrm>
            <a:off x="548640" y="1371600"/>
            <a:ext cx="11064240" cy="1188720"/>
          </a:xfrm>
          <a:prstGeom prst="roundRect">
            <a:avLst>
              <a:gd name="adj" fmla="val 9231"/>
            </a:avLst>
          </a:prstGeom>
          <a:solidFill>
            <a:schemeClr val="tx1"/>
          </a:solidFill>
          <a:ln w="12700">
            <a:solidFill>
              <a:schemeClr val="tx1"/>
            </a:solidFill>
            <a:prstDash val="solid"/>
          </a:ln>
        </p:spPr>
      </p:sp>
      <p:sp>
        <p:nvSpPr>
          <p:cNvPr id="4" name="icooncirkel"/>
          <p:cNvSpPr/>
          <p:nvPr/>
        </p:nvSpPr>
        <p:spPr>
          <a:xfrm>
            <a:off x="822960" y="1600200"/>
            <a:ext cx="731520" cy="731520"/>
          </a:xfrm>
          <a:prstGeom prst="ellipse">
            <a:avLst/>
          </a:prstGeom>
          <a:solidFill>
            <a:schemeClr val="accent1"/>
          </a:solidFill>
          <a:ln w="12700">
            <a:solidFill>
              <a:schemeClr val="accent1"/>
            </a:solidFill>
            <a:prstDash val="solid"/>
          </a:ln>
        </p:spPr>
      </p:sp>
      <p:pic>
        <p:nvPicPr>
          <p:cNvPr id="5" name="icoon" descr="preencoded.png">    </p:cNvPr>
          <p:cNvPicPr>
            <a:picLocks noChangeAspect="1"/>
          </p:cNvPicPr>
          <p:nvPr/>
        </p:nvPicPr>
        <p:blipFill>
          <a:blip r:embed="rId1"/>
          <a:stretch>
            <a:fillRect/>
          </a:stretch>
        </p:blipFill>
        <p:spPr>
          <a:xfrm>
            <a:off x="1005840" y="1783080"/>
            <a:ext cx="365760" cy="365760"/>
          </a:xfrm>
          <a:prstGeom prst="rect">
            <a:avLst/>
          </a:prstGeom>
        </p:spPr>
      </p:pic>
      <p:sp>
        <p:nvSpPr>
          <p:cNvPr id="6" name="Text 3"/>
          <p:cNvSpPr txBox="1"/>
          <p:nvPr/>
        </p:nvSpPr>
        <p:spPr>
          <a:xfrm>
            <a:off x="1783080" y="1371600"/>
            <a:ext cx="9601200" cy="1188720"/>
          </a:xfrm>
          <a:prstGeom prst="rect">
            <a:avLst/>
          </a:prstGeom>
          <a:noFill/>
          <a:ln/>
        </p:spPr>
        <p:txBody>
          <a:bodyPr wrap="square" lIns="0" tIns="0" rIns="0" bIns="0" rtlCol="0" anchor="ctr"/>
          <a:lstStyle/>
          <a:p>
            <a:pPr indent="0" marL="0">
              <a:buNone/>
            </a:pPr>
            <a:r>
              <a:rPr lang="en-US" sz="1700" dirty="0">
                <a:solidFill>
                  <a:schemeClr val="bg1"/>
                </a:solidFill>
              </a:rPr>
              <a:t>Gegeven een lijst boeken met titel en aantal bladzijden: geef de titels van alle boeken van meer dan 250 bladzijden, in hoofdletters, alfabetisch gesorteerd.</a:t>
            </a:r>
            <a:endParaRPr lang="en-US" sz="1700" dirty="0"/>
          </a:p>
        </p:txBody>
      </p:sp>
      <p:sp>
        <p:nvSpPr>
          <p:cNvPr id="7" name="codevak"/>
          <p:cNvSpPr/>
          <p:nvPr/>
        </p:nvSpPr>
        <p:spPr>
          <a:xfrm>
            <a:off x="548640" y="2834640"/>
            <a:ext cx="5120640" cy="3154680"/>
          </a:xfrm>
          <a:prstGeom prst="roundRect">
            <a:avLst>
              <a:gd name="adj" fmla="val 2899"/>
            </a:avLst>
          </a:prstGeom>
          <a:solidFill>
            <a:srgbClr val="161A33"/>
          </a:solidFill>
          <a:ln w="12700">
            <a:solidFill>
              <a:srgbClr val="161A33"/>
            </a:solidFill>
            <a:prstDash val="solid"/>
          </a:ln>
        </p:spPr>
      </p:sp>
      <p:sp>
        <p:nvSpPr>
          <p:cNvPr id="8" name="Text 5"/>
          <p:cNvSpPr txBox="1"/>
          <p:nvPr/>
        </p:nvSpPr>
        <p:spPr>
          <a:xfrm>
            <a:off x="777240" y="2944368"/>
            <a:ext cx="466344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DE GEGEVENS</a:t>
            </a:r>
            <a:endParaRPr lang="en-US" sz="1100" dirty="0"/>
          </a:p>
        </p:txBody>
      </p:sp>
      <p:sp>
        <p:nvSpPr>
          <p:cNvPr id="9" name="code"/>
          <p:cNvSpPr txBox="1"/>
          <p:nvPr/>
        </p:nvSpPr>
        <p:spPr>
          <a:xfrm>
            <a:off x="777240" y="3291840"/>
            <a:ext cx="4663440" cy="2560320"/>
          </a:xfrm>
          <a:prstGeom prst="rect">
            <a:avLst/>
          </a:prstGeom>
          <a:noFill/>
          <a:ln/>
        </p:spPr>
        <p:txBody>
          <a:bodyPr wrap="square" lIns="0" tIns="0" rIns="0" bIns="0" rtlCol="0" anchor="t"/>
          <a:lstStyle/>
          <a:p>
            <a:pPr indent="0" marL="0">
              <a:buNone/>
            </a:pPr>
            <a:r>
              <a:rPr lang="en-US" sz="1400" dirty="0">
                <a:solidFill>
                  <a:srgbClr val="E8ECF8"/>
                </a:solidFill>
                <a:latin typeface="Consolas" pitchFamily="34" charset="0"/>
                <a:ea typeface="Consolas" pitchFamily="34" charset="-122"/>
                <a:cs typeface="Consolas" pitchFamily="34" charset="-120"/>
              </a:rPr>
              <a:t>BOEKEN = [</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    ("Turks fruit", 175),</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    ("De ontdekking van de hemel", 928),</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    ("Het diner", 288),</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    ("De aanslag", 246),</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    ("Max Havelaar", 340),</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    ("Bint", 96),</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a:t>
            </a:r>
            <a:endParaRPr lang="en-US" sz="1400" dirty="0"/>
          </a:p>
          <a:p>
            <a:pPr indent="0" marL="0">
              <a:buNone/>
            </a:pPr>
            <a:r>
              <a:rPr lang="en-US" sz="1400" dirty="0">
                <a:solidFill>
                  <a:srgbClr val="E8ECF8"/>
                </a:solidFill>
                <a:latin typeface="Consolas" pitchFamily="34" charset="0"/>
                <a:ea typeface="Consolas" pitchFamily="34" charset="-122"/>
                <a:cs typeface="Consolas" pitchFamily="34" charset="-120"/>
              </a:rPr>
              <a:t>GRENS = 250</a:t>
            </a:r>
            <a:endParaRPr lang="en-US" sz="1400" dirty="0"/>
          </a:p>
        </p:txBody>
      </p:sp>
      <p:sp>
        <p:nvSpPr>
          <p:cNvPr id="10" name="kaart"/>
          <p:cNvSpPr/>
          <p:nvPr/>
        </p:nvSpPr>
        <p:spPr>
          <a:xfrm>
            <a:off x="5989320" y="2834640"/>
            <a:ext cx="2697480" cy="1051560"/>
          </a:xfrm>
          <a:prstGeom prst="roundRect">
            <a:avLst>
              <a:gd name="adj" fmla="val 10435"/>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1" name="icooncirkel"/>
          <p:cNvSpPr/>
          <p:nvPr/>
        </p:nvSpPr>
        <p:spPr>
          <a:xfrm>
            <a:off x="6172200" y="3063240"/>
            <a:ext cx="594360" cy="594360"/>
          </a:xfrm>
          <a:prstGeom prst="ellipse">
            <a:avLst/>
          </a:prstGeom>
          <a:solidFill>
            <a:schemeClr val="accent1"/>
          </a:solidFill>
          <a:ln w="12700">
            <a:solidFill>
              <a:schemeClr val="accent1"/>
            </a:solidFill>
            <a:prstDash val="solid"/>
          </a:ln>
        </p:spPr>
      </p:sp>
      <p:pic>
        <p:nvPicPr>
          <p:cNvPr id="12" name="icoon" descr="preencoded.png">    </p:cNvPr>
          <p:cNvPicPr>
            <a:picLocks noChangeAspect="1"/>
          </p:cNvPicPr>
          <p:nvPr/>
        </p:nvPicPr>
        <p:blipFill>
          <a:blip r:embed="rId2"/>
          <a:stretch>
            <a:fillRect/>
          </a:stretch>
        </p:blipFill>
        <p:spPr>
          <a:xfrm>
            <a:off x="6320790" y="3211830"/>
            <a:ext cx="297180" cy="297180"/>
          </a:xfrm>
          <a:prstGeom prst="rect">
            <a:avLst/>
          </a:prstGeom>
        </p:spPr>
      </p:pic>
      <p:sp>
        <p:nvSpPr>
          <p:cNvPr id="13" name="Text 9"/>
          <p:cNvSpPr txBox="1"/>
          <p:nvPr/>
        </p:nvSpPr>
        <p:spPr>
          <a:xfrm>
            <a:off x="6903720" y="3017520"/>
            <a:ext cx="1737360" cy="365760"/>
          </a:xfrm>
          <a:prstGeom prst="rect">
            <a:avLst/>
          </a:prstGeom>
          <a:noFill/>
          <a:ln/>
        </p:spPr>
        <p:txBody>
          <a:bodyPr wrap="square" lIns="0" tIns="0" rIns="0" bIns="0" rtlCol="0" anchor="t"/>
          <a:lstStyle/>
          <a:p>
            <a:pPr indent="0" marL="0">
              <a:buNone/>
            </a:pPr>
            <a:r>
              <a:rPr lang="en-US" sz="1500" b="1" dirty="0">
                <a:solidFill>
                  <a:schemeClr val="tx1"/>
                </a:solidFill>
              </a:rPr>
              <a:t>Procedureel</a:t>
            </a:r>
            <a:endParaRPr lang="en-US" sz="1500" dirty="0"/>
          </a:p>
        </p:txBody>
      </p:sp>
      <p:sp>
        <p:nvSpPr>
          <p:cNvPr id="14" name="Text 10"/>
          <p:cNvSpPr txBox="1"/>
          <p:nvPr/>
        </p:nvSpPr>
        <p:spPr>
          <a:xfrm>
            <a:off x="6903720" y="3364992"/>
            <a:ext cx="1737360" cy="457200"/>
          </a:xfrm>
          <a:prstGeom prst="rect">
            <a:avLst/>
          </a:prstGeom>
          <a:noFill/>
          <a:ln/>
        </p:spPr>
        <p:txBody>
          <a:bodyPr wrap="square" lIns="0" tIns="0" rIns="0" bIns="0" rtlCol="0" anchor="t"/>
          <a:lstStyle/>
          <a:p>
            <a:pPr indent="0" marL="0">
              <a:buNone/>
            </a:pPr>
            <a:r>
              <a:rPr lang="en-US" sz="1200" dirty="0">
                <a:solidFill>
                  <a:schemeClr val="tx2"/>
                </a:solidFill>
              </a:rPr>
              <a:t>met lussen</a:t>
            </a:r>
            <a:endParaRPr lang="en-US" sz="1200" dirty="0"/>
          </a:p>
        </p:txBody>
      </p:sp>
      <p:sp>
        <p:nvSpPr>
          <p:cNvPr id="15" name="kaart"/>
          <p:cNvSpPr/>
          <p:nvPr/>
        </p:nvSpPr>
        <p:spPr>
          <a:xfrm>
            <a:off x="8823960" y="2834640"/>
            <a:ext cx="2697480" cy="1051560"/>
          </a:xfrm>
          <a:prstGeom prst="roundRect">
            <a:avLst>
              <a:gd name="adj" fmla="val 10435"/>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6" name="icooncirkel"/>
          <p:cNvSpPr/>
          <p:nvPr/>
        </p:nvSpPr>
        <p:spPr>
          <a:xfrm>
            <a:off x="9006840" y="3063240"/>
            <a:ext cx="594360" cy="594360"/>
          </a:xfrm>
          <a:prstGeom prst="ellipse">
            <a:avLst/>
          </a:prstGeom>
          <a:solidFill>
            <a:schemeClr val="accent3"/>
          </a:solidFill>
          <a:ln w="12700">
            <a:solidFill>
              <a:schemeClr val="accent3"/>
            </a:solidFill>
            <a:prstDash val="solid"/>
          </a:ln>
        </p:spPr>
      </p:sp>
      <p:pic>
        <p:nvPicPr>
          <p:cNvPr id="17" name="icoon" descr="preencoded.png">    </p:cNvPr>
          <p:cNvPicPr>
            <a:picLocks noChangeAspect="1"/>
          </p:cNvPicPr>
          <p:nvPr/>
        </p:nvPicPr>
        <p:blipFill>
          <a:blip r:embed="rId3"/>
          <a:stretch>
            <a:fillRect/>
          </a:stretch>
        </p:blipFill>
        <p:spPr>
          <a:xfrm>
            <a:off x="9155430" y="3211830"/>
            <a:ext cx="297180" cy="297180"/>
          </a:xfrm>
          <a:prstGeom prst="rect">
            <a:avLst/>
          </a:prstGeom>
        </p:spPr>
      </p:pic>
      <p:sp>
        <p:nvSpPr>
          <p:cNvPr id="18" name="Text 13"/>
          <p:cNvSpPr txBox="1"/>
          <p:nvPr/>
        </p:nvSpPr>
        <p:spPr>
          <a:xfrm>
            <a:off x="9738360" y="3017520"/>
            <a:ext cx="1737360" cy="365760"/>
          </a:xfrm>
          <a:prstGeom prst="rect">
            <a:avLst/>
          </a:prstGeom>
          <a:noFill/>
          <a:ln/>
        </p:spPr>
        <p:txBody>
          <a:bodyPr wrap="square" lIns="0" tIns="0" rIns="0" bIns="0" rtlCol="0" anchor="t"/>
          <a:lstStyle/>
          <a:p>
            <a:pPr indent="0" marL="0">
              <a:buNone/>
            </a:pPr>
            <a:r>
              <a:rPr lang="en-US" sz="1500" b="1" dirty="0">
                <a:solidFill>
                  <a:schemeClr val="tx1"/>
                </a:solidFill>
              </a:rPr>
              <a:t>Functioneel</a:t>
            </a:r>
            <a:endParaRPr lang="en-US" sz="1500" dirty="0"/>
          </a:p>
        </p:txBody>
      </p:sp>
      <p:sp>
        <p:nvSpPr>
          <p:cNvPr id="19" name="Text 14"/>
          <p:cNvSpPr txBox="1"/>
          <p:nvPr/>
        </p:nvSpPr>
        <p:spPr>
          <a:xfrm>
            <a:off x="9738360" y="3364992"/>
            <a:ext cx="1737360" cy="457200"/>
          </a:xfrm>
          <a:prstGeom prst="rect">
            <a:avLst/>
          </a:prstGeom>
          <a:noFill/>
          <a:ln/>
        </p:spPr>
        <p:txBody>
          <a:bodyPr wrap="square" lIns="0" tIns="0" rIns="0" bIns="0" rtlCol="0" anchor="t"/>
          <a:lstStyle/>
          <a:p>
            <a:pPr indent="0" marL="0">
              <a:buNone/>
            </a:pPr>
            <a:r>
              <a:rPr lang="en-US" sz="1200" dirty="0">
                <a:solidFill>
                  <a:schemeClr val="tx2"/>
                </a:solidFill>
              </a:rPr>
              <a:t>met filter, map en sorted</a:t>
            </a:r>
            <a:endParaRPr lang="en-US" sz="1200" dirty="0"/>
          </a:p>
        </p:txBody>
      </p:sp>
      <p:sp>
        <p:nvSpPr>
          <p:cNvPr id="20" name="kaart"/>
          <p:cNvSpPr/>
          <p:nvPr/>
        </p:nvSpPr>
        <p:spPr>
          <a:xfrm>
            <a:off x="5989320" y="4069080"/>
            <a:ext cx="2697480" cy="1051560"/>
          </a:xfrm>
          <a:prstGeom prst="roundRect">
            <a:avLst>
              <a:gd name="adj" fmla="val 10435"/>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1" name="icooncirkel"/>
          <p:cNvSpPr/>
          <p:nvPr/>
        </p:nvSpPr>
        <p:spPr>
          <a:xfrm>
            <a:off x="6172200" y="4297680"/>
            <a:ext cx="594360" cy="594360"/>
          </a:xfrm>
          <a:prstGeom prst="ellipse">
            <a:avLst/>
          </a:prstGeom>
          <a:solidFill>
            <a:schemeClr val="accent2"/>
          </a:solidFill>
          <a:ln w="12700">
            <a:solidFill>
              <a:schemeClr val="accent2"/>
            </a:solidFill>
            <a:prstDash val="solid"/>
          </a:ln>
        </p:spPr>
      </p:sp>
      <p:pic>
        <p:nvPicPr>
          <p:cNvPr id="22" name="icoon" descr="preencoded.png">    </p:cNvPr>
          <p:cNvPicPr>
            <a:picLocks noChangeAspect="1"/>
          </p:cNvPicPr>
          <p:nvPr/>
        </p:nvPicPr>
        <p:blipFill>
          <a:blip r:embed="rId4"/>
          <a:stretch>
            <a:fillRect/>
          </a:stretch>
        </p:blipFill>
        <p:spPr>
          <a:xfrm>
            <a:off x="6320790" y="4446270"/>
            <a:ext cx="297180" cy="297180"/>
          </a:xfrm>
          <a:prstGeom prst="rect">
            <a:avLst/>
          </a:prstGeom>
        </p:spPr>
      </p:pic>
      <p:sp>
        <p:nvSpPr>
          <p:cNvPr id="23" name="Text 17"/>
          <p:cNvSpPr txBox="1"/>
          <p:nvPr/>
        </p:nvSpPr>
        <p:spPr>
          <a:xfrm>
            <a:off x="6903720" y="4251960"/>
            <a:ext cx="1737360" cy="365760"/>
          </a:xfrm>
          <a:prstGeom prst="rect">
            <a:avLst/>
          </a:prstGeom>
          <a:noFill/>
          <a:ln/>
        </p:spPr>
        <p:txBody>
          <a:bodyPr wrap="square" lIns="0" tIns="0" rIns="0" bIns="0" rtlCol="0" anchor="t"/>
          <a:lstStyle/>
          <a:p>
            <a:pPr indent="0" marL="0">
              <a:buNone/>
            </a:pPr>
            <a:r>
              <a:rPr lang="en-US" sz="1500" b="1" dirty="0">
                <a:solidFill>
                  <a:schemeClr val="tx1"/>
                </a:solidFill>
              </a:rPr>
              <a:t>Comprehension</a:t>
            </a:r>
            <a:endParaRPr lang="en-US" sz="1500" dirty="0"/>
          </a:p>
        </p:txBody>
      </p:sp>
      <p:sp>
        <p:nvSpPr>
          <p:cNvPr id="24" name="Text 18"/>
          <p:cNvSpPr txBox="1"/>
          <p:nvPr/>
        </p:nvSpPr>
        <p:spPr>
          <a:xfrm>
            <a:off x="6903720" y="4599432"/>
            <a:ext cx="1737360" cy="457200"/>
          </a:xfrm>
          <a:prstGeom prst="rect">
            <a:avLst/>
          </a:prstGeom>
          <a:noFill/>
          <a:ln/>
        </p:spPr>
        <p:txBody>
          <a:bodyPr wrap="square" lIns="0" tIns="0" rIns="0" bIns="0" rtlCol="0" anchor="t"/>
          <a:lstStyle/>
          <a:p>
            <a:pPr indent="0" marL="0">
              <a:buNone/>
            </a:pPr>
            <a:r>
              <a:rPr lang="en-US" sz="1200" dirty="0">
                <a:solidFill>
                  <a:schemeClr val="tx2"/>
                </a:solidFill>
              </a:rPr>
              <a:t>de Python-manier</a:t>
            </a:r>
            <a:endParaRPr lang="en-US" sz="1200" dirty="0"/>
          </a:p>
        </p:txBody>
      </p:sp>
      <p:sp>
        <p:nvSpPr>
          <p:cNvPr id="25" name="kaart"/>
          <p:cNvSpPr/>
          <p:nvPr/>
        </p:nvSpPr>
        <p:spPr>
          <a:xfrm>
            <a:off x="8823960" y="4069080"/>
            <a:ext cx="2697480" cy="1051560"/>
          </a:xfrm>
          <a:prstGeom prst="roundRect">
            <a:avLst>
              <a:gd name="adj" fmla="val 10435"/>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26" name="icooncirkel"/>
          <p:cNvSpPr/>
          <p:nvPr/>
        </p:nvSpPr>
        <p:spPr>
          <a:xfrm>
            <a:off x="9006840" y="4297680"/>
            <a:ext cx="594360" cy="594360"/>
          </a:xfrm>
          <a:prstGeom prst="ellipse">
            <a:avLst/>
          </a:prstGeom>
          <a:solidFill>
            <a:schemeClr val="accent5"/>
          </a:solidFill>
          <a:ln w="12700">
            <a:solidFill>
              <a:schemeClr val="accent5"/>
            </a:solidFill>
            <a:prstDash val="solid"/>
          </a:ln>
        </p:spPr>
      </p:sp>
      <p:pic>
        <p:nvPicPr>
          <p:cNvPr id="27" name="icoon" descr="preencoded.png">    </p:cNvPr>
          <p:cNvPicPr>
            <a:picLocks noChangeAspect="1"/>
          </p:cNvPicPr>
          <p:nvPr/>
        </p:nvPicPr>
        <p:blipFill>
          <a:blip r:embed="rId5"/>
          <a:stretch>
            <a:fillRect/>
          </a:stretch>
        </p:blipFill>
        <p:spPr>
          <a:xfrm>
            <a:off x="9155430" y="4446270"/>
            <a:ext cx="297180" cy="297180"/>
          </a:xfrm>
          <a:prstGeom prst="rect">
            <a:avLst/>
          </a:prstGeom>
        </p:spPr>
      </p:pic>
      <p:sp>
        <p:nvSpPr>
          <p:cNvPr id="28" name="Text 21"/>
          <p:cNvSpPr txBox="1"/>
          <p:nvPr/>
        </p:nvSpPr>
        <p:spPr>
          <a:xfrm>
            <a:off x="9738360" y="4251960"/>
            <a:ext cx="1737360" cy="365760"/>
          </a:xfrm>
          <a:prstGeom prst="rect">
            <a:avLst/>
          </a:prstGeom>
          <a:noFill/>
          <a:ln/>
        </p:spPr>
        <p:txBody>
          <a:bodyPr wrap="square" lIns="0" tIns="0" rIns="0" bIns="0" rtlCol="0" anchor="t"/>
          <a:lstStyle/>
          <a:p>
            <a:pPr indent="0" marL="0">
              <a:buNone/>
            </a:pPr>
            <a:r>
              <a:rPr lang="en-US" sz="1500" b="1" dirty="0">
                <a:solidFill>
                  <a:schemeClr val="tx1"/>
                </a:solidFill>
              </a:rPr>
              <a:t>Objectgeoriënteerd</a:t>
            </a:r>
            <a:endParaRPr lang="en-US" sz="1500" dirty="0"/>
          </a:p>
        </p:txBody>
      </p:sp>
      <p:sp>
        <p:nvSpPr>
          <p:cNvPr id="29" name="Text 22"/>
          <p:cNvSpPr txBox="1"/>
          <p:nvPr/>
        </p:nvSpPr>
        <p:spPr>
          <a:xfrm>
            <a:off x="9738360" y="4599432"/>
            <a:ext cx="1737360" cy="457200"/>
          </a:xfrm>
          <a:prstGeom prst="rect">
            <a:avLst/>
          </a:prstGeom>
          <a:noFill/>
          <a:ln/>
        </p:spPr>
        <p:txBody>
          <a:bodyPr wrap="square" lIns="0" tIns="0" rIns="0" bIns="0" rtlCol="0" anchor="t"/>
          <a:lstStyle/>
          <a:p>
            <a:pPr indent="0" marL="0">
              <a:buNone/>
            </a:pPr>
            <a:r>
              <a:rPr lang="en-US" sz="1200" dirty="0">
                <a:solidFill>
                  <a:schemeClr val="tx2"/>
                </a:solidFill>
              </a:rPr>
              <a:t>met een klasse Catalogus</a:t>
            </a:r>
            <a:endParaRPr lang="en-US" sz="1200" dirty="0"/>
          </a:p>
        </p:txBody>
      </p:sp>
      <p:sp>
        <p:nvSpPr>
          <p:cNvPr id="30" name="Text 23"/>
          <p:cNvSpPr txBox="1"/>
          <p:nvPr/>
        </p:nvSpPr>
        <p:spPr>
          <a:xfrm>
            <a:off x="5989320" y="5440680"/>
            <a:ext cx="5623560" cy="548640"/>
          </a:xfrm>
          <a:prstGeom prst="rect">
            <a:avLst/>
          </a:prstGeom>
          <a:noFill/>
          <a:ln/>
        </p:spPr>
        <p:txBody>
          <a:bodyPr wrap="square" lIns="0" tIns="0" rIns="0" bIns="0" rtlCol="0" anchor="t"/>
          <a:lstStyle/>
          <a:p>
            <a:pPr indent="0" marL="0">
              <a:buNone/>
            </a:pPr>
            <a:r>
              <a:rPr lang="en-US" sz="1500" b="1" i="1" dirty="0">
                <a:solidFill>
                  <a:schemeClr val="accent3"/>
                </a:solidFill>
              </a:rPr>
              <a:t>Zeg daarna welke je in een project zou zetten, en waarom.</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Vier stijlen, één uitkomst</a:t>
            </a:r>
            <a:endParaRPr lang="en-US" sz="3400" dirty="0"/>
          </a:p>
        </p:txBody>
      </p:sp>
      <p:sp>
        <p:nvSpPr>
          <p:cNvPr id="3" name="codevak"/>
          <p:cNvSpPr/>
          <p:nvPr/>
        </p:nvSpPr>
        <p:spPr>
          <a:xfrm>
            <a:off x="548640" y="1371600"/>
            <a:ext cx="5486400" cy="2240280"/>
          </a:xfrm>
          <a:prstGeom prst="roundRect">
            <a:avLst>
              <a:gd name="adj" fmla="val 4082"/>
            </a:avLst>
          </a:prstGeom>
          <a:solidFill>
            <a:srgbClr val="161A33"/>
          </a:solidFill>
          <a:ln w="12700">
            <a:solidFill>
              <a:srgbClr val="161A33"/>
            </a:solidFill>
            <a:prstDash val="solid"/>
          </a:ln>
        </p:spPr>
      </p:sp>
      <p:sp>
        <p:nvSpPr>
          <p:cNvPr id="4" name="code"/>
          <p:cNvSpPr txBox="1"/>
          <p:nvPr/>
        </p:nvSpPr>
        <p:spPr>
          <a:xfrm>
            <a:off x="777240" y="1554480"/>
            <a:ext cx="5029200" cy="1920240"/>
          </a:xfrm>
          <a:prstGeom prst="rect">
            <a:avLst/>
          </a:prstGeom>
          <a:noFill/>
          <a:ln/>
        </p:spPr>
        <p:txBody>
          <a:bodyPr wrap="square" lIns="0" tIns="0" rIns="0" bIns="0" rtlCol="0" anchor="t"/>
          <a:lstStyle/>
          <a:p>
            <a:pPr indent="0" marL="0">
              <a:buNone/>
            </a:pPr>
            <a:r>
              <a:rPr lang="en-US" sz="1300" dirty="0">
                <a:solidFill>
                  <a:srgbClr val="8A93B8"/>
                </a:solidFill>
                <a:latin typeface="Consolas" pitchFamily="34" charset="0"/>
                <a:ea typeface="Consolas" pitchFamily="34" charset="-122"/>
                <a:cs typeface="Consolas" pitchFamily="34" charset="-120"/>
              </a:rPr>
              <a:t># 1 — procedureel</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uit = []</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for titel, bladzijden in boeken:</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if bladzijden &gt; grens:</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uit.append(titel.upper())</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uit.sort()</a:t>
            </a:r>
            <a:endParaRPr lang="en-US" sz="1300" dirty="0"/>
          </a:p>
        </p:txBody>
      </p:sp>
      <p:sp>
        <p:nvSpPr>
          <p:cNvPr id="5" name="codevak"/>
          <p:cNvSpPr/>
          <p:nvPr/>
        </p:nvSpPr>
        <p:spPr>
          <a:xfrm>
            <a:off x="6172200" y="1371600"/>
            <a:ext cx="5440680" cy="2240280"/>
          </a:xfrm>
          <a:prstGeom prst="roundRect">
            <a:avLst>
              <a:gd name="adj" fmla="val 4082"/>
            </a:avLst>
          </a:prstGeom>
          <a:solidFill>
            <a:srgbClr val="161A33"/>
          </a:solidFill>
          <a:ln w="12700">
            <a:solidFill>
              <a:srgbClr val="161A33"/>
            </a:solidFill>
            <a:prstDash val="solid"/>
          </a:ln>
        </p:spPr>
      </p:sp>
      <p:sp>
        <p:nvSpPr>
          <p:cNvPr id="6" name="code"/>
          <p:cNvSpPr txBox="1"/>
          <p:nvPr/>
        </p:nvSpPr>
        <p:spPr>
          <a:xfrm>
            <a:off x="6400800" y="1554480"/>
            <a:ext cx="4983480" cy="1920240"/>
          </a:xfrm>
          <a:prstGeom prst="rect">
            <a:avLst/>
          </a:prstGeom>
          <a:noFill/>
          <a:ln/>
        </p:spPr>
        <p:txBody>
          <a:bodyPr wrap="square" lIns="0" tIns="0" rIns="0" bIns="0" rtlCol="0" anchor="t"/>
          <a:lstStyle/>
          <a:p>
            <a:pPr indent="0" marL="0">
              <a:buNone/>
            </a:pPr>
            <a:r>
              <a:rPr lang="en-US" sz="1300" dirty="0">
                <a:solidFill>
                  <a:srgbClr val="8A93B8"/>
                </a:solidFill>
                <a:latin typeface="Consolas" pitchFamily="34" charset="0"/>
                <a:ea typeface="Consolas" pitchFamily="34" charset="-122"/>
                <a:cs typeface="Consolas" pitchFamily="34" charset="-120"/>
              </a:rPr>
              <a:t># 2 — functioneel</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dik = filter(lambda b: b[1] &gt; grens, boeken)</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titels = map(lambda b: b[0].upper(), dik)</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return sorted(titels)</a:t>
            </a:r>
            <a:endParaRPr lang="en-US" sz="1300" dirty="0"/>
          </a:p>
        </p:txBody>
      </p:sp>
      <p:sp>
        <p:nvSpPr>
          <p:cNvPr id="7" name="codevak"/>
          <p:cNvSpPr/>
          <p:nvPr/>
        </p:nvSpPr>
        <p:spPr>
          <a:xfrm>
            <a:off x="548640" y="3749040"/>
            <a:ext cx="5486400" cy="1828800"/>
          </a:xfrm>
          <a:prstGeom prst="roundRect">
            <a:avLst>
              <a:gd name="adj" fmla="val 5000"/>
            </a:avLst>
          </a:prstGeom>
          <a:solidFill>
            <a:srgbClr val="161A33"/>
          </a:solidFill>
          <a:ln w="12700">
            <a:solidFill>
              <a:srgbClr val="161A33"/>
            </a:solidFill>
            <a:prstDash val="solid"/>
          </a:ln>
        </p:spPr>
      </p:sp>
      <p:sp>
        <p:nvSpPr>
          <p:cNvPr id="8" name="code"/>
          <p:cNvSpPr txBox="1"/>
          <p:nvPr/>
        </p:nvSpPr>
        <p:spPr>
          <a:xfrm>
            <a:off x="777240" y="3931920"/>
            <a:ext cx="5029200" cy="1508760"/>
          </a:xfrm>
          <a:prstGeom prst="rect">
            <a:avLst/>
          </a:prstGeom>
          <a:noFill/>
          <a:ln/>
        </p:spPr>
        <p:txBody>
          <a:bodyPr wrap="square" lIns="0" tIns="0" rIns="0" bIns="0" rtlCol="0" anchor="t"/>
          <a:lstStyle/>
          <a:p>
            <a:pPr indent="0" marL="0">
              <a:buNone/>
            </a:pPr>
            <a:r>
              <a:rPr lang="en-US" sz="1300" dirty="0">
                <a:solidFill>
                  <a:srgbClr val="8A93B8"/>
                </a:solidFill>
                <a:latin typeface="Consolas" pitchFamily="34" charset="0"/>
                <a:ea typeface="Consolas" pitchFamily="34" charset="-122"/>
                <a:cs typeface="Consolas" pitchFamily="34" charset="-120"/>
              </a:rPr>
              <a:t># 3 — comprehension</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return sorted(titel.upper()</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for titel, blz in boeken</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              if blz &gt; grens)</a:t>
            </a:r>
            <a:endParaRPr lang="en-US" sz="1300" dirty="0"/>
          </a:p>
        </p:txBody>
      </p:sp>
      <p:sp>
        <p:nvSpPr>
          <p:cNvPr id="9" name="codevak"/>
          <p:cNvSpPr/>
          <p:nvPr/>
        </p:nvSpPr>
        <p:spPr>
          <a:xfrm>
            <a:off x="6172200" y="3749040"/>
            <a:ext cx="5440680" cy="1828800"/>
          </a:xfrm>
          <a:prstGeom prst="roundRect">
            <a:avLst>
              <a:gd name="adj" fmla="val 5000"/>
            </a:avLst>
          </a:prstGeom>
          <a:solidFill>
            <a:srgbClr val="161A33"/>
          </a:solidFill>
          <a:ln w="12700">
            <a:solidFill>
              <a:srgbClr val="161A33"/>
            </a:solidFill>
            <a:prstDash val="solid"/>
          </a:ln>
        </p:spPr>
      </p:sp>
      <p:sp>
        <p:nvSpPr>
          <p:cNvPr id="10" name="code"/>
          <p:cNvSpPr txBox="1"/>
          <p:nvPr/>
        </p:nvSpPr>
        <p:spPr>
          <a:xfrm>
            <a:off x="6400800" y="3931920"/>
            <a:ext cx="4983480" cy="1508760"/>
          </a:xfrm>
          <a:prstGeom prst="rect">
            <a:avLst/>
          </a:prstGeom>
          <a:noFill/>
          <a:ln/>
        </p:spPr>
        <p:txBody>
          <a:bodyPr wrap="square" lIns="0" tIns="0" rIns="0" bIns="0" rtlCol="0" anchor="t"/>
          <a:lstStyle/>
          <a:p>
            <a:pPr indent="0" marL="0">
              <a:buNone/>
            </a:pPr>
            <a:r>
              <a:rPr lang="en-US" sz="1300" dirty="0">
                <a:solidFill>
                  <a:srgbClr val="8A93B8"/>
                </a:solidFill>
                <a:latin typeface="Consolas" pitchFamily="34" charset="0"/>
                <a:ea typeface="Consolas" pitchFamily="34" charset="-122"/>
                <a:cs typeface="Consolas" pitchFamily="34" charset="-120"/>
              </a:rPr>
              <a:t># 4 — objectgeoriënteerd</a:t>
            </a:r>
            <a:endParaRPr lang="en-US" sz="1300" dirty="0"/>
          </a:p>
          <a:p>
            <a:pPr indent="0" marL="0">
              <a:buNone/>
            </a:pPr>
            <a:r>
              <a:rPr lang="en-US" sz="1300" dirty="0">
                <a:solidFill>
                  <a:srgbClr val="E8ECF8"/>
                </a:solidFill>
                <a:latin typeface="Consolas" pitchFamily="34" charset="0"/>
                <a:ea typeface="Consolas" pitchFamily="34" charset="-122"/>
                <a:cs typeface="Consolas" pitchFamily="34" charset="-120"/>
              </a:rPr>
              <a:t>Catalogus(BOEKEN).dikker_dan(GRENS).titels()</a:t>
            </a:r>
            <a:endParaRPr lang="en-US" sz="1300" dirty="0"/>
          </a:p>
          <a:p>
            <a:pPr indent="0" marL="0">
              <a:buNone/>
            </a:pPr>
            <a:r>
              <a:rPr lang="en-US" sz="1300" dirty="0">
                <a:solidFill>
                  <a:srgbClr val="8A93B8"/>
                </a:solidFill>
                <a:latin typeface="Consolas" pitchFamily="34" charset="0"/>
                <a:ea typeface="Consolas" pitchFamily="34" charset="-122"/>
                <a:cs typeface="Consolas" pitchFamily="34" charset="-120"/>
              </a:rPr>
              <a:t># dikker_dan() geeft een nieuwe Catalogus,</a:t>
            </a:r>
            <a:endParaRPr lang="en-US" sz="1300" dirty="0"/>
          </a:p>
          <a:p>
            <a:pPr indent="0" marL="0">
              <a:buNone/>
            </a:pPr>
            <a:r>
              <a:rPr lang="en-US" sz="1300" dirty="0">
                <a:solidFill>
                  <a:srgbClr val="8A93B8"/>
                </a:solidFill>
                <a:latin typeface="Consolas" pitchFamily="34" charset="0"/>
                <a:ea typeface="Consolas" pitchFamily="34" charset="-122"/>
                <a:cs typeface="Consolas" pitchFamily="34" charset="-120"/>
              </a:rPr>
              <a:t># titels() sorteert de titels in hoofdletters</a:t>
            </a:r>
            <a:endParaRPr lang="en-US" sz="1300" dirty="0"/>
          </a:p>
        </p:txBody>
      </p:sp>
      <p:sp>
        <p:nvSpPr>
          <p:cNvPr id="11" name="Text 9"/>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400" b="1" dirty="0">
                <a:solidFill>
                  <a:schemeClr val="accent2"/>
                </a:solidFill>
                <a:latin typeface="Consolas" pitchFamily="34" charset="0"/>
                <a:ea typeface="Consolas" pitchFamily="34" charset="-122"/>
                <a:cs typeface="Consolas" pitchFamily="34" charset="-120"/>
              </a:rPr>
              <a:t>Uitkomst, vier keer: ['DE ONTDEKKING VAN DE HEMEL', 'HET DINER', 'MAX HAVELAAR']</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Wat elke stijl je laat zien</a:t>
            </a:r>
            <a:endParaRPr lang="en-US" sz="3400" dirty="0"/>
          </a:p>
        </p:txBody>
      </p:sp>
      <p:graphicFrame>
        <p:nvGraphicFramePr>
          <p:cNvPr id="3" name="Chart 0" descr=""/>
          <p:cNvGraphicFramePr/>
          <p:nvPr/>
        </p:nvGraphicFramePr>
        <p:xfrm>
          <a:off x="548640" y="1371600"/>
          <a:ext cx="420624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629400" y="1417320"/>
            <a:ext cx="237744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STERKTE</a:t>
            </a:r>
            <a:endParaRPr lang="en-US" sz="1200" dirty="0"/>
          </a:p>
        </p:txBody>
      </p:sp>
      <p:sp>
        <p:nvSpPr>
          <p:cNvPr id="5" name="Text 2"/>
          <p:cNvSpPr txBox="1"/>
          <p:nvPr/>
        </p:nvSpPr>
        <p:spPr>
          <a:xfrm>
            <a:off x="9281160" y="1417320"/>
            <a:ext cx="2377440" cy="274320"/>
          </a:xfrm>
          <a:prstGeom prst="rect">
            <a:avLst/>
          </a:prstGeom>
          <a:noFill/>
          <a:ln/>
        </p:spPr>
        <p:txBody>
          <a:bodyPr wrap="square" lIns="0" tIns="0" rIns="0" bIns="0" rtlCol="0" anchor="ctr"/>
          <a:lstStyle/>
          <a:p>
            <a:pPr indent="0" marL="0">
              <a:buNone/>
            </a:pPr>
            <a:r>
              <a:rPr lang="en-US" sz="1200" b="1" spc="100" kern="0" dirty="0">
                <a:solidFill>
                  <a:schemeClr val="accent3"/>
                </a:solidFill>
              </a:rPr>
              <a:t>ZWAKTE</a:t>
            </a:r>
            <a:endParaRPr lang="en-US" sz="1200" dirty="0"/>
          </a:p>
        </p:txBody>
      </p:sp>
      <p:sp>
        <p:nvSpPr>
          <p:cNvPr id="6" name="kaart"/>
          <p:cNvSpPr/>
          <p:nvPr/>
        </p:nvSpPr>
        <p:spPr>
          <a:xfrm>
            <a:off x="5074920" y="1783080"/>
            <a:ext cx="6537960" cy="914400"/>
          </a:xfrm>
          <a:prstGeom prst="roundRect">
            <a:avLst>
              <a:gd name="adj" fmla="val 12000"/>
            </a:avLst>
          </a:prstGeom>
          <a:solidFill>
            <a:schemeClr val="bg2"/>
          </a:solidFill>
          <a:ln w="12700">
            <a:solidFill>
              <a:schemeClr val="bg2"/>
            </a:solidFill>
            <a:prstDash val="solid"/>
          </a:ln>
        </p:spPr>
      </p:sp>
      <p:sp>
        <p:nvSpPr>
          <p:cNvPr id="7" name="Text 4"/>
          <p:cNvSpPr txBox="1"/>
          <p:nvPr/>
        </p:nvSpPr>
        <p:spPr>
          <a:xfrm>
            <a:off x="5212080" y="1783080"/>
            <a:ext cx="1371600" cy="914400"/>
          </a:xfrm>
          <a:prstGeom prst="rect">
            <a:avLst/>
          </a:prstGeom>
          <a:noFill/>
          <a:ln/>
        </p:spPr>
        <p:txBody>
          <a:bodyPr wrap="square" lIns="0" tIns="0" rIns="0" bIns="0" rtlCol="0" anchor="ctr"/>
          <a:lstStyle/>
          <a:p>
            <a:pPr indent="0" marL="0">
              <a:buNone/>
            </a:pPr>
            <a:r>
              <a:rPr lang="en-US" sz="1300" b="1" dirty="0">
                <a:solidFill>
                  <a:schemeClr val="tx1"/>
                </a:solidFill>
              </a:rPr>
              <a:t>Procedureel</a:t>
            </a:r>
            <a:endParaRPr lang="en-US" sz="1300" dirty="0"/>
          </a:p>
        </p:txBody>
      </p:sp>
      <p:sp>
        <p:nvSpPr>
          <p:cNvPr id="8" name="Text 5"/>
          <p:cNvSpPr txBox="1"/>
          <p:nvPr/>
        </p:nvSpPr>
        <p:spPr>
          <a:xfrm>
            <a:off x="6629400" y="1783080"/>
            <a:ext cx="2514600" cy="914400"/>
          </a:xfrm>
          <a:prstGeom prst="rect">
            <a:avLst/>
          </a:prstGeom>
          <a:noFill/>
          <a:ln/>
        </p:spPr>
        <p:txBody>
          <a:bodyPr wrap="square" lIns="0" tIns="0" rIns="0" bIns="0" rtlCol="0" anchor="ctr"/>
          <a:lstStyle/>
          <a:p>
            <a:pPr indent="0" marL="0">
              <a:buNone/>
            </a:pPr>
            <a:r>
              <a:rPr lang="en-US" sz="1300" dirty="0">
                <a:solidFill>
                  <a:schemeClr val="tx1"/>
                </a:solidFill>
              </a:rPr>
              <a:t>Elke stap staat er letterlijk</a:t>
            </a:r>
            <a:endParaRPr lang="en-US" sz="1300" dirty="0"/>
          </a:p>
        </p:txBody>
      </p:sp>
      <p:sp>
        <p:nvSpPr>
          <p:cNvPr id="9" name="Text 6"/>
          <p:cNvSpPr txBox="1"/>
          <p:nvPr/>
        </p:nvSpPr>
        <p:spPr>
          <a:xfrm>
            <a:off x="9281160" y="1783080"/>
            <a:ext cx="2240280" cy="914400"/>
          </a:xfrm>
          <a:prstGeom prst="rect">
            <a:avLst/>
          </a:prstGeom>
          <a:noFill/>
          <a:ln/>
        </p:spPr>
        <p:txBody>
          <a:bodyPr wrap="square" lIns="0" tIns="0" rIns="0" bIns="0" rtlCol="0" anchor="ctr"/>
          <a:lstStyle/>
          <a:p>
            <a:pPr indent="0" marL="0">
              <a:buNone/>
            </a:pPr>
            <a:r>
              <a:rPr lang="en-US" sz="1300" dirty="0">
                <a:solidFill>
                  <a:schemeClr val="tx2"/>
                </a:solidFill>
              </a:rPr>
              <a:t>Veel ruis: lege lijst, append, sort</a:t>
            </a:r>
            <a:endParaRPr lang="en-US" sz="1300" dirty="0"/>
          </a:p>
        </p:txBody>
      </p:sp>
      <p:sp>
        <p:nvSpPr>
          <p:cNvPr id="10" name="kaart"/>
          <p:cNvSpPr/>
          <p:nvPr/>
        </p:nvSpPr>
        <p:spPr>
          <a:xfrm>
            <a:off x="5074920" y="2834640"/>
            <a:ext cx="6537960" cy="914400"/>
          </a:xfrm>
          <a:prstGeom prst="roundRect">
            <a:avLst>
              <a:gd name="adj" fmla="val 12000"/>
            </a:avLst>
          </a:prstGeom>
          <a:solidFill>
            <a:schemeClr val="bg2"/>
          </a:solidFill>
          <a:ln w="12700">
            <a:solidFill>
              <a:schemeClr val="bg2"/>
            </a:solidFill>
            <a:prstDash val="solid"/>
          </a:ln>
        </p:spPr>
      </p:sp>
      <p:sp>
        <p:nvSpPr>
          <p:cNvPr id="11" name="Text 8"/>
          <p:cNvSpPr txBox="1"/>
          <p:nvPr/>
        </p:nvSpPr>
        <p:spPr>
          <a:xfrm>
            <a:off x="5212080" y="2834640"/>
            <a:ext cx="1371600" cy="914400"/>
          </a:xfrm>
          <a:prstGeom prst="rect">
            <a:avLst/>
          </a:prstGeom>
          <a:noFill/>
          <a:ln/>
        </p:spPr>
        <p:txBody>
          <a:bodyPr wrap="square" lIns="0" tIns="0" rIns="0" bIns="0" rtlCol="0" anchor="ctr"/>
          <a:lstStyle/>
          <a:p>
            <a:pPr indent="0" marL="0">
              <a:buNone/>
            </a:pPr>
            <a:r>
              <a:rPr lang="en-US" sz="1300" b="1" dirty="0">
                <a:solidFill>
                  <a:schemeClr val="tx1"/>
                </a:solidFill>
              </a:rPr>
              <a:t>Functioneel</a:t>
            </a:r>
            <a:endParaRPr lang="en-US" sz="1300" dirty="0"/>
          </a:p>
        </p:txBody>
      </p:sp>
      <p:sp>
        <p:nvSpPr>
          <p:cNvPr id="12" name="Text 9"/>
          <p:cNvSpPr txBox="1"/>
          <p:nvPr/>
        </p:nvSpPr>
        <p:spPr>
          <a:xfrm>
            <a:off x="6629400" y="2834640"/>
            <a:ext cx="2514600" cy="914400"/>
          </a:xfrm>
          <a:prstGeom prst="rect">
            <a:avLst/>
          </a:prstGeom>
          <a:noFill/>
          <a:ln/>
        </p:spPr>
        <p:txBody>
          <a:bodyPr wrap="square" lIns="0" tIns="0" rIns="0" bIns="0" rtlCol="0" anchor="ctr"/>
          <a:lstStyle/>
          <a:p>
            <a:pPr indent="0" marL="0">
              <a:buNone/>
            </a:pPr>
            <a:r>
              <a:rPr lang="en-US" sz="1300" dirty="0">
                <a:solidFill>
                  <a:schemeClr val="tx1"/>
                </a:solidFill>
              </a:rPr>
              <a:t>Elke stap is een aparte bewerking</a:t>
            </a:r>
            <a:endParaRPr lang="en-US" sz="1300" dirty="0"/>
          </a:p>
        </p:txBody>
      </p:sp>
      <p:sp>
        <p:nvSpPr>
          <p:cNvPr id="13" name="Text 10"/>
          <p:cNvSpPr txBox="1"/>
          <p:nvPr/>
        </p:nvSpPr>
        <p:spPr>
          <a:xfrm>
            <a:off x="9281160" y="2834640"/>
            <a:ext cx="2240280" cy="914400"/>
          </a:xfrm>
          <a:prstGeom prst="rect">
            <a:avLst/>
          </a:prstGeom>
          <a:noFill/>
          <a:ln/>
        </p:spPr>
        <p:txBody>
          <a:bodyPr wrap="square" lIns="0" tIns="0" rIns="0" bIns="0" rtlCol="0" anchor="ctr"/>
          <a:lstStyle/>
          <a:p>
            <a:pPr indent="0" marL="0">
              <a:buNone/>
            </a:pPr>
            <a:r>
              <a:rPr lang="en-US" sz="1300" dirty="0">
                <a:solidFill>
                  <a:schemeClr val="tx2"/>
                </a:solidFill>
              </a:rPr>
              <a:t>lambda b: b[1] zegt niet wat b[1] is</a:t>
            </a:r>
            <a:endParaRPr lang="en-US" sz="1300" dirty="0"/>
          </a:p>
        </p:txBody>
      </p:sp>
      <p:sp>
        <p:nvSpPr>
          <p:cNvPr id="14" name="kaart"/>
          <p:cNvSpPr/>
          <p:nvPr/>
        </p:nvSpPr>
        <p:spPr>
          <a:xfrm>
            <a:off x="5074920" y="3886200"/>
            <a:ext cx="6537960" cy="914400"/>
          </a:xfrm>
          <a:prstGeom prst="roundRect">
            <a:avLst>
              <a:gd name="adj" fmla="val 12000"/>
            </a:avLst>
          </a:prstGeom>
          <a:solidFill>
            <a:schemeClr val="bg2"/>
          </a:solidFill>
          <a:ln w="12700">
            <a:solidFill>
              <a:schemeClr val="bg2"/>
            </a:solidFill>
            <a:prstDash val="solid"/>
          </a:ln>
        </p:spPr>
      </p:sp>
      <p:sp>
        <p:nvSpPr>
          <p:cNvPr id="15" name="Text 12"/>
          <p:cNvSpPr txBox="1"/>
          <p:nvPr/>
        </p:nvSpPr>
        <p:spPr>
          <a:xfrm>
            <a:off x="5212080" y="3886200"/>
            <a:ext cx="1371600" cy="914400"/>
          </a:xfrm>
          <a:prstGeom prst="rect">
            <a:avLst/>
          </a:prstGeom>
          <a:noFill/>
          <a:ln/>
        </p:spPr>
        <p:txBody>
          <a:bodyPr wrap="square" lIns="0" tIns="0" rIns="0" bIns="0" rtlCol="0" anchor="ctr"/>
          <a:lstStyle/>
          <a:p>
            <a:pPr indent="0" marL="0">
              <a:buNone/>
            </a:pPr>
            <a:r>
              <a:rPr lang="en-US" sz="1300" b="1" dirty="0">
                <a:solidFill>
                  <a:schemeClr val="tx1"/>
                </a:solidFill>
              </a:rPr>
              <a:t>Comprehension</a:t>
            </a:r>
            <a:endParaRPr lang="en-US" sz="1300" dirty="0"/>
          </a:p>
        </p:txBody>
      </p:sp>
      <p:sp>
        <p:nvSpPr>
          <p:cNvPr id="16" name="Text 13"/>
          <p:cNvSpPr txBox="1"/>
          <p:nvPr/>
        </p:nvSpPr>
        <p:spPr>
          <a:xfrm>
            <a:off x="6629400" y="3886200"/>
            <a:ext cx="2514600" cy="914400"/>
          </a:xfrm>
          <a:prstGeom prst="rect">
            <a:avLst/>
          </a:prstGeom>
          <a:noFill/>
          <a:ln/>
        </p:spPr>
        <p:txBody>
          <a:bodyPr wrap="square" lIns="0" tIns="0" rIns="0" bIns="0" rtlCol="0" anchor="ctr"/>
          <a:lstStyle/>
          <a:p>
            <a:pPr indent="0" marL="0">
              <a:buNone/>
            </a:pPr>
            <a:r>
              <a:rPr lang="en-US" sz="1300" dirty="0">
                <a:solidFill>
                  <a:schemeClr val="tx1"/>
                </a:solidFill>
              </a:rPr>
              <a:t>Kort en leesbaar</a:t>
            </a:r>
            <a:endParaRPr lang="en-US" sz="1300" dirty="0"/>
          </a:p>
        </p:txBody>
      </p:sp>
      <p:sp>
        <p:nvSpPr>
          <p:cNvPr id="17" name="Text 14"/>
          <p:cNvSpPr txBox="1"/>
          <p:nvPr/>
        </p:nvSpPr>
        <p:spPr>
          <a:xfrm>
            <a:off x="9281160" y="3886200"/>
            <a:ext cx="2240280" cy="914400"/>
          </a:xfrm>
          <a:prstGeom prst="rect">
            <a:avLst/>
          </a:prstGeom>
          <a:noFill/>
          <a:ln/>
        </p:spPr>
        <p:txBody>
          <a:bodyPr wrap="square" lIns="0" tIns="0" rIns="0" bIns="0" rtlCol="0" anchor="ctr"/>
          <a:lstStyle/>
          <a:p>
            <a:pPr indent="0" marL="0">
              <a:buNone/>
            </a:pPr>
            <a:r>
              <a:rPr lang="en-US" sz="1300" dirty="0">
                <a:solidFill>
                  <a:schemeClr val="tx2"/>
                </a:solidFill>
              </a:rPr>
              <a:t>Onleesbaar zodra er meer bij komt</a:t>
            </a:r>
            <a:endParaRPr lang="en-US" sz="1300" dirty="0"/>
          </a:p>
        </p:txBody>
      </p:sp>
      <p:sp>
        <p:nvSpPr>
          <p:cNvPr id="18" name="kaart"/>
          <p:cNvSpPr/>
          <p:nvPr/>
        </p:nvSpPr>
        <p:spPr>
          <a:xfrm>
            <a:off x="5074920" y="4937760"/>
            <a:ext cx="6537960" cy="914400"/>
          </a:xfrm>
          <a:prstGeom prst="roundRect">
            <a:avLst>
              <a:gd name="adj" fmla="val 12000"/>
            </a:avLst>
          </a:prstGeom>
          <a:solidFill>
            <a:schemeClr val="bg2"/>
          </a:solidFill>
          <a:ln w="12700">
            <a:solidFill>
              <a:schemeClr val="bg2"/>
            </a:solidFill>
            <a:prstDash val="solid"/>
          </a:ln>
        </p:spPr>
      </p:sp>
      <p:sp>
        <p:nvSpPr>
          <p:cNvPr id="19" name="Text 16"/>
          <p:cNvSpPr txBox="1"/>
          <p:nvPr/>
        </p:nvSpPr>
        <p:spPr>
          <a:xfrm>
            <a:off x="5212080" y="4937760"/>
            <a:ext cx="1371600" cy="914400"/>
          </a:xfrm>
          <a:prstGeom prst="rect">
            <a:avLst/>
          </a:prstGeom>
          <a:noFill/>
          <a:ln/>
        </p:spPr>
        <p:txBody>
          <a:bodyPr wrap="square" lIns="0" tIns="0" rIns="0" bIns="0" rtlCol="0" anchor="ctr"/>
          <a:lstStyle/>
          <a:p>
            <a:pPr indent="0" marL="0">
              <a:buNone/>
            </a:pPr>
            <a:r>
              <a:rPr lang="en-US" sz="1300" b="1" dirty="0">
                <a:solidFill>
                  <a:schemeClr val="tx1"/>
                </a:solidFill>
              </a:rPr>
              <a:t>Objectgericht</a:t>
            </a:r>
            <a:endParaRPr lang="en-US" sz="1300" dirty="0"/>
          </a:p>
        </p:txBody>
      </p:sp>
      <p:sp>
        <p:nvSpPr>
          <p:cNvPr id="20" name="Text 17"/>
          <p:cNvSpPr txBox="1"/>
          <p:nvPr/>
        </p:nvSpPr>
        <p:spPr>
          <a:xfrm>
            <a:off x="6629400" y="4937760"/>
            <a:ext cx="2514600" cy="914400"/>
          </a:xfrm>
          <a:prstGeom prst="rect">
            <a:avLst/>
          </a:prstGeom>
          <a:noFill/>
          <a:ln/>
        </p:spPr>
        <p:txBody>
          <a:bodyPr wrap="square" lIns="0" tIns="0" rIns="0" bIns="0" rtlCol="0" anchor="ctr"/>
          <a:lstStyle/>
          <a:p>
            <a:pPr indent="0" marL="0">
              <a:buNone/>
            </a:pPr>
            <a:r>
              <a:rPr lang="en-US" sz="1300" dirty="0">
                <a:solidFill>
                  <a:schemeClr val="tx1"/>
                </a:solidFill>
              </a:rPr>
              <a:t>catalogus.dikker_dan(250).titels() leest als een zin</a:t>
            </a:r>
            <a:endParaRPr lang="en-US" sz="1300" dirty="0"/>
          </a:p>
        </p:txBody>
      </p:sp>
      <p:sp>
        <p:nvSpPr>
          <p:cNvPr id="21" name="Text 18"/>
          <p:cNvSpPr txBox="1"/>
          <p:nvPr/>
        </p:nvSpPr>
        <p:spPr>
          <a:xfrm>
            <a:off x="9281160" y="4937760"/>
            <a:ext cx="2240280" cy="914400"/>
          </a:xfrm>
          <a:prstGeom prst="rect">
            <a:avLst/>
          </a:prstGeom>
          <a:noFill/>
          <a:ln/>
        </p:spPr>
        <p:txBody>
          <a:bodyPr wrap="square" lIns="0" tIns="0" rIns="0" bIns="0" rtlCol="0" anchor="ctr"/>
          <a:lstStyle/>
          <a:p>
            <a:pPr indent="0" marL="0">
              <a:buNone/>
            </a:pPr>
            <a:r>
              <a:rPr lang="en-US" sz="1300" dirty="0">
                <a:solidFill>
                  <a:schemeClr val="tx2"/>
                </a:solidFill>
              </a:rPr>
              <a:t>Veel code voor één bevraging</a:t>
            </a:r>
            <a:endParaRPr lang="en-US" sz="1300" dirty="0"/>
          </a:p>
        </p:txBody>
      </p:sp>
      <p:sp>
        <p:nvSpPr>
          <p:cNvPr id="22" name="Text 19"/>
          <p:cNvSpPr txBox="1"/>
          <p:nvPr/>
        </p:nvSpPr>
        <p:spPr>
          <a:xfrm>
            <a:off x="5074920" y="6035040"/>
            <a:ext cx="6537960" cy="274320"/>
          </a:xfrm>
          <a:prstGeom prst="rect">
            <a:avLst/>
          </a:prstGeom>
          <a:noFill/>
          <a:ln/>
        </p:spPr>
        <p:txBody>
          <a:bodyPr wrap="square" lIns="0" tIns="0" rIns="0" bIns="0" rtlCol="0" anchor="t"/>
          <a:lstStyle/>
          <a:p>
            <a:pPr indent="0" marL="0">
              <a:buNone/>
            </a:pPr>
            <a:r>
              <a:rPr lang="en-US" sz="1300" i="1" dirty="0">
                <a:solidFill>
                  <a:schemeClr val="tx2"/>
                </a:solidFill>
              </a:rPr>
              <a:t>Minder regels is niet automatisch beter: de vraag is wat een lezer het snelst begrijpt.</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Welke zet je in een project?</a:t>
            </a:r>
            <a:endParaRPr lang="en-US" sz="3400" dirty="0"/>
          </a:p>
        </p:txBody>
      </p:sp>
      <p:sp>
        <p:nvSpPr>
          <p:cNvPr id="3" name="kaart"/>
          <p:cNvSpPr/>
          <p:nvPr/>
        </p:nvSpPr>
        <p:spPr>
          <a:xfrm>
            <a:off x="548640" y="1463040"/>
            <a:ext cx="525780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4" name="icooncirkel"/>
          <p:cNvSpPr/>
          <p:nvPr/>
        </p:nvSpPr>
        <p:spPr>
          <a:xfrm>
            <a:off x="868680" y="1737360"/>
            <a:ext cx="731520" cy="731520"/>
          </a:xfrm>
          <a:prstGeom prst="ellipse">
            <a:avLst/>
          </a:prstGeom>
          <a:solidFill>
            <a:schemeClr val="accent2"/>
          </a:solidFill>
          <a:ln w="12700">
            <a:solidFill>
              <a:schemeClr val="accent2"/>
            </a:solidFill>
            <a:prstDash val="solid"/>
          </a:ln>
        </p:spPr>
      </p:sp>
      <p:pic>
        <p:nvPicPr>
          <p:cNvPr id="5" name="icoon" descr="preencoded.png">    </p:cNvPr>
          <p:cNvPicPr>
            <a:picLocks noChangeAspect="1"/>
          </p:cNvPicPr>
          <p:nvPr/>
        </p:nvPicPr>
        <p:blipFill>
          <a:blip r:embed="rId1"/>
          <a:stretch>
            <a:fillRect/>
          </a:stretch>
        </p:blipFill>
        <p:spPr>
          <a:xfrm>
            <a:off x="1051560" y="1920240"/>
            <a:ext cx="365760" cy="365760"/>
          </a:xfrm>
          <a:prstGeom prst="rect">
            <a:avLst/>
          </a:prstGeom>
        </p:spPr>
      </p:pic>
      <p:sp>
        <p:nvSpPr>
          <p:cNvPr id="6" name="Text 3"/>
          <p:cNvSpPr txBox="1"/>
          <p:nvPr/>
        </p:nvSpPr>
        <p:spPr>
          <a:xfrm>
            <a:off x="1783080" y="1783080"/>
            <a:ext cx="3840480" cy="6400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Eén bevraging</a:t>
            </a:r>
            <a:endParaRPr lang="en-US" sz="2200" dirty="0"/>
          </a:p>
        </p:txBody>
      </p:sp>
      <p:sp>
        <p:nvSpPr>
          <p:cNvPr id="7" name="Text 4"/>
          <p:cNvSpPr txBox="1"/>
          <p:nvPr/>
        </p:nvSpPr>
        <p:spPr>
          <a:xfrm>
            <a:off x="868680" y="2697480"/>
            <a:ext cx="4663440" cy="1280160"/>
          </a:xfrm>
          <a:prstGeom prst="rect">
            <a:avLst/>
          </a:prstGeom>
          <a:noFill/>
          <a:ln/>
        </p:spPr>
        <p:txBody>
          <a:bodyPr wrap="square" lIns="0" tIns="0" rIns="0" bIns="0" rtlCol="0" anchor="t"/>
          <a:lstStyle/>
          <a:p>
            <a:pPr indent="0" marL="0">
              <a:buNone/>
            </a:pPr>
            <a:r>
              <a:rPr lang="en-US" sz="1700" dirty="0">
                <a:solidFill>
                  <a:schemeClr val="tx1"/>
                </a:solidFill>
              </a:rPr>
              <a:t>De comprehension. Eén regel, en iedereen die Python kent, leest ze.</a:t>
            </a:r>
            <a:endParaRPr lang="en-US" sz="1700" dirty="0"/>
          </a:p>
        </p:txBody>
      </p:sp>
      <p:pic>
        <p:nvPicPr>
          <p:cNvPr id="8" name="pijl" descr="preencoded.png">    </p:cNvPr>
          <p:cNvPicPr>
            <a:picLocks noChangeAspect="1"/>
          </p:cNvPicPr>
          <p:nvPr/>
        </p:nvPicPr>
        <p:blipFill>
          <a:blip r:embed="rId2"/>
          <a:stretch>
            <a:fillRect/>
          </a:stretch>
        </p:blipFill>
        <p:spPr>
          <a:xfrm>
            <a:off x="5943600" y="2606040"/>
            <a:ext cx="365760" cy="365760"/>
          </a:xfrm>
          <a:prstGeom prst="rect">
            <a:avLst/>
          </a:prstGeom>
        </p:spPr>
      </p:pic>
      <p:sp>
        <p:nvSpPr>
          <p:cNvPr id="9" name="kaart"/>
          <p:cNvSpPr/>
          <p:nvPr/>
        </p:nvSpPr>
        <p:spPr>
          <a:xfrm>
            <a:off x="6355080" y="1463040"/>
            <a:ext cx="525780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1B1F3B">
                <a:alpha val="12000"/>
              </a:srgbClr>
            </a:outerShdw>
          </a:effectLst>
        </p:spPr>
      </p:sp>
      <p:sp>
        <p:nvSpPr>
          <p:cNvPr id="10" name="icooncirkel"/>
          <p:cNvSpPr/>
          <p:nvPr/>
        </p:nvSpPr>
        <p:spPr>
          <a:xfrm>
            <a:off x="6675120" y="1737360"/>
            <a:ext cx="731520" cy="731520"/>
          </a:xfrm>
          <a:prstGeom prst="ellipse">
            <a:avLst/>
          </a:prstGeom>
          <a:solidFill>
            <a:schemeClr val="accent5"/>
          </a:solidFill>
          <a:ln w="12700">
            <a:solidFill>
              <a:schemeClr val="accent5"/>
            </a:solidFill>
            <a:prstDash val="solid"/>
          </a:ln>
        </p:spPr>
      </p:sp>
      <p:pic>
        <p:nvPicPr>
          <p:cNvPr id="11" name="icoon" descr="preencoded.png">    </p:cNvPr>
          <p:cNvPicPr>
            <a:picLocks noChangeAspect="1"/>
          </p:cNvPicPr>
          <p:nvPr/>
        </p:nvPicPr>
        <p:blipFill>
          <a:blip r:embed="rId3"/>
          <a:stretch>
            <a:fillRect/>
          </a:stretch>
        </p:blipFill>
        <p:spPr>
          <a:xfrm>
            <a:off x="6858000" y="1920240"/>
            <a:ext cx="365760" cy="365760"/>
          </a:xfrm>
          <a:prstGeom prst="rect">
            <a:avLst/>
          </a:prstGeom>
        </p:spPr>
      </p:pic>
      <p:sp>
        <p:nvSpPr>
          <p:cNvPr id="12" name="Text 7"/>
          <p:cNvSpPr txBox="1"/>
          <p:nvPr/>
        </p:nvSpPr>
        <p:spPr>
          <a:xfrm>
            <a:off x="7589520" y="1783080"/>
            <a:ext cx="3840480" cy="64008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Veel bevragingen</a:t>
            </a:r>
            <a:endParaRPr lang="en-US" sz="2200" dirty="0"/>
          </a:p>
        </p:txBody>
      </p:sp>
      <p:sp>
        <p:nvSpPr>
          <p:cNvPr id="13" name="Text 8"/>
          <p:cNvSpPr txBox="1"/>
          <p:nvPr/>
        </p:nvSpPr>
        <p:spPr>
          <a:xfrm>
            <a:off x="6675120" y="2697480"/>
            <a:ext cx="4663440" cy="1280160"/>
          </a:xfrm>
          <a:prstGeom prst="rect">
            <a:avLst/>
          </a:prstGeom>
          <a:noFill/>
          <a:ln/>
        </p:spPr>
        <p:txBody>
          <a:bodyPr wrap="square" lIns="0" tIns="0" rIns="0" bIns="0" rtlCol="0" anchor="t"/>
          <a:lstStyle/>
          <a:p>
            <a:pPr indent="0" marL="0">
              <a:buNone/>
            </a:pPr>
            <a:r>
              <a:rPr lang="en-US" sz="1700" dirty="0">
                <a:solidFill>
                  <a:schemeClr val="tx1"/>
                </a:solidFill>
              </a:rPr>
              <a:t>Op schrijver, op jaar, op beschikbaarheid … Dan kantelt het naar de klasse: de gegevens één keer, met een handvol methodes erbij.</a:t>
            </a:r>
            <a:endParaRPr lang="en-US" sz="1700" dirty="0"/>
          </a:p>
        </p:txBody>
      </p:sp>
      <p:sp>
        <p:nvSpPr>
          <p:cNvPr id="14" name="kaart"/>
          <p:cNvSpPr/>
          <p:nvPr/>
        </p:nvSpPr>
        <p:spPr>
          <a:xfrm>
            <a:off x="548640" y="4480560"/>
            <a:ext cx="11064240" cy="1188720"/>
          </a:xfrm>
          <a:prstGeom prst="roundRect">
            <a:avLst>
              <a:gd name="adj" fmla="val 9231"/>
            </a:avLst>
          </a:prstGeom>
          <a:solidFill>
            <a:schemeClr val="tx1"/>
          </a:solidFill>
          <a:ln w="12700">
            <a:solidFill>
              <a:schemeClr val="tx1"/>
            </a:solidFill>
            <a:prstDash val="solid"/>
          </a:ln>
        </p:spPr>
      </p:sp>
      <p:sp>
        <p:nvSpPr>
          <p:cNvPr id="15" name="Text 10"/>
          <p:cNvSpPr txBox="1"/>
          <p:nvPr/>
        </p:nvSpPr>
        <p:spPr>
          <a:xfrm>
            <a:off x="868680" y="4480560"/>
            <a:ext cx="10515600" cy="1188720"/>
          </a:xfrm>
          <a:prstGeom prst="rect">
            <a:avLst/>
          </a:prstGeom>
          <a:noFill/>
          <a:ln/>
        </p:spPr>
        <p:txBody>
          <a:bodyPr wrap="square" lIns="0" tIns="0" rIns="0" bIns="0" rtlCol="0" anchor="ctr"/>
          <a:lstStyle/>
          <a:p>
            <a:pPr indent="0" marL="0">
              <a:buNone/>
            </a:pPr>
            <a:r>
              <a:rPr lang="en-US" sz="2000" i="1" dirty="0">
                <a:solidFill>
                  <a:schemeClr val="bg1"/>
                </a:solidFill>
                <a:latin typeface="Cambria" pitchFamily="34" charset="0"/>
                <a:ea typeface="Cambria" pitchFamily="34" charset="-122"/>
                <a:cs typeface="Cambria" pitchFamily="34" charset="-120"/>
              </a:rPr>
              <a:t>Een paradigma is geen geloofskwestie, maar een keuze die met de omvang van je probleem meegroeit.</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Wat je nu kunt</a:t>
            </a:r>
            <a:endParaRPr lang="en-US" sz="3400" dirty="0"/>
          </a:p>
        </p:txBody>
      </p:sp>
      <p:sp>
        <p:nvSpPr>
          <p:cNvPr id="3" name="kaart"/>
          <p:cNvSpPr/>
          <p:nvPr/>
        </p:nvSpPr>
        <p:spPr>
          <a:xfrm>
            <a:off x="548640" y="1371600"/>
            <a:ext cx="5440680" cy="960120"/>
          </a:xfrm>
          <a:prstGeom prst="roundRect">
            <a:avLst>
              <a:gd name="adj" fmla="val 11429"/>
            </a:avLst>
          </a:prstGeom>
          <a:solidFill>
            <a:schemeClr val="bg2"/>
          </a:solidFill>
          <a:ln w="12700">
            <a:solidFill>
              <a:schemeClr val="bg2"/>
            </a:solidFill>
            <a:prstDash val="solid"/>
          </a:ln>
        </p:spPr>
      </p:sp>
      <p:sp>
        <p:nvSpPr>
          <p:cNvPr id="4" name="vinkcirkel"/>
          <p:cNvSpPr/>
          <p:nvPr/>
        </p:nvSpPr>
        <p:spPr>
          <a:xfrm>
            <a:off x="777240" y="1618488"/>
            <a:ext cx="457200" cy="457200"/>
          </a:xfrm>
          <a:prstGeom prst="ellipse">
            <a:avLst/>
          </a:prstGeom>
          <a:solidFill>
            <a:schemeClr val="accent2"/>
          </a:solidFill>
          <a:ln w="12700">
            <a:solidFill>
              <a:schemeClr val="accent2"/>
            </a:solidFill>
            <a:prstDash val="solid"/>
          </a:ln>
        </p:spPr>
      </p:sp>
      <p:pic>
        <p:nvPicPr>
          <p:cNvPr id="5" name="vink" descr="preencoded.png">    </p:cNvPr>
          <p:cNvPicPr>
            <a:picLocks noChangeAspect="1"/>
          </p:cNvPicPr>
          <p:nvPr/>
        </p:nvPicPr>
        <p:blipFill>
          <a:blip r:embed="rId1"/>
          <a:stretch>
            <a:fillRect/>
          </a:stretch>
        </p:blipFill>
        <p:spPr>
          <a:xfrm>
            <a:off x="886968" y="1728216"/>
            <a:ext cx="237744" cy="237744"/>
          </a:xfrm>
          <a:prstGeom prst="rect">
            <a:avLst/>
          </a:prstGeom>
        </p:spPr>
      </p:pic>
      <p:sp>
        <p:nvSpPr>
          <p:cNvPr id="6" name="Text 3"/>
          <p:cNvSpPr txBox="1"/>
          <p:nvPr/>
        </p:nvSpPr>
        <p:spPr>
          <a:xfrm>
            <a:off x="1417320" y="1371600"/>
            <a:ext cx="4434840" cy="960120"/>
          </a:xfrm>
          <a:prstGeom prst="rect">
            <a:avLst/>
          </a:prstGeom>
          <a:noFill/>
          <a:ln/>
        </p:spPr>
        <p:txBody>
          <a:bodyPr wrap="square" lIns="0" tIns="0" rIns="0" bIns="0" rtlCol="0" anchor="ctr"/>
          <a:lstStyle/>
          <a:p>
            <a:pPr indent="0" marL="0">
              <a:buNone/>
            </a:pPr>
            <a:r>
              <a:rPr lang="en-US" sz="1500" dirty="0">
                <a:solidFill>
                  <a:schemeClr val="tx1"/>
                </a:solidFill>
              </a:rPr>
              <a:t>de grote lijn van de geschiedenis van het programmeren schetsen</a:t>
            </a:r>
            <a:endParaRPr lang="en-US" sz="1500" dirty="0"/>
          </a:p>
        </p:txBody>
      </p:sp>
      <p:sp>
        <p:nvSpPr>
          <p:cNvPr id="7" name="kaart"/>
          <p:cNvSpPr/>
          <p:nvPr/>
        </p:nvSpPr>
        <p:spPr>
          <a:xfrm>
            <a:off x="6172200" y="1371600"/>
            <a:ext cx="5440680" cy="960120"/>
          </a:xfrm>
          <a:prstGeom prst="roundRect">
            <a:avLst>
              <a:gd name="adj" fmla="val 11429"/>
            </a:avLst>
          </a:prstGeom>
          <a:solidFill>
            <a:schemeClr val="bg2"/>
          </a:solidFill>
          <a:ln w="12700">
            <a:solidFill>
              <a:schemeClr val="bg2"/>
            </a:solidFill>
            <a:prstDash val="solid"/>
          </a:ln>
        </p:spPr>
      </p:sp>
      <p:sp>
        <p:nvSpPr>
          <p:cNvPr id="8" name="vinkcirkel"/>
          <p:cNvSpPr/>
          <p:nvPr/>
        </p:nvSpPr>
        <p:spPr>
          <a:xfrm>
            <a:off x="6400800" y="1618488"/>
            <a:ext cx="457200" cy="457200"/>
          </a:xfrm>
          <a:prstGeom prst="ellipse">
            <a:avLst/>
          </a:prstGeom>
          <a:solidFill>
            <a:schemeClr val="accent2"/>
          </a:solidFill>
          <a:ln w="12700">
            <a:solidFill>
              <a:schemeClr val="accent2"/>
            </a:solidFill>
            <a:prstDash val="solid"/>
          </a:ln>
        </p:spPr>
      </p:sp>
      <p:pic>
        <p:nvPicPr>
          <p:cNvPr id="9" name="vink" descr="preencoded.png">    </p:cNvPr>
          <p:cNvPicPr>
            <a:picLocks noChangeAspect="1"/>
          </p:cNvPicPr>
          <p:nvPr/>
        </p:nvPicPr>
        <p:blipFill>
          <a:blip r:embed="rId2"/>
          <a:stretch>
            <a:fillRect/>
          </a:stretch>
        </p:blipFill>
        <p:spPr>
          <a:xfrm>
            <a:off x="6510528" y="1728216"/>
            <a:ext cx="237744" cy="237744"/>
          </a:xfrm>
          <a:prstGeom prst="rect">
            <a:avLst/>
          </a:prstGeom>
        </p:spPr>
      </p:pic>
      <p:sp>
        <p:nvSpPr>
          <p:cNvPr id="10" name="Text 6"/>
          <p:cNvSpPr txBox="1"/>
          <p:nvPr/>
        </p:nvSpPr>
        <p:spPr>
          <a:xfrm>
            <a:off x="7040880" y="1371600"/>
            <a:ext cx="4434840" cy="960120"/>
          </a:xfrm>
          <a:prstGeom prst="rect">
            <a:avLst/>
          </a:prstGeom>
          <a:noFill/>
          <a:ln/>
        </p:spPr>
        <p:txBody>
          <a:bodyPr wrap="square" lIns="0" tIns="0" rIns="0" bIns="0" rtlCol="0" anchor="ctr"/>
          <a:lstStyle/>
          <a:p>
            <a:pPr indent="0" marL="0">
              <a:buNone/>
            </a:pPr>
            <a:r>
              <a:rPr lang="en-US" sz="1500" dirty="0">
                <a:solidFill>
                  <a:schemeClr val="tx1"/>
                </a:solidFill>
              </a:rPr>
              <a:t>de vier paradigma's benoemen en aan een voorbeeld herkennen</a:t>
            </a:r>
            <a:endParaRPr lang="en-US" sz="1500" dirty="0"/>
          </a:p>
        </p:txBody>
      </p:sp>
      <p:sp>
        <p:nvSpPr>
          <p:cNvPr id="11" name="kaart"/>
          <p:cNvSpPr/>
          <p:nvPr/>
        </p:nvSpPr>
        <p:spPr>
          <a:xfrm>
            <a:off x="548640" y="2514600"/>
            <a:ext cx="5440680" cy="960120"/>
          </a:xfrm>
          <a:prstGeom prst="roundRect">
            <a:avLst>
              <a:gd name="adj" fmla="val 11429"/>
            </a:avLst>
          </a:prstGeom>
          <a:solidFill>
            <a:schemeClr val="bg2"/>
          </a:solidFill>
          <a:ln w="12700">
            <a:solidFill>
              <a:schemeClr val="bg2"/>
            </a:solidFill>
            <a:prstDash val="solid"/>
          </a:ln>
        </p:spPr>
      </p:sp>
      <p:sp>
        <p:nvSpPr>
          <p:cNvPr id="12" name="vinkcirkel"/>
          <p:cNvSpPr/>
          <p:nvPr/>
        </p:nvSpPr>
        <p:spPr>
          <a:xfrm>
            <a:off x="777240" y="2761488"/>
            <a:ext cx="457200" cy="457200"/>
          </a:xfrm>
          <a:prstGeom prst="ellipse">
            <a:avLst/>
          </a:prstGeom>
          <a:solidFill>
            <a:schemeClr val="accent2"/>
          </a:solidFill>
          <a:ln w="12700">
            <a:solidFill>
              <a:schemeClr val="accent2"/>
            </a:solidFill>
            <a:prstDash val="solid"/>
          </a:ln>
        </p:spPr>
      </p:sp>
      <p:pic>
        <p:nvPicPr>
          <p:cNvPr id="13" name="vink" descr="preencoded.png">    </p:cNvPr>
          <p:cNvPicPr>
            <a:picLocks noChangeAspect="1"/>
          </p:cNvPicPr>
          <p:nvPr/>
        </p:nvPicPr>
        <p:blipFill>
          <a:blip r:embed="rId3"/>
          <a:stretch>
            <a:fillRect/>
          </a:stretch>
        </p:blipFill>
        <p:spPr>
          <a:xfrm>
            <a:off x="886968" y="2871216"/>
            <a:ext cx="237744" cy="237744"/>
          </a:xfrm>
          <a:prstGeom prst="rect">
            <a:avLst/>
          </a:prstGeom>
        </p:spPr>
      </p:pic>
      <p:sp>
        <p:nvSpPr>
          <p:cNvPr id="14" name="Text 9"/>
          <p:cNvSpPr txBox="1"/>
          <p:nvPr/>
        </p:nvSpPr>
        <p:spPr>
          <a:xfrm>
            <a:off x="1417320" y="2514600"/>
            <a:ext cx="4434840" cy="960120"/>
          </a:xfrm>
          <a:prstGeom prst="rect">
            <a:avLst/>
          </a:prstGeom>
          <a:noFill/>
          <a:ln/>
        </p:spPr>
        <p:txBody>
          <a:bodyPr wrap="square" lIns="0" tIns="0" rIns="0" bIns="0" rtlCol="0" anchor="ctr"/>
          <a:lstStyle/>
          <a:p>
            <a:pPr indent="0" marL="0">
              <a:buNone/>
            </a:pPr>
            <a:r>
              <a:rPr lang="en-US" sz="1500" dirty="0">
                <a:solidFill>
                  <a:schemeClr val="tx1"/>
                </a:solidFill>
              </a:rPr>
              <a:t>uitleggen waarom Python multiparadigma is</a:t>
            </a:r>
            <a:endParaRPr lang="en-US" sz="1500" dirty="0"/>
          </a:p>
        </p:txBody>
      </p:sp>
      <p:sp>
        <p:nvSpPr>
          <p:cNvPr id="15" name="kaart"/>
          <p:cNvSpPr/>
          <p:nvPr/>
        </p:nvSpPr>
        <p:spPr>
          <a:xfrm>
            <a:off x="6172200" y="2514600"/>
            <a:ext cx="5440680" cy="960120"/>
          </a:xfrm>
          <a:prstGeom prst="roundRect">
            <a:avLst>
              <a:gd name="adj" fmla="val 11429"/>
            </a:avLst>
          </a:prstGeom>
          <a:solidFill>
            <a:schemeClr val="bg2"/>
          </a:solidFill>
          <a:ln w="12700">
            <a:solidFill>
              <a:schemeClr val="bg2"/>
            </a:solidFill>
            <a:prstDash val="solid"/>
          </a:ln>
        </p:spPr>
      </p:sp>
      <p:sp>
        <p:nvSpPr>
          <p:cNvPr id="16" name="vinkcirkel"/>
          <p:cNvSpPr/>
          <p:nvPr/>
        </p:nvSpPr>
        <p:spPr>
          <a:xfrm>
            <a:off x="6400800" y="2761488"/>
            <a:ext cx="457200" cy="457200"/>
          </a:xfrm>
          <a:prstGeom prst="ellipse">
            <a:avLst/>
          </a:prstGeom>
          <a:solidFill>
            <a:schemeClr val="accent2"/>
          </a:solidFill>
          <a:ln w="12700">
            <a:solidFill>
              <a:schemeClr val="accent2"/>
            </a:solidFill>
            <a:prstDash val="solid"/>
          </a:ln>
        </p:spPr>
      </p:sp>
      <p:pic>
        <p:nvPicPr>
          <p:cNvPr id="17" name="vink" descr="preencoded.png">    </p:cNvPr>
          <p:cNvPicPr>
            <a:picLocks noChangeAspect="1"/>
          </p:cNvPicPr>
          <p:nvPr/>
        </p:nvPicPr>
        <p:blipFill>
          <a:blip r:embed="rId4"/>
          <a:stretch>
            <a:fillRect/>
          </a:stretch>
        </p:blipFill>
        <p:spPr>
          <a:xfrm>
            <a:off x="6510528" y="2871216"/>
            <a:ext cx="237744" cy="237744"/>
          </a:xfrm>
          <a:prstGeom prst="rect">
            <a:avLst/>
          </a:prstGeom>
        </p:spPr>
      </p:pic>
      <p:sp>
        <p:nvSpPr>
          <p:cNvPr id="18" name="Text 12"/>
          <p:cNvSpPr txBox="1"/>
          <p:nvPr/>
        </p:nvSpPr>
        <p:spPr>
          <a:xfrm>
            <a:off x="7040880" y="2514600"/>
            <a:ext cx="4434840" cy="960120"/>
          </a:xfrm>
          <a:prstGeom prst="rect">
            <a:avLst/>
          </a:prstGeom>
          <a:noFill/>
          <a:ln/>
        </p:spPr>
        <p:txBody>
          <a:bodyPr wrap="square" lIns="0" tIns="0" rIns="0" bIns="0" rtlCol="0" anchor="ctr"/>
          <a:lstStyle/>
          <a:p>
            <a:pPr indent="0" marL="0">
              <a:buNone/>
            </a:pPr>
            <a:r>
              <a:rPr lang="en-US" sz="1500" dirty="0">
                <a:solidFill>
                  <a:schemeClr val="tx1"/>
                </a:solidFill>
              </a:rPr>
              <a:t>zes actuele trends benoemen en zeggen welk probleem elk oplost</a:t>
            </a:r>
            <a:endParaRPr lang="en-US" sz="1500" dirty="0"/>
          </a:p>
        </p:txBody>
      </p:sp>
      <p:sp>
        <p:nvSpPr>
          <p:cNvPr id="19" name="kaart"/>
          <p:cNvSpPr/>
          <p:nvPr/>
        </p:nvSpPr>
        <p:spPr>
          <a:xfrm>
            <a:off x="548640" y="3657600"/>
            <a:ext cx="5440680" cy="960120"/>
          </a:xfrm>
          <a:prstGeom prst="roundRect">
            <a:avLst>
              <a:gd name="adj" fmla="val 11429"/>
            </a:avLst>
          </a:prstGeom>
          <a:solidFill>
            <a:schemeClr val="bg2"/>
          </a:solidFill>
          <a:ln w="12700">
            <a:solidFill>
              <a:schemeClr val="bg2"/>
            </a:solidFill>
            <a:prstDash val="solid"/>
          </a:ln>
        </p:spPr>
      </p:sp>
      <p:sp>
        <p:nvSpPr>
          <p:cNvPr id="20" name="vinkcirkel"/>
          <p:cNvSpPr/>
          <p:nvPr/>
        </p:nvSpPr>
        <p:spPr>
          <a:xfrm>
            <a:off x="777240" y="3904488"/>
            <a:ext cx="457200" cy="457200"/>
          </a:xfrm>
          <a:prstGeom prst="ellipse">
            <a:avLst/>
          </a:prstGeom>
          <a:solidFill>
            <a:schemeClr val="accent2"/>
          </a:solidFill>
          <a:ln w="12700">
            <a:solidFill>
              <a:schemeClr val="accent2"/>
            </a:solidFill>
            <a:prstDash val="solid"/>
          </a:ln>
        </p:spPr>
      </p:sp>
      <p:pic>
        <p:nvPicPr>
          <p:cNvPr id="21" name="vink" descr="preencoded.png">    </p:cNvPr>
          <p:cNvPicPr>
            <a:picLocks noChangeAspect="1"/>
          </p:cNvPicPr>
          <p:nvPr/>
        </p:nvPicPr>
        <p:blipFill>
          <a:blip r:embed="rId5"/>
          <a:stretch>
            <a:fillRect/>
          </a:stretch>
        </p:blipFill>
        <p:spPr>
          <a:xfrm>
            <a:off x="886968" y="4014216"/>
            <a:ext cx="237744" cy="237744"/>
          </a:xfrm>
          <a:prstGeom prst="rect">
            <a:avLst/>
          </a:prstGeom>
        </p:spPr>
      </p:pic>
      <p:sp>
        <p:nvSpPr>
          <p:cNvPr id="22" name="Text 15"/>
          <p:cNvSpPr txBox="1"/>
          <p:nvPr/>
        </p:nvSpPr>
        <p:spPr>
          <a:xfrm>
            <a:off x="1417320" y="3657600"/>
            <a:ext cx="4434840" cy="960120"/>
          </a:xfrm>
          <a:prstGeom prst="rect">
            <a:avLst/>
          </a:prstGeom>
          <a:noFill/>
          <a:ln/>
        </p:spPr>
        <p:txBody>
          <a:bodyPr wrap="square" lIns="0" tIns="0" rIns="0" bIns="0" rtlCol="0" anchor="ctr"/>
          <a:lstStyle/>
          <a:p>
            <a:pPr indent="0" marL="0">
              <a:buNone/>
            </a:pPr>
            <a:r>
              <a:rPr lang="en-US" sz="1500" dirty="0">
                <a:solidFill>
                  <a:schemeClr val="tx1"/>
                </a:solidFill>
              </a:rPr>
              <a:t>uitleggen waarom AI-assistentie lezen en testen belangrijker maakt</a:t>
            </a:r>
            <a:endParaRPr lang="en-US" sz="1500" dirty="0"/>
          </a:p>
        </p:txBody>
      </p:sp>
      <p:sp>
        <p:nvSpPr>
          <p:cNvPr id="23" name="kaart"/>
          <p:cNvSpPr/>
          <p:nvPr/>
        </p:nvSpPr>
        <p:spPr>
          <a:xfrm>
            <a:off x="6172200" y="3657600"/>
            <a:ext cx="5440680" cy="960120"/>
          </a:xfrm>
          <a:prstGeom prst="roundRect">
            <a:avLst>
              <a:gd name="adj" fmla="val 11429"/>
            </a:avLst>
          </a:prstGeom>
          <a:solidFill>
            <a:schemeClr val="bg2"/>
          </a:solidFill>
          <a:ln w="12700">
            <a:solidFill>
              <a:schemeClr val="bg2"/>
            </a:solidFill>
            <a:prstDash val="solid"/>
          </a:ln>
        </p:spPr>
      </p:sp>
      <p:sp>
        <p:nvSpPr>
          <p:cNvPr id="24" name="vinkcirkel"/>
          <p:cNvSpPr/>
          <p:nvPr/>
        </p:nvSpPr>
        <p:spPr>
          <a:xfrm>
            <a:off x="6400800" y="3904488"/>
            <a:ext cx="457200" cy="457200"/>
          </a:xfrm>
          <a:prstGeom prst="ellipse">
            <a:avLst/>
          </a:prstGeom>
          <a:solidFill>
            <a:schemeClr val="accent2"/>
          </a:solidFill>
          <a:ln w="12700">
            <a:solidFill>
              <a:schemeClr val="accent2"/>
            </a:solidFill>
            <a:prstDash val="solid"/>
          </a:ln>
        </p:spPr>
      </p:sp>
      <p:pic>
        <p:nvPicPr>
          <p:cNvPr id="25" name="vink" descr="preencoded.png">    </p:cNvPr>
          <p:cNvPicPr>
            <a:picLocks noChangeAspect="1"/>
          </p:cNvPicPr>
          <p:nvPr/>
        </p:nvPicPr>
        <p:blipFill>
          <a:blip r:embed="rId6"/>
          <a:stretch>
            <a:fillRect/>
          </a:stretch>
        </p:blipFill>
        <p:spPr>
          <a:xfrm>
            <a:off x="6510528" y="4014216"/>
            <a:ext cx="237744" cy="237744"/>
          </a:xfrm>
          <a:prstGeom prst="rect">
            <a:avLst/>
          </a:prstGeom>
        </p:spPr>
      </p:pic>
      <p:sp>
        <p:nvSpPr>
          <p:cNvPr id="26" name="Text 18"/>
          <p:cNvSpPr txBox="1"/>
          <p:nvPr/>
        </p:nvSpPr>
        <p:spPr>
          <a:xfrm>
            <a:off x="7040880" y="3657600"/>
            <a:ext cx="4434840" cy="960120"/>
          </a:xfrm>
          <a:prstGeom prst="rect">
            <a:avLst/>
          </a:prstGeom>
          <a:noFill/>
          <a:ln/>
        </p:spPr>
        <p:txBody>
          <a:bodyPr wrap="square" lIns="0" tIns="0" rIns="0" bIns="0" rtlCol="0" anchor="ctr"/>
          <a:lstStyle/>
          <a:p>
            <a:pPr indent="0" marL="0">
              <a:buNone/>
            </a:pPr>
            <a:r>
              <a:rPr lang="en-US" sz="1500" dirty="0">
                <a:solidFill>
                  <a:schemeClr val="tx1"/>
                </a:solidFill>
              </a:rPr>
              <a:t>een uitspraak over een trend beoordelen met zes vragen</a:t>
            </a:r>
            <a:endParaRPr lang="en-US" sz="1500" dirty="0"/>
          </a:p>
        </p:txBody>
      </p:sp>
      <p:sp>
        <p:nvSpPr>
          <p:cNvPr id="27" name="kaart"/>
          <p:cNvSpPr/>
          <p:nvPr/>
        </p:nvSpPr>
        <p:spPr>
          <a:xfrm>
            <a:off x="548640" y="4800600"/>
            <a:ext cx="5440680" cy="960120"/>
          </a:xfrm>
          <a:prstGeom prst="roundRect">
            <a:avLst>
              <a:gd name="adj" fmla="val 11429"/>
            </a:avLst>
          </a:prstGeom>
          <a:solidFill>
            <a:schemeClr val="bg2"/>
          </a:solidFill>
          <a:ln w="12700">
            <a:solidFill>
              <a:schemeClr val="bg2"/>
            </a:solidFill>
            <a:prstDash val="solid"/>
          </a:ln>
        </p:spPr>
      </p:sp>
      <p:sp>
        <p:nvSpPr>
          <p:cNvPr id="28" name="vinkcirkel"/>
          <p:cNvSpPr/>
          <p:nvPr/>
        </p:nvSpPr>
        <p:spPr>
          <a:xfrm>
            <a:off x="777240" y="5047488"/>
            <a:ext cx="457200" cy="457200"/>
          </a:xfrm>
          <a:prstGeom prst="ellipse">
            <a:avLst/>
          </a:prstGeom>
          <a:solidFill>
            <a:schemeClr val="accent2"/>
          </a:solidFill>
          <a:ln w="12700">
            <a:solidFill>
              <a:schemeClr val="accent2"/>
            </a:solidFill>
            <a:prstDash val="solid"/>
          </a:ln>
        </p:spPr>
      </p:sp>
      <p:pic>
        <p:nvPicPr>
          <p:cNvPr id="29" name="vink" descr="preencoded.png">    </p:cNvPr>
          <p:cNvPicPr>
            <a:picLocks noChangeAspect="1"/>
          </p:cNvPicPr>
          <p:nvPr/>
        </p:nvPicPr>
        <p:blipFill>
          <a:blip r:embed="rId7"/>
          <a:stretch>
            <a:fillRect/>
          </a:stretch>
        </p:blipFill>
        <p:spPr>
          <a:xfrm>
            <a:off x="886968" y="5157216"/>
            <a:ext cx="237744" cy="237744"/>
          </a:xfrm>
          <a:prstGeom prst="rect">
            <a:avLst/>
          </a:prstGeom>
        </p:spPr>
      </p:pic>
      <p:sp>
        <p:nvSpPr>
          <p:cNvPr id="30" name="Text 21"/>
          <p:cNvSpPr txBox="1"/>
          <p:nvPr/>
        </p:nvSpPr>
        <p:spPr>
          <a:xfrm>
            <a:off x="1417320" y="4800600"/>
            <a:ext cx="4434840" cy="960120"/>
          </a:xfrm>
          <a:prstGeom prst="rect">
            <a:avLst/>
          </a:prstGeom>
          <a:noFill/>
          <a:ln/>
        </p:spPr>
        <p:txBody>
          <a:bodyPr wrap="square" lIns="0" tIns="0" rIns="0" bIns="0" rtlCol="0" anchor="ctr"/>
          <a:lstStyle/>
          <a:p>
            <a:pPr indent="0" marL="0">
              <a:buNone/>
            </a:pPr>
            <a:r>
              <a:rPr lang="en-US" sz="1500" dirty="0">
                <a:solidFill>
                  <a:schemeClr val="tx1"/>
                </a:solidFill>
              </a:rPr>
              <a:t>hetzelfde probleem in vier stijlen oplossen en ze vergelijken</a:t>
            </a:r>
            <a:endParaRPr lang="en-US" sz="1500" dirty="0"/>
          </a:p>
        </p:txBody>
      </p:sp>
      <p:sp>
        <p:nvSpPr>
          <p:cNvPr id="31" name="kaart"/>
          <p:cNvSpPr/>
          <p:nvPr/>
        </p:nvSpPr>
        <p:spPr>
          <a:xfrm>
            <a:off x="6172200" y="4800600"/>
            <a:ext cx="5440680" cy="960120"/>
          </a:xfrm>
          <a:prstGeom prst="roundRect">
            <a:avLst>
              <a:gd name="adj" fmla="val 11429"/>
            </a:avLst>
          </a:prstGeom>
          <a:solidFill>
            <a:schemeClr val="bg2"/>
          </a:solidFill>
          <a:ln w="12700">
            <a:solidFill>
              <a:schemeClr val="bg2"/>
            </a:solidFill>
            <a:prstDash val="solid"/>
          </a:ln>
        </p:spPr>
      </p:sp>
      <p:sp>
        <p:nvSpPr>
          <p:cNvPr id="32" name="vinkcirkel"/>
          <p:cNvSpPr/>
          <p:nvPr/>
        </p:nvSpPr>
        <p:spPr>
          <a:xfrm>
            <a:off x="6400800" y="5047488"/>
            <a:ext cx="457200" cy="457200"/>
          </a:xfrm>
          <a:prstGeom prst="ellipse">
            <a:avLst/>
          </a:prstGeom>
          <a:solidFill>
            <a:schemeClr val="accent2"/>
          </a:solidFill>
          <a:ln w="12700">
            <a:solidFill>
              <a:schemeClr val="accent2"/>
            </a:solidFill>
            <a:prstDash val="solid"/>
          </a:ln>
        </p:spPr>
      </p:sp>
      <p:pic>
        <p:nvPicPr>
          <p:cNvPr id="33" name="vink" descr="preencoded.png">    </p:cNvPr>
          <p:cNvPicPr>
            <a:picLocks noChangeAspect="1"/>
          </p:cNvPicPr>
          <p:nvPr/>
        </p:nvPicPr>
        <p:blipFill>
          <a:blip r:embed="rId8"/>
          <a:stretch>
            <a:fillRect/>
          </a:stretch>
        </p:blipFill>
        <p:spPr>
          <a:xfrm>
            <a:off x="6510528" y="5157216"/>
            <a:ext cx="237744" cy="237744"/>
          </a:xfrm>
          <a:prstGeom prst="rect">
            <a:avLst/>
          </a:prstGeom>
        </p:spPr>
      </p:pic>
      <p:sp>
        <p:nvSpPr>
          <p:cNvPr id="34" name="Text 24"/>
          <p:cNvSpPr txBox="1"/>
          <p:nvPr/>
        </p:nvSpPr>
        <p:spPr>
          <a:xfrm>
            <a:off x="7040880" y="4800600"/>
            <a:ext cx="4434840" cy="960120"/>
          </a:xfrm>
          <a:prstGeom prst="rect">
            <a:avLst/>
          </a:prstGeom>
          <a:noFill/>
          <a:ln/>
        </p:spPr>
        <p:txBody>
          <a:bodyPr wrap="square" lIns="0" tIns="0" rIns="0" bIns="0" rtlCol="0" anchor="ctr"/>
          <a:lstStyle/>
          <a:p>
            <a:pPr indent="0" marL="0">
              <a:buNone/>
            </a:pPr>
            <a:r>
              <a:rPr lang="en-US" sz="1500" dirty="0">
                <a:solidFill>
                  <a:schemeClr val="tx1"/>
                </a:solidFill>
              </a:rPr>
              <a:t>onderscheiden wat in dit vak verandert en wat niet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lIns="0" tIns="0" rIns="0" bIns="0" rtlCol="0" anchor="b"/>
          <a:lstStyle/>
          <a:p>
            <a:pPr algn="l" indent="0" marL="0">
              <a:buNone/>
            </a:pPr>
            <a:r>
              <a:rPr lang="en-US" sz="5400" b="1" dirty="0">
                <a:solidFill>
                  <a:schemeClr val="bg1"/>
                </a:solidFill>
              </a:rPr>
              <a:t>Git-moment</a:t>
            </a:r>
            <a:endParaRPr lang="en-US" sz="5400" dirty="0"/>
          </a:p>
        </p:txBody>
      </p:sp>
      <p:sp>
        <p:nvSpPr>
          <p:cNvPr id="3" name="Text 0"/>
          <p:cNvSpPr/>
          <p:nvPr>
            <p:ph idx="101" type="body" hasCustomPrompt="1"/>
          </p:nvPr>
        </p:nvSpPr>
        <p:spPr>
          <a:xfrm>
            <a:off x="731520" y="3611880"/>
            <a:ext cx="10698480" cy="1097280"/>
          </a:xfrm>
          <a:prstGeom prst="rect">
            <a:avLst/>
          </a:prstGeom>
          <a:noFill/>
          <a:ln/>
        </p:spPr>
        <p:txBody>
          <a:bodyPr wrap="square" lIns="0" tIns="0" rIns="0" bIns="0" rtlCol="0" anchor="t"/>
          <a:lstStyle/>
          <a:p>
            <a:pPr algn="l" indent="0" marL="0">
              <a:buNone/>
            </a:pPr>
            <a:r>
              <a:rPr lang="en-US" sz="2200" dirty="0">
                <a:solidFill>
                  <a:schemeClr val="accent1"/>
                </a:solidFill>
              </a:rPr>
              <a:t>Je standpunten uit oefening 20.1 horen in je repository. Over twee jaar is het leerzaam om terug te lezen wat je vandaag dacht.</a:t>
            </a:r>
            <a:endParaRPr lang="en-US" sz="2200" dirty="0"/>
          </a:p>
        </p:txBody>
      </p:sp>
      <p:sp>
        <p:nvSpPr>
          <p:cNvPr id="4" name="codevak"/>
          <p:cNvSpPr/>
          <p:nvPr/>
        </p:nvSpPr>
        <p:spPr>
          <a:xfrm>
            <a:off x="731520" y="4892040"/>
            <a:ext cx="10698480" cy="1325880"/>
          </a:xfrm>
          <a:prstGeom prst="roundRect">
            <a:avLst>
              <a:gd name="adj" fmla="val 6897"/>
            </a:avLst>
          </a:prstGeom>
          <a:solidFill>
            <a:srgbClr val="161A33"/>
          </a:solidFill>
          <a:ln w="12700">
            <a:solidFill>
              <a:srgbClr val="161A33"/>
            </a:solidFill>
            <a:prstDash val="solid"/>
          </a:ln>
        </p:spPr>
      </p:sp>
      <p:sp>
        <p:nvSpPr>
          <p:cNvPr id="5" name="code"/>
          <p:cNvSpPr txBox="1"/>
          <p:nvPr/>
        </p:nvSpPr>
        <p:spPr>
          <a:xfrm>
            <a:off x="960120" y="5074920"/>
            <a:ext cx="10241280" cy="1005840"/>
          </a:xfrm>
          <a:prstGeom prst="rect">
            <a:avLst/>
          </a:prstGeom>
          <a:noFill/>
          <a:ln/>
        </p:spPr>
        <p:txBody>
          <a:bodyPr wrap="square" lIns="0" tIns="0" rIns="0" bIns="0" rtlCol="0" anchor="t"/>
          <a:lstStyle/>
          <a:p>
            <a:pPr indent="0" marL="0">
              <a:buNone/>
            </a:pPr>
            <a:r>
              <a:rPr lang="en-US" sz="1600" dirty="0">
                <a:solidFill>
                  <a:srgbClr val="E8ECF8"/>
                </a:solidFill>
                <a:latin typeface="Consolas" pitchFamily="34" charset="0"/>
                <a:ea typeface="Consolas" pitchFamily="34" charset="-122"/>
                <a:cs typeface="Consolas" pitchFamily="34" charset="-120"/>
              </a:rPr>
              <a:t>git add ontwerp/trends.md</a:t>
            </a:r>
            <a:endParaRPr lang="en-US" sz="1600" dirty="0"/>
          </a:p>
          <a:p>
            <a:pPr indent="0" marL="0">
              <a:buNone/>
            </a:pPr>
            <a:r>
              <a:rPr lang="en-US" sz="1600" dirty="0">
                <a:solidFill>
                  <a:srgbClr val="E8ECF8"/>
                </a:solidFill>
                <a:latin typeface="Consolas" pitchFamily="34" charset="0"/>
                <a:ea typeface="Consolas" pitchFamily="34" charset="-122"/>
                <a:cs typeface="Consolas" pitchFamily="34" charset="-120"/>
              </a:rPr>
              <a:t>git commit -m "Noteer mijn standpunten over drie trends in het vak"</a:t>
            </a:r>
            <a:endParaRPr lang="en-US" sz="1600" dirty="0"/>
          </a:p>
          <a:p>
            <a:pPr indent="0" marL="0">
              <a:buNone/>
            </a:pPr>
            <a:r>
              <a:rPr lang="en-US" sz="1600" dirty="0">
                <a:solidFill>
                  <a:srgbClr val="E8ECF8"/>
                </a:solidFill>
                <a:latin typeface="Consolas" pitchFamily="34" charset="0"/>
                <a:ea typeface="Consolas" pitchFamily="34" charset="-122"/>
                <a:cs typeface="Consolas" pitchFamily="34" charset="-120"/>
              </a:rPr>
              <a:t>git push</a:t>
            </a:r>
            <a:endParaRPr lang="en-US" sz="1600" dirty="0"/>
          </a:p>
        </p:txBody>
      </p:sp>
      <p:sp>
        <p:nvSpPr>
          <p:cNvPr id="6" name="icooncirkel"/>
          <p:cNvSpPr/>
          <p:nvPr/>
        </p:nvSpPr>
        <p:spPr>
          <a:xfrm>
            <a:off x="731520" y="822960"/>
            <a:ext cx="914400" cy="914400"/>
          </a:xfrm>
          <a:prstGeom prst="ellipse">
            <a:avLst/>
          </a:prstGeom>
          <a:solidFill>
            <a:schemeClr val="accent3"/>
          </a:solidFill>
          <a:ln w="12700">
            <a:solidFill>
              <a:schemeClr val="accent3"/>
            </a:solidFill>
            <a:prstDash val="solid"/>
          </a:ln>
        </p:spPr>
      </p:sp>
      <p:pic>
        <p:nvPicPr>
          <p:cNvPr id="7" name="icoon" descr="preencoded.png">    </p:cNvPr>
          <p:cNvPicPr>
            <a:picLocks noChangeAspect="1"/>
          </p:cNvPicPr>
          <p:nvPr/>
        </p:nvPicPr>
        <p:blipFill>
          <a:blip r:embed="rId1"/>
          <a:stretch>
            <a:fillRect/>
          </a:stretch>
        </p:blipFill>
        <p:spPr>
          <a:xfrm>
            <a:off x="960120" y="1051560"/>
            <a:ext cx="457200" cy="457200"/>
          </a:xfrm>
          <a:prstGeom prst="rect">
            <a:avLst/>
          </a:prstGeom>
        </p:spPr>
      </p:pic>
    </p:spTree>
  </p:cSld>
  <p:clrMapOvr>
    <a:masterClrMapping/>
  </p:clrMapOvr>
</p:sld>
</file>

<file path=ppt/theme/theme1.xml><?xml version="1.0" encoding="utf-8"?>
<a:theme xmlns:a="http://schemas.openxmlformats.org/drawingml/2006/main" name="Python basis — Trends">
  <a:themeElements>
    <a:clrScheme name="Python basis — Trends">
      <a:dk1>
        <a:srgbClr val="1B1F3B"/>
      </a:dk1>
      <a:lt1>
        <a:srgbClr val="FFFFFF"/>
      </a:lt1>
      <a:dk2>
        <a:srgbClr val="4A5070"/>
      </a:dk2>
      <a:lt2>
        <a:srgbClr val="EEF1F7"/>
      </a:lt2>
      <a:accent1>
        <a:srgbClr val="F4A259"/>
      </a:accent1>
      <a:accent2>
        <a:srgbClr val="2A9D8F"/>
      </a:accent2>
      <a:accent3>
        <a:srgbClr val="E76F51"/>
      </a:accent3>
      <a:accent4>
        <a:srgbClr val="8AB17D"/>
      </a:accent4>
      <a:accent5>
        <a:srgbClr val="5B8DEF"/>
      </a:accent5>
      <a:accent6>
        <a:srgbClr val="9D8DF1"/>
      </a:accent6>
      <a:hlink>
        <a:srgbClr val="2A9D8F"/>
      </a:hlink>
      <a:folHlink>
        <a:srgbClr val="9D8DF1"/>
      </a:folHlink>
    </a:clrScheme>
    <a:fontScheme name="Python basis — Trend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Hoofdstuk 20 — Trends in programmeren</dc:title>
  <dc:subject>PptxGenJS Presentation</dc:subject>
  <dc:creator>Tom Vanhoutte</dc:creator>
  <cp:lastModifiedBy>Tom Vanhoutte</cp:lastModifiedBy>
  <cp:revision>1</cp:revision>
  <dcterms:created xsi:type="dcterms:W3CDTF">2026-10-25T10:50:22Z</dcterms:created>
  <dcterms:modified xsi:type="dcterms:W3CDTF">2026-10-25T10:50:22Z</dcterms:modified>
</cp:coreProperties>
</file>