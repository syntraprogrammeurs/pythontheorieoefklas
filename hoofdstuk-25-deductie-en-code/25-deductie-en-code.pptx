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gebruiken wat we leerden over deductie om betere code te schrijven.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Valse munt erin? Dan hoeft de automaat niets te beloven. Hetzelfde geldt voor een functie met foute invoer.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 25.02a/b. Zonder assert krijg je een vage ZeroDivisionError, of erger: een fout getal verderop.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-O zet alle asserts uit. Controleer invoer van gebruikers dus nooit met assert. Zie 25.03.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 25.04a. Bij een lege lijst klopt het ook: totaal blijft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 25.04b: het venster krimpt elke ronde.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Zoals sokken sorteren: elke sok moet in een lade, en nooit in twee laden tegelijk.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 25.06a tot 25.06e, één bestand per fout.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Zelfde regels, maar rechts lees je meteen wanneer het stopt. Dit is de contrapositie in code. Zie 25.07.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Oefeningen: 25.1 (vier fouten in één keten) en 25.2 (de invariant die een fout blootlegt).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NKER">
    <p:bg>
      <p:bgPr>
        <a:solidFill>
          <a:srgbClr val="1C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C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HOOFDSTUK 25  ·  PYTHON BASIS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576072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die zichzelf controleert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57607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Beloftes, assert en if-ketens die kloppen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0" y="1325880"/>
            <a:ext cx="2103120" cy="2103120"/>
          </a:xfrm>
          <a:prstGeom prst="ellipse">
            <a:avLst/>
          </a:prstGeom>
          <a:solidFill>
            <a:srgbClr val="2B2F55"/>
          </a:solidFill>
          <a:ln w="12700">
            <a:solidFill>
              <a:srgbClr val="2B2F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0" y="13258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8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80160"/>
            <a:ext cx="2103120" cy="21031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2801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🍬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914400"/>
            <a:ext cx="54864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Een functie is een belofte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965960"/>
            <a:ext cx="54864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snoepautomaat belooft: steek er een echte munt in, dan krijg je snoep.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3749040"/>
            <a:ext cx="54864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functie zegt ook: “Geef me dit, dan geef ik jou dat terug.” Dat heet een contract.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assert: zeg je aanname hardop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5212080" cy="3246120"/>
          </a:xfrm>
          <a:prstGeom prst="roundRect">
            <a:avLst>
              <a:gd name="adj" fmla="val 2817"/>
            </a:avLst>
          </a:prstGeom>
          <a:solidFill>
            <a:srgbClr val="1C1F3B"/>
          </a:solidFill>
          <a:ln w="12700">
            <a:solidFill>
              <a:srgbClr val="1C1F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gemiddelde(punten):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len(punten) &gt; 0, "lege lijst!"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sum(punten) / len(punten)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gemiddelde([])   # stopt meteen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32588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03720" y="15087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0372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📣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080760" y="2423160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Stoppen bij de bron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3108960"/>
            <a:ext cx="24688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Klopt je aanname niet, dan stopt het programma meteen, op de plek waar het misloopt.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assert of raise?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54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🧪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352044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jezelf, de programmeur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Vangt jouw eigen denkfouten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uitgeschakeld worden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554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🚨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468880"/>
            <a:ext cx="352044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de gebruiker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Vangt foute invoer (bv. “abc” als leeftijd)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Blijft altijd werken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Iets dat elke ronde waar blijft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5212080" cy="3246120"/>
          </a:xfrm>
          <a:prstGeom prst="roundRect">
            <a:avLst>
              <a:gd name="adj" fmla="val 2817"/>
            </a:avLst>
          </a:prstGeom>
          <a:solidFill>
            <a:srgbClr val="1C1F3B"/>
          </a:solidFill>
          <a:ln w="12700">
            <a:solidFill>
              <a:srgbClr val="1C1F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totaal =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blz in boeken: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nog steeds waar: totaal is 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som van de boeken tot nu toe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totaal += blz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32588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03720" y="15087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0372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080760" y="2423160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Lusinvariant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3108960"/>
            <a:ext cx="24688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bewering die vóór en na elke ronde klopt. Zo weet je zeker dat de lus juist 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Binair zoeken: het raadspel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04672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627632" y="1783080"/>
            <a:ext cx="786384" cy="0"/>
          </a:xfrm>
          <a:prstGeom prst="line">
            <a:avLst/>
          </a:prstGeom>
          <a:noFill/>
          <a:ln w="25400">
            <a:solidFill>
              <a:srgbClr val="5B607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7200" y="2377440"/>
            <a:ext cx="1426464" cy="2194560"/>
          </a:xfrm>
          <a:prstGeom prst="roundRect">
            <a:avLst>
              <a:gd name="adj" fmla="val 641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68880"/>
            <a:ext cx="124358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tot 100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12435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Raad 50: “hoger!”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05456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05456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328416" y="1783080"/>
            <a:ext cx="786384" cy="0"/>
          </a:xfrm>
          <a:prstGeom prst="line">
            <a:avLst/>
          </a:prstGeom>
          <a:noFill/>
          <a:ln w="25400">
            <a:solidFill>
              <a:srgbClr val="5B607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57984" y="2377440"/>
            <a:ext cx="1426464" cy="2194560"/>
          </a:xfrm>
          <a:prstGeom prst="roundRect">
            <a:avLst>
              <a:gd name="adj" fmla="val 641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49424" y="2468880"/>
            <a:ext cx="124358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tot 100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249424" y="3017520"/>
            <a:ext cx="12435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Raad 75: “lager!”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06240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0624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029200" y="1783080"/>
            <a:ext cx="786384" cy="0"/>
          </a:xfrm>
          <a:prstGeom prst="line">
            <a:avLst/>
          </a:prstGeom>
          <a:noFill/>
          <a:ln w="25400">
            <a:solidFill>
              <a:srgbClr val="5B607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58768" y="2377440"/>
            <a:ext cx="1426464" cy="2194560"/>
          </a:xfrm>
          <a:prstGeom prst="roundRect">
            <a:avLst>
              <a:gd name="adj" fmla="val 641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50208" y="2468880"/>
            <a:ext cx="124358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tot 74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950208" y="3017520"/>
            <a:ext cx="12435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Raad 62: “hoger!”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07024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07024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729984" y="1783080"/>
            <a:ext cx="786384" cy="0"/>
          </a:xfrm>
          <a:prstGeom prst="line">
            <a:avLst/>
          </a:prstGeom>
          <a:noFill/>
          <a:ln w="25400">
            <a:solidFill>
              <a:srgbClr val="5B607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559552" y="2377440"/>
            <a:ext cx="1426464" cy="2194560"/>
          </a:xfrm>
          <a:prstGeom prst="roundRect">
            <a:avLst>
              <a:gd name="adj" fmla="val 641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50992" y="2468880"/>
            <a:ext cx="124358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650992" y="3017520"/>
            <a:ext cx="12435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Telkens de helft weg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07808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07808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7260336" y="2377440"/>
            <a:ext cx="1426464" cy="2194560"/>
          </a:xfrm>
          <a:prstGeom prst="roundRect">
            <a:avLst>
              <a:gd name="adj" fmla="val 641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51776" y="2468880"/>
            <a:ext cx="124358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Gevonden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351776" y="3017520"/>
            <a:ext cx="12435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hoogstens 7 keer raden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617720"/>
            <a:ext cx="7680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Invariant: het getal zit altijd tussen de onder- en de bovengrens.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Een goede if-keten: elk geval precies één keer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000500" cy="3246120"/>
          </a:xfrm>
          <a:prstGeom prst="roundRect">
            <a:avLst>
              <a:gd name="adj" fmla="val 3380"/>
            </a:avLst>
          </a:prstGeom>
          <a:solidFill>
            <a:srgbClr val="E1F3EA"/>
          </a:solidFill>
          <a:ln w="12700">
            <a:solidFill>
              <a:srgbClr val="E1F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4597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4597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🧺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68880"/>
            <a:ext cx="37261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00400"/>
            <a:ext cx="37261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geval past in een tak. Niemand valt erbuiten.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86300" y="1325880"/>
            <a:ext cx="4000500" cy="3246120"/>
          </a:xfrm>
          <a:prstGeom prst="roundRect">
            <a:avLst>
              <a:gd name="adj" fmla="val 3380"/>
            </a:avLst>
          </a:prstGeom>
          <a:solidFill>
            <a:srgbClr val="E1F3EA"/>
          </a:solidFill>
          <a:ln w="12700">
            <a:solidFill>
              <a:srgbClr val="E1F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7507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7507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🧦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823460" y="2468880"/>
            <a:ext cx="37261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Elkaar uitsluitend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823460" y="3200400"/>
            <a:ext cx="37261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enkel geval past in twee takken tegelijk.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fouten in een if-keten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1885950" cy="3246120"/>
          </a:xfrm>
          <a:prstGeom prst="roundRect">
            <a:avLst>
              <a:gd name="adj" fmla="val 5818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8695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8695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🗑️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68880"/>
            <a:ext cx="161163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gulzige else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00400"/>
            <a:ext cx="161163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else vangt ook gevallen die je niet bedoelde.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71750" y="1325880"/>
            <a:ext cx="1885950" cy="3246120"/>
          </a:xfrm>
          <a:prstGeom prst="roundRect">
            <a:avLst>
              <a:gd name="adj" fmla="val 5818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3245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03245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🔀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708910" y="2468880"/>
            <a:ext cx="161163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08910" y="3200400"/>
            <a:ext cx="161163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takken voor hetzelfde geval.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86300" y="1325880"/>
            <a:ext cx="1885950" cy="3246120"/>
          </a:xfrm>
          <a:prstGeom prst="roundRect">
            <a:avLst>
              <a:gd name="adj" fmla="val 5818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7795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17795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🚧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823460" y="2468880"/>
            <a:ext cx="161163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Onbereikbaar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23460" y="3200400"/>
            <a:ext cx="161163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tak die nooit kan uitgevoerd worden.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00850" y="1325880"/>
            <a:ext cx="1885950" cy="3246120"/>
          </a:xfrm>
          <a:prstGeom prst="roundRect">
            <a:avLst>
              <a:gd name="adj" fmla="val 5818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32345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32345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🕳️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6938010" y="2468880"/>
            <a:ext cx="161163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Vergeten geval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38010" y="3200400"/>
            <a:ext cx="161163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geval waar geen tak voor 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Bewaakclausules: problemen eerst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54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🪆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Diep genest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352044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lid: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betaald: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geschorst: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lenen()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E1F3EA"/>
          </a:solidFill>
          <a:ln w="12700">
            <a:solidFill>
              <a:srgbClr val="E1F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554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🚪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Problemen eerst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468880"/>
            <a:ext cx="352044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lid: return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betaald: return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geschorst: return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lenen()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Onthoud dit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685800" cy="6858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417320"/>
            <a:ext cx="6949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functie is een belofte: geef dit, krijg dat.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685800" cy="6858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560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468880"/>
            <a:ext cx="6949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voor je eigen fouten, raise voor foute invoer.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685800" cy="6858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611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520440"/>
            <a:ext cx="6949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if-keten is volledig en zonder overlap.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ython basis eenvoudig">
  <a:themeElements>
    <a:clrScheme name="Python basis eenvoudig">
      <a:dk1>
        <a:srgbClr val="1C1F3B"/>
      </a:dk1>
      <a:lt1>
        <a:srgbClr val="FFFFFF"/>
      </a:lt1>
      <a:dk2>
        <a:srgbClr val="2B2F55"/>
      </a:dk2>
      <a:lt2>
        <a:srgbClr val="F0F2F8"/>
      </a:lt2>
      <a:accent1>
        <a:srgbClr val="F4A259"/>
      </a:accent1>
      <a:accent2>
        <a:srgbClr val="2E9E6B"/>
      </a:accent2>
      <a:accent3>
        <a:srgbClr val="D64545"/>
      </a:accent3>
      <a:accent4>
        <a:srgbClr val="3A7CA5"/>
      </a:accent4>
      <a:accent5>
        <a:srgbClr val="8E7CC3"/>
      </a:accent5>
      <a:accent6>
        <a:srgbClr val="5B6075"/>
      </a:accent6>
      <a:hlink>
        <a:srgbClr val="3A7CA5"/>
      </a:hlink>
      <a:folHlink>
        <a:srgbClr val="8E7CC3"/>
      </a:folHlink>
    </a:clrScheme>
    <a:fontScheme name="Python basis eenvoudi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Deductie en code</dc:title>
  <dc:subject>PptxGenJS Presentation</dc:subject>
  <dc:creator>Tom Vanhoutte</dc:creator>
  <cp:lastModifiedBy>Tom Vanhoutte</cp:lastModifiedBy>
  <cp:revision>1</cp:revision>
  <dcterms:created xsi:type="dcterms:W3CDTF">2026-10-28T10:30:51Z</dcterms:created>
  <dcterms:modified xsi:type="dcterms:W3CDTF">2026-10-28T10:30:51Z</dcterms:modified>
</cp:coreProperties>
</file>