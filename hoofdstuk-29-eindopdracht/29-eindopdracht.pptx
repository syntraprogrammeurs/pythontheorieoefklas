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leiding" id="{8cc383d6-7168-c279-c362-d5e1ce6871f4}">
          <p14:sldIdLst>
            <p14:sldId id="256"/>
            <p14:sldId id="257"/>
          </p14:sldIdLst>
        </p14:section>
        <p14:section name="De opdracht" id="{a2ad73d7-0de9-676a-7bd6-90065cdb6526}">
          <p14:sldIdLst>
            <p14:sldId id="258"/>
            <p14:sldId id="259"/>
          </p14:sldIdLst>
        </p14:section>
        <p14:section name="De eisen" id="{f2f3b2e2-e64a-1723-aee1-d829963ca02c}">
          <p14:sldIdLst>
            <p14:sldId id="260"/>
            <p14:sldId id="261"/>
            <p14:sldId id="262"/>
            <p14:sldId id="263"/>
            <p14:sldId id="264"/>
            <p14:sldId id="265"/>
          </p14:sldIdLst>
        </p14:section>
        <p14:section name="Wat je oplevert" id="{fa13420a-124d-1560-53d7-c03ee1f59069}">
          <p14:sldIdLst>
            <p14:sldId id="266"/>
            <p14:sldId id="267"/>
          </p14:sldIdLst>
        </p14:section>
        <p14:section name="Hoe er beoordeeld wordt" id="{0d3b42ed-4fbb-b88c-0df4-53ce026f9f3d}">
          <p14:sldIdLst>
            <p14:sldId id="268"/>
            <p14:sldId id="269"/>
          </p14:sldIdLst>
        </p14:section>
        <p14:section name="Het werkplan" id="{324eb2b9-2d8d-4993-3a74-bc24794cdb17}">
          <p14:sldIdLst>
            <p14:sldId id="270"/>
            <p14:sldId id="271"/>
            <p14:sldId id="272"/>
          </p14:sldIdLst>
        </p14:section>
        <p14:section name="Waar het meestal misgaat" id="{ea8ab7c2-21ca-0376-6cbb-325d1da18973}">
          <p14:sldIdLst>
            <p14:sldId id="273"/>
            <p14:sldId id="274"/>
          </p14:sldIdLst>
        </p14:section>
        <p14:section name="De inleverlijst" id="{a0a539cd-418c-02f0-df94-1ccf6013331f}">
          <p14:sldIdLst>
            <p14:sldId id="275"/>
            <p14:sldId id="276"/>
          </p14:sldIdLst>
        </p14:section>
        <p14:section name="Oefening 29.1 — De eisen ontleden" id="{97400946-b13c-78d9-8e17-7c914cd4c9f7}">
          <p14:sldIdLst>
            <p14:sldId id="277"/>
            <p14:sldId id="278"/>
            <p14:sldId id="279"/>
            <p14:sldId id="280"/>
            <p14:sldId id="281"/>
            <p14:sldId id="282"/>
            <p14:sldId id="283"/>
            <p14:sldId id="284"/>
            <p14:sldId id="285"/>
          </p14:sldIdLst>
        </p14:section>
        <p14:section name="Oefening 29.2 — De kern bouwen en testen" id="{b3f853b7-3598-7b96-b2a1-1e4b14dd5989}">
          <p14:sldIdLst>
            <p14:sldId id="286"/>
            <p14:sldId id="287"/>
            <p14:sldId id="288"/>
            <p14:sldId id="289"/>
            <p14:sldId id="290"/>
            <p14:sldId id="291"/>
            <p14:sldId id="292"/>
            <p14:sldId id="293"/>
            <p14:sldId id="294"/>
            <p14:sldId id="295"/>
            <p14:sldId id="296"/>
          </p14:sldIdLst>
        </p14:section>
        <p14:section name="Afsluiting" id="{2f47c2de-784e-10a0-fd65-74ad42fa9424}">
          <p14:sldIdLst>
            <p14:sldId id="297"/>
            <p14:sldId id="298"/>
            <p14:sldId id="299"/>
            <p14:sldId id="300"/>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laatste hoofdstuk van de cursus. Het bevat geen nieuwe leerstof, maar de opdracht, de eisen, de beoordeling en een werkplan. Je gebruikt alles, van de werkplek uit hoofdstuk 1 tot de testtechnieken uit hoofdstuk 28. De twee klassikale oefeningen zetten de eerste stappen van het werkplan samen met jullie, zodat niemand met een leeg scherm begint.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gebruikt uit de vorige hoofdstukken letterlijk alles, van de werkplek uit hoofdstuk 1 tot de testtechnieken uit hoofdstuk 28. Officiële leerinhoud: Afsluiting. De twee klassikale oefeningen zijn het begin van het werkplan: je begint dus niet met een leeg scherm.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Terminal: dus een menu met input() en print(), zoals je in de hoofdstukken over selectie en iteratie leerde. Bestanden: dus CSV of JSON, zoals in hoofdstuk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oefenbundel staan drie uitgewerkte varianten: A, B en C. Je mag ook een eigen situatie voorstellen, mits de docent ze goedkeurt. De belangrijkste raad zit onderaan: kies een wereld die je kent. De vuistregel met de wanbetaler is een goede toets: als je dat niet in vijf minuten kunt uitleggen, ken je de regels niet goed genoeg om ze te programmeren.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Bij elke eis staat uit welk hoofdstuk de kennis komt. Weet je niet meer hoe iets moet, dan weet je meteen waar je het terugvindt.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overzicht vóór de details. Niveau 1 telt twaalf eisen en is genoeg om te slagen. Niveau 2 en 3 tellen elk vijf eisen. De kleur van elk niveau komt terug als streep op de volgende dia's, zodat je altijd ziet in welk niveau je zit.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eerste zes verplichte eisen gaan over wat het programma doet. Let op eis 2: minstens twee soorten dingen, dus niet alleen leden maar bijvoorbeeld ook lessen. Eis 3 is het rijtje dat je bij elk beheerprogramma terugziet: toevoegen, tonen, zoeken, aanpassen, verwijderen. Eis 5 is streng bedoeld: het programma crasht nooit, wat de gebruiker ook typt.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Eis 7 en 9 horen samen: een berekening met een echte regel, en tests die die regel op de grenzen controleren. De laatste drie eisen gaan niet over code maar over oplevering: Git, een README en de twee bestanden die elke repository hoort te hebben. Vijftien commits betekent: niet alles op de laatste avond.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Niveau 2 maakt van een werkend programma een professioneel programma. Drie modules sluit aan bij de mapstructuur die je straks ziet (model, opslag, regels, menu). Logging en GitHub Actions komen uit hoofdstuk 21 over DevOps; pre- en postcondities uit hoofdstuk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Niveau 3 is voor wie uitgedaagd wil worden. Bij eis 18: elke wijziging zet je met append() op een lijst, en ongedaan maken haalt met pop() de laatste eraf. Eis 19 vraagt dat het venster dezelfde functies hergebruikt: nog een reden om de kern los van het menu te bouwen. Eis 22 is geen code maar een verslag in je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vaste structuur maakt het voor jou én voor de docent gemakkelijk om iets terug te vinden.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Overloop de boom van boven naar onder. De map .github/workflows met controle.yml is alleen nodig voor niveau 2 (eis 17). In src staan vier modules, elk met één taak: model.py de klassen, opslag.py lezen en schrijven, regels.py de berekeningen, menu.py de bediening. main.py is het startpunt. De sneltoets: in VS Code maak je die hele boomstructuur het snelst met de geïntegreerde terminal en mkdir, en met Ctrl+P spring je naar elk bestand. Wie die twee gewoontes overneemt, wint elke dag minuten terug.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Kijk bij de volgende dia vooral naar de verhouding tussen de gewichten.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groene balken zijn de eerste twee rijen: samen de helft van de punten. De oranje balken zijn de rest: leesbaarheid, testen, Git en documentatie, samen ook de helft. Bij testen gaat de vraag over hoe je de gevallen koos: gekozen met klassen en grenzen, of zomaar bedacht. Bij documentatie: kan iemand anders je programma starten zonder dat jij erbij bent?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Tien stappen. De volgorde is het belangrijkste deel van dit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Stap 1 tot 3 zijn ontwerp: beschrijven, gegevens vastleggen, regels als contract. Dat doe je in oefening 29.1. Stap 4 en 5 zijn de kern met zijn tests: dat is oefening 29.2. Stap 6 tot 10 doe je zelfstandig. Kijk naar stap 7: het menu komt pas als voorlaatste echte bouwstap. Bij elke stap staat uit welk hoofdstuk de kennis komt.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menu is de gemakkelijkste code van het hele project en de moeilijkste om te testen: er zit invoer in, en dus kan een testprogramma er niet bij. Wie eerst het menu bouwt, heeft een programma waarin de logica verstopt zit tussen input() en print(), en dat is precies wat je niet kunt controleren. Bouw je eerst de kern, dan kun je die volledig testen zonder één keer iets te typen. Het menu wordt dan een dunne laag rond de kern.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Elke valkuil hieronder komt elk jaar terug. Wie ze vooraf kent, kan ze ontwijken.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Overloop de tabel rij per rij. Drie valkuilen verwijzen naar het werkplan: beginnen met het menu (stap 7 hoort laat), gegevens in het geheugen laten (opslag is stap 6) en regels verzinnen tijdens het bouwen (stap 1 tot 3 eerst). De floatvalkuil komt uit hoofdstuk 6 en je ziet ze terug in oefening 29.1: daar staan alle bedragen in centen.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Tien controles die samen een paar minuten duren.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lijst openstaan naast je laatste werksessie en vink af. Punt 6 en 7 zijn de crashtests: probeer zelf een lege invoer, een letter waar een getal hoort, een negatief getal, en start het programma een keer zonder gegevensbestand en met een leeg bestand. Punt 9 gaat over de print-regels die je tijdens het zoeken naar fouten toevoegde: die horen er niet meer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Deze oefening heeft geen code. Het antwoord is een redenering: eisen, een gegevensmodel, vragen en een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Lees de brief samen voor. Laat de groep daarna in kleine groepjes de vijf opdrachten doen; reken ongeveer tien minuten per opdracht. De uitwerking staat op de volgende dia's, in dezelfde volgorde: eisen, gegevensmodel, wat ontbreekt, vragen aan de klant, en het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Acht eisen uit één korte brief. De rechterkolom is het belangrijkste: elke eis wordt gekoppeld aan de zin van de klant waar ze uit volgt. Eis 5, de berekening van het lidgeld, is gemarkeerd: dat is de rekenregel die je straks als contract opschrijft en in oefening 29.2 bouwt.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Drie dingen: Lid, Groep en Aanwezigheid. Een lid verwijst naar zijn groep via groep_id, een aanwezigheid naar een lid via lid_nummer. Het nummer noemt de klant niet, maar jij hebt het nodig om elk lid uniek aan te duiden. gezin_id is int of None: None voor wie niet bij een gezin hoort. De datum staat in ISO-vorm, jaar-maand-dag, zodat sorteren als tekst ook chronologisch sorteert.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Beide keuzes komen uit eerdere hoofdstukken. Een leeftijd die je opslaat, klopt volgend jaar niet meer; het geboortejaar blijft altijd juist, en de leeftijd bereken je op het moment dat je ze nodig hebt. En bedragen: kommagetallen zijn in de computer niet exact, daarom is 0.1 + 0.2 == 0.3 onwaar. Met hele centen als int klopt elke optelling; pas bij het tonen deel je door honderd. Het liggende streepje in 12_000 is alleen voor de leesbaarheid.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Negen plaatsen waar de brief iets openlaat of waar twee dingen botsen. Let op het verschil tussen nummer 4 en de rest: drie keer na elkaar of drie keer in totaal geeft twee totaal verschillende programma's. Nummer 9 is een speciaal geval: eenvoudig is geen eis die je kunt controleren, maar een wens.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Eis 5 en eis 8 verwijzen hier naar de tabel met functionele eisen van deze oefening (de lidgeldberekening en de lijst van wanbetalers), niet naar de 22 eisen van de eindopdracht. De tweede vraag bepaalt ook je gegevensmodel: als de korting afhangt van het hoeveelste gezinslid iemand is, moet je dat ergens kunnen bijhouden.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verzwegen premisse is een aanname die niet uitgesproken wordt maar wel nodig is om tot de conclusie te komen; dat begrip leerde je in hoofdstuk 22. Wie zelf beslist dat drie keer afwezig 'drie keer in totaal' betekent, legt zo'n aanname vast in code. De vergelijking rechts komt uit de bundel: één vraag stellen kost vijf minuten, één verkeerde aanname kost een halve dag herbouwen, plus het vertrouwen van de klant.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 de antwoorden van de klant kun je de regel als contract opschrijven, zoals in hoofdstuk 25. De preconditie zegt wat er geldig is als invoer: een geboortejaar tussen 1900 en nu, en een rang in het gezin van minstens 1. De postconditie zegt wat de functie belooft: een geheel aantal centen tussen 0 en 12000. De regel zelf staat in de derde rij. rang_in_gezin is het hoeveelste lid van een gezin iemand is: 1 voor het eerste, 2 voor het tweede. In oefening 29.2 wordt dit contract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code van deze oefening staat in de codemap van hoofdstuk 29, in de map 29.09: uitwerking-a.py is de kern, uitwerking-b de tests. Op de dia's is het commentaar ingekort; in de codemap staat het volledig.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Vier opdrachten, in deze volgorde. De klasse Lid gebruikt de velden van het gegevensmodel uit oefening 29.1, plus rang_in_gezin, dat het contract nodig heeft. De functie lidgeld_centen volgt het contract van de vorige dia. De tests kies je met de technieken uit hoofdstuk 28. En de vierde opdracht is het bewijs dat het werkplan werkt: alles draait zonder één keer iets te typen.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kern begint met constanten (hoofdstuk 5): verandert het tarief, dan pas je één regel aan in plaats van overal in de code. Alle bedragen staan in hele centen. De klasse Lid (hoofdstuk 18) bevat de velden uit het gegevensmodel, plus rang_in_gezin voor de gezinskorting. strip() haalt spaties vooraan en achteraan weg; een naam van alleen spaties wordt zo een lege string, en die telt als onwaar. Belangrijk: een assert is bedoeld voor programmeerfouten. Python kan asserts zelfs uitschakelen met python -O. Invoer van de gebruiker controleer je dus met een gewone if en een duidelijke melding.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leeftijd is een methode, geen attribuut: je roept ze op met haakjes, lid.leeftijd(). openstaand_centen trekt af wat al betaald is van het lidgeld, en max(0, ...) geeft de grootste van de twee terug, dus nooit een negatief bedrag. __repr__ bepaalt hoe een Lid eruitziet als je het afdrukt in een lijst; zonder die methode zie je iets als &lt;__main__.Lid object at 0x...&gt;. in_euro zet centen om naar tekst met een komma, de Belgische schrijfwijze. Dat gebeurt pas bij het tonen, nooit tijdens het rekenen.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het contract uit oefening 29.1, nu als code. Eerst controleert de functie de precondities en gooit ze een fout op als er iets niet klopt (hoofdstuk 15). De extra test op bool is de valkuil uit hoofdstuk 28: True is in Python ook een int, met de waarde 1, en zou zonder die test pas verderop een ValueError geven in plaats van een TypeError. De voorwaardelijke uitdrukking 'A if voorwaarde else B' kiest het tarief. De korting is vast: het derde of vijfde gezinslid krijgt dezelfde 15 euro. Op het einde controleert een assert de postconditie: faalt die ooit, dan zit de fout in deze functie zelf.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Vier leden die elk een ander geval dekken. groep_id=2 is een trefwoordargument: je noemt de parameter bij naam. Betalingen registreer je door het attribuut van het object rechtstreeks aan te passen. Het overzicht gebruikt f-strings met uitlijning (hoofdstuk 6): bedragen rechts uitgelijnd, zodat de cijfers onder elkaar staan. Drie f-strings na elkaar tussen haakjes worden aan elkaar geplakt tot één tekst. De lijst van wanbetalers is een filter met een list comprehension (hoofdstuk 14); sum telt alle openstaande bedragen op, nog altijd in centen.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de uitvoer van uitwerking-a.py, zelf nagedraaid. Reken twee rijen samen na. Bram is 14, betaalt het jeugdtarief van 90 euro en heeft al 50 euro betaald: nog 40 open. Cato is 11 en het tweede gezinslid: 90 min 15 is 75 euro. Anke is volledig betaald en staat daarom niet in de lijst van wanbetalers. Het totaal klopt tot op de cent, omdat er in centen gerekend wordt.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Positieve tests geven geldige invoer met het bedrag dat je verwacht; negatieve tests (28.8) geven ongeldige invoer met de fout die je verwacht. De leeftijd is 2026 min het geboortejaar. Grenswaardenanalyse (28.4): 2010, 2009 en 2008 zijn 16, 17 en 18 jaar, net eronder, erop en erboven. 1990 staat voor de klasse 'gewoon volwassen' (28.3). De string "1990" is precies wat input() je zou geven. True test de bool-valkuil. Het commentaar achter de ongeldige gevallen staat in de codemap boven de lijst; hier staat het per regel.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testloper (28.7) in drie delen. Deel 1 vergelijkt werkelijk met verwacht. Deel 2 probeert elke ongeldige invoer: komt de verwachte fout, dan gaat hij met continue naar het volgende geval; komt een andere fout of helemaal geen fout, dan wordt dat genoteerd. Deel 3 gaat de postconditie na voor elk jaar van 1900 tot en met 2026 (de + 1 is nodig omdat range de bovengrens niet meetelt), met rang 1 en 2. Meer rangen zijn niet nodig: vanaf rang 2 is de korting dezelfde. De gefaald.append-regels en het verslag zijn ingekort; de volledige code staat in de codemap. De uitvoer is zelf nagedraaid.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Elke rij koppelt een keuze in de code aan een eerder hoofdstuk. De laatste rij verdient extra aandacht: wie rang * korting schrijft, geeft het vijfde gezinslid vijf keer korting. Met alleen rang 1 en 2 als testgevallen merk je dat niet. Het geval met rang 5 is precies het geval dat niemand verzint zonder erover na te denken.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twee oefeningen hebben de eerste vijf stappen van het werkplan samen gezet: beschrijven, gegevens vastleggen, contracten, de kern en de tests. Stap 6 tot en met 10 doe je zelf: opslag, menu, foutafhandeling, Ruff en opruimen, README en de laatste commit. Voor je eigen situatie herhaal je natuurlijk ook stap 1 tot 5: de turnclub was het oefenvoorbeeld.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afsluiting van de cursus: wat je kunt, en wat de logische volgende stappen zijn.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eerste helft van de lijst gaat over de taal zelf, van de werkplek uit hoofdstuk 1 tot klassen in hoofdstuk 18. Wie een punt niet kan, weet welk hoofdstuk hij moet herlezen: de volgorde van de lijst volgt grotendeels de volgorde van de cursus.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tweede helft gaat verder dan Python: tkinter, trends, DevOps, het logicablok en testen. Het laatste punt is gemarkeerd: dat is de eindopdracht zelf.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Kijk nog één keer naar hoofdstuk 20 over trends: het meeste van wat links staat, is variatie op wat je al kent. Wat níet verandert, is wat deze cursus je gaf: opdelen, benoemen, controleren, en kunnen zeggen waarom iets klopt. Dat is ook de reden dat het logicablok achteraan stond en niet vooraan: je moest eerst code hebben geschreven om te zien waar het over 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laatste git-commando's die de cursus voorschrijft. git log --oneline toont de hele geschiedenis, één regel per commit. Dat is meer waard dan het eindresultaat: het toont hoe je er gekomen bent. Succes met de eindopdracht.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p:bg>
      <p:bgPr>
        <a:solidFill>
          <a:srgbClr val="1B1F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lstStyle>
            <a:lvl1pPr algn="l" indent="0" marL="0">
              <a:buNone/>
              <a:defRPr lang="en-US" sz="2200" dirty="0">
                <a:solidFill>
                  <a:schemeClr val="accent1"/>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e">
    <p:bg>
      <p:bgPr>
        <a:solidFill>
          <a:srgbClr val="1B1F3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3657600" cy="1463040"/>
          </a:xfrm>
          <a:prstGeom prst="rect">
            <a:avLst/>
          </a:prstGeom>
          <a:noFill/>
          <a:ln/>
        </p:spPr>
        <p:txBody>
          <a:bodyPr wrap="square" rtlCol="0"/>
          <a:lstStyle>
            <a:lvl1pPr indent="0" marL="0">
              <a:buNone/>
              <a:defRPr lang="en-US" sz="9600" b="1" dirty="0">
                <a:solidFill>
                  <a:schemeClr val="accent1"/>
                </a:solidFill>
                <a:latin typeface="Cambria" pitchFamily="34" charset="0"/>
                <a:ea typeface="Cambria" pitchFamily="34" charset="-122"/>
                <a:cs typeface="Cambria" pitchFamily="34" charset="-120"/>
              </a:defRPr>
            </a:lvl1pPr>
          </a:lstStyle>
          <a:p>
            <a:pPr indent="0" marL="0">
              <a:buNone/>
            </a:pPr>
            <a:endParaRPr lang="en-US" sz="9600" dirty="0"/>
          </a:p>
        </p:txBody>
      </p:sp>
      <p:sp>
        <p:nvSpPr>
          <p:cNvPr id="3" name="Text 0"/>
          <p:cNvSpPr/>
          <p:nvPr>
            <p:ph idx="101" type="title" hasCustomPrompt="1"/>
          </p:nvPr>
        </p:nvSpPr>
        <p:spPr>
          <a:xfrm>
            <a:off x="731520" y="3017520"/>
            <a:ext cx="1069848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4206240"/>
            <a:ext cx="9601200" cy="10972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houd">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tx2"/>
                </a:solidFill>
              </a:rPr>
              <a:t>Python basis  ·  Hoofdstuk 29  ·  Eindopdracht: alles samen</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slideLayout" Target="../slideLayouts/slideLayout4.xml"/><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4.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4.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slideLayout" Target="../slideLayouts/slideLayout4.xml"/><Relationship Id="rId8"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slideLayout" Target="../slideLayouts/slideLayout4.xml"/><Relationship Id="rId8"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lIns="0" tIns="0" rIns="0" bIns="0" rtlCol="0" anchor="b"/>
          <a:lstStyle/>
          <a:p>
            <a:pPr algn="l" indent="0" marL="0">
              <a:buNone/>
            </a:pPr>
            <a:r>
              <a:rPr lang="en-US" sz="5400" b="1" dirty="0">
                <a:solidFill>
                  <a:schemeClr val="bg1"/>
                </a:solidFill>
              </a:rPr>
              <a:t>Eindopdracht: alles samen</a:t>
            </a:r>
            <a:endParaRPr lang="en-US" sz="5400" dirty="0"/>
          </a:p>
        </p:txBody>
      </p:sp>
      <p:sp>
        <p:nvSpPr>
          <p:cNvPr id="3" name="Text 0"/>
          <p:cNvSpPr/>
          <p:nvPr>
            <p:ph idx="101" type="body" hasCustomPrompt="1"/>
          </p:nvPr>
        </p:nvSpPr>
        <p:spPr>
          <a:xfrm>
            <a:off x="731520" y="3611880"/>
            <a:ext cx="10698480" cy="1097280"/>
          </a:xfrm>
          <a:prstGeom prst="rect">
            <a:avLst/>
          </a:prstGeom>
          <a:noFill/>
          <a:ln/>
        </p:spPr>
        <p:txBody>
          <a:bodyPr wrap="square" lIns="0" tIns="0" rIns="0" bIns="0" rtlCol="0" anchor="t"/>
          <a:lstStyle/>
          <a:p>
            <a:pPr algn="l" indent="0" marL="0">
              <a:buNone/>
            </a:pPr>
            <a:r>
              <a:rPr lang="en-US" sz="2200" dirty="0">
                <a:solidFill>
                  <a:schemeClr val="accent1"/>
                </a:solidFill>
              </a:rPr>
              <a:t>Zelfstandig een programma van enkele honderden regels ontwerpen, bouwen, testen en opleveren</a:t>
            </a:r>
            <a:endParaRPr lang="en-US" sz="2200" dirty="0"/>
          </a:p>
        </p:txBody>
      </p:sp>
      <p:sp>
        <p:nvSpPr>
          <p:cNvPr id="4" name="Text 2"/>
          <p:cNvSpPr txBox="1"/>
          <p:nvPr/>
        </p:nvSpPr>
        <p:spPr>
          <a:xfrm>
            <a:off x="731520" y="1463040"/>
            <a:ext cx="7315200" cy="365760"/>
          </a:xfrm>
          <a:prstGeom prst="rect">
            <a:avLst/>
          </a:prstGeom>
          <a:noFill/>
          <a:ln/>
        </p:spPr>
        <p:txBody>
          <a:bodyPr wrap="square" lIns="0" tIns="0" rIns="0" bIns="0" rtlCol="0" anchor="t"/>
          <a:lstStyle/>
          <a:p>
            <a:pPr indent="0" marL="0">
              <a:buNone/>
            </a:pPr>
            <a:r>
              <a:rPr lang="en-US" sz="1600" b="1" spc="300" kern="0" dirty="0">
                <a:solidFill>
                  <a:schemeClr val="bg2"/>
                </a:solidFill>
              </a:rPr>
              <a:t>HOOFDSTUK 29  ·  PYTHON BASIS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Wat je in dit hoofdstuk leert</a:t>
            </a:r>
            <a:endParaRPr lang="en-US" sz="3400" dirty="0"/>
          </a:p>
        </p:txBody>
      </p:sp>
      <p:sp>
        <p:nvSpPr>
          <p:cNvPr id="3" name="kaart"/>
          <p:cNvSpPr/>
          <p:nvPr/>
        </p:nvSpPr>
        <p:spPr>
          <a:xfrm>
            <a:off x="548640" y="1508760"/>
            <a:ext cx="3474720"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4" name="icooncirkel"/>
          <p:cNvSpPr/>
          <p:nvPr/>
        </p:nvSpPr>
        <p:spPr>
          <a:xfrm>
            <a:off x="868680" y="1783080"/>
            <a:ext cx="822960" cy="822960"/>
          </a:xfrm>
          <a:prstGeom prst="ellipse">
            <a:avLst/>
          </a:prstGeom>
          <a:solidFill>
            <a:schemeClr val="accent2"/>
          </a:solidFill>
          <a:ln w="12700">
            <a:solidFill>
              <a:schemeClr val="accent2"/>
            </a:solidFill>
            <a:prstDash val="solid"/>
          </a:ln>
        </p:spPr>
      </p:sp>
      <p:pic>
        <p:nvPicPr>
          <p:cNvPr id="5" name="icoon" descr="preencoded.png">    </p:cNvPr>
          <p:cNvPicPr>
            <a:picLocks noChangeAspect="1"/>
          </p:cNvPicPr>
          <p:nvPr/>
        </p:nvPicPr>
        <p:blipFill>
          <a:blip r:embed="rId1"/>
          <a:stretch>
            <a:fillRect/>
          </a:stretch>
        </p:blipFill>
        <p:spPr>
          <a:xfrm>
            <a:off x="1074420" y="1988820"/>
            <a:ext cx="411480" cy="411480"/>
          </a:xfrm>
          <a:prstGeom prst="rect">
            <a:avLst/>
          </a:prstGeom>
        </p:spPr>
      </p:pic>
      <p:sp>
        <p:nvSpPr>
          <p:cNvPr id="6" name="Text 3"/>
          <p:cNvSpPr txBox="1"/>
          <p:nvPr/>
        </p:nvSpPr>
        <p:spPr>
          <a:xfrm>
            <a:off x="868680" y="2834640"/>
            <a:ext cx="2834640" cy="73152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De opdracht en de eisen</a:t>
            </a:r>
            <a:endParaRPr lang="en-US" sz="2000" dirty="0"/>
          </a:p>
        </p:txBody>
      </p:sp>
      <p:sp>
        <p:nvSpPr>
          <p:cNvPr id="7" name="Text 4"/>
          <p:cNvSpPr txBox="1"/>
          <p:nvPr/>
        </p:nvSpPr>
        <p:spPr>
          <a:xfrm>
            <a:off x="868680" y="3611880"/>
            <a:ext cx="2834640" cy="1097280"/>
          </a:xfrm>
          <a:prstGeom prst="rect">
            <a:avLst/>
          </a:prstGeom>
          <a:noFill/>
          <a:ln/>
        </p:spPr>
        <p:txBody>
          <a:bodyPr wrap="square" lIns="0" tIns="0" rIns="0" bIns="0" rtlCol="0" anchor="t"/>
          <a:lstStyle/>
          <a:p>
            <a:pPr indent="0" marL="0">
              <a:buNone/>
            </a:pPr>
            <a:r>
              <a:rPr lang="en-US" sz="1500" dirty="0">
                <a:solidFill>
                  <a:schemeClr val="tx2"/>
                </a:solidFill>
              </a:rPr>
              <a:t>Wat je bouwt, de 22 eisen in drie niveaus, wat je oplevert en hoe er beoordeeld wordt.</a:t>
            </a:r>
            <a:endParaRPr lang="en-US" sz="1500" dirty="0"/>
          </a:p>
        </p:txBody>
      </p:sp>
      <p:sp>
        <p:nvSpPr>
          <p:cNvPr id="8" name="kaart"/>
          <p:cNvSpPr/>
          <p:nvPr/>
        </p:nvSpPr>
        <p:spPr>
          <a:xfrm>
            <a:off x="4297680" y="1508760"/>
            <a:ext cx="3474720"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9" name="icooncirkel"/>
          <p:cNvSpPr/>
          <p:nvPr/>
        </p:nvSpPr>
        <p:spPr>
          <a:xfrm>
            <a:off x="4617720" y="1783080"/>
            <a:ext cx="822960" cy="822960"/>
          </a:xfrm>
          <a:prstGeom prst="ellipse">
            <a:avLst/>
          </a:prstGeom>
          <a:solidFill>
            <a:schemeClr val="accent1"/>
          </a:solidFill>
          <a:ln w="12700">
            <a:solidFill>
              <a:schemeClr val="accent1"/>
            </a:solidFill>
            <a:prstDash val="solid"/>
          </a:ln>
        </p:spPr>
      </p:sp>
      <p:pic>
        <p:nvPicPr>
          <p:cNvPr id="10" name="icoon" descr="preencoded.png">    </p:cNvPr>
          <p:cNvPicPr>
            <a:picLocks noChangeAspect="1"/>
          </p:cNvPicPr>
          <p:nvPr/>
        </p:nvPicPr>
        <p:blipFill>
          <a:blip r:embed="rId2"/>
          <a:stretch>
            <a:fillRect/>
          </a:stretch>
        </p:blipFill>
        <p:spPr>
          <a:xfrm>
            <a:off x="4823460" y="1988820"/>
            <a:ext cx="411480" cy="411480"/>
          </a:xfrm>
          <a:prstGeom prst="rect">
            <a:avLst/>
          </a:prstGeom>
        </p:spPr>
      </p:pic>
      <p:sp>
        <p:nvSpPr>
          <p:cNvPr id="11" name="Text 7"/>
          <p:cNvSpPr txBox="1"/>
          <p:nvPr/>
        </p:nvSpPr>
        <p:spPr>
          <a:xfrm>
            <a:off x="4617720" y="2834640"/>
            <a:ext cx="2834640" cy="73152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Het werkplan</a:t>
            </a:r>
            <a:endParaRPr lang="en-US" sz="2000" dirty="0"/>
          </a:p>
        </p:txBody>
      </p:sp>
      <p:sp>
        <p:nvSpPr>
          <p:cNvPr id="12" name="Text 8"/>
          <p:cNvSpPr txBox="1"/>
          <p:nvPr/>
        </p:nvSpPr>
        <p:spPr>
          <a:xfrm>
            <a:off x="4617720" y="3611880"/>
            <a:ext cx="2834640" cy="1097280"/>
          </a:xfrm>
          <a:prstGeom prst="rect">
            <a:avLst/>
          </a:prstGeom>
          <a:noFill/>
          <a:ln/>
        </p:spPr>
        <p:txBody>
          <a:bodyPr wrap="square" lIns="0" tIns="0" rIns="0" bIns="0" rtlCol="0" anchor="t"/>
          <a:lstStyle/>
          <a:p>
            <a:pPr indent="0" marL="0">
              <a:buNone/>
            </a:pPr>
            <a:r>
              <a:rPr lang="en-US" sz="1500" dirty="0">
                <a:solidFill>
                  <a:schemeClr val="tx2"/>
                </a:solidFill>
              </a:rPr>
              <a:t>Tien stappen in de goede volgorde, en waar het meestal misgaat.</a:t>
            </a:r>
            <a:endParaRPr lang="en-US" sz="1500" dirty="0"/>
          </a:p>
        </p:txBody>
      </p:sp>
      <p:sp>
        <p:nvSpPr>
          <p:cNvPr id="13" name="kaart"/>
          <p:cNvSpPr/>
          <p:nvPr/>
        </p:nvSpPr>
        <p:spPr>
          <a:xfrm>
            <a:off x="8046720" y="1508760"/>
            <a:ext cx="3474720"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4" name="icooncirkel"/>
          <p:cNvSpPr/>
          <p:nvPr/>
        </p:nvSpPr>
        <p:spPr>
          <a:xfrm>
            <a:off x="8366760" y="1783080"/>
            <a:ext cx="822960" cy="822960"/>
          </a:xfrm>
          <a:prstGeom prst="ellipse">
            <a:avLst/>
          </a:prstGeom>
          <a:solidFill>
            <a:schemeClr val="accent3"/>
          </a:solidFill>
          <a:ln w="12700">
            <a:solidFill>
              <a:schemeClr val="accent3"/>
            </a:solidFill>
            <a:prstDash val="solid"/>
          </a:ln>
        </p:spPr>
      </p:sp>
      <p:pic>
        <p:nvPicPr>
          <p:cNvPr id="15" name="icoon" descr="preencoded.png">    </p:cNvPr>
          <p:cNvPicPr>
            <a:picLocks noChangeAspect="1"/>
          </p:cNvPicPr>
          <p:nvPr/>
        </p:nvPicPr>
        <p:blipFill>
          <a:blip r:embed="rId3"/>
          <a:stretch>
            <a:fillRect/>
          </a:stretch>
        </p:blipFill>
        <p:spPr>
          <a:xfrm>
            <a:off x="8572500" y="1988820"/>
            <a:ext cx="411480" cy="411480"/>
          </a:xfrm>
          <a:prstGeom prst="rect">
            <a:avLst/>
          </a:prstGeom>
        </p:spPr>
      </p:pic>
      <p:sp>
        <p:nvSpPr>
          <p:cNvPr id="16" name="Text 11"/>
          <p:cNvSpPr txBox="1"/>
          <p:nvPr/>
        </p:nvSpPr>
        <p:spPr>
          <a:xfrm>
            <a:off x="8366760" y="2834640"/>
            <a:ext cx="2834640" cy="73152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Twee oefeningen om te starten</a:t>
            </a:r>
            <a:endParaRPr lang="en-US" sz="2000" dirty="0"/>
          </a:p>
        </p:txBody>
      </p:sp>
      <p:sp>
        <p:nvSpPr>
          <p:cNvPr id="17" name="Text 12"/>
          <p:cNvSpPr txBox="1"/>
          <p:nvPr/>
        </p:nvSpPr>
        <p:spPr>
          <a:xfrm>
            <a:off x="8366760" y="3611880"/>
            <a:ext cx="2834640" cy="1097280"/>
          </a:xfrm>
          <a:prstGeom prst="rect">
            <a:avLst/>
          </a:prstGeom>
          <a:noFill/>
          <a:ln/>
        </p:spPr>
        <p:txBody>
          <a:bodyPr wrap="square" lIns="0" tIns="0" rIns="0" bIns="0" rtlCol="0" anchor="t"/>
          <a:lstStyle/>
          <a:p>
            <a:pPr indent="0" marL="0">
              <a:buNone/>
            </a:pPr>
            <a:r>
              <a:rPr lang="en-US" sz="1500" dirty="0">
                <a:solidFill>
                  <a:schemeClr val="tx2"/>
                </a:solidFill>
              </a:rPr>
              <a:t>Eisen ontleden uit een klantenbrief, en een kern bouwen en testen zonder menu.</a:t>
            </a:r>
            <a:endParaRPr lang="en-US" sz="1500" dirty="0"/>
          </a:p>
        </p:txBody>
      </p:sp>
      <p:sp>
        <p:nvSpPr>
          <p:cNvPr id="18" name="kaart"/>
          <p:cNvSpPr/>
          <p:nvPr/>
        </p:nvSpPr>
        <p:spPr>
          <a:xfrm>
            <a:off x="548640" y="5120640"/>
            <a:ext cx="11064240" cy="868680"/>
          </a:xfrm>
          <a:prstGeom prst="roundRect">
            <a:avLst>
              <a:gd name="adj" fmla="val 12632"/>
            </a:avLst>
          </a:prstGeom>
          <a:solidFill>
            <a:schemeClr val="tx1"/>
          </a:solidFill>
          <a:ln w="12700">
            <a:solidFill>
              <a:schemeClr val="tx1"/>
            </a:solidFill>
            <a:prstDash val="solid"/>
          </a:ln>
        </p:spPr>
      </p:sp>
      <p:sp>
        <p:nvSpPr>
          <p:cNvPr id="19" name="Text 14"/>
          <p:cNvSpPr txBox="1"/>
          <p:nvPr/>
        </p:nvSpPr>
        <p:spPr>
          <a:xfrm>
            <a:off x="868680" y="5120640"/>
            <a:ext cx="10515600" cy="868680"/>
          </a:xfrm>
          <a:prstGeom prst="rect">
            <a:avLst/>
          </a:prstGeom>
          <a:noFill/>
          <a:ln/>
        </p:spPr>
        <p:txBody>
          <a:bodyPr wrap="square" lIns="0" tIns="0" rIns="0" bIns="0" rtlCol="0" anchor="ctr"/>
          <a:lstStyle/>
          <a:p>
            <a:pPr indent="0" marL="0">
              <a:buNone/>
            </a:pPr>
            <a:r>
              <a:rPr lang="en-US" sz="1700" b="1" dirty="0">
                <a:solidFill>
                  <a:schemeClr val="accent1"/>
                </a:solidFill>
              </a:rPr>
              <a:t>Geen nieuwe leerstof.  </a:t>
            </a:r>
            <a:pPr indent="0" marL="0">
              <a:buNone/>
            </a:pPr>
            <a:r>
              <a:rPr lang="en-US" sz="1700" dirty="0">
                <a:solidFill>
                  <a:schemeClr val="bg1"/>
                </a:solidFill>
              </a:rPr>
              <a:t>Wat je oplevert: één werkend programma in een repository, met tests, documentatie en een leesbare geschiedenis.</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731520" y="3017520"/>
            <a:ext cx="10698480" cy="1097280"/>
          </a:xfrm>
          <a:prstGeom prst="rect">
            <a:avLst/>
          </a:prstGeom>
          <a:noFill/>
          <a:ln/>
        </p:spPr>
        <p:txBody>
          <a:bodyPr wrap="square" lIns="0" tIns="0" rIns="0" bIns="0" rtlCol="0" anchor="t"/>
          <a:lstStyle/>
          <a:p>
            <a:pPr algn="l" indent="0" marL="0">
              <a:buNone/>
            </a:pPr>
            <a:r>
              <a:rPr lang="en-US" sz="4400" b="1" dirty="0">
                <a:solidFill>
                  <a:schemeClr val="bg1"/>
                </a:solidFill>
              </a:rPr>
              <a:t>De opdracht</a:t>
            </a:r>
            <a:endParaRPr lang="en-US" sz="4400" dirty="0"/>
          </a:p>
        </p:txBody>
      </p:sp>
      <p:sp>
        <p:nvSpPr>
          <p:cNvPr id="3" name="Text 0"/>
          <p:cNvSpPr/>
          <p:nvPr>
            <p:ph idx="100" type="body" hasCustomPrompt="1"/>
          </p:nvPr>
        </p:nvSpPr>
        <p:spPr>
          <a:xfrm>
            <a:off x="731520" y="1463040"/>
            <a:ext cx="3657600" cy="1463040"/>
          </a:xfrm>
          <a:prstGeom prst="rect">
            <a:avLst/>
          </a:prstGeom>
          <a:noFill/>
          <a:ln/>
        </p:spPr>
        <p:txBody>
          <a:bodyPr wrap="square" lIns="0" tIns="0" rIns="0" bIns="0" rtlCol="0" anchor="b"/>
          <a:lstStyle/>
          <a:p>
            <a:pPr indent="0" marL="0">
              <a:buNone/>
            </a:pPr>
            <a:r>
              <a:rPr lang="en-US" sz="9600" b="1" dirty="0">
                <a:solidFill>
                  <a:schemeClr val="accent1"/>
                </a:solidFill>
                <a:latin typeface="Cambria" pitchFamily="34" charset="0"/>
                <a:ea typeface="Cambria" pitchFamily="34" charset="-122"/>
                <a:cs typeface="Cambria" pitchFamily="34" charset="-120"/>
              </a:rPr>
              <a:t>29.1</a:t>
            </a:r>
            <a:endParaRPr lang="en-US" sz="9600" dirty="0"/>
          </a:p>
        </p:txBody>
      </p:sp>
      <p:sp>
        <p:nvSpPr>
          <p:cNvPr id="4" name="Text 0"/>
          <p:cNvSpPr/>
          <p:nvPr>
            <p:ph idx="102" type="body" hasCustomPrompt="1"/>
          </p:nvPr>
        </p:nvSpPr>
        <p:spPr>
          <a:xfrm>
            <a:off x="731520" y="4206240"/>
            <a:ext cx="9601200" cy="1097280"/>
          </a:xfrm>
          <a:prstGeom prst="rect">
            <a:avLst/>
          </a:prstGeom>
          <a:noFill/>
          <a:ln/>
        </p:spPr>
        <p:txBody>
          <a:bodyPr wrap="square" lIns="0" tIns="0" rIns="0" bIns="0" rtlCol="0" anchor="t"/>
          <a:lstStyle/>
          <a:p>
            <a:pPr indent="0" marL="0">
              <a:buNone/>
            </a:pPr>
            <a:r>
              <a:rPr lang="en-US" sz="2000" dirty="0">
                <a:solidFill>
                  <a:schemeClr val="bg2"/>
                </a:solidFill>
              </a:rPr>
              <a:t>Een beheerprogramma voor een vereniging of een kleine zaak, dat via de terminal bediend wordt en zijn gegevens in bestanden bewaart.</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Kies een situatie</a:t>
            </a:r>
            <a:endParaRPr lang="en-US" sz="3400" dirty="0"/>
          </a:p>
        </p:txBody>
      </p:sp>
      <p:sp>
        <p:nvSpPr>
          <p:cNvPr id="3" name="Text 1"/>
          <p:cNvSpPr txBox="1"/>
          <p:nvPr/>
        </p:nvSpPr>
        <p:spPr>
          <a:xfrm>
            <a:off x="548640" y="1234440"/>
            <a:ext cx="11064240" cy="640080"/>
          </a:xfrm>
          <a:prstGeom prst="rect">
            <a:avLst/>
          </a:prstGeom>
          <a:noFill/>
          <a:ln/>
        </p:spPr>
        <p:txBody>
          <a:bodyPr wrap="square" lIns="0" tIns="0" rIns="0" bIns="0" rtlCol="0" anchor="t"/>
          <a:lstStyle/>
          <a:p>
            <a:pPr indent="0" marL="0">
              <a:buNone/>
            </a:pPr>
            <a:r>
              <a:rPr lang="en-US" sz="1600" dirty="0">
                <a:solidFill>
                  <a:schemeClr val="tx2"/>
                </a:solidFill>
              </a:rPr>
              <a:t>In de theoriebundel werkte je aan boekenclub De Leeslamp. Voor de eindopdracht kies je een andere situatie, zodat je de leerstof toepast in plaats van overschrijft.</a:t>
            </a:r>
            <a:endParaRPr lang="en-US" sz="1600" dirty="0"/>
          </a:p>
        </p:txBody>
      </p:sp>
      <p:sp>
        <p:nvSpPr>
          <p:cNvPr id="4" name="kaart"/>
          <p:cNvSpPr/>
          <p:nvPr/>
        </p:nvSpPr>
        <p:spPr>
          <a:xfrm>
            <a:off x="548640" y="2011680"/>
            <a:ext cx="260604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5" name="icooncirkel"/>
          <p:cNvSpPr/>
          <p:nvPr/>
        </p:nvSpPr>
        <p:spPr>
          <a:xfrm>
            <a:off x="777240" y="2240280"/>
            <a:ext cx="640080" cy="640080"/>
          </a:xfrm>
          <a:prstGeom prst="ellipse">
            <a:avLst/>
          </a:prstGeom>
          <a:solidFill>
            <a:schemeClr val="accent2"/>
          </a:solidFill>
          <a:ln w="12700">
            <a:solidFill>
              <a:schemeClr val="accent2"/>
            </a:solidFill>
            <a:prstDash val="solid"/>
          </a:ln>
        </p:spPr>
      </p:sp>
      <p:pic>
        <p:nvPicPr>
          <p:cNvPr id="6" name="icoon" descr="preencoded.png">    </p:cNvPr>
          <p:cNvPicPr>
            <a:picLocks noChangeAspect="1"/>
          </p:cNvPicPr>
          <p:nvPr/>
        </p:nvPicPr>
        <p:blipFill>
          <a:blip r:embed="rId1"/>
          <a:stretch>
            <a:fillRect/>
          </a:stretch>
        </p:blipFill>
        <p:spPr>
          <a:xfrm>
            <a:off x="937260" y="2400300"/>
            <a:ext cx="320040" cy="320040"/>
          </a:xfrm>
          <a:prstGeom prst="rect">
            <a:avLst/>
          </a:prstGeom>
        </p:spPr>
      </p:pic>
      <p:sp>
        <p:nvSpPr>
          <p:cNvPr id="7" name="Text 4"/>
          <p:cNvSpPr txBox="1"/>
          <p:nvPr/>
        </p:nvSpPr>
        <p:spPr>
          <a:xfrm>
            <a:off x="1554480" y="2240280"/>
            <a:ext cx="1508760" cy="640080"/>
          </a:xfrm>
          <a:prstGeom prst="rect">
            <a:avLst/>
          </a:prstGeom>
          <a:noFill/>
          <a:ln/>
        </p:spPr>
        <p:txBody>
          <a:bodyPr wrap="square" lIns="0" tIns="0" rIns="0" bIns="0" rtlCol="0" anchor="ctr"/>
          <a:lstStyle/>
          <a:p>
            <a:pPr indent="0" marL="0">
              <a:buNone/>
            </a:pPr>
            <a:r>
              <a:rPr lang="en-US" sz="1200" b="1" spc="100" kern="0" dirty="0">
                <a:solidFill>
                  <a:schemeClr val="accent2"/>
                </a:solidFill>
              </a:rPr>
              <a:t>VARIANT A</a:t>
            </a:r>
            <a:endParaRPr lang="en-US" sz="1200" dirty="0"/>
          </a:p>
        </p:txBody>
      </p:sp>
      <p:sp>
        <p:nvSpPr>
          <p:cNvPr id="8" name="Text 5"/>
          <p:cNvSpPr txBox="1"/>
          <p:nvPr/>
        </p:nvSpPr>
        <p:spPr>
          <a:xfrm>
            <a:off x="777240" y="2971800"/>
            <a:ext cx="2240280" cy="365760"/>
          </a:xfrm>
          <a:prstGeom prst="rect">
            <a:avLst/>
          </a:prstGeom>
          <a:noFill/>
          <a:ln/>
        </p:spPr>
        <p:txBody>
          <a:bodyPr wrap="square" lIns="0" tIns="0" rIns="0" bIns="0" rtlCol="0" anchor="t"/>
          <a:lstStyle/>
          <a:p>
            <a:pPr indent="0" marL="0">
              <a:buNone/>
            </a:pPr>
            <a:r>
              <a:rPr lang="en-US" sz="1500" b="1" dirty="0">
                <a:solidFill>
                  <a:schemeClr val="tx1"/>
                </a:solidFill>
              </a:rPr>
              <a:t>Een sportclub</a:t>
            </a:r>
            <a:endParaRPr lang="en-US" sz="1500" dirty="0"/>
          </a:p>
        </p:txBody>
      </p:sp>
      <p:sp>
        <p:nvSpPr>
          <p:cNvPr id="9" name="Text 6"/>
          <p:cNvSpPr txBox="1"/>
          <p:nvPr/>
        </p:nvSpPr>
        <p:spPr>
          <a:xfrm>
            <a:off x="777240" y="3337560"/>
            <a:ext cx="2240280" cy="502920"/>
          </a:xfrm>
          <a:prstGeom prst="rect">
            <a:avLst/>
          </a:prstGeom>
          <a:noFill/>
          <a:ln/>
        </p:spPr>
        <p:txBody>
          <a:bodyPr wrap="square" lIns="0" tIns="0" rIns="0" bIns="0" rtlCol="0" anchor="t"/>
          <a:lstStyle/>
          <a:p>
            <a:pPr indent="0" marL="0">
              <a:buNone/>
            </a:pPr>
            <a:r>
              <a:rPr lang="en-US" sz="1300" dirty="0">
                <a:solidFill>
                  <a:schemeClr val="tx2"/>
                </a:solidFill>
              </a:rPr>
              <a:t>leden, lessen, aanwezigheden, lidgelden</a:t>
            </a:r>
            <a:endParaRPr lang="en-US" sz="1300" dirty="0"/>
          </a:p>
        </p:txBody>
      </p:sp>
      <p:sp>
        <p:nvSpPr>
          <p:cNvPr id="10" name="kaart"/>
          <p:cNvSpPr/>
          <p:nvPr/>
        </p:nvSpPr>
        <p:spPr>
          <a:xfrm>
            <a:off x="3383280" y="2011680"/>
            <a:ext cx="260604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1" name="icooncirkel"/>
          <p:cNvSpPr/>
          <p:nvPr/>
        </p:nvSpPr>
        <p:spPr>
          <a:xfrm>
            <a:off x="3611880" y="2240280"/>
            <a:ext cx="640080" cy="640080"/>
          </a:xfrm>
          <a:prstGeom prst="ellipse">
            <a:avLst/>
          </a:prstGeom>
          <a:solidFill>
            <a:schemeClr val="accent5"/>
          </a:solidFill>
          <a:ln w="12700">
            <a:solidFill>
              <a:schemeClr val="accent5"/>
            </a:solidFill>
            <a:prstDash val="solid"/>
          </a:ln>
        </p:spPr>
      </p:sp>
      <p:pic>
        <p:nvPicPr>
          <p:cNvPr id="12" name="icoon" descr="preencoded.png">    </p:cNvPr>
          <p:cNvPicPr>
            <a:picLocks noChangeAspect="1"/>
          </p:cNvPicPr>
          <p:nvPr/>
        </p:nvPicPr>
        <p:blipFill>
          <a:blip r:embed="rId2"/>
          <a:stretch>
            <a:fillRect/>
          </a:stretch>
        </p:blipFill>
        <p:spPr>
          <a:xfrm>
            <a:off x="3771900" y="2400300"/>
            <a:ext cx="320040" cy="320040"/>
          </a:xfrm>
          <a:prstGeom prst="rect">
            <a:avLst/>
          </a:prstGeom>
        </p:spPr>
      </p:pic>
      <p:sp>
        <p:nvSpPr>
          <p:cNvPr id="13" name="Text 9"/>
          <p:cNvSpPr txBox="1"/>
          <p:nvPr/>
        </p:nvSpPr>
        <p:spPr>
          <a:xfrm>
            <a:off x="4389120" y="2240280"/>
            <a:ext cx="1508760" cy="640080"/>
          </a:xfrm>
          <a:prstGeom prst="rect">
            <a:avLst/>
          </a:prstGeom>
          <a:noFill/>
          <a:ln/>
        </p:spPr>
        <p:txBody>
          <a:bodyPr wrap="square" lIns="0" tIns="0" rIns="0" bIns="0" rtlCol="0" anchor="ctr"/>
          <a:lstStyle/>
          <a:p>
            <a:pPr indent="0" marL="0">
              <a:buNone/>
            </a:pPr>
            <a:r>
              <a:rPr lang="en-US" sz="1200" b="1" spc="100" kern="0" dirty="0">
                <a:solidFill>
                  <a:schemeClr val="accent5"/>
                </a:solidFill>
              </a:rPr>
              <a:t>VARIANT B</a:t>
            </a:r>
            <a:endParaRPr lang="en-US" sz="1200" dirty="0"/>
          </a:p>
        </p:txBody>
      </p:sp>
      <p:sp>
        <p:nvSpPr>
          <p:cNvPr id="14" name="Text 10"/>
          <p:cNvSpPr txBox="1"/>
          <p:nvPr/>
        </p:nvSpPr>
        <p:spPr>
          <a:xfrm>
            <a:off x="3611880" y="2971800"/>
            <a:ext cx="2240280" cy="365760"/>
          </a:xfrm>
          <a:prstGeom prst="rect">
            <a:avLst/>
          </a:prstGeom>
          <a:noFill/>
          <a:ln/>
        </p:spPr>
        <p:txBody>
          <a:bodyPr wrap="square" lIns="0" tIns="0" rIns="0" bIns="0" rtlCol="0" anchor="t"/>
          <a:lstStyle/>
          <a:p>
            <a:pPr indent="0" marL="0">
              <a:buNone/>
            </a:pPr>
            <a:r>
              <a:rPr lang="en-US" sz="1500" b="1" dirty="0">
                <a:solidFill>
                  <a:schemeClr val="tx1"/>
                </a:solidFill>
              </a:rPr>
              <a:t>Een fietsenwinkel</a:t>
            </a:r>
            <a:endParaRPr lang="en-US" sz="1500" dirty="0"/>
          </a:p>
        </p:txBody>
      </p:sp>
      <p:sp>
        <p:nvSpPr>
          <p:cNvPr id="15" name="Text 11"/>
          <p:cNvSpPr txBox="1"/>
          <p:nvPr/>
        </p:nvSpPr>
        <p:spPr>
          <a:xfrm>
            <a:off x="3611880" y="3337560"/>
            <a:ext cx="2240280" cy="502920"/>
          </a:xfrm>
          <a:prstGeom prst="rect">
            <a:avLst/>
          </a:prstGeom>
          <a:noFill/>
          <a:ln/>
        </p:spPr>
        <p:txBody>
          <a:bodyPr wrap="square" lIns="0" tIns="0" rIns="0" bIns="0" rtlCol="0" anchor="t"/>
          <a:lstStyle/>
          <a:p>
            <a:pPr indent="0" marL="0">
              <a:buNone/>
            </a:pPr>
            <a:r>
              <a:rPr lang="en-US" sz="1300" dirty="0">
                <a:solidFill>
                  <a:schemeClr val="tx2"/>
                </a:solidFill>
              </a:rPr>
              <a:t>voorraad, herstellingen, klanten, facturen</a:t>
            </a:r>
            <a:endParaRPr lang="en-US" sz="1300" dirty="0"/>
          </a:p>
        </p:txBody>
      </p:sp>
      <p:sp>
        <p:nvSpPr>
          <p:cNvPr id="16" name="kaart"/>
          <p:cNvSpPr/>
          <p:nvPr/>
        </p:nvSpPr>
        <p:spPr>
          <a:xfrm>
            <a:off x="6217920" y="2011680"/>
            <a:ext cx="260604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7" name="icooncirkel"/>
          <p:cNvSpPr/>
          <p:nvPr/>
        </p:nvSpPr>
        <p:spPr>
          <a:xfrm>
            <a:off x="6446520" y="2240280"/>
            <a:ext cx="640080" cy="640080"/>
          </a:xfrm>
          <a:prstGeom prst="ellipse">
            <a:avLst/>
          </a:prstGeom>
          <a:solidFill>
            <a:schemeClr val="accent4"/>
          </a:solidFill>
          <a:ln w="12700">
            <a:solidFill>
              <a:schemeClr val="accent4"/>
            </a:solidFill>
            <a:prstDash val="solid"/>
          </a:ln>
        </p:spPr>
      </p:sp>
      <p:pic>
        <p:nvPicPr>
          <p:cNvPr id="18" name="icoon" descr="preencoded.png">    </p:cNvPr>
          <p:cNvPicPr>
            <a:picLocks noChangeAspect="1"/>
          </p:cNvPicPr>
          <p:nvPr/>
        </p:nvPicPr>
        <p:blipFill>
          <a:blip r:embed="rId3"/>
          <a:stretch>
            <a:fillRect/>
          </a:stretch>
        </p:blipFill>
        <p:spPr>
          <a:xfrm>
            <a:off x="6606540" y="2400300"/>
            <a:ext cx="320040" cy="320040"/>
          </a:xfrm>
          <a:prstGeom prst="rect">
            <a:avLst/>
          </a:prstGeom>
        </p:spPr>
      </p:pic>
      <p:sp>
        <p:nvSpPr>
          <p:cNvPr id="19" name="Text 14"/>
          <p:cNvSpPr txBox="1"/>
          <p:nvPr/>
        </p:nvSpPr>
        <p:spPr>
          <a:xfrm>
            <a:off x="7223760" y="2240280"/>
            <a:ext cx="1508760" cy="640080"/>
          </a:xfrm>
          <a:prstGeom prst="rect">
            <a:avLst/>
          </a:prstGeom>
          <a:noFill/>
          <a:ln/>
        </p:spPr>
        <p:txBody>
          <a:bodyPr wrap="square" lIns="0" tIns="0" rIns="0" bIns="0" rtlCol="0" anchor="ctr"/>
          <a:lstStyle/>
          <a:p>
            <a:pPr indent="0" marL="0">
              <a:buNone/>
            </a:pPr>
            <a:r>
              <a:rPr lang="en-US" sz="1200" b="1" spc="100" kern="0" dirty="0">
                <a:solidFill>
                  <a:schemeClr val="accent4"/>
                </a:solidFill>
              </a:rPr>
              <a:t>VARIANT C</a:t>
            </a:r>
            <a:endParaRPr lang="en-US" sz="1200" dirty="0"/>
          </a:p>
        </p:txBody>
      </p:sp>
      <p:sp>
        <p:nvSpPr>
          <p:cNvPr id="20" name="Text 15"/>
          <p:cNvSpPr txBox="1"/>
          <p:nvPr/>
        </p:nvSpPr>
        <p:spPr>
          <a:xfrm>
            <a:off x="6446520" y="2971800"/>
            <a:ext cx="2240280" cy="365760"/>
          </a:xfrm>
          <a:prstGeom prst="rect">
            <a:avLst/>
          </a:prstGeom>
          <a:noFill/>
          <a:ln/>
        </p:spPr>
        <p:txBody>
          <a:bodyPr wrap="square" lIns="0" tIns="0" rIns="0" bIns="0" rtlCol="0" anchor="t"/>
          <a:lstStyle/>
          <a:p>
            <a:pPr indent="0" marL="0">
              <a:buNone/>
            </a:pPr>
            <a:r>
              <a:rPr lang="en-US" sz="1500" b="1" dirty="0">
                <a:solidFill>
                  <a:schemeClr val="tx1"/>
                </a:solidFill>
              </a:rPr>
              <a:t>Een buurtbibliotheek</a:t>
            </a:r>
            <a:endParaRPr lang="en-US" sz="1500" dirty="0"/>
          </a:p>
        </p:txBody>
      </p:sp>
      <p:sp>
        <p:nvSpPr>
          <p:cNvPr id="21" name="Text 16"/>
          <p:cNvSpPr txBox="1"/>
          <p:nvPr/>
        </p:nvSpPr>
        <p:spPr>
          <a:xfrm>
            <a:off x="6446520" y="3337560"/>
            <a:ext cx="2240280" cy="502920"/>
          </a:xfrm>
          <a:prstGeom prst="rect">
            <a:avLst/>
          </a:prstGeom>
          <a:noFill/>
          <a:ln/>
        </p:spPr>
        <p:txBody>
          <a:bodyPr wrap="square" lIns="0" tIns="0" rIns="0" bIns="0" rtlCol="0" anchor="t"/>
          <a:lstStyle/>
          <a:p>
            <a:pPr indent="0" marL="0">
              <a:buNone/>
            </a:pPr>
            <a:r>
              <a:rPr lang="en-US" sz="1300" dirty="0">
                <a:solidFill>
                  <a:schemeClr val="tx2"/>
                </a:solidFill>
              </a:rPr>
              <a:t>boeken, ontleners, uitleningen, boetes</a:t>
            </a:r>
            <a:endParaRPr lang="en-US" sz="1300" dirty="0"/>
          </a:p>
        </p:txBody>
      </p:sp>
      <p:sp>
        <p:nvSpPr>
          <p:cNvPr id="22" name="kaart"/>
          <p:cNvSpPr/>
          <p:nvPr/>
        </p:nvSpPr>
        <p:spPr>
          <a:xfrm>
            <a:off x="9052560" y="2011680"/>
            <a:ext cx="260604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23" name="icooncirkel"/>
          <p:cNvSpPr/>
          <p:nvPr/>
        </p:nvSpPr>
        <p:spPr>
          <a:xfrm>
            <a:off x="9281160" y="2240280"/>
            <a:ext cx="640080" cy="640080"/>
          </a:xfrm>
          <a:prstGeom prst="ellipse">
            <a:avLst/>
          </a:prstGeom>
          <a:solidFill>
            <a:schemeClr val="accent6"/>
          </a:solidFill>
          <a:ln w="12700">
            <a:solidFill>
              <a:schemeClr val="accent6"/>
            </a:solidFill>
            <a:prstDash val="solid"/>
          </a:ln>
        </p:spPr>
      </p:sp>
      <p:pic>
        <p:nvPicPr>
          <p:cNvPr id="24" name="icoon" descr="preencoded.png">    </p:cNvPr>
          <p:cNvPicPr>
            <a:picLocks noChangeAspect="1"/>
          </p:cNvPicPr>
          <p:nvPr/>
        </p:nvPicPr>
        <p:blipFill>
          <a:blip r:embed="rId4"/>
          <a:stretch>
            <a:fillRect/>
          </a:stretch>
        </p:blipFill>
        <p:spPr>
          <a:xfrm>
            <a:off x="9441180" y="2400300"/>
            <a:ext cx="320040" cy="320040"/>
          </a:xfrm>
          <a:prstGeom prst="rect">
            <a:avLst/>
          </a:prstGeom>
        </p:spPr>
      </p:pic>
      <p:sp>
        <p:nvSpPr>
          <p:cNvPr id="25" name="Text 19"/>
          <p:cNvSpPr txBox="1"/>
          <p:nvPr/>
        </p:nvSpPr>
        <p:spPr>
          <a:xfrm>
            <a:off x="10058400" y="2240280"/>
            <a:ext cx="1508760" cy="640080"/>
          </a:xfrm>
          <a:prstGeom prst="rect">
            <a:avLst/>
          </a:prstGeom>
          <a:noFill/>
          <a:ln/>
        </p:spPr>
        <p:txBody>
          <a:bodyPr wrap="square" lIns="0" tIns="0" rIns="0" bIns="0" rtlCol="0" anchor="ctr"/>
          <a:lstStyle/>
          <a:p>
            <a:pPr indent="0" marL="0">
              <a:buNone/>
            </a:pPr>
            <a:r>
              <a:rPr lang="en-US" sz="1200" b="1" spc="100" kern="0" dirty="0">
                <a:solidFill>
                  <a:schemeClr val="accent6"/>
                </a:solidFill>
              </a:rPr>
              <a:t>VARIANT EIGEN</a:t>
            </a:r>
            <a:endParaRPr lang="en-US" sz="1200" dirty="0"/>
          </a:p>
        </p:txBody>
      </p:sp>
      <p:sp>
        <p:nvSpPr>
          <p:cNvPr id="26" name="Text 20"/>
          <p:cNvSpPr txBox="1"/>
          <p:nvPr/>
        </p:nvSpPr>
        <p:spPr>
          <a:xfrm>
            <a:off x="9281160" y="2971800"/>
            <a:ext cx="2240280" cy="365760"/>
          </a:xfrm>
          <a:prstGeom prst="rect">
            <a:avLst/>
          </a:prstGeom>
          <a:noFill/>
          <a:ln/>
        </p:spPr>
        <p:txBody>
          <a:bodyPr wrap="square" lIns="0" tIns="0" rIns="0" bIns="0" rtlCol="0" anchor="t"/>
          <a:lstStyle/>
          <a:p>
            <a:pPr indent="0" marL="0">
              <a:buNone/>
            </a:pPr>
            <a:r>
              <a:rPr lang="en-US" sz="1500" b="1" dirty="0">
                <a:solidFill>
                  <a:schemeClr val="tx1"/>
                </a:solidFill>
              </a:rPr>
              <a:t>Een eigen situatie</a:t>
            </a:r>
            <a:endParaRPr lang="en-US" sz="1500" dirty="0"/>
          </a:p>
        </p:txBody>
      </p:sp>
      <p:sp>
        <p:nvSpPr>
          <p:cNvPr id="27" name="Text 21"/>
          <p:cNvSpPr txBox="1"/>
          <p:nvPr/>
        </p:nvSpPr>
        <p:spPr>
          <a:xfrm>
            <a:off x="9281160" y="3337560"/>
            <a:ext cx="2240280" cy="502920"/>
          </a:xfrm>
          <a:prstGeom prst="rect">
            <a:avLst/>
          </a:prstGeom>
          <a:noFill/>
          <a:ln/>
        </p:spPr>
        <p:txBody>
          <a:bodyPr wrap="square" lIns="0" tIns="0" rIns="0" bIns="0" rtlCol="0" anchor="t"/>
          <a:lstStyle/>
          <a:p>
            <a:pPr indent="0" marL="0">
              <a:buNone/>
            </a:pPr>
            <a:r>
              <a:rPr lang="en-US" sz="1300" dirty="0">
                <a:solidFill>
                  <a:schemeClr val="tx2"/>
                </a:solidFill>
              </a:rPr>
              <a:t>iets uit je eigen leven of werk, na goedkeuring</a:t>
            </a:r>
            <a:endParaRPr lang="en-US" sz="1300" dirty="0"/>
          </a:p>
        </p:txBody>
      </p:sp>
      <p:sp>
        <p:nvSpPr>
          <p:cNvPr id="28" name="kaart"/>
          <p:cNvSpPr/>
          <p:nvPr/>
        </p:nvSpPr>
        <p:spPr>
          <a:xfrm>
            <a:off x="548640" y="4160520"/>
            <a:ext cx="6263640" cy="1828800"/>
          </a:xfrm>
          <a:prstGeom prst="roundRect">
            <a:avLst>
              <a:gd name="adj" fmla="val 6000"/>
            </a:avLst>
          </a:prstGeom>
          <a:solidFill>
            <a:schemeClr val="tx1"/>
          </a:solidFill>
          <a:ln w="12700">
            <a:solidFill>
              <a:schemeClr val="tx1"/>
            </a:solidFill>
            <a:prstDash val="solid"/>
          </a:ln>
        </p:spPr>
      </p:sp>
      <p:sp>
        <p:nvSpPr>
          <p:cNvPr id="29" name="icooncirkel"/>
          <p:cNvSpPr/>
          <p:nvPr/>
        </p:nvSpPr>
        <p:spPr>
          <a:xfrm>
            <a:off x="822960" y="4389120"/>
            <a:ext cx="594360" cy="594360"/>
          </a:xfrm>
          <a:prstGeom prst="ellipse">
            <a:avLst/>
          </a:prstGeom>
          <a:solidFill>
            <a:schemeClr val="accent3"/>
          </a:solidFill>
          <a:ln w="12700">
            <a:solidFill>
              <a:schemeClr val="accent3"/>
            </a:solidFill>
            <a:prstDash val="solid"/>
          </a:ln>
        </p:spPr>
      </p:sp>
      <p:pic>
        <p:nvPicPr>
          <p:cNvPr id="30" name="icoon" descr="preencoded.png">    </p:cNvPr>
          <p:cNvPicPr>
            <a:picLocks noChangeAspect="1"/>
          </p:cNvPicPr>
          <p:nvPr/>
        </p:nvPicPr>
        <p:blipFill>
          <a:blip r:embed="rId5"/>
          <a:stretch>
            <a:fillRect/>
          </a:stretch>
        </p:blipFill>
        <p:spPr>
          <a:xfrm>
            <a:off x="971550" y="4537710"/>
            <a:ext cx="297180" cy="297180"/>
          </a:xfrm>
          <a:prstGeom prst="rect">
            <a:avLst/>
          </a:prstGeom>
        </p:spPr>
      </p:pic>
      <p:sp>
        <p:nvSpPr>
          <p:cNvPr id="31" name="Text 24"/>
          <p:cNvSpPr txBox="1"/>
          <p:nvPr/>
        </p:nvSpPr>
        <p:spPr>
          <a:xfrm>
            <a:off x="1600200" y="4553712"/>
            <a:ext cx="2743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LET OP</a:t>
            </a:r>
            <a:endParaRPr lang="en-US" sz="1200" dirty="0"/>
          </a:p>
        </p:txBody>
      </p:sp>
      <p:sp>
        <p:nvSpPr>
          <p:cNvPr id="32" name="Text 25"/>
          <p:cNvSpPr txBox="1"/>
          <p:nvPr/>
        </p:nvSpPr>
        <p:spPr>
          <a:xfrm>
            <a:off x="822960" y="5074920"/>
            <a:ext cx="5760720" cy="868680"/>
          </a:xfrm>
          <a:prstGeom prst="rect">
            <a:avLst/>
          </a:prstGeom>
          <a:noFill/>
          <a:ln/>
        </p:spPr>
        <p:txBody>
          <a:bodyPr wrap="square" lIns="0" tIns="0" rIns="0" bIns="0" rtlCol="0" anchor="t"/>
          <a:lstStyle/>
          <a:p>
            <a:pPr indent="0" marL="0">
              <a:buNone/>
            </a:pPr>
            <a:r>
              <a:rPr lang="en-US" sz="1400" dirty="0">
                <a:solidFill>
                  <a:schemeClr val="bg1"/>
                </a:solidFill>
              </a:rPr>
              <a:t>Kies iets waarvan je de regels kent. De helft van de moeilijkheid zit niet in het programmeren maar in het vastleggen van de regels, en dat is niet te doen voor een wereld die je niet kent.</a:t>
            </a:r>
            <a:endParaRPr lang="en-US" sz="1400" dirty="0"/>
          </a:p>
        </p:txBody>
      </p:sp>
      <p:sp>
        <p:nvSpPr>
          <p:cNvPr id="33" name="kaart"/>
          <p:cNvSpPr/>
          <p:nvPr/>
        </p:nvSpPr>
        <p:spPr>
          <a:xfrm>
            <a:off x="7086600" y="4160520"/>
            <a:ext cx="4526280" cy="1828800"/>
          </a:xfrm>
          <a:prstGeom prst="roundRect">
            <a:avLst>
              <a:gd name="adj" fmla="val 6000"/>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34" name="icooncirkel"/>
          <p:cNvSpPr/>
          <p:nvPr/>
        </p:nvSpPr>
        <p:spPr>
          <a:xfrm>
            <a:off x="7360920" y="4389120"/>
            <a:ext cx="594360" cy="594360"/>
          </a:xfrm>
          <a:prstGeom prst="ellipse">
            <a:avLst/>
          </a:prstGeom>
          <a:solidFill>
            <a:schemeClr val="accent1"/>
          </a:solidFill>
          <a:ln w="12700">
            <a:solidFill>
              <a:schemeClr val="accent1"/>
            </a:solidFill>
            <a:prstDash val="solid"/>
          </a:ln>
        </p:spPr>
      </p:sp>
      <p:pic>
        <p:nvPicPr>
          <p:cNvPr id="35" name="icoon" descr="preencoded.png">    </p:cNvPr>
          <p:cNvPicPr>
            <a:picLocks noChangeAspect="1"/>
          </p:cNvPicPr>
          <p:nvPr/>
        </p:nvPicPr>
        <p:blipFill>
          <a:blip r:embed="rId6"/>
          <a:stretch>
            <a:fillRect/>
          </a:stretch>
        </p:blipFill>
        <p:spPr>
          <a:xfrm>
            <a:off x="7509510" y="4537710"/>
            <a:ext cx="297180" cy="297180"/>
          </a:xfrm>
          <a:prstGeom prst="rect">
            <a:avLst/>
          </a:prstGeom>
        </p:spPr>
      </p:pic>
      <p:sp>
        <p:nvSpPr>
          <p:cNvPr id="36" name="Text 28"/>
          <p:cNvSpPr txBox="1"/>
          <p:nvPr/>
        </p:nvSpPr>
        <p:spPr>
          <a:xfrm>
            <a:off x="8138160" y="4553712"/>
            <a:ext cx="27432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VUISTREGEL</a:t>
            </a:r>
            <a:endParaRPr lang="en-US" sz="1200" dirty="0"/>
          </a:p>
        </p:txBody>
      </p:sp>
      <p:sp>
        <p:nvSpPr>
          <p:cNvPr id="37" name="Text 29"/>
          <p:cNvSpPr txBox="1"/>
          <p:nvPr/>
        </p:nvSpPr>
        <p:spPr>
          <a:xfrm>
            <a:off x="7360920" y="5074920"/>
            <a:ext cx="4023360" cy="868680"/>
          </a:xfrm>
          <a:prstGeom prst="rect">
            <a:avLst/>
          </a:prstGeom>
          <a:noFill/>
          <a:ln/>
        </p:spPr>
        <p:txBody>
          <a:bodyPr wrap="square" lIns="0" tIns="0" rIns="0" bIns="0" rtlCol="0" anchor="t"/>
          <a:lstStyle/>
          <a:p>
            <a:pPr indent="0" marL="0">
              <a:buNone/>
            </a:pPr>
            <a:r>
              <a:rPr lang="en-US" sz="1400" dirty="0">
                <a:solidFill>
                  <a:schemeClr val="tx1"/>
                </a:solidFill>
              </a:rPr>
              <a:t>Kun je in vijf minuten uitleggen wat er moet gebeuren wanneer iemand te laat betaalt? Dan ken je de regels goed genoeg.</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731520" y="3017520"/>
            <a:ext cx="10698480" cy="1097280"/>
          </a:xfrm>
          <a:prstGeom prst="rect">
            <a:avLst/>
          </a:prstGeom>
          <a:noFill/>
          <a:ln/>
        </p:spPr>
        <p:txBody>
          <a:bodyPr wrap="square" lIns="0" tIns="0" rIns="0" bIns="0" rtlCol="0" anchor="t"/>
          <a:lstStyle/>
          <a:p>
            <a:pPr algn="l" indent="0" marL="0">
              <a:buNone/>
            </a:pPr>
            <a:r>
              <a:rPr lang="en-US" sz="4400" b="1" dirty="0">
                <a:solidFill>
                  <a:schemeClr val="bg1"/>
                </a:solidFill>
              </a:rPr>
              <a:t>De eisen</a:t>
            </a:r>
            <a:endParaRPr lang="en-US" sz="4400" dirty="0"/>
          </a:p>
        </p:txBody>
      </p:sp>
      <p:sp>
        <p:nvSpPr>
          <p:cNvPr id="3" name="Text 0"/>
          <p:cNvSpPr/>
          <p:nvPr>
            <p:ph idx="100" type="body" hasCustomPrompt="1"/>
          </p:nvPr>
        </p:nvSpPr>
        <p:spPr>
          <a:xfrm>
            <a:off x="731520" y="1463040"/>
            <a:ext cx="3657600" cy="1463040"/>
          </a:xfrm>
          <a:prstGeom prst="rect">
            <a:avLst/>
          </a:prstGeom>
          <a:noFill/>
          <a:ln/>
        </p:spPr>
        <p:txBody>
          <a:bodyPr wrap="square" lIns="0" tIns="0" rIns="0" bIns="0" rtlCol="0" anchor="b"/>
          <a:lstStyle/>
          <a:p>
            <a:pPr indent="0" marL="0">
              <a:buNone/>
            </a:pPr>
            <a:r>
              <a:rPr lang="en-US" sz="9600" b="1" dirty="0">
                <a:solidFill>
                  <a:schemeClr val="accent1"/>
                </a:solidFill>
                <a:latin typeface="Cambria" pitchFamily="34" charset="0"/>
                <a:ea typeface="Cambria" pitchFamily="34" charset="-122"/>
                <a:cs typeface="Cambria" pitchFamily="34" charset="-120"/>
              </a:rPr>
              <a:t>29.2</a:t>
            </a:r>
            <a:endParaRPr lang="en-US" sz="9600" dirty="0"/>
          </a:p>
        </p:txBody>
      </p:sp>
      <p:sp>
        <p:nvSpPr>
          <p:cNvPr id="4" name="Text 0"/>
          <p:cNvSpPr/>
          <p:nvPr>
            <p:ph idx="102" type="body" hasCustomPrompt="1"/>
          </p:nvPr>
        </p:nvSpPr>
        <p:spPr>
          <a:xfrm>
            <a:off x="731520" y="4206240"/>
            <a:ext cx="9601200" cy="1097280"/>
          </a:xfrm>
          <a:prstGeom prst="rect">
            <a:avLst/>
          </a:prstGeom>
          <a:noFill/>
          <a:ln/>
        </p:spPr>
        <p:txBody>
          <a:bodyPr wrap="square" lIns="0" tIns="0" rIns="0" bIns="0" rtlCol="0" anchor="t"/>
          <a:lstStyle/>
          <a:p>
            <a:pPr indent="0" marL="0">
              <a:buNone/>
            </a:pPr>
            <a:r>
              <a:rPr lang="en-US" sz="2000" dirty="0">
                <a:solidFill>
                  <a:schemeClr val="bg2"/>
                </a:solidFill>
              </a:rPr>
              <a:t>Tweeëntwintig eisen in drie niveaus. Het eerste niveau is verplicht en volstaat om te slagen. Het tweede en derde zijn er voor wie meer wil.</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Drie niveaus, één kleur per niveau</a:t>
            </a:r>
            <a:endParaRPr lang="en-US" sz="3400" dirty="0"/>
          </a:p>
        </p:txBody>
      </p:sp>
      <p:sp>
        <p:nvSpPr>
          <p:cNvPr id="3" name="kaart"/>
          <p:cNvSpPr/>
          <p:nvPr/>
        </p:nvSpPr>
        <p:spPr>
          <a:xfrm>
            <a:off x="548640" y="1371600"/>
            <a:ext cx="3520440" cy="3611880"/>
          </a:xfrm>
          <a:prstGeom prst="roundRect">
            <a:avLst>
              <a:gd name="adj" fmla="val 3117"/>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4" name="streep"/>
          <p:cNvSpPr/>
          <p:nvPr/>
        </p:nvSpPr>
        <p:spPr>
          <a:xfrm>
            <a:off x="548640" y="1371600"/>
            <a:ext cx="3520440" cy="128016"/>
          </a:xfrm>
          <a:prstGeom prst="rect">
            <a:avLst/>
          </a:prstGeom>
          <a:solidFill>
            <a:schemeClr val="accent2"/>
          </a:solidFill>
          <a:ln w="12700">
            <a:solidFill>
              <a:schemeClr val="accent2"/>
            </a:solidFill>
            <a:prstDash val="solid"/>
          </a:ln>
        </p:spPr>
      </p:sp>
      <p:sp>
        <p:nvSpPr>
          <p:cNvPr id="5" name="Text 3"/>
          <p:cNvSpPr txBox="1"/>
          <p:nvPr/>
        </p:nvSpPr>
        <p:spPr>
          <a:xfrm>
            <a:off x="822960" y="1691640"/>
            <a:ext cx="2011680" cy="320040"/>
          </a:xfrm>
          <a:prstGeom prst="rect">
            <a:avLst/>
          </a:prstGeom>
          <a:noFill/>
          <a:ln/>
        </p:spPr>
        <p:txBody>
          <a:bodyPr wrap="square" lIns="0" tIns="0" rIns="0" bIns="0" rtlCol="0" anchor="t"/>
          <a:lstStyle/>
          <a:p>
            <a:pPr indent="0" marL="0">
              <a:buNone/>
            </a:pPr>
            <a:r>
              <a:rPr lang="en-US" sz="1300" b="1" spc="200" kern="0" dirty="0">
                <a:solidFill>
                  <a:schemeClr val="accent2"/>
                </a:solidFill>
              </a:rPr>
              <a:t>NIVEAU 1</a:t>
            </a:r>
            <a:endParaRPr lang="en-US" sz="1300" dirty="0"/>
          </a:p>
        </p:txBody>
      </p:sp>
      <p:sp>
        <p:nvSpPr>
          <p:cNvPr id="6" name="Text 4"/>
          <p:cNvSpPr txBox="1"/>
          <p:nvPr/>
        </p:nvSpPr>
        <p:spPr>
          <a:xfrm>
            <a:off x="822960" y="2011680"/>
            <a:ext cx="2103120" cy="50292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Verplicht</a:t>
            </a:r>
            <a:endParaRPr lang="en-US" sz="2400" dirty="0"/>
          </a:p>
        </p:txBody>
      </p:sp>
      <p:sp>
        <p:nvSpPr>
          <p:cNvPr id="7" name="Text 5"/>
          <p:cNvSpPr txBox="1"/>
          <p:nvPr/>
        </p:nvSpPr>
        <p:spPr>
          <a:xfrm>
            <a:off x="2788920" y="1645920"/>
            <a:ext cx="1005840" cy="914400"/>
          </a:xfrm>
          <a:prstGeom prst="rect">
            <a:avLst/>
          </a:prstGeom>
          <a:noFill/>
          <a:ln/>
        </p:spPr>
        <p:txBody>
          <a:bodyPr wrap="square" lIns="0" tIns="0" rIns="0" bIns="0" rtlCol="0" anchor="ctr"/>
          <a:lstStyle/>
          <a:p>
            <a:pPr algn="r" indent="0" marL="0">
              <a:buNone/>
            </a:pPr>
            <a:r>
              <a:rPr lang="en-US" sz="4800" b="1" dirty="0">
                <a:solidFill>
                  <a:schemeClr val="accent2"/>
                </a:solidFill>
                <a:latin typeface="Cambria" pitchFamily="34" charset="0"/>
                <a:ea typeface="Cambria" pitchFamily="34" charset="-122"/>
                <a:cs typeface="Cambria" pitchFamily="34" charset="-120"/>
              </a:rPr>
              <a:t>12</a:t>
            </a:r>
            <a:endParaRPr lang="en-US" sz="4800" dirty="0"/>
          </a:p>
        </p:txBody>
      </p:sp>
      <p:sp>
        <p:nvSpPr>
          <p:cNvPr id="8" name="Text 6"/>
          <p:cNvSpPr txBox="1"/>
          <p:nvPr/>
        </p:nvSpPr>
        <p:spPr>
          <a:xfrm>
            <a:off x="822960" y="2606040"/>
            <a:ext cx="2971800" cy="320040"/>
          </a:xfrm>
          <a:prstGeom prst="rect">
            <a:avLst/>
          </a:prstGeom>
          <a:noFill/>
          <a:ln/>
        </p:spPr>
        <p:txBody>
          <a:bodyPr wrap="square" lIns="0" tIns="0" rIns="0" bIns="0" rtlCol="0" anchor="t"/>
          <a:lstStyle/>
          <a:p>
            <a:pPr indent="0" marL="0">
              <a:buNone/>
            </a:pPr>
            <a:r>
              <a:rPr lang="en-US" sz="1400" b="1" dirty="0">
                <a:solidFill>
                  <a:schemeClr val="tx2"/>
                </a:solidFill>
              </a:rPr>
              <a:t>Eisen 1 tot 12</a:t>
            </a:r>
            <a:endParaRPr lang="en-US" sz="1400" dirty="0"/>
          </a:p>
        </p:txBody>
      </p:sp>
      <p:sp>
        <p:nvSpPr>
          <p:cNvPr id="9" name="Text 7"/>
          <p:cNvSpPr txBox="1"/>
          <p:nvPr/>
        </p:nvSpPr>
        <p:spPr>
          <a:xfrm>
            <a:off x="822960" y="2971800"/>
            <a:ext cx="2971800" cy="365760"/>
          </a:xfrm>
          <a:prstGeom prst="rect">
            <a:avLst/>
          </a:prstGeom>
          <a:noFill/>
          <a:ln/>
        </p:spPr>
        <p:txBody>
          <a:bodyPr wrap="square" lIns="0" tIns="0" rIns="0" bIns="0" rtlCol="0" anchor="t"/>
          <a:lstStyle/>
          <a:p>
            <a:pPr indent="0" marL="0">
              <a:buNone/>
            </a:pPr>
            <a:r>
              <a:rPr lang="en-US" sz="1500" b="1" dirty="0">
                <a:solidFill>
                  <a:schemeClr val="accent2"/>
                </a:solidFill>
              </a:rPr>
              <a:t>Volstaat om te slagen.</a:t>
            </a:r>
            <a:endParaRPr lang="en-US" sz="1500" dirty="0"/>
          </a:p>
        </p:txBody>
      </p:sp>
      <p:sp>
        <p:nvSpPr>
          <p:cNvPr id="10" name="Text 8"/>
          <p:cNvSpPr txBox="1"/>
          <p:nvPr/>
        </p:nvSpPr>
        <p:spPr>
          <a:xfrm>
            <a:off x="822960" y="3474720"/>
            <a:ext cx="2971800" cy="1417320"/>
          </a:xfrm>
          <a:prstGeom prst="rect">
            <a:avLst/>
          </a:prstGeom>
          <a:noFill/>
          <a:ln/>
        </p:spPr>
        <p:txBody>
          <a:bodyPr wrap="square" lIns="0" tIns="0" rIns="0" bIns="0" rtlCol="0" anchor="t"/>
          <a:lstStyle/>
          <a:p>
            <a:pPr indent="0" marL="0">
              <a:buNone/>
            </a:pPr>
            <a:r>
              <a:rPr lang="en-US" sz="1400" dirty="0">
                <a:solidFill>
                  <a:schemeClr val="tx2"/>
                </a:solidFill>
              </a:rPr>
              <a:t>menu, twee soorten gegevens, toevoegen tot verwijderen, bewaren, invoercontrole, functies en een klasse, een rekenregel, overzicht, tests, repository, README, .gitignore</a:t>
            </a:r>
            <a:endParaRPr lang="en-US" sz="1400" dirty="0"/>
          </a:p>
        </p:txBody>
      </p:sp>
      <p:sp>
        <p:nvSpPr>
          <p:cNvPr id="11" name="kaart"/>
          <p:cNvSpPr/>
          <p:nvPr/>
        </p:nvSpPr>
        <p:spPr>
          <a:xfrm>
            <a:off x="4297680" y="1371600"/>
            <a:ext cx="3520440" cy="3611880"/>
          </a:xfrm>
          <a:prstGeom prst="roundRect">
            <a:avLst>
              <a:gd name="adj" fmla="val 3117"/>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2" name="streep"/>
          <p:cNvSpPr/>
          <p:nvPr/>
        </p:nvSpPr>
        <p:spPr>
          <a:xfrm>
            <a:off x="4297680" y="1371600"/>
            <a:ext cx="3520440" cy="128016"/>
          </a:xfrm>
          <a:prstGeom prst="rect">
            <a:avLst/>
          </a:prstGeom>
          <a:solidFill>
            <a:schemeClr val="accent1"/>
          </a:solidFill>
          <a:ln w="12700">
            <a:solidFill>
              <a:schemeClr val="accent1"/>
            </a:solidFill>
            <a:prstDash val="solid"/>
          </a:ln>
        </p:spPr>
      </p:sp>
      <p:sp>
        <p:nvSpPr>
          <p:cNvPr id="13" name="Text 11"/>
          <p:cNvSpPr txBox="1"/>
          <p:nvPr/>
        </p:nvSpPr>
        <p:spPr>
          <a:xfrm>
            <a:off x="4572000" y="1691640"/>
            <a:ext cx="201168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NIVEAU 2</a:t>
            </a:r>
            <a:endParaRPr lang="en-US" sz="1300" dirty="0"/>
          </a:p>
        </p:txBody>
      </p:sp>
      <p:sp>
        <p:nvSpPr>
          <p:cNvPr id="14" name="Text 12"/>
          <p:cNvSpPr txBox="1"/>
          <p:nvPr/>
        </p:nvSpPr>
        <p:spPr>
          <a:xfrm>
            <a:off x="4572000" y="2011680"/>
            <a:ext cx="2103120" cy="50292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Uitbreiding</a:t>
            </a:r>
            <a:endParaRPr lang="en-US" sz="2400" dirty="0"/>
          </a:p>
        </p:txBody>
      </p:sp>
      <p:sp>
        <p:nvSpPr>
          <p:cNvPr id="15" name="Text 13"/>
          <p:cNvSpPr txBox="1"/>
          <p:nvPr/>
        </p:nvSpPr>
        <p:spPr>
          <a:xfrm>
            <a:off x="6537960" y="1645920"/>
            <a:ext cx="1005840" cy="914400"/>
          </a:xfrm>
          <a:prstGeom prst="rect">
            <a:avLst/>
          </a:prstGeom>
          <a:noFill/>
          <a:ln/>
        </p:spPr>
        <p:txBody>
          <a:bodyPr wrap="square" lIns="0" tIns="0" rIns="0" bIns="0" rtlCol="0" anchor="ctr"/>
          <a:lstStyle/>
          <a:p>
            <a:pPr algn="r" indent="0" marL="0">
              <a:buNone/>
            </a:pPr>
            <a:r>
              <a:rPr lang="en-US" sz="4800" b="1" dirty="0">
                <a:solidFill>
                  <a:schemeClr val="accent1"/>
                </a:solidFill>
                <a:latin typeface="Cambria" pitchFamily="34" charset="0"/>
                <a:ea typeface="Cambria" pitchFamily="34" charset="-122"/>
                <a:cs typeface="Cambria" pitchFamily="34" charset="-120"/>
              </a:rPr>
              <a:t>5</a:t>
            </a:r>
            <a:endParaRPr lang="en-US" sz="4800" dirty="0"/>
          </a:p>
        </p:txBody>
      </p:sp>
      <p:sp>
        <p:nvSpPr>
          <p:cNvPr id="16" name="Text 14"/>
          <p:cNvSpPr txBox="1"/>
          <p:nvPr/>
        </p:nvSpPr>
        <p:spPr>
          <a:xfrm>
            <a:off x="4572000" y="2606040"/>
            <a:ext cx="2971800" cy="320040"/>
          </a:xfrm>
          <a:prstGeom prst="rect">
            <a:avLst/>
          </a:prstGeom>
          <a:noFill/>
          <a:ln/>
        </p:spPr>
        <p:txBody>
          <a:bodyPr wrap="square" lIns="0" tIns="0" rIns="0" bIns="0" rtlCol="0" anchor="t"/>
          <a:lstStyle/>
          <a:p>
            <a:pPr indent="0" marL="0">
              <a:buNone/>
            </a:pPr>
            <a:r>
              <a:rPr lang="en-US" sz="1400" b="1" dirty="0">
                <a:solidFill>
                  <a:schemeClr val="tx2"/>
                </a:solidFill>
              </a:rPr>
              <a:t>Eisen 13 tot 17</a:t>
            </a:r>
            <a:endParaRPr lang="en-US" sz="1400" dirty="0"/>
          </a:p>
        </p:txBody>
      </p:sp>
      <p:sp>
        <p:nvSpPr>
          <p:cNvPr id="17" name="Text 15"/>
          <p:cNvSpPr txBox="1"/>
          <p:nvPr/>
        </p:nvSpPr>
        <p:spPr>
          <a:xfrm>
            <a:off x="4572000" y="2971800"/>
            <a:ext cx="2971800" cy="365760"/>
          </a:xfrm>
          <a:prstGeom prst="rect">
            <a:avLst/>
          </a:prstGeom>
          <a:noFill/>
          <a:ln/>
        </p:spPr>
        <p:txBody>
          <a:bodyPr wrap="square" lIns="0" tIns="0" rIns="0" bIns="0" rtlCol="0" anchor="t"/>
          <a:lstStyle/>
          <a:p>
            <a:pPr indent="0" marL="0">
              <a:buNone/>
            </a:pPr>
            <a:r>
              <a:rPr lang="en-US" sz="1500" b="1" dirty="0">
                <a:solidFill>
                  <a:schemeClr val="accent1"/>
                </a:solidFill>
              </a:rPr>
              <a:t>Voor wie meer wil.</a:t>
            </a:r>
            <a:endParaRPr lang="en-US" sz="1500" dirty="0"/>
          </a:p>
        </p:txBody>
      </p:sp>
      <p:sp>
        <p:nvSpPr>
          <p:cNvPr id="18" name="Text 16"/>
          <p:cNvSpPr txBox="1"/>
          <p:nvPr/>
        </p:nvSpPr>
        <p:spPr>
          <a:xfrm>
            <a:off x="4572000" y="3474720"/>
            <a:ext cx="2971800" cy="1417320"/>
          </a:xfrm>
          <a:prstGeom prst="rect">
            <a:avLst/>
          </a:prstGeom>
          <a:noFill/>
          <a:ln/>
        </p:spPr>
        <p:txBody>
          <a:bodyPr wrap="square" lIns="0" tIns="0" rIns="0" bIns="0" rtlCol="0" anchor="t"/>
          <a:lstStyle/>
          <a:p>
            <a:pPr indent="0" marL="0">
              <a:buNone/>
            </a:pPr>
            <a:r>
              <a:rPr lang="en-US" sz="1400" dirty="0">
                <a:solidFill>
                  <a:schemeClr val="tx2"/>
                </a:solidFill>
              </a:rPr>
              <a:t>modules, statistiek, logging, pre- en postcondities, GitHub Actions</a:t>
            </a:r>
            <a:endParaRPr lang="en-US" sz="1400" dirty="0"/>
          </a:p>
        </p:txBody>
      </p:sp>
      <p:sp>
        <p:nvSpPr>
          <p:cNvPr id="19" name="kaart"/>
          <p:cNvSpPr/>
          <p:nvPr/>
        </p:nvSpPr>
        <p:spPr>
          <a:xfrm>
            <a:off x="8046720" y="1371600"/>
            <a:ext cx="3520440" cy="3611880"/>
          </a:xfrm>
          <a:prstGeom prst="roundRect">
            <a:avLst>
              <a:gd name="adj" fmla="val 3117"/>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20" name="streep"/>
          <p:cNvSpPr/>
          <p:nvPr/>
        </p:nvSpPr>
        <p:spPr>
          <a:xfrm>
            <a:off x="8046720" y="1371600"/>
            <a:ext cx="3520440" cy="128016"/>
          </a:xfrm>
          <a:prstGeom prst="rect">
            <a:avLst/>
          </a:prstGeom>
          <a:solidFill>
            <a:schemeClr val="accent3"/>
          </a:solidFill>
          <a:ln w="12700">
            <a:solidFill>
              <a:schemeClr val="accent3"/>
            </a:solidFill>
            <a:prstDash val="solid"/>
          </a:ln>
        </p:spPr>
      </p:sp>
      <p:sp>
        <p:nvSpPr>
          <p:cNvPr id="21" name="Text 19"/>
          <p:cNvSpPr txBox="1"/>
          <p:nvPr/>
        </p:nvSpPr>
        <p:spPr>
          <a:xfrm>
            <a:off x="8321040" y="1691640"/>
            <a:ext cx="2011680" cy="320040"/>
          </a:xfrm>
          <a:prstGeom prst="rect">
            <a:avLst/>
          </a:prstGeom>
          <a:noFill/>
          <a:ln/>
        </p:spPr>
        <p:txBody>
          <a:bodyPr wrap="square" lIns="0" tIns="0" rIns="0" bIns="0" rtlCol="0" anchor="t"/>
          <a:lstStyle/>
          <a:p>
            <a:pPr indent="0" marL="0">
              <a:buNone/>
            </a:pPr>
            <a:r>
              <a:rPr lang="en-US" sz="1300" b="1" spc="200" kern="0" dirty="0">
                <a:solidFill>
                  <a:schemeClr val="accent3"/>
                </a:solidFill>
              </a:rPr>
              <a:t>NIVEAU 3</a:t>
            </a:r>
            <a:endParaRPr lang="en-US" sz="1300" dirty="0"/>
          </a:p>
        </p:txBody>
      </p:sp>
      <p:sp>
        <p:nvSpPr>
          <p:cNvPr id="22" name="Text 20"/>
          <p:cNvSpPr txBox="1"/>
          <p:nvPr/>
        </p:nvSpPr>
        <p:spPr>
          <a:xfrm>
            <a:off x="8321040" y="2011680"/>
            <a:ext cx="2103120" cy="50292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Uitdaging</a:t>
            </a:r>
            <a:endParaRPr lang="en-US" sz="2400" dirty="0"/>
          </a:p>
        </p:txBody>
      </p:sp>
      <p:sp>
        <p:nvSpPr>
          <p:cNvPr id="23" name="Text 21"/>
          <p:cNvSpPr txBox="1"/>
          <p:nvPr/>
        </p:nvSpPr>
        <p:spPr>
          <a:xfrm>
            <a:off x="10287000" y="1645920"/>
            <a:ext cx="1005840" cy="914400"/>
          </a:xfrm>
          <a:prstGeom prst="rect">
            <a:avLst/>
          </a:prstGeom>
          <a:noFill/>
          <a:ln/>
        </p:spPr>
        <p:txBody>
          <a:bodyPr wrap="square" lIns="0" tIns="0" rIns="0" bIns="0" rtlCol="0" anchor="ctr"/>
          <a:lstStyle/>
          <a:p>
            <a:pPr algn="r" indent="0" marL="0">
              <a:buNone/>
            </a:pPr>
            <a:r>
              <a:rPr lang="en-US" sz="4800" b="1" dirty="0">
                <a:solidFill>
                  <a:schemeClr val="accent3"/>
                </a:solidFill>
                <a:latin typeface="Cambria" pitchFamily="34" charset="0"/>
                <a:ea typeface="Cambria" pitchFamily="34" charset="-122"/>
                <a:cs typeface="Cambria" pitchFamily="34" charset="-120"/>
              </a:rPr>
              <a:t>5</a:t>
            </a:r>
            <a:endParaRPr lang="en-US" sz="4800" dirty="0"/>
          </a:p>
        </p:txBody>
      </p:sp>
      <p:sp>
        <p:nvSpPr>
          <p:cNvPr id="24" name="Text 22"/>
          <p:cNvSpPr txBox="1"/>
          <p:nvPr/>
        </p:nvSpPr>
        <p:spPr>
          <a:xfrm>
            <a:off x="8321040" y="2606040"/>
            <a:ext cx="2971800" cy="320040"/>
          </a:xfrm>
          <a:prstGeom prst="rect">
            <a:avLst/>
          </a:prstGeom>
          <a:noFill/>
          <a:ln/>
        </p:spPr>
        <p:txBody>
          <a:bodyPr wrap="square" lIns="0" tIns="0" rIns="0" bIns="0" rtlCol="0" anchor="t"/>
          <a:lstStyle/>
          <a:p>
            <a:pPr indent="0" marL="0">
              <a:buNone/>
            </a:pPr>
            <a:r>
              <a:rPr lang="en-US" sz="1400" b="1" dirty="0">
                <a:solidFill>
                  <a:schemeClr val="tx2"/>
                </a:solidFill>
              </a:rPr>
              <a:t>Eisen 18 tot 22</a:t>
            </a:r>
            <a:endParaRPr lang="en-US" sz="1400" dirty="0"/>
          </a:p>
        </p:txBody>
      </p:sp>
      <p:sp>
        <p:nvSpPr>
          <p:cNvPr id="25" name="Text 23"/>
          <p:cNvSpPr txBox="1"/>
          <p:nvPr/>
        </p:nvSpPr>
        <p:spPr>
          <a:xfrm>
            <a:off x="8321040" y="2971800"/>
            <a:ext cx="2971800" cy="365760"/>
          </a:xfrm>
          <a:prstGeom prst="rect">
            <a:avLst/>
          </a:prstGeom>
          <a:noFill/>
          <a:ln/>
        </p:spPr>
        <p:txBody>
          <a:bodyPr wrap="square" lIns="0" tIns="0" rIns="0" bIns="0" rtlCol="0" anchor="t"/>
          <a:lstStyle/>
          <a:p>
            <a:pPr indent="0" marL="0">
              <a:buNone/>
            </a:pPr>
            <a:r>
              <a:rPr lang="en-US" sz="1500" b="1" dirty="0">
                <a:solidFill>
                  <a:schemeClr val="accent3"/>
                </a:solidFill>
              </a:rPr>
              <a:t>Voor wie meer wil.</a:t>
            </a:r>
            <a:endParaRPr lang="en-US" sz="1500" dirty="0"/>
          </a:p>
        </p:txBody>
      </p:sp>
      <p:sp>
        <p:nvSpPr>
          <p:cNvPr id="26" name="Text 24"/>
          <p:cNvSpPr txBox="1"/>
          <p:nvPr/>
        </p:nvSpPr>
        <p:spPr>
          <a:xfrm>
            <a:off x="8321040" y="3474720"/>
            <a:ext cx="2971800" cy="1417320"/>
          </a:xfrm>
          <a:prstGeom prst="rect">
            <a:avLst/>
          </a:prstGeom>
          <a:noFill/>
          <a:ln/>
        </p:spPr>
        <p:txBody>
          <a:bodyPr wrap="square" lIns="0" tIns="0" rIns="0" bIns="0" rtlCol="0" anchor="t"/>
          <a:lstStyle/>
          <a:p>
            <a:pPr indent="0" marL="0">
              <a:buNone/>
            </a:pPr>
            <a:r>
              <a:rPr lang="en-US" sz="1400" dirty="0">
                <a:solidFill>
                  <a:schemeClr val="tx2"/>
                </a:solidFill>
              </a:rPr>
              <a:t>ongedaan maken, een tkinter-venster, een beslissingstabel, een tekstverslag, Mill's methods</a:t>
            </a:r>
            <a:endParaRPr lang="en-US" sz="1400" dirty="0"/>
          </a:p>
        </p:txBody>
      </p:sp>
      <p:sp>
        <p:nvSpPr>
          <p:cNvPr id="27" name="kaart"/>
          <p:cNvSpPr/>
          <p:nvPr/>
        </p:nvSpPr>
        <p:spPr>
          <a:xfrm>
            <a:off x="548640" y="5257800"/>
            <a:ext cx="11064240" cy="731520"/>
          </a:xfrm>
          <a:prstGeom prst="roundRect">
            <a:avLst>
              <a:gd name="adj" fmla="val 15000"/>
            </a:avLst>
          </a:prstGeom>
          <a:solidFill>
            <a:schemeClr val="tx1"/>
          </a:solidFill>
          <a:ln w="12700">
            <a:solidFill>
              <a:schemeClr val="tx1"/>
            </a:solidFill>
            <a:prstDash val="solid"/>
          </a:ln>
        </p:spPr>
      </p:sp>
      <p:sp>
        <p:nvSpPr>
          <p:cNvPr id="28" name="Text 26"/>
          <p:cNvSpPr txBox="1"/>
          <p:nvPr/>
        </p:nvSpPr>
        <p:spPr>
          <a:xfrm>
            <a:off x="868680" y="5257800"/>
            <a:ext cx="10515600" cy="731520"/>
          </a:xfrm>
          <a:prstGeom prst="rect">
            <a:avLst/>
          </a:prstGeom>
          <a:noFill/>
          <a:ln/>
        </p:spPr>
        <p:txBody>
          <a:bodyPr wrap="square" lIns="0" tIns="0" rIns="0" bIns="0" rtlCol="0" anchor="ctr"/>
          <a:lstStyle/>
          <a:p>
            <a:pPr indent="0" marL="0">
              <a:buNone/>
            </a:pPr>
            <a:r>
              <a:rPr lang="en-US" sz="1600" b="1" dirty="0">
                <a:solidFill>
                  <a:schemeClr val="accent1"/>
                </a:solidFill>
              </a:rPr>
              <a:t>Bij elke eis staat uit welk hoofdstuk ze komt.  </a:t>
            </a:r>
            <a:pPr indent="0" marL="0">
              <a:buNone/>
            </a:pPr>
            <a:r>
              <a:rPr lang="en-US" sz="1600" dirty="0">
                <a:solidFill>
                  <a:schemeClr val="bg1"/>
                </a:solidFill>
              </a:rPr>
              <a:t>Weet je niet meer hoe iets moet, dan weet je meteen waar je het terugvindt.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Niveau 1 — verplicht: eisen 1 tot 6</a:t>
            </a:r>
            <a:endParaRPr lang="en-US" sz="3400" dirty="0"/>
          </a:p>
        </p:txBody>
      </p:sp>
      <p:sp>
        <p:nvSpPr>
          <p:cNvPr id="3" name="Text 1"/>
          <p:cNvSpPr txBox="1"/>
          <p:nvPr/>
        </p:nvSpPr>
        <p:spPr>
          <a:xfrm>
            <a:off x="548640" y="1261872"/>
            <a:ext cx="82296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NIVEAU 1 · VERPLICHT · VOLSTAAT OM TE SLAGEN</a:t>
            </a:r>
            <a:endParaRPr lang="en-US" sz="1200" dirty="0"/>
          </a:p>
        </p:txBody>
      </p:sp>
      <p:sp>
        <p:nvSpPr>
          <p:cNvPr id="4" name="Text 2"/>
          <p:cNvSpPr txBox="1"/>
          <p:nvPr/>
        </p:nvSpPr>
        <p:spPr>
          <a:xfrm>
            <a:off x="9509760" y="1261872"/>
            <a:ext cx="1920240" cy="274320"/>
          </a:xfrm>
          <a:prstGeom prst="rect">
            <a:avLst/>
          </a:prstGeom>
          <a:noFill/>
          <a:ln/>
        </p:spPr>
        <p:txBody>
          <a:bodyPr wrap="square" lIns="0" tIns="0" rIns="0" bIns="0" rtlCol="0" anchor="t"/>
          <a:lstStyle/>
          <a:p>
            <a:pPr algn="r" indent="0" marL="0">
              <a:buNone/>
            </a:pPr>
            <a:r>
              <a:rPr lang="en-US" sz="1200" b="1" spc="100" kern="0" dirty="0">
                <a:solidFill>
                  <a:schemeClr val="tx2"/>
                </a:solidFill>
              </a:rPr>
              <a:t>UIT HOOFDSTUK</a:t>
            </a:r>
            <a:endParaRPr lang="en-US" sz="1200" dirty="0"/>
          </a:p>
        </p:txBody>
      </p:sp>
      <p:sp>
        <p:nvSpPr>
          <p:cNvPr id="5" name="kaart"/>
          <p:cNvSpPr/>
          <p:nvPr/>
        </p:nvSpPr>
        <p:spPr>
          <a:xfrm>
            <a:off x="548640" y="1645920"/>
            <a:ext cx="11064240" cy="658368"/>
          </a:xfrm>
          <a:prstGeom prst="roundRect">
            <a:avLst>
              <a:gd name="adj" fmla="val 16667"/>
            </a:avLst>
          </a:prstGeom>
          <a:solidFill>
            <a:schemeClr val="bg2"/>
          </a:solidFill>
          <a:ln w="12700">
            <a:solidFill>
              <a:schemeClr val="bg2"/>
            </a:solidFill>
            <a:prstDash val="solid"/>
          </a:ln>
        </p:spPr>
      </p:sp>
      <p:sp>
        <p:nvSpPr>
          <p:cNvPr id="6" name="streep"/>
          <p:cNvSpPr/>
          <p:nvPr/>
        </p:nvSpPr>
        <p:spPr>
          <a:xfrm>
            <a:off x="548640" y="1645920"/>
            <a:ext cx="109728" cy="658368"/>
          </a:xfrm>
          <a:prstGeom prst="rect">
            <a:avLst/>
          </a:prstGeom>
          <a:solidFill>
            <a:schemeClr val="accent2"/>
          </a:solidFill>
          <a:ln w="12700">
            <a:solidFill>
              <a:schemeClr val="accent2"/>
            </a:solidFill>
            <a:prstDash val="solid"/>
          </a:ln>
        </p:spPr>
      </p:sp>
      <p:sp>
        <p:nvSpPr>
          <p:cNvPr id="7" name="nummercirkel"/>
          <p:cNvSpPr/>
          <p:nvPr/>
        </p:nvSpPr>
        <p:spPr>
          <a:xfrm>
            <a:off x="868680" y="1746504"/>
            <a:ext cx="457200" cy="457200"/>
          </a:xfrm>
          <a:prstGeom prst="ellipse">
            <a:avLst/>
          </a:prstGeom>
          <a:solidFill>
            <a:schemeClr val="accent2"/>
          </a:solidFill>
          <a:ln w="12700">
            <a:solidFill>
              <a:schemeClr val="accent2"/>
            </a:solidFill>
            <a:prstDash val="solid"/>
          </a:ln>
        </p:spPr>
      </p:sp>
      <p:sp>
        <p:nvSpPr>
          <p:cNvPr id="8" name="Text 6"/>
          <p:cNvSpPr txBox="1"/>
          <p:nvPr/>
        </p:nvSpPr>
        <p:spPr>
          <a:xfrm>
            <a:off x="868680" y="17465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554480" y="1645920"/>
            <a:ext cx="7772400" cy="658368"/>
          </a:xfrm>
          <a:prstGeom prst="rect">
            <a:avLst/>
          </a:prstGeom>
          <a:noFill/>
          <a:ln/>
        </p:spPr>
        <p:txBody>
          <a:bodyPr wrap="square" lIns="0" tIns="0" rIns="0" bIns="0" rtlCol="0" anchor="ctr"/>
          <a:lstStyle/>
          <a:p>
            <a:pPr indent="0" marL="0">
              <a:buNone/>
            </a:pPr>
            <a:r>
              <a:rPr lang="en-US" sz="1600" dirty="0">
                <a:solidFill>
                  <a:schemeClr val="tx1"/>
                </a:solidFill>
              </a:rPr>
              <a:t>Het programma draait vanaf de terminal en heeft een menu met minstens zes keuzes</a:t>
            </a:r>
            <a:endParaRPr lang="en-US" sz="1600" dirty="0"/>
          </a:p>
        </p:txBody>
      </p:sp>
      <p:sp>
        <p:nvSpPr>
          <p:cNvPr id="10" name="Text 8"/>
          <p:cNvSpPr txBox="1"/>
          <p:nvPr/>
        </p:nvSpPr>
        <p:spPr>
          <a:xfrm>
            <a:off x="9509760" y="1645920"/>
            <a:ext cx="1920240" cy="658368"/>
          </a:xfrm>
          <a:prstGeom prst="rect">
            <a:avLst/>
          </a:prstGeom>
          <a:noFill/>
          <a:ln/>
        </p:spPr>
        <p:txBody>
          <a:bodyPr wrap="square" lIns="0" tIns="0" rIns="0" bIns="0" rtlCol="0" anchor="ctr"/>
          <a:lstStyle/>
          <a:p>
            <a:pPr algn="r" indent="0" marL="0">
              <a:buNone/>
            </a:pPr>
            <a:r>
              <a:rPr lang="en-US" sz="1400" b="1" dirty="0">
                <a:solidFill>
                  <a:schemeClr val="tx2"/>
                </a:solidFill>
              </a:rPr>
              <a:t>9, 10</a:t>
            </a:r>
            <a:endParaRPr lang="en-US" sz="1400" dirty="0"/>
          </a:p>
        </p:txBody>
      </p:sp>
      <p:sp>
        <p:nvSpPr>
          <p:cNvPr id="11" name="kaart"/>
          <p:cNvSpPr/>
          <p:nvPr/>
        </p:nvSpPr>
        <p:spPr>
          <a:xfrm>
            <a:off x="548640" y="2395728"/>
            <a:ext cx="11064240" cy="658368"/>
          </a:xfrm>
          <a:prstGeom prst="roundRect">
            <a:avLst>
              <a:gd name="adj" fmla="val 16667"/>
            </a:avLst>
          </a:prstGeom>
          <a:solidFill>
            <a:schemeClr val="bg2"/>
          </a:solidFill>
          <a:ln w="12700">
            <a:solidFill>
              <a:schemeClr val="bg2"/>
            </a:solidFill>
            <a:prstDash val="solid"/>
          </a:ln>
        </p:spPr>
      </p:sp>
      <p:sp>
        <p:nvSpPr>
          <p:cNvPr id="12" name="streep"/>
          <p:cNvSpPr/>
          <p:nvPr/>
        </p:nvSpPr>
        <p:spPr>
          <a:xfrm>
            <a:off x="548640" y="2395728"/>
            <a:ext cx="109728" cy="658368"/>
          </a:xfrm>
          <a:prstGeom prst="rect">
            <a:avLst/>
          </a:prstGeom>
          <a:solidFill>
            <a:schemeClr val="accent2"/>
          </a:solidFill>
          <a:ln w="12700">
            <a:solidFill>
              <a:schemeClr val="accent2"/>
            </a:solidFill>
            <a:prstDash val="solid"/>
          </a:ln>
        </p:spPr>
      </p:sp>
      <p:sp>
        <p:nvSpPr>
          <p:cNvPr id="13" name="nummercirkel"/>
          <p:cNvSpPr/>
          <p:nvPr/>
        </p:nvSpPr>
        <p:spPr>
          <a:xfrm>
            <a:off x="868680" y="2496312"/>
            <a:ext cx="457200" cy="457200"/>
          </a:xfrm>
          <a:prstGeom prst="ellipse">
            <a:avLst/>
          </a:prstGeom>
          <a:solidFill>
            <a:schemeClr val="accent2"/>
          </a:solidFill>
          <a:ln w="12700">
            <a:solidFill>
              <a:schemeClr val="accent2"/>
            </a:solidFill>
            <a:prstDash val="solid"/>
          </a:ln>
        </p:spPr>
      </p:sp>
      <p:sp>
        <p:nvSpPr>
          <p:cNvPr id="14" name="Text 12"/>
          <p:cNvSpPr txBox="1"/>
          <p:nvPr/>
        </p:nvSpPr>
        <p:spPr>
          <a:xfrm>
            <a:off x="868680" y="24963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5" name="Text 13"/>
          <p:cNvSpPr txBox="1"/>
          <p:nvPr/>
        </p:nvSpPr>
        <p:spPr>
          <a:xfrm>
            <a:off x="1554480" y="2395728"/>
            <a:ext cx="7772400" cy="658368"/>
          </a:xfrm>
          <a:prstGeom prst="rect">
            <a:avLst/>
          </a:prstGeom>
          <a:noFill/>
          <a:ln/>
        </p:spPr>
        <p:txBody>
          <a:bodyPr wrap="square" lIns="0" tIns="0" rIns="0" bIns="0" rtlCol="0" anchor="ctr"/>
          <a:lstStyle/>
          <a:p>
            <a:pPr indent="0" marL="0">
              <a:buNone/>
            </a:pPr>
            <a:r>
              <a:rPr lang="en-US" sz="1600" dirty="0">
                <a:solidFill>
                  <a:schemeClr val="tx1"/>
                </a:solidFill>
              </a:rPr>
              <a:t>Gegevens over minstens twee soorten dingen, bijvoorbeeld leden én lessen</a:t>
            </a:r>
            <a:endParaRPr lang="en-US" sz="1600" dirty="0"/>
          </a:p>
        </p:txBody>
      </p:sp>
      <p:sp>
        <p:nvSpPr>
          <p:cNvPr id="16" name="Text 14"/>
          <p:cNvSpPr txBox="1"/>
          <p:nvPr/>
        </p:nvSpPr>
        <p:spPr>
          <a:xfrm>
            <a:off x="9509760" y="2395728"/>
            <a:ext cx="1920240" cy="658368"/>
          </a:xfrm>
          <a:prstGeom prst="rect">
            <a:avLst/>
          </a:prstGeom>
          <a:noFill/>
          <a:ln/>
        </p:spPr>
        <p:txBody>
          <a:bodyPr wrap="square" lIns="0" tIns="0" rIns="0" bIns="0" rtlCol="0" anchor="ctr"/>
          <a:lstStyle/>
          <a:p>
            <a:pPr algn="r" indent="0" marL="0">
              <a:buNone/>
            </a:pPr>
            <a:r>
              <a:rPr lang="en-US" sz="1400" b="1" dirty="0">
                <a:solidFill>
                  <a:schemeClr val="tx2"/>
                </a:solidFill>
              </a:rPr>
              <a:t>13, 18</a:t>
            </a:r>
            <a:endParaRPr lang="en-US" sz="1400" dirty="0"/>
          </a:p>
        </p:txBody>
      </p:sp>
      <p:sp>
        <p:nvSpPr>
          <p:cNvPr id="17" name="kaart"/>
          <p:cNvSpPr/>
          <p:nvPr/>
        </p:nvSpPr>
        <p:spPr>
          <a:xfrm>
            <a:off x="548640" y="3145536"/>
            <a:ext cx="11064240" cy="658368"/>
          </a:xfrm>
          <a:prstGeom prst="roundRect">
            <a:avLst>
              <a:gd name="adj" fmla="val 16667"/>
            </a:avLst>
          </a:prstGeom>
          <a:solidFill>
            <a:schemeClr val="bg2"/>
          </a:solidFill>
          <a:ln w="12700">
            <a:solidFill>
              <a:schemeClr val="bg2"/>
            </a:solidFill>
            <a:prstDash val="solid"/>
          </a:ln>
        </p:spPr>
      </p:sp>
      <p:sp>
        <p:nvSpPr>
          <p:cNvPr id="18" name="streep"/>
          <p:cNvSpPr/>
          <p:nvPr/>
        </p:nvSpPr>
        <p:spPr>
          <a:xfrm>
            <a:off x="548640" y="3145536"/>
            <a:ext cx="109728" cy="658368"/>
          </a:xfrm>
          <a:prstGeom prst="rect">
            <a:avLst/>
          </a:prstGeom>
          <a:solidFill>
            <a:schemeClr val="accent2"/>
          </a:solidFill>
          <a:ln w="12700">
            <a:solidFill>
              <a:schemeClr val="accent2"/>
            </a:solidFill>
            <a:prstDash val="solid"/>
          </a:ln>
        </p:spPr>
      </p:sp>
      <p:sp>
        <p:nvSpPr>
          <p:cNvPr id="19" name="nummercirkel"/>
          <p:cNvSpPr/>
          <p:nvPr/>
        </p:nvSpPr>
        <p:spPr>
          <a:xfrm>
            <a:off x="868680" y="3246120"/>
            <a:ext cx="457200" cy="457200"/>
          </a:xfrm>
          <a:prstGeom prst="ellipse">
            <a:avLst/>
          </a:prstGeom>
          <a:solidFill>
            <a:schemeClr val="accent2"/>
          </a:solidFill>
          <a:ln w="12700">
            <a:solidFill>
              <a:schemeClr val="accent2"/>
            </a:solidFill>
            <a:prstDash val="solid"/>
          </a:ln>
        </p:spPr>
      </p:sp>
      <p:sp>
        <p:nvSpPr>
          <p:cNvPr id="20" name="Text 18"/>
          <p:cNvSpPr txBox="1"/>
          <p:nvPr/>
        </p:nvSpPr>
        <p:spPr>
          <a:xfrm>
            <a:off x="868680" y="3246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21" name="Text 19"/>
          <p:cNvSpPr txBox="1"/>
          <p:nvPr/>
        </p:nvSpPr>
        <p:spPr>
          <a:xfrm>
            <a:off x="1554480" y="3145536"/>
            <a:ext cx="7772400" cy="658368"/>
          </a:xfrm>
          <a:prstGeom prst="rect">
            <a:avLst/>
          </a:prstGeom>
          <a:noFill/>
          <a:ln/>
        </p:spPr>
        <p:txBody>
          <a:bodyPr wrap="square" lIns="0" tIns="0" rIns="0" bIns="0" rtlCol="0" anchor="ctr"/>
          <a:lstStyle/>
          <a:p>
            <a:pPr indent="0" marL="0">
              <a:buNone/>
            </a:pPr>
            <a:r>
              <a:rPr lang="en-US" sz="1600" dirty="0">
                <a:solidFill>
                  <a:schemeClr val="tx1"/>
                </a:solidFill>
              </a:rPr>
              <a:t>Toevoegen, tonen, zoeken, aanpassen en verwijderen</a:t>
            </a:r>
            <a:endParaRPr lang="en-US" sz="1600" dirty="0"/>
          </a:p>
        </p:txBody>
      </p:sp>
      <p:sp>
        <p:nvSpPr>
          <p:cNvPr id="22" name="Text 20"/>
          <p:cNvSpPr txBox="1"/>
          <p:nvPr/>
        </p:nvSpPr>
        <p:spPr>
          <a:xfrm>
            <a:off x="9509760" y="3145536"/>
            <a:ext cx="1920240" cy="658368"/>
          </a:xfrm>
          <a:prstGeom prst="rect">
            <a:avLst/>
          </a:prstGeom>
          <a:noFill/>
          <a:ln/>
        </p:spPr>
        <p:txBody>
          <a:bodyPr wrap="square" lIns="0" tIns="0" rIns="0" bIns="0" rtlCol="0" anchor="ctr"/>
          <a:lstStyle/>
          <a:p>
            <a:pPr algn="r" indent="0" marL="0">
              <a:buNone/>
            </a:pPr>
            <a:r>
              <a:rPr lang="en-US" sz="1400" b="1" dirty="0">
                <a:solidFill>
                  <a:schemeClr val="tx2"/>
                </a:solidFill>
              </a:rPr>
              <a:t>12, 13</a:t>
            </a:r>
            <a:endParaRPr lang="en-US" sz="1400" dirty="0"/>
          </a:p>
        </p:txBody>
      </p:sp>
      <p:sp>
        <p:nvSpPr>
          <p:cNvPr id="23" name="kaart"/>
          <p:cNvSpPr/>
          <p:nvPr/>
        </p:nvSpPr>
        <p:spPr>
          <a:xfrm>
            <a:off x="548640" y="3895344"/>
            <a:ext cx="11064240" cy="658368"/>
          </a:xfrm>
          <a:prstGeom prst="roundRect">
            <a:avLst>
              <a:gd name="adj" fmla="val 16667"/>
            </a:avLst>
          </a:prstGeom>
          <a:solidFill>
            <a:schemeClr val="bg2"/>
          </a:solidFill>
          <a:ln w="12700">
            <a:solidFill>
              <a:schemeClr val="bg2"/>
            </a:solidFill>
            <a:prstDash val="solid"/>
          </a:ln>
        </p:spPr>
      </p:sp>
      <p:sp>
        <p:nvSpPr>
          <p:cNvPr id="24" name="streep"/>
          <p:cNvSpPr/>
          <p:nvPr/>
        </p:nvSpPr>
        <p:spPr>
          <a:xfrm>
            <a:off x="548640" y="3895344"/>
            <a:ext cx="109728" cy="658368"/>
          </a:xfrm>
          <a:prstGeom prst="rect">
            <a:avLst/>
          </a:prstGeom>
          <a:solidFill>
            <a:schemeClr val="accent2"/>
          </a:solidFill>
          <a:ln w="12700">
            <a:solidFill>
              <a:schemeClr val="accent2"/>
            </a:solidFill>
            <a:prstDash val="solid"/>
          </a:ln>
        </p:spPr>
      </p:sp>
      <p:sp>
        <p:nvSpPr>
          <p:cNvPr id="25" name="nummercirkel"/>
          <p:cNvSpPr/>
          <p:nvPr/>
        </p:nvSpPr>
        <p:spPr>
          <a:xfrm>
            <a:off x="868680" y="3995928"/>
            <a:ext cx="457200" cy="457200"/>
          </a:xfrm>
          <a:prstGeom prst="ellipse">
            <a:avLst/>
          </a:prstGeom>
          <a:solidFill>
            <a:schemeClr val="accent2"/>
          </a:solidFill>
          <a:ln w="12700">
            <a:solidFill>
              <a:schemeClr val="accent2"/>
            </a:solidFill>
            <a:prstDash val="solid"/>
          </a:ln>
        </p:spPr>
      </p:sp>
      <p:sp>
        <p:nvSpPr>
          <p:cNvPr id="26" name="Text 24"/>
          <p:cNvSpPr txBox="1"/>
          <p:nvPr/>
        </p:nvSpPr>
        <p:spPr>
          <a:xfrm>
            <a:off x="868680" y="39959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27" name="Text 25"/>
          <p:cNvSpPr txBox="1"/>
          <p:nvPr/>
        </p:nvSpPr>
        <p:spPr>
          <a:xfrm>
            <a:off x="1554480" y="3895344"/>
            <a:ext cx="7772400" cy="658368"/>
          </a:xfrm>
          <a:prstGeom prst="rect">
            <a:avLst/>
          </a:prstGeom>
          <a:noFill/>
          <a:ln/>
        </p:spPr>
        <p:txBody>
          <a:bodyPr wrap="square" lIns="0" tIns="0" rIns="0" bIns="0" rtlCol="0" anchor="ctr"/>
          <a:lstStyle/>
          <a:p>
            <a:pPr indent="0" marL="0">
              <a:buNone/>
            </a:pPr>
            <a:r>
              <a:rPr lang="en-US" sz="1600" dirty="0">
                <a:solidFill>
                  <a:schemeClr val="tx1"/>
                </a:solidFill>
              </a:rPr>
              <a:t>Gegevens blijven bewaard tussen twee keer starten, in CSV of JSON</a:t>
            </a:r>
            <a:endParaRPr lang="en-US" sz="1600" dirty="0"/>
          </a:p>
        </p:txBody>
      </p:sp>
      <p:sp>
        <p:nvSpPr>
          <p:cNvPr id="28" name="Text 26"/>
          <p:cNvSpPr txBox="1"/>
          <p:nvPr/>
        </p:nvSpPr>
        <p:spPr>
          <a:xfrm>
            <a:off x="9509760" y="3895344"/>
            <a:ext cx="1920240" cy="658368"/>
          </a:xfrm>
          <a:prstGeom prst="rect">
            <a:avLst/>
          </a:prstGeom>
          <a:noFill/>
          <a:ln/>
        </p:spPr>
        <p:txBody>
          <a:bodyPr wrap="square" lIns="0" tIns="0" rIns="0" bIns="0" rtlCol="0" anchor="ctr"/>
          <a:lstStyle/>
          <a:p>
            <a:pPr algn="r" indent="0" marL="0">
              <a:buNone/>
            </a:pPr>
            <a:r>
              <a:rPr lang="en-US" sz="1400" b="1" dirty="0">
                <a:solidFill>
                  <a:schemeClr val="tx2"/>
                </a:solidFill>
              </a:rPr>
              <a:t>16</a:t>
            </a:r>
            <a:endParaRPr lang="en-US" sz="1400" dirty="0"/>
          </a:p>
        </p:txBody>
      </p:sp>
      <p:sp>
        <p:nvSpPr>
          <p:cNvPr id="29" name="kaart"/>
          <p:cNvSpPr/>
          <p:nvPr/>
        </p:nvSpPr>
        <p:spPr>
          <a:xfrm>
            <a:off x="548640" y="4645152"/>
            <a:ext cx="11064240" cy="658368"/>
          </a:xfrm>
          <a:prstGeom prst="roundRect">
            <a:avLst>
              <a:gd name="adj" fmla="val 16667"/>
            </a:avLst>
          </a:prstGeom>
          <a:solidFill>
            <a:schemeClr val="bg2"/>
          </a:solidFill>
          <a:ln w="12700">
            <a:solidFill>
              <a:schemeClr val="bg2"/>
            </a:solidFill>
            <a:prstDash val="solid"/>
          </a:ln>
        </p:spPr>
      </p:sp>
      <p:sp>
        <p:nvSpPr>
          <p:cNvPr id="30" name="streep"/>
          <p:cNvSpPr/>
          <p:nvPr/>
        </p:nvSpPr>
        <p:spPr>
          <a:xfrm>
            <a:off x="548640" y="4645152"/>
            <a:ext cx="109728" cy="658368"/>
          </a:xfrm>
          <a:prstGeom prst="rect">
            <a:avLst/>
          </a:prstGeom>
          <a:solidFill>
            <a:schemeClr val="accent2"/>
          </a:solidFill>
          <a:ln w="12700">
            <a:solidFill>
              <a:schemeClr val="accent2"/>
            </a:solidFill>
            <a:prstDash val="solid"/>
          </a:ln>
        </p:spPr>
      </p:sp>
      <p:sp>
        <p:nvSpPr>
          <p:cNvPr id="31" name="nummercirkel"/>
          <p:cNvSpPr/>
          <p:nvPr/>
        </p:nvSpPr>
        <p:spPr>
          <a:xfrm>
            <a:off x="868680" y="4745736"/>
            <a:ext cx="457200" cy="457200"/>
          </a:xfrm>
          <a:prstGeom prst="ellipse">
            <a:avLst/>
          </a:prstGeom>
          <a:solidFill>
            <a:schemeClr val="accent2"/>
          </a:solidFill>
          <a:ln w="12700">
            <a:solidFill>
              <a:schemeClr val="accent2"/>
            </a:solidFill>
            <a:prstDash val="solid"/>
          </a:ln>
        </p:spPr>
      </p:sp>
      <p:sp>
        <p:nvSpPr>
          <p:cNvPr id="32" name="Text 30"/>
          <p:cNvSpPr txBox="1"/>
          <p:nvPr/>
        </p:nvSpPr>
        <p:spPr>
          <a:xfrm>
            <a:off x="868680" y="47457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5</a:t>
            </a:r>
            <a:endParaRPr lang="en-US" sz="1600" dirty="0"/>
          </a:p>
        </p:txBody>
      </p:sp>
      <p:sp>
        <p:nvSpPr>
          <p:cNvPr id="33" name="Text 31"/>
          <p:cNvSpPr txBox="1"/>
          <p:nvPr/>
        </p:nvSpPr>
        <p:spPr>
          <a:xfrm>
            <a:off x="1554480" y="4645152"/>
            <a:ext cx="7772400" cy="658368"/>
          </a:xfrm>
          <a:prstGeom prst="rect">
            <a:avLst/>
          </a:prstGeom>
          <a:noFill/>
          <a:ln/>
        </p:spPr>
        <p:txBody>
          <a:bodyPr wrap="square" lIns="0" tIns="0" rIns="0" bIns="0" rtlCol="0" anchor="ctr"/>
          <a:lstStyle/>
          <a:p>
            <a:pPr indent="0" marL="0">
              <a:buNone/>
            </a:pPr>
            <a:r>
              <a:rPr lang="en-US" sz="1600" dirty="0">
                <a:solidFill>
                  <a:schemeClr val="tx1"/>
                </a:solidFill>
              </a:rPr>
              <a:t>Alle invoer van de gebruiker wordt gecontroleerd; het programma crasht nooit</a:t>
            </a:r>
            <a:endParaRPr lang="en-US" sz="1600" dirty="0"/>
          </a:p>
        </p:txBody>
      </p:sp>
      <p:sp>
        <p:nvSpPr>
          <p:cNvPr id="34" name="Text 32"/>
          <p:cNvSpPr txBox="1"/>
          <p:nvPr/>
        </p:nvSpPr>
        <p:spPr>
          <a:xfrm>
            <a:off x="9509760" y="4645152"/>
            <a:ext cx="1920240" cy="658368"/>
          </a:xfrm>
          <a:prstGeom prst="rect">
            <a:avLst/>
          </a:prstGeom>
          <a:noFill/>
          <a:ln/>
        </p:spPr>
        <p:txBody>
          <a:bodyPr wrap="square" lIns="0" tIns="0" rIns="0" bIns="0" rtlCol="0" anchor="ctr"/>
          <a:lstStyle/>
          <a:p>
            <a:pPr algn="r" indent="0" marL="0">
              <a:buNone/>
            </a:pPr>
            <a:r>
              <a:rPr lang="en-US" sz="1400" b="1" dirty="0">
                <a:solidFill>
                  <a:schemeClr val="tx2"/>
                </a:solidFill>
              </a:rPr>
              <a:t>15</a:t>
            </a:r>
            <a:endParaRPr lang="en-US" sz="1400" dirty="0"/>
          </a:p>
        </p:txBody>
      </p:sp>
      <p:sp>
        <p:nvSpPr>
          <p:cNvPr id="35" name="kaart"/>
          <p:cNvSpPr/>
          <p:nvPr/>
        </p:nvSpPr>
        <p:spPr>
          <a:xfrm>
            <a:off x="548640" y="5394960"/>
            <a:ext cx="11064240" cy="658368"/>
          </a:xfrm>
          <a:prstGeom prst="roundRect">
            <a:avLst>
              <a:gd name="adj" fmla="val 16667"/>
            </a:avLst>
          </a:prstGeom>
          <a:solidFill>
            <a:schemeClr val="bg2"/>
          </a:solidFill>
          <a:ln w="12700">
            <a:solidFill>
              <a:schemeClr val="bg2"/>
            </a:solidFill>
            <a:prstDash val="solid"/>
          </a:ln>
        </p:spPr>
      </p:sp>
      <p:sp>
        <p:nvSpPr>
          <p:cNvPr id="36" name="streep"/>
          <p:cNvSpPr/>
          <p:nvPr/>
        </p:nvSpPr>
        <p:spPr>
          <a:xfrm>
            <a:off x="548640" y="5394960"/>
            <a:ext cx="109728" cy="658368"/>
          </a:xfrm>
          <a:prstGeom prst="rect">
            <a:avLst/>
          </a:prstGeom>
          <a:solidFill>
            <a:schemeClr val="accent2"/>
          </a:solidFill>
          <a:ln w="12700">
            <a:solidFill>
              <a:schemeClr val="accent2"/>
            </a:solidFill>
            <a:prstDash val="solid"/>
          </a:ln>
        </p:spPr>
      </p:sp>
      <p:sp>
        <p:nvSpPr>
          <p:cNvPr id="37" name="nummercirkel"/>
          <p:cNvSpPr/>
          <p:nvPr/>
        </p:nvSpPr>
        <p:spPr>
          <a:xfrm>
            <a:off x="868680" y="5495544"/>
            <a:ext cx="457200" cy="457200"/>
          </a:xfrm>
          <a:prstGeom prst="ellipse">
            <a:avLst/>
          </a:prstGeom>
          <a:solidFill>
            <a:schemeClr val="accent2"/>
          </a:solidFill>
          <a:ln w="12700">
            <a:solidFill>
              <a:schemeClr val="accent2"/>
            </a:solidFill>
            <a:prstDash val="solid"/>
          </a:ln>
        </p:spPr>
      </p:sp>
      <p:sp>
        <p:nvSpPr>
          <p:cNvPr id="38" name="Text 36"/>
          <p:cNvSpPr txBox="1"/>
          <p:nvPr/>
        </p:nvSpPr>
        <p:spPr>
          <a:xfrm>
            <a:off x="868680" y="54955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6</a:t>
            </a:r>
            <a:endParaRPr lang="en-US" sz="1600" dirty="0"/>
          </a:p>
        </p:txBody>
      </p:sp>
      <p:sp>
        <p:nvSpPr>
          <p:cNvPr id="39" name="Text 37"/>
          <p:cNvSpPr txBox="1"/>
          <p:nvPr/>
        </p:nvSpPr>
        <p:spPr>
          <a:xfrm>
            <a:off x="1554480" y="5394960"/>
            <a:ext cx="7772400" cy="658368"/>
          </a:xfrm>
          <a:prstGeom prst="rect">
            <a:avLst/>
          </a:prstGeom>
          <a:noFill/>
          <a:ln/>
        </p:spPr>
        <p:txBody>
          <a:bodyPr wrap="square" lIns="0" tIns="0" rIns="0" bIns="0" rtlCol="0" anchor="ctr"/>
          <a:lstStyle/>
          <a:p>
            <a:pPr indent="0" marL="0">
              <a:buNone/>
            </a:pPr>
            <a:r>
              <a:rPr lang="en-US" sz="1600" dirty="0">
                <a:solidFill>
                  <a:schemeClr val="tx1"/>
                </a:solidFill>
              </a:rPr>
              <a:t>Minstens vier eigen functies met een docstring, en minstens één klasse</a:t>
            </a:r>
            <a:endParaRPr lang="en-US" sz="1600" dirty="0"/>
          </a:p>
        </p:txBody>
      </p:sp>
      <p:sp>
        <p:nvSpPr>
          <p:cNvPr id="40" name="Text 38"/>
          <p:cNvSpPr txBox="1"/>
          <p:nvPr/>
        </p:nvSpPr>
        <p:spPr>
          <a:xfrm>
            <a:off x="9509760" y="5394960"/>
            <a:ext cx="1920240" cy="658368"/>
          </a:xfrm>
          <a:prstGeom prst="rect">
            <a:avLst/>
          </a:prstGeom>
          <a:noFill/>
          <a:ln/>
        </p:spPr>
        <p:txBody>
          <a:bodyPr wrap="square" lIns="0" tIns="0" rIns="0" bIns="0" rtlCol="0" anchor="ctr"/>
          <a:lstStyle/>
          <a:p>
            <a:pPr algn="r" indent="0" marL="0">
              <a:buNone/>
            </a:pPr>
            <a:r>
              <a:rPr lang="en-US" sz="1400" b="1" dirty="0">
                <a:solidFill>
                  <a:schemeClr val="tx2"/>
                </a:solidFill>
              </a:rPr>
              <a:t>11, 18</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Niveau 1 — verplicht: eisen 7 tot 12</a:t>
            </a:r>
            <a:endParaRPr lang="en-US" sz="3400" dirty="0"/>
          </a:p>
        </p:txBody>
      </p:sp>
      <p:sp>
        <p:nvSpPr>
          <p:cNvPr id="3" name="Text 1"/>
          <p:cNvSpPr txBox="1"/>
          <p:nvPr/>
        </p:nvSpPr>
        <p:spPr>
          <a:xfrm>
            <a:off x="548640" y="1261872"/>
            <a:ext cx="82296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NIVEAU 1 · VERPLICHT · VOLSTAAT OM TE SLAGEN</a:t>
            </a:r>
            <a:endParaRPr lang="en-US" sz="1200" dirty="0"/>
          </a:p>
        </p:txBody>
      </p:sp>
      <p:sp>
        <p:nvSpPr>
          <p:cNvPr id="4" name="Text 2"/>
          <p:cNvSpPr txBox="1"/>
          <p:nvPr/>
        </p:nvSpPr>
        <p:spPr>
          <a:xfrm>
            <a:off x="9509760" y="1261872"/>
            <a:ext cx="1920240" cy="274320"/>
          </a:xfrm>
          <a:prstGeom prst="rect">
            <a:avLst/>
          </a:prstGeom>
          <a:noFill/>
          <a:ln/>
        </p:spPr>
        <p:txBody>
          <a:bodyPr wrap="square" lIns="0" tIns="0" rIns="0" bIns="0" rtlCol="0" anchor="t"/>
          <a:lstStyle/>
          <a:p>
            <a:pPr algn="r" indent="0" marL="0">
              <a:buNone/>
            </a:pPr>
            <a:r>
              <a:rPr lang="en-US" sz="1200" b="1" spc="100" kern="0" dirty="0">
                <a:solidFill>
                  <a:schemeClr val="tx2"/>
                </a:solidFill>
              </a:rPr>
              <a:t>UIT HOOFDSTUK</a:t>
            </a:r>
            <a:endParaRPr lang="en-US" sz="1200" dirty="0"/>
          </a:p>
        </p:txBody>
      </p:sp>
      <p:sp>
        <p:nvSpPr>
          <p:cNvPr id="5" name="kaart"/>
          <p:cNvSpPr/>
          <p:nvPr/>
        </p:nvSpPr>
        <p:spPr>
          <a:xfrm>
            <a:off x="548640" y="1645920"/>
            <a:ext cx="11064240" cy="658368"/>
          </a:xfrm>
          <a:prstGeom prst="roundRect">
            <a:avLst>
              <a:gd name="adj" fmla="val 16667"/>
            </a:avLst>
          </a:prstGeom>
          <a:solidFill>
            <a:schemeClr val="bg2"/>
          </a:solidFill>
          <a:ln w="12700">
            <a:solidFill>
              <a:schemeClr val="bg2"/>
            </a:solidFill>
            <a:prstDash val="solid"/>
          </a:ln>
        </p:spPr>
      </p:sp>
      <p:sp>
        <p:nvSpPr>
          <p:cNvPr id="6" name="streep"/>
          <p:cNvSpPr/>
          <p:nvPr/>
        </p:nvSpPr>
        <p:spPr>
          <a:xfrm>
            <a:off x="548640" y="1645920"/>
            <a:ext cx="109728" cy="658368"/>
          </a:xfrm>
          <a:prstGeom prst="rect">
            <a:avLst/>
          </a:prstGeom>
          <a:solidFill>
            <a:schemeClr val="accent2"/>
          </a:solidFill>
          <a:ln w="12700">
            <a:solidFill>
              <a:schemeClr val="accent2"/>
            </a:solidFill>
            <a:prstDash val="solid"/>
          </a:ln>
        </p:spPr>
      </p:sp>
      <p:sp>
        <p:nvSpPr>
          <p:cNvPr id="7" name="nummercirkel"/>
          <p:cNvSpPr/>
          <p:nvPr/>
        </p:nvSpPr>
        <p:spPr>
          <a:xfrm>
            <a:off x="868680" y="1746504"/>
            <a:ext cx="457200" cy="457200"/>
          </a:xfrm>
          <a:prstGeom prst="ellipse">
            <a:avLst/>
          </a:prstGeom>
          <a:solidFill>
            <a:schemeClr val="accent2"/>
          </a:solidFill>
          <a:ln w="12700">
            <a:solidFill>
              <a:schemeClr val="accent2"/>
            </a:solidFill>
            <a:prstDash val="solid"/>
          </a:ln>
        </p:spPr>
      </p:sp>
      <p:sp>
        <p:nvSpPr>
          <p:cNvPr id="8" name="Text 6"/>
          <p:cNvSpPr txBox="1"/>
          <p:nvPr/>
        </p:nvSpPr>
        <p:spPr>
          <a:xfrm>
            <a:off x="868680" y="17465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7</a:t>
            </a:r>
            <a:endParaRPr lang="en-US" sz="1600" dirty="0"/>
          </a:p>
        </p:txBody>
      </p:sp>
      <p:sp>
        <p:nvSpPr>
          <p:cNvPr id="9" name="Text 7"/>
          <p:cNvSpPr txBox="1"/>
          <p:nvPr/>
        </p:nvSpPr>
        <p:spPr>
          <a:xfrm>
            <a:off x="1554480" y="1645920"/>
            <a:ext cx="7772400" cy="658368"/>
          </a:xfrm>
          <a:prstGeom prst="rect">
            <a:avLst/>
          </a:prstGeom>
          <a:noFill/>
          <a:ln/>
        </p:spPr>
        <p:txBody>
          <a:bodyPr wrap="square" lIns="0" tIns="0" rIns="0" bIns="0" rtlCol="0" anchor="ctr"/>
          <a:lstStyle/>
          <a:p>
            <a:pPr indent="0" marL="0">
              <a:buNone/>
            </a:pPr>
            <a:r>
              <a:rPr lang="en-US" sz="1600" dirty="0">
                <a:solidFill>
                  <a:schemeClr val="tx1"/>
                </a:solidFill>
              </a:rPr>
              <a:t>Minstens één berekening met een echte regel erin, zoals een tarief of een boete</a:t>
            </a:r>
            <a:endParaRPr lang="en-US" sz="1600" dirty="0"/>
          </a:p>
        </p:txBody>
      </p:sp>
      <p:sp>
        <p:nvSpPr>
          <p:cNvPr id="10" name="Text 8"/>
          <p:cNvSpPr txBox="1"/>
          <p:nvPr/>
        </p:nvSpPr>
        <p:spPr>
          <a:xfrm>
            <a:off x="9509760" y="1645920"/>
            <a:ext cx="1920240" cy="658368"/>
          </a:xfrm>
          <a:prstGeom prst="rect">
            <a:avLst/>
          </a:prstGeom>
          <a:noFill/>
          <a:ln/>
        </p:spPr>
        <p:txBody>
          <a:bodyPr wrap="square" lIns="0" tIns="0" rIns="0" bIns="0" rtlCol="0" anchor="ctr"/>
          <a:lstStyle/>
          <a:p>
            <a:pPr algn="r" indent="0" marL="0">
              <a:buNone/>
            </a:pPr>
            <a:r>
              <a:rPr lang="en-US" sz="1400" b="1" dirty="0">
                <a:solidFill>
                  <a:schemeClr val="tx2"/>
                </a:solidFill>
              </a:rPr>
              <a:t>6, 9</a:t>
            </a:r>
            <a:endParaRPr lang="en-US" sz="1400" dirty="0"/>
          </a:p>
        </p:txBody>
      </p:sp>
      <p:sp>
        <p:nvSpPr>
          <p:cNvPr id="11" name="kaart"/>
          <p:cNvSpPr/>
          <p:nvPr/>
        </p:nvSpPr>
        <p:spPr>
          <a:xfrm>
            <a:off x="548640" y="2395728"/>
            <a:ext cx="11064240" cy="658368"/>
          </a:xfrm>
          <a:prstGeom prst="roundRect">
            <a:avLst>
              <a:gd name="adj" fmla="val 16667"/>
            </a:avLst>
          </a:prstGeom>
          <a:solidFill>
            <a:schemeClr val="bg2"/>
          </a:solidFill>
          <a:ln w="12700">
            <a:solidFill>
              <a:schemeClr val="bg2"/>
            </a:solidFill>
            <a:prstDash val="solid"/>
          </a:ln>
        </p:spPr>
      </p:sp>
      <p:sp>
        <p:nvSpPr>
          <p:cNvPr id="12" name="streep"/>
          <p:cNvSpPr/>
          <p:nvPr/>
        </p:nvSpPr>
        <p:spPr>
          <a:xfrm>
            <a:off x="548640" y="2395728"/>
            <a:ext cx="109728" cy="658368"/>
          </a:xfrm>
          <a:prstGeom prst="rect">
            <a:avLst/>
          </a:prstGeom>
          <a:solidFill>
            <a:schemeClr val="accent2"/>
          </a:solidFill>
          <a:ln w="12700">
            <a:solidFill>
              <a:schemeClr val="accent2"/>
            </a:solidFill>
            <a:prstDash val="solid"/>
          </a:ln>
        </p:spPr>
      </p:sp>
      <p:sp>
        <p:nvSpPr>
          <p:cNvPr id="13" name="nummercirkel"/>
          <p:cNvSpPr/>
          <p:nvPr/>
        </p:nvSpPr>
        <p:spPr>
          <a:xfrm>
            <a:off x="868680" y="2496312"/>
            <a:ext cx="457200" cy="457200"/>
          </a:xfrm>
          <a:prstGeom prst="ellipse">
            <a:avLst/>
          </a:prstGeom>
          <a:solidFill>
            <a:schemeClr val="accent2"/>
          </a:solidFill>
          <a:ln w="12700">
            <a:solidFill>
              <a:schemeClr val="accent2"/>
            </a:solidFill>
            <a:prstDash val="solid"/>
          </a:ln>
        </p:spPr>
      </p:sp>
      <p:sp>
        <p:nvSpPr>
          <p:cNvPr id="14" name="Text 12"/>
          <p:cNvSpPr txBox="1"/>
          <p:nvPr/>
        </p:nvSpPr>
        <p:spPr>
          <a:xfrm>
            <a:off x="868680" y="24963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8</a:t>
            </a:r>
            <a:endParaRPr lang="en-US" sz="1600" dirty="0"/>
          </a:p>
        </p:txBody>
      </p:sp>
      <p:sp>
        <p:nvSpPr>
          <p:cNvPr id="15" name="Text 13"/>
          <p:cNvSpPr txBox="1"/>
          <p:nvPr/>
        </p:nvSpPr>
        <p:spPr>
          <a:xfrm>
            <a:off x="1554480" y="2395728"/>
            <a:ext cx="7772400" cy="658368"/>
          </a:xfrm>
          <a:prstGeom prst="rect">
            <a:avLst/>
          </a:prstGeom>
          <a:noFill/>
          <a:ln/>
        </p:spPr>
        <p:txBody>
          <a:bodyPr wrap="square" lIns="0" tIns="0" rIns="0" bIns="0" rtlCol="0" anchor="ctr"/>
          <a:lstStyle/>
          <a:p>
            <a:pPr indent="0" marL="0">
              <a:buNone/>
            </a:pPr>
            <a:r>
              <a:rPr lang="en-US" sz="1600" dirty="0">
                <a:solidFill>
                  <a:schemeClr val="tx1"/>
                </a:solidFill>
              </a:rPr>
              <a:t>Een overzicht met een sortering en een filter</a:t>
            </a:r>
            <a:endParaRPr lang="en-US" sz="1600" dirty="0"/>
          </a:p>
        </p:txBody>
      </p:sp>
      <p:sp>
        <p:nvSpPr>
          <p:cNvPr id="16" name="Text 14"/>
          <p:cNvSpPr txBox="1"/>
          <p:nvPr/>
        </p:nvSpPr>
        <p:spPr>
          <a:xfrm>
            <a:off x="9509760" y="2395728"/>
            <a:ext cx="1920240" cy="658368"/>
          </a:xfrm>
          <a:prstGeom prst="rect">
            <a:avLst/>
          </a:prstGeom>
          <a:noFill/>
          <a:ln/>
        </p:spPr>
        <p:txBody>
          <a:bodyPr wrap="square" lIns="0" tIns="0" rIns="0" bIns="0" rtlCol="0" anchor="ctr"/>
          <a:lstStyle/>
          <a:p>
            <a:pPr algn="r" indent="0" marL="0">
              <a:buNone/>
            </a:pPr>
            <a:r>
              <a:rPr lang="en-US" sz="1400" b="1" dirty="0">
                <a:solidFill>
                  <a:schemeClr val="tx2"/>
                </a:solidFill>
              </a:rPr>
              <a:t>12, 14</a:t>
            </a:r>
            <a:endParaRPr lang="en-US" sz="1400" dirty="0"/>
          </a:p>
        </p:txBody>
      </p:sp>
      <p:sp>
        <p:nvSpPr>
          <p:cNvPr id="17" name="kaart"/>
          <p:cNvSpPr/>
          <p:nvPr/>
        </p:nvSpPr>
        <p:spPr>
          <a:xfrm>
            <a:off x="548640" y="3145536"/>
            <a:ext cx="11064240" cy="658368"/>
          </a:xfrm>
          <a:prstGeom prst="roundRect">
            <a:avLst>
              <a:gd name="adj" fmla="val 16667"/>
            </a:avLst>
          </a:prstGeom>
          <a:solidFill>
            <a:schemeClr val="bg2"/>
          </a:solidFill>
          <a:ln w="12700">
            <a:solidFill>
              <a:schemeClr val="bg2"/>
            </a:solidFill>
            <a:prstDash val="solid"/>
          </a:ln>
        </p:spPr>
      </p:sp>
      <p:sp>
        <p:nvSpPr>
          <p:cNvPr id="18" name="streep"/>
          <p:cNvSpPr/>
          <p:nvPr/>
        </p:nvSpPr>
        <p:spPr>
          <a:xfrm>
            <a:off x="548640" y="3145536"/>
            <a:ext cx="109728" cy="658368"/>
          </a:xfrm>
          <a:prstGeom prst="rect">
            <a:avLst/>
          </a:prstGeom>
          <a:solidFill>
            <a:schemeClr val="accent2"/>
          </a:solidFill>
          <a:ln w="12700">
            <a:solidFill>
              <a:schemeClr val="accent2"/>
            </a:solidFill>
            <a:prstDash val="solid"/>
          </a:ln>
        </p:spPr>
      </p:sp>
      <p:sp>
        <p:nvSpPr>
          <p:cNvPr id="19" name="nummercirkel"/>
          <p:cNvSpPr/>
          <p:nvPr/>
        </p:nvSpPr>
        <p:spPr>
          <a:xfrm>
            <a:off x="868680" y="3246120"/>
            <a:ext cx="457200" cy="457200"/>
          </a:xfrm>
          <a:prstGeom prst="ellipse">
            <a:avLst/>
          </a:prstGeom>
          <a:solidFill>
            <a:schemeClr val="accent2"/>
          </a:solidFill>
          <a:ln w="12700">
            <a:solidFill>
              <a:schemeClr val="accent2"/>
            </a:solidFill>
            <a:prstDash val="solid"/>
          </a:ln>
        </p:spPr>
      </p:sp>
      <p:sp>
        <p:nvSpPr>
          <p:cNvPr id="20" name="Text 18"/>
          <p:cNvSpPr txBox="1"/>
          <p:nvPr/>
        </p:nvSpPr>
        <p:spPr>
          <a:xfrm>
            <a:off x="868680" y="3246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9</a:t>
            </a:r>
            <a:endParaRPr lang="en-US" sz="1600" dirty="0"/>
          </a:p>
        </p:txBody>
      </p:sp>
      <p:sp>
        <p:nvSpPr>
          <p:cNvPr id="21" name="Text 19"/>
          <p:cNvSpPr txBox="1"/>
          <p:nvPr/>
        </p:nvSpPr>
        <p:spPr>
          <a:xfrm>
            <a:off x="1554480" y="3145536"/>
            <a:ext cx="7772400" cy="658368"/>
          </a:xfrm>
          <a:prstGeom prst="rect">
            <a:avLst/>
          </a:prstGeom>
          <a:noFill/>
          <a:ln/>
        </p:spPr>
        <p:txBody>
          <a:bodyPr wrap="square" lIns="0" tIns="0" rIns="0" bIns="0" rtlCol="0" anchor="ctr"/>
          <a:lstStyle/>
          <a:p>
            <a:pPr indent="0" marL="0">
              <a:buNone/>
            </a:pPr>
            <a:r>
              <a:rPr lang="en-US" sz="1600" dirty="0">
                <a:solidFill>
                  <a:schemeClr val="tx1"/>
                </a:solidFill>
              </a:rPr>
              <a:t>Een testbestand met minstens vijftien controles, gekozen met klassen en grenzen</a:t>
            </a:r>
            <a:endParaRPr lang="en-US" sz="1600" dirty="0"/>
          </a:p>
        </p:txBody>
      </p:sp>
      <p:sp>
        <p:nvSpPr>
          <p:cNvPr id="22" name="Text 20"/>
          <p:cNvSpPr txBox="1"/>
          <p:nvPr/>
        </p:nvSpPr>
        <p:spPr>
          <a:xfrm>
            <a:off x="9509760" y="3145536"/>
            <a:ext cx="1920240" cy="658368"/>
          </a:xfrm>
          <a:prstGeom prst="rect">
            <a:avLst/>
          </a:prstGeom>
          <a:noFill/>
          <a:ln/>
        </p:spPr>
        <p:txBody>
          <a:bodyPr wrap="square" lIns="0" tIns="0" rIns="0" bIns="0" rtlCol="0" anchor="ctr"/>
          <a:lstStyle/>
          <a:p>
            <a:pPr algn="r" indent="0" marL="0">
              <a:buNone/>
            </a:pPr>
            <a:r>
              <a:rPr lang="en-US" sz="1400" b="1" dirty="0">
                <a:solidFill>
                  <a:schemeClr val="tx2"/>
                </a:solidFill>
              </a:rPr>
              <a:t>25, 28</a:t>
            </a:r>
            <a:endParaRPr lang="en-US" sz="1400" dirty="0"/>
          </a:p>
        </p:txBody>
      </p:sp>
      <p:sp>
        <p:nvSpPr>
          <p:cNvPr id="23" name="kaart"/>
          <p:cNvSpPr/>
          <p:nvPr/>
        </p:nvSpPr>
        <p:spPr>
          <a:xfrm>
            <a:off x="548640" y="3895344"/>
            <a:ext cx="11064240" cy="658368"/>
          </a:xfrm>
          <a:prstGeom prst="roundRect">
            <a:avLst>
              <a:gd name="adj" fmla="val 16667"/>
            </a:avLst>
          </a:prstGeom>
          <a:solidFill>
            <a:schemeClr val="bg2"/>
          </a:solidFill>
          <a:ln w="12700">
            <a:solidFill>
              <a:schemeClr val="bg2"/>
            </a:solidFill>
            <a:prstDash val="solid"/>
          </a:ln>
        </p:spPr>
      </p:sp>
      <p:sp>
        <p:nvSpPr>
          <p:cNvPr id="24" name="streep"/>
          <p:cNvSpPr/>
          <p:nvPr/>
        </p:nvSpPr>
        <p:spPr>
          <a:xfrm>
            <a:off x="548640" y="3895344"/>
            <a:ext cx="109728" cy="658368"/>
          </a:xfrm>
          <a:prstGeom prst="rect">
            <a:avLst/>
          </a:prstGeom>
          <a:solidFill>
            <a:schemeClr val="accent2"/>
          </a:solidFill>
          <a:ln w="12700">
            <a:solidFill>
              <a:schemeClr val="accent2"/>
            </a:solidFill>
            <a:prstDash val="solid"/>
          </a:ln>
        </p:spPr>
      </p:sp>
      <p:sp>
        <p:nvSpPr>
          <p:cNvPr id="25" name="nummercirkel"/>
          <p:cNvSpPr/>
          <p:nvPr/>
        </p:nvSpPr>
        <p:spPr>
          <a:xfrm>
            <a:off x="868680" y="3995928"/>
            <a:ext cx="457200" cy="457200"/>
          </a:xfrm>
          <a:prstGeom prst="ellipse">
            <a:avLst/>
          </a:prstGeom>
          <a:solidFill>
            <a:schemeClr val="accent2"/>
          </a:solidFill>
          <a:ln w="12700">
            <a:solidFill>
              <a:schemeClr val="accent2"/>
            </a:solidFill>
            <a:prstDash val="solid"/>
          </a:ln>
        </p:spPr>
      </p:sp>
      <p:sp>
        <p:nvSpPr>
          <p:cNvPr id="26" name="Text 24"/>
          <p:cNvSpPr txBox="1"/>
          <p:nvPr/>
        </p:nvSpPr>
        <p:spPr>
          <a:xfrm>
            <a:off x="868680" y="39959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10</a:t>
            </a:r>
            <a:endParaRPr lang="en-US" sz="1600" dirty="0"/>
          </a:p>
        </p:txBody>
      </p:sp>
      <p:sp>
        <p:nvSpPr>
          <p:cNvPr id="27" name="Text 25"/>
          <p:cNvSpPr txBox="1"/>
          <p:nvPr/>
        </p:nvSpPr>
        <p:spPr>
          <a:xfrm>
            <a:off x="1554480" y="3895344"/>
            <a:ext cx="7772400" cy="658368"/>
          </a:xfrm>
          <a:prstGeom prst="rect">
            <a:avLst/>
          </a:prstGeom>
          <a:noFill/>
          <a:ln/>
        </p:spPr>
        <p:txBody>
          <a:bodyPr wrap="square" lIns="0" tIns="0" rIns="0" bIns="0" rtlCol="0" anchor="ctr"/>
          <a:lstStyle/>
          <a:p>
            <a:pPr indent="0" marL="0">
              <a:buNone/>
            </a:pPr>
            <a:r>
              <a:rPr lang="en-US" sz="1600" dirty="0">
                <a:solidFill>
                  <a:schemeClr val="tx1"/>
                </a:solidFill>
              </a:rPr>
              <a:t>Een repository met minstens vijftien commits met leesbare boodschappen</a:t>
            </a:r>
            <a:endParaRPr lang="en-US" sz="1600" dirty="0"/>
          </a:p>
        </p:txBody>
      </p:sp>
      <p:sp>
        <p:nvSpPr>
          <p:cNvPr id="28" name="Text 26"/>
          <p:cNvSpPr txBox="1"/>
          <p:nvPr/>
        </p:nvSpPr>
        <p:spPr>
          <a:xfrm>
            <a:off x="9509760" y="3895344"/>
            <a:ext cx="1920240" cy="658368"/>
          </a:xfrm>
          <a:prstGeom prst="rect">
            <a:avLst/>
          </a:prstGeom>
          <a:noFill/>
          <a:ln/>
        </p:spPr>
        <p:txBody>
          <a:bodyPr wrap="square" lIns="0" tIns="0" rIns="0" bIns="0" rtlCol="0" anchor="ctr"/>
          <a:lstStyle/>
          <a:p>
            <a:pPr algn="r" indent="0" marL="0">
              <a:buNone/>
            </a:pPr>
            <a:r>
              <a:rPr lang="en-US" sz="1400" b="1" dirty="0">
                <a:solidFill>
                  <a:schemeClr val="tx2"/>
                </a:solidFill>
              </a:rPr>
              <a:t>2</a:t>
            </a:r>
            <a:endParaRPr lang="en-US" sz="1400" dirty="0"/>
          </a:p>
        </p:txBody>
      </p:sp>
      <p:sp>
        <p:nvSpPr>
          <p:cNvPr id="29" name="kaart"/>
          <p:cNvSpPr/>
          <p:nvPr/>
        </p:nvSpPr>
        <p:spPr>
          <a:xfrm>
            <a:off x="548640" y="4645152"/>
            <a:ext cx="11064240" cy="658368"/>
          </a:xfrm>
          <a:prstGeom prst="roundRect">
            <a:avLst>
              <a:gd name="adj" fmla="val 16667"/>
            </a:avLst>
          </a:prstGeom>
          <a:solidFill>
            <a:schemeClr val="bg2"/>
          </a:solidFill>
          <a:ln w="12700">
            <a:solidFill>
              <a:schemeClr val="bg2"/>
            </a:solidFill>
            <a:prstDash val="solid"/>
          </a:ln>
        </p:spPr>
      </p:sp>
      <p:sp>
        <p:nvSpPr>
          <p:cNvPr id="30" name="streep"/>
          <p:cNvSpPr/>
          <p:nvPr/>
        </p:nvSpPr>
        <p:spPr>
          <a:xfrm>
            <a:off x="548640" y="4645152"/>
            <a:ext cx="109728" cy="658368"/>
          </a:xfrm>
          <a:prstGeom prst="rect">
            <a:avLst/>
          </a:prstGeom>
          <a:solidFill>
            <a:schemeClr val="accent2"/>
          </a:solidFill>
          <a:ln w="12700">
            <a:solidFill>
              <a:schemeClr val="accent2"/>
            </a:solidFill>
            <a:prstDash val="solid"/>
          </a:ln>
        </p:spPr>
      </p:sp>
      <p:sp>
        <p:nvSpPr>
          <p:cNvPr id="31" name="nummercirkel"/>
          <p:cNvSpPr/>
          <p:nvPr/>
        </p:nvSpPr>
        <p:spPr>
          <a:xfrm>
            <a:off x="868680" y="4745736"/>
            <a:ext cx="457200" cy="457200"/>
          </a:xfrm>
          <a:prstGeom prst="ellipse">
            <a:avLst/>
          </a:prstGeom>
          <a:solidFill>
            <a:schemeClr val="accent2"/>
          </a:solidFill>
          <a:ln w="12700">
            <a:solidFill>
              <a:schemeClr val="accent2"/>
            </a:solidFill>
            <a:prstDash val="solid"/>
          </a:ln>
        </p:spPr>
      </p:sp>
      <p:sp>
        <p:nvSpPr>
          <p:cNvPr id="32" name="Text 30"/>
          <p:cNvSpPr txBox="1"/>
          <p:nvPr/>
        </p:nvSpPr>
        <p:spPr>
          <a:xfrm>
            <a:off x="868680" y="47457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11</a:t>
            </a:r>
            <a:endParaRPr lang="en-US" sz="1600" dirty="0"/>
          </a:p>
        </p:txBody>
      </p:sp>
      <p:sp>
        <p:nvSpPr>
          <p:cNvPr id="33" name="Text 31"/>
          <p:cNvSpPr txBox="1"/>
          <p:nvPr/>
        </p:nvSpPr>
        <p:spPr>
          <a:xfrm>
            <a:off x="1554480" y="4645152"/>
            <a:ext cx="7772400" cy="658368"/>
          </a:xfrm>
          <a:prstGeom prst="rect">
            <a:avLst/>
          </a:prstGeom>
          <a:noFill/>
          <a:ln/>
        </p:spPr>
        <p:txBody>
          <a:bodyPr wrap="square" lIns="0" tIns="0" rIns="0" bIns="0" rtlCol="0" anchor="ctr"/>
          <a:lstStyle/>
          <a:p>
            <a:pPr indent="0" marL="0">
              <a:buNone/>
            </a:pPr>
            <a:r>
              <a:rPr lang="en-US" sz="1600" dirty="0">
                <a:solidFill>
                  <a:schemeClr val="tx1"/>
                </a:solidFill>
              </a:rPr>
              <a:t>Een README.md die uitlegt wat het doet en hoe je het start</a:t>
            </a:r>
            <a:endParaRPr lang="en-US" sz="1600" dirty="0"/>
          </a:p>
        </p:txBody>
      </p:sp>
      <p:sp>
        <p:nvSpPr>
          <p:cNvPr id="34" name="Text 32"/>
          <p:cNvSpPr txBox="1"/>
          <p:nvPr/>
        </p:nvSpPr>
        <p:spPr>
          <a:xfrm>
            <a:off x="9509760" y="4645152"/>
            <a:ext cx="1920240" cy="658368"/>
          </a:xfrm>
          <a:prstGeom prst="rect">
            <a:avLst/>
          </a:prstGeom>
          <a:noFill/>
          <a:ln/>
        </p:spPr>
        <p:txBody>
          <a:bodyPr wrap="square" lIns="0" tIns="0" rIns="0" bIns="0" rtlCol="0" anchor="ctr"/>
          <a:lstStyle/>
          <a:p>
            <a:pPr algn="r" indent="0" marL="0">
              <a:buNone/>
            </a:pPr>
            <a:r>
              <a:rPr lang="en-US" sz="1400" b="1" dirty="0">
                <a:solidFill>
                  <a:schemeClr val="tx2"/>
                </a:solidFill>
              </a:rPr>
              <a:t>2</a:t>
            </a:r>
            <a:endParaRPr lang="en-US" sz="1400" dirty="0"/>
          </a:p>
        </p:txBody>
      </p:sp>
      <p:sp>
        <p:nvSpPr>
          <p:cNvPr id="35" name="kaart"/>
          <p:cNvSpPr/>
          <p:nvPr/>
        </p:nvSpPr>
        <p:spPr>
          <a:xfrm>
            <a:off x="548640" y="5394960"/>
            <a:ext cx="11064240" cy="658368"/>
          </a:xfrm>
          <a:prstGeom prst="roundRect">
            <a:avLst>
              <a:gd name="adj" fmla="val 16667"/>
            </a:avLst>
          </a:prstGeom>
          <a:solidFill>
            <a:schemeClr val="bg2"/>
          </a:solidFill>
          <a:ln w="12700">
            <a:solidFill>
              <a:schemeClr val="bg2"/>
            </a:solidFill>
            <a:prstDash val="solid"/>
          </a:ln>
        </p:spPr>
      </p:sp>
      <p:sp>
        <p:nvSpPr>
          <p:cNvPr id="36" name="streep"/>
          <p:cNvSpPr/>
          <p:nvPr/>
        </p:nvSpPr>
        <p:spPr>
          <a:xfrm>
            <a:off x="548640" y="5394960"/>
            <a:ext cx="109728" cy="658368"/>
          </a:xfrm>
          <a:prstGeom prst="rect">
            <a:avLst/>
          </a:prstGeom>
          <a:solidFill>
            <a:schemeClr val="accent2"/>
          </a:solidFill>
          <a:ln w="12700">
            <a:solidFill>
              <a:schemeClr val="accent2"/>
            </a:solidFill>
            <a:prstDash val="solid"/>
          </a:ln>
        </p:spPr>
      </p:sp>
      <p:sp>
        <p:nvSpPr>
          <p:cNvPr id="37" name="nummercirkel"/>
          <p:cNvSpPr/>
          <p:nvPr/>
        </p:nvSpPr>
        <p:spPr>
          <a:xfrm>
            <a:off x="868680" y="5495544"/>
            <a:ext cx="457200" cy="457200"/>
          </a:xfrm>
          <a:prstGeom prst="ellipse">
            <a:avLst/>
          </a:prstGeom>
          <a:solidFill>
            <a:schemeClr val="accent2"/>
          </a:solidFill>
          <a:ln w="12700">
            <a:solidFill>
              <a:schemeClr val="accent2"/>
            </a:solidFill>
            <a:prstDash val="solid"/>
          </a:ln>
        </p:spPr>
      </p:sp>
      <p:sp>
        <p:nvSpPr>
          <p:cNvPr id="38" name="Text 36"/>
          <p:cNvSpPr txBox="1"/>
          <p:nvPr/>
        </p:nvSpPr>
        <p:spPr>
          <a:xfrm>
            <a:off x="868680" y="54955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12</a:t>
            </a:r>
            <a:endParaRPr lang="en-US" sz="1600" dirty="0"/>
          </a:p>
        </p:txBody>
      </p:sp>
      <p:sp>
        <p:nvSpPr>
          <p:cNvPr id="39" name="Text 37"/>
          <p:cNvSpPr txBox="1"/>
          <p:nvPr/>
        </p:nvSpPr>
        <p:spPr>
          <a:xfrm>
            <a:off x="1554480" y="5394960"/>
            <a:ext cx="7772400" cy="658368"/>
          </a:xfrm>
          <a:prstGeom prst="rect">
            <a:avLst/>
          </a:prstGeom>
          <a:noFill/>
          <a:ln/>
        </p:spPr>
        <p:txBody>
          <a:bodyPr wrap="square" lIns="0" tIns="0" rIns="0" bIns="0" rtlCol="0" anchor="ctr"/>
          <a:lstStyle/>
          <a:p>
            <a:pPr indent="0" marL="0">
              <a:buNone/>
            </a:pPr>
            <a:r>
              <a:rPr lang="en-US" sz="1600" dirty="0">
                <a:solidFill>
                  <a:schemeClr val="tx1"/>
                </a:solidFill>
              </a:rPr>
              <a:t>Een .gitignore en een requirements.txt</a:t>
            </a:r>
            <a:endParaRPr lang="en-US" sz="1600" dirty="0"/>
          </a:p>
        </p:txBody>
      </p:sp>
      <p:sp>
        <p:nvSpPr>
          <p:cNvPr id="40" name="Text 38"/>
          <p:cNvSpPr txBox="1"/>
          <p:nvPr/>
        </p:nvSpPr>
        <p:spPr>
          <a:xfrm>
            <a:off x="9509760" y="5394960"/>
            <a:ext cx="1920240" cy="658368"/>
          </a:xfrm>
          <a:prstGeom prst="rect">
            <a:avLst/>
          </a:prstGeom>
          <a:noFill/>
          <a:ln/>
        </p:spPr>
        <p:txBody>
          <a:bodyPr wrap="square" lIns="0" tIns="0" rIns="0" bIns="0" rtlCol="0" anchor="ctr"/>
          <a:lstStyle/>
          <a:p>
            <a:pPr algn="r" indent="0" marL="0">
              <a:buNone/>
            </a:pPr>
            <a:r>
              <a:rPr lang="en-US" sz="1400" b="1" dirty="0">
                <a:solidFill>
                  <a:schemeClr val="tx2"/>
                </a:solidFill>
              </a:rPr>
              <a:t>1, 21</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Niveau 2 — uitbreiding: eisen 13 tot 17</a:t>
            </a:r>
            <a:endParaRPr lang="en-US" sz="3400" dirty="0"/>
          </a:p>
        </p:txBody>
      </p:sp>
      <p:sp>
        <p:nvSpPr>
          <p:cNvPr id="3" name="Text 1"/>
          <p:cNvSpPr txBox="1"/>
          <p:nvPr/>
        </p:nvSpPr>
        <p:spPr>
          <a:xfrm>
            <a:off x="548640" y="1261872"/>
            <a:ext cx="82296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NIVEAU 2 · UITBREIDING · VOOR WIE MEER WIL</a:t>
            </a:r>
            <a:endParaRPr lang="en-US" sz="1200" dirty="0"/>
          </a:p>
        </p:txBody>
      </p:sp>
      <p:sp>
        <p:nvSpPr>
          <p:cNvPr id="4" name="Text 2"/>
          <p:cNvSpPr txBox="1"/>
          <p:nvPr/>
        </p:nvSpPr>
        <p:spPr>
          <a:xfrm>
            <a:off x="9509760" y="1261872"/>
            <a:ext cx="1920240" cy="274320"/>
          </a:xfrm>
          <a:prstGeom prst="rect">
            <a:avLst/>
          </a:prstGeom>
          <a:noFill/>
          <a:ln/>
        </p:spPr>
        <p:txBody>
          <a:bodyPr wrap="square" lIns="0" tIns="0" rIns="0" bIns="0" rtlCol="0" anchor="t"/>
          <a:lstStyle/>
          <a:p>
            <a:pPr algn="r" indent="0" marL="0">
              <a:buNone/>
            </a:pPr>
            <a:r>
              <a:rPr lang="en-US" sz="1200" b="1" spc="100" kern="0" dirty="0">
                <a:solidFill>
                  <a:schemeClr val="tx2"/>
                </a:solidFill>
              </a:rPr>
              <a:t>UIT HOOFDSTUK</a:t>
            </a:r>
            <a:endParaRPr lang="en-US" sz="1200" dirty="0"/>
          </a:p>
        </p:txBody>
      </p:sp>
      <p:sp>
        <p:nvSpPr>
          <p:cNvPr id="5" name="kaart"/>
          <p:cNvSpPr/>
          <p:nvPr/>
        </p:nvSpPr>
        <p:spPr>
          <a:xfrm>
            <a:off x="548640" y="1645920"/>
            <a:ext cx="11064240" cy="786384"/>
          </a:xfrm>
          <a:prstGeom prst="roundRect">
            <a:avLst>
              <a:gd name="adj" fmla="val 13953"/>
            </a:avLst>
          </a:prstGeom>
          <a:solidFill>
            <a:schemeClr val="bg2"/>
          </a:solidFill>
          <a:ln w="12700">
            <a:solidFill>
              <a:schemeClr val="bg2"/>
            </a:solidFill>
            <a:prstDash val="solid"/>
          </a:ln>
        </p:spPr>
      </p:sp>
      <p:sp>
        <p:nvSpPr>
          <p:cNvPr id="6" name="streep"/>
          <p:cNvSpPr/>
          <p:nvPr/>
        </p:nvSpPr>
        <p:spPr>
          <a:xfrm>
            <a:off x="548640" y="1645920"/>
            <a:ext cx="109728" cy="786384"/>
          </a:xfrm>
          <a:prstGeom prst="rect">
            <a:avLst/>
          </a:prstGeom>
          <a:solidFill>
            <a:schemeClr val="accent1"/>
          </a:solidFill>
          <a:ln w="12700">
            <a:solidFill>
              <a:schemeClr val="accent1"/>
            </a:solidFill>
            <a:prstDash val="solid"/>
          </a:ln>
        </p:spPr>
      </p:sp>
      <p:sp>
        <p:nvSpPr>
          <p:cNvPr id="7" name="nummercirkel"/>
          <p:cNvSpPr/>
          <p:nvPr/>
        </p:nvSpPr>
        <p:spPr>
          <a:xfrm>
            <a:off x="868680" y="1810512"/>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868680" y="18105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13</a:t>
            </a:r>
            <a:endParaRPr lang="en-US" sz="1600" dirty="0"/>
          </a:p>
        </p:txBody>
      </p:sp>
      <p:sp>
        <p:nvSpPr>
          <p:cNvPr id="9" name="Text 7"/>
          <p:cNvSpPr txBox="1"/>
          <p:nvPr/>
        </p:nvSpPr>
        <p:spPr>
          <a:xfrm>
            <a:off x="1554480" y="1645920"/>
            <a:ext cx="7772400" cy="786384"/>
          </a:xfrm>
          <a:prstGeom prst="rect">
            <a:avLst/>
          </a:prstGeom>
          <a:noFill/>
          <a:ln/>
        </p:spPr>
        <p:txBody>
          <a:bodyPr wrap="square" lIns="0" tIns="0" rIns="0" bIns="0" rtlCol="0" anchor="ctr"/>
          <a:lstStyle/>
          <a:p>
            <a:pPr indent="0" marL="0">
              <a:buNone/>
            </a:pPr>
            <a:r>
              <a:rPr lang="en-US" sz="1600" dirty="0">
                <a:solidFill>
                  <a:schemeClr val="tx1"/>
                </a:solidFill>
              </a:rPr>
              <a:t>Het programma is verdeeld over minstens drie eigen modules</a:t>
            </a:r>
            <a:endParaRPr lang="en-US" sz="1600" dirty="0"/>
          </a:p>
        </p:txBody>
      </p:sp>
      <p:sp>
        <p:nvSpPr>
          <p:cNvPr id="10" name="Text 8"/>
          <p:cNvSpPr txBox="1"/>
          <p:nvPr/>
        </p:nvSpPr>
        <p:spPr>
          <a:xfrm>
            <a:off x="9509760" y="1645920"/>
            <a:ext cx="1920240" cy="786384"/>
          </a:xfrm>
          <a:prstGeom prst="rect">
            <a:avLst/>
          </a:prstGeom>
          <a:noFill/>
          <a:ln/>
        </p:spPr>
        <p:txBody>
          <a:bodyPr wrap="square" lIns="0" tIns="0" rIns="0" bIns="0" rtlCol="0" anchor="ctr"/>
          <a:lstStyle/>
          <a:p>
            <a:pPr algn="r" indent="0" marL="0">
              <a:buNone/>
            </a:pPr>
            <a:r>
              <a:rPr lang="en-US" sz="1400" b="1" dirty="0">
                <a:solidFill>
                  <a:schemeClr val="tx2"/>
                </a:solidFill>
              </a:rPr>
              <a:t>17</a:t>
            </a:r>
            <a:endParaRPr lang="en-US" sz="1400" dirty="0"/>
          </a:p>
        </p:txBody>
      </p:sp>
      <p:sp>
        <p:nvSpPr>
          <p:cNvPr id="11" name="kaart"/>
          <p:cNvSpPr/>
          <p:nvPr/>
        </p:nvSpPr>
        <p:spPr>
          <a:xfrm>
            <a:off x="548640" y="2523744"/>
            <a:ext cx="11064240" cy="786384"/>
          </a:xfrm>
          <a:prstGeom prst="roundRect">
            <a:avLst>
              <a:gd name="adj" fmla="val 13953"/>
            </a:avLst>
          </a:prstGeom>
          <a:solidFill>
            <a:schemeClr val="bg2"/>
          </a:solidFill>
          <a:ln w="12700">
            <a:solidFill>
              <a:schemeClr val="bg2"/>
            </a:solidFill>
            <a:prstDash val="solid"/>
          </a:ln>
        </p:spPr>
      </p:sp>
      <p:sp>
        <p:nvSpPr>
          <p:cNvPr id="12" name="streep"/>
          <p:cNvSpPr/>
          <p:nvPr/>
        </p:nvSpPr>
        <p:spPr>
          <a:xfrm>
            <a:off x="548640" y="2523744"/>
            <a:ext cx="109728" cy="786384"/>
          </a:xfrm>
          <a:prstGeom prst="rect">
            <a:avLst/>
          </a:prstGeom>
          <a:solidFill>
            <a:schemeClr val="accent1"/>
          </a:solidFill>
          <a:ln w="12700">
            <a:solidFill>
              <a:schemeClr val="accent1"/>
            </a:solidFill>
            <a:prstDash val="solid"/>
          </a:ln>
        </p:spPr>
      </p:sp>
      <p:sp>
        <p:nvSpPr>
          <p:cNvPr id="13" name="nummercirkel"/>
          <p:cNvSpPr/>
          <p:nvPr/>
        </p:nvSpPr>
        <p:spPr>
          <a:xfrm>
            <a:off x="868680" y="2688336"/>
            <a:ext cx="457200" cy="457200"/>
          </a:xfrm>
          <a:prstGeom prst="ellipse">
            <a:avLst/>
          </a:prstGeom>
          <a:solidFill>
            <a:schemeClr val="accent1"/>
          </a:solidFill>
          <a:ln w="12700">
            <a:solidFill>
              <a:schemeClr val="accent1"/>
            </a:solidFill>
            <a:prstDash val="solid"/>
          </a:ln>
        </p:spPr>
      </p:sp>
      <p:sp>
        <p:nvSpPr>
          <p:cNvPr id="14" name="Text 12"/>
          <p:cNvSpPr txBox="1"/>
          <p:nvPr/>
        </p:nvSpPr>
        <p:spPr>
          <a:xfrm>
            <a:off x="868680" y="26883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14</a:t>
            </a:r>
            <a:endParaRPr lang="en-US" sz="1600" dirty="0"/>
          </a:p>
        </p:txBody>
      </p:sp>
      <p:sp>
        <p:nvSpPr>
          <p:cNvPr id="15" name="Text 13"/>
          <p:cNvSpPr txBox="1"/>
          <p:nvPr/>
        </p:nvSpPr>
        <p:spPr>
          <a:xfrm>
            <a:off x="1554480" y="2523744"/>
            <a:ext cx="7772400" cy="786384"/>
          </a:xfrm>
          <a:prstGeom prst="rect">
            <a:avLst/>
          </a:prstGeom>
          <a:noFill/>
          <a:ln/>
        </p:spPr>
        <p:txBody>
          <a:bodyPr wrap="square" lIns="0" tIns="0" rIns="0" bIns="0" rtlCol="0" anchor="ctr"/>
          <a:lstStyle/>
          <a:p>
            <a:pPr indent="0" marL="0">
              <a:buNone/>
            </a:pPr>
            <a:r>
              <a:rPr lang="en-US" sz="1600" dirty="0">
                <a:solidFill>
                  <a:schemeClr val="tx1"/>
                </a:solidFill>
              </a:rPr>
              <a:t>Een verslag of statistiek, met tellingen per categorie</a:t>
            </a:r>
            <a:endParaRPr lang="en-US" sz="1600" dirty="0"/>
          </a:p>
        </p:txBody>
      </p:sp>
      <p:sp>
        <p:nvSpPr>
          <p:cNvPr id="16" name="Text 14"/>
          <p:cNvSpPr txBox="1"/>
          <p:nvPr/>
        </p:nvSpPr>
        <p:spPr>
          <a:xfrm>
            <a:off x="9509760" y="2523744"/>
            <a:ext cx="1920240" cy="786384"/>
          </a:xfrm>
          <a:prstGeom prst="rect">
            <a:avLst/>
          </a:prstGeom>
          <a:noFill/>
          <a:ln/>
        </p:spPr>
        <p:txBody>
          <a:bodyPr wrap="square" lIns="0" tIns="0" rIns="0" bIns="0" rtlCol="0" anchor="ctr"/>
          <a:lstStyle/>
          <a:p>
            <a:pPr algn="r" indent="0" marL="0">
              <a:buNone/>
            </a:pPr>
            <a:r>
              <a:rPr lang="en-US" sz="1400" b="1" dirty="0">
                <a:solidFill>
                  <a:schemeClr val="tx2"/>
                </a:solidFill>
              </a:rPr>
              <a:t>13, 14</a:t>
            </a:r>
            <a:endParaRPr lang="en-US" sz="1400" dirty="0"/>
          </a:p>
        </p:txBody>
      </p:sp>
      <p:sp>
        <p:nvSpPr>
          <p:cNvPr id="17" name="kaart"/>
          <p:cNvSpPr/>
          <p:nvPr/>
        </p:nvSpPr>
        <p:spPr>
          <a:xfrm>
            <a:off x="548640" y="3401568"/>
            <a:ext cx="11064240" cy="786384"/>
          </a:xfrm>
          <a:prstGeom prst="roundRect">
            <a:avLst>
              <a:gd name="adj" fmla="val 13953"/>
            </a:avLst>
          </a:prstGeom>
          <a:solidFill>
            <a:schemeClr val="bg2"/>
          </a:solidFill>
          <a:ln w="12700">
            <a:solidFill>
              <a:schemeClr val="bg2"/>
            </a:solidFill>
            <a:prstDash val="solid"/>
          </a:ln>
        </p:spPr>
      </p:sp>
      <p:sp>
        <p:nvSpPr>
          <p:cNvPr id="18" name="streep"/>
          <p:cNvSpPr/>
          <p:nvPr/>
        </p:nvSpPr>
        <p:spPr>
          <a:xfrm>
            <a:off x="548640" y="3401568"/>
            <a:ext cx="109728" cy="786384"/>
          </a:xfrm>
          <a:prstGeom prst="rect">
            <a:avLst/>
          </a:prstGeom>
          <a:solidFill>
            <a:schemeClr val="accent1"/>
          </a:solidFill>
          <a:ln w="12700">
            <a:solidFill>
              <a:schemeClr val="accent1"/>
            </a:solidFill>
            <a:prstDash val="solid"/>
          </a:ln>
        </p:spPr>
      </p:sp>
      <p:sp>
        <p:nvSpPr>
          <p:cNvPr id="19" name="nummercirkel"/>
          <p:cNvSpPr/>
          <p:nvPr/>
        </p:nvSpPr>
        <p:spPr>
          <a:xfrm>
            <a:off x="868680" y="356616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868680" y="3566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15</a:t>
            </a:r>
            <a:endParaRPr lang="en-US" sz="1600" dirty="0"/>
          </a:p>
        </p:txBody>
      </p:sp>
      <p:sp>
        <p:nvSpPr>
          <p:cNvPr id="21" name="Text 19"/>
          <p:cNvSpPr txBox="1"/>
          <p:nvPr/>
        </p:nvSpPr>
        <p:spPr>
          <a:xfrm>
            <a:off x="1554480" y="3401568"/>
            <a:ext cx="7772400" cy="786384"/>
          </a:xfrm>
          <a:prstGeom prst="rect">
            <a:avLst/>
          </a:prstGeom>
          <a:noFill/>
          <a:ln/>
        </p:spPr>
        <p:txBody>
          <a:bodyPr wrap="square" lIns="0" tIns="0" rIns="0" bIns="0" rtlCol="0" anchor="ctr"/>
          <a:lstStyle/>
          <a:p>
            <a:pPr indent="0" marL="0">
              <a:buNone/>
            </a:pPr>
            <a:r>
              <a:rPr lang="en-US" sz="1600" dirty="0">
                <a:solidFill>
                  <a:schemeClr val="tx1"/>
                </a:solidFill>
              </a:rPr>
              <a:t>Logboek met logging in plaats van print voor wat er gebeurt</a:t>
            </a:r>
            <a:endParaRPr lang="en-US" sz="1600" dirty="0"/>
          </a:p>
        </p:txBody>
      </p:sp>
      <p:sp>
        <p:nvSpPr>
          <p:cNvPr id="22" name="Text 20"/>
          <p:cNvSpPr txBox="1"/>
          <p:nvPr/>
        </p:nvSpPr>
        <p:spPr>
          <a:xfrm>
            <a:off x="9509760" y="3401568"/>
            <a:ext cx="1920240" cy="786384"/>
          </a:xfrm>
          <a:prstGeom prst="rect">
            <a:avLst/>
          </a:prstGeom>
          <a:noFill/>
          <a:ln/>
        </p:spPr>
        <p:txBody>
          <a:bodyPr wrap="square" lIns="0" tIns="0" rIns="0" bIns="0" rtlCol="0" anchor="ctr"/>
          <a:lstStyle/>
          <a:p>
            <a:pPr algn="r" indent="0" marL="0">
              <a:buNone/>
            </a:pPr>
            <a:r>
              <a:rPr lang="en-US" sz="1400" b="1" dirty="0">
                <a:solidFill>
                  <a:schemeClr val="tx2"/>
                </a:solidFill>
              </a:rPr>
              <a:t>21</a:t>
            </a:r>
            <a:endParaRPr lang="en-US" sz="1400" dirty="0"/>
          </a:p>
        </p:txBody>
      </p:sp>
      <p:sp>
        <p:nvSpPr>
          <p:cNvPr id="23" name="kaart"/>
          <p:cNvSpPr/>
          <p:nvPr/>
        </p:nvSpPr>
        <p:spPr>
          <a:xfrm>
            <a:off x="548640" y="4279392"/>
            <a:ext cx="11064240" cy="786384"/>
          </a:xfrm>
          <a:prstGeom prst="roundRect">
            <a:avLst>
              <a:gd name="adj" fmla="val 13953"/>
            </a:avLst>
          </a:prstGeom>
          <a:solidFill>
            <a:schemeClr val="bg2"/>
          </a:solidFill>
          <a:ln w="12700">
            <a:solidFill>
              <a:schemeClr val="bg2"/>
            </a:solidFill>
            <a:prstDash val="solid"/>
          </a:ln>
        </p:spPr>
      </p:sp>
      <p:sp>
        <p:nvSpPr>
          <p:cNvPr id="24" name="streep"/>
          <p:cNvSpPr/>
          <p:nvPr/>
        </p:nvSpPr>
        <p:spPr>
          <a:xfrm>
            <a:off x="548640" y="4279392"/>
            <a:ext cx="109728" cy="786384"/>
          </a:xfrm>
          <a:prstGeom prst="rect">
            <a:avLst/>
          </a:prstGeom>
          <a:solidFill>
            <a:schemeClr val="accent1"/>
          </a:solidFill>
          <a:ln w="12700">
            <a:solidFill>
              <a:schemeClr val="accent1"/>
            </a:solidFill>
            <a:prstDash val="solid"/>
          </a:ln>
        </p:spPr>
      </p:sp>
      <p:sp>
        <p:nvSpPr>
          <p:cNvPr id="25" name="nummercirkel"/>
          <p:cNvSpPr/>
          <p:nvPr/>
        </p:nvSpPr>
        <p:spPr>
          <a:xfrm>
            <a:off x="868680" y="4443984"/>
            <a:ext cx="457200" cy="457200"/>
          </a:xfrm>
          <a:prstGeom prst="ellipse">
            <a:avLst/>
          </a:prstGeom>
          <a:solidFill>
            <a:schemeClr val="accent1"/>
          </a:solidFill>
          <a:ln w="12700">
            <a:solidFill>
              <a:schemeClr val="accent1"/>
            </a:solidFill>
            <a:prstDash val="solid"/>
          </a:ln>
        </p:spPr>
      </p:sp>
      <p:sp>
        <p:nvSpPr>
          <p:cNvPr id="26" name="Text 24"/>
          <p:cNvSpPr txBox="1"/>
          <p:nvPr/>
        </p:nvSpPr>
        <p:spPr>
          <a:xfrm>
            <a:off x="868680" y="44439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16</a:t>
            </a:r>
            <a:endParaRPr lang="en-US" sz="1600" dirty="0"/>
          </a:p>
        </p:txBody>
      </p:sp>
      <p:sp>
        <p:nvSpPr>
          <p:cNvPr id="27" name="Text 25"/>
          <p:cNvSpPr txBox="1"/>
          <p:nvPr/>
        </p:nvSpPr>
        <p:spPr>
          <a:xfrm>
            <a:off x="1554480" y="4279392"/>
            <a:ext cx="7772400" cy="786384"/>
          </a:xfrm>
          <a:prstGeom prst="rect">
            <a:avLst/>
          </a:prstGeom>
          <a:noFill/>
          <a:ln/>
        </p:spPr>
        <p:txBody>
          <a:bodyPr wrap="square" lIns="0" tIns="0" rIns="0" bIns="0" rtlCol="0" anchor="ctr"/>
          <a:lstStyle/>
          <a:p>
            <a:pPr indent="0" marL="0">
              <a:buNone/>
            </a:pPr>
            <a:r>
              <a:rPr lang="en-US" sz="1600" dirty="0">
                <a:solidFill>
                  <a:schemeClr val="tx1"/>
                </a:solidFill>
              </a:rPr>
              <a:t>Pre- en postcondities bij de belangrijkste functies</a:t>
            </a:r>
            <a:endParaRPr lang="en-US" sz="1600" dirty="0"/>
          </a:p>
        </p:txBody>
      </p:sp>
      <p:sp>
        <p:nvSpPr>
          <p:cNvPr id="28" name="Text 26"/>
          <p:cNvSpPr txBox="1"/>
          <p:nvPr/>
        </p:nvSpPr>
        <p:spPr>
          <a:xfrm>
            <a:off x="9509760" y="4279392"/>
            <a:ext cx="1920240" cy="786384"/>
          </a:xfrm>
          <a:prstGeom prst="rect">
            <a:avLst/>
          </a:prstGeom>
          <a:noFill/>
          <a:ln/>
        </p:spPr>
        <p:txBody>
          <a:bodyPr wrap="square" lIns="0" tIns="0" rIns="0" bIns="0" rtlCol="0" anchor="ctr"/>
          <a:lstStyle/>
          <a:p>
            <a:pPr algn="r" indent="0" marL="0">
              <a:buNone/>
            </a:pPr>
            <a:r>
              <a:rPr lang="en-US" sz="1400" b="1" dirty="0">
                <a:solidFill>
                  <a:schemeClr val="tx2"/>
                </a:solidFill>
              </a:rPr>
              <a:t>25</a:t>
            </a:r>
            <a:endParaRPr lang="en-US" sz="1400" dirty="0"/>
          </a:p>
        </p:txBody>
      </p:sp>
      <p:sp>
        <p:nvSpPr>
          <p:cNvPr id="29" name="kaart"/>
          <p:cNvSpPr/>
          <p:nvPr/>
        </p:nvSpPr>
        <p:spPr>
          <a:xfrm>
            <a:off x="548640" y="5157216"/>
            <a:ext cx="11064240" cy="786384"/>
          </a:xfrm>
          <a:prstGeom prst="roundRect">
            <a:avLst>
              <a:gd name="adj" fmla="val 13953"/>
            </a:avLst>
          </a:prstGeom>
          <a:solidFill>
            <a:schemeClr val="bg2"/>
          </a:solidFill>
          <a:ln w="12700">
            <a:solidFill>
              <a:schemeClr val="bg2"/>
            </a:solidFill>
            <a:prstDash val="solid"/>
          </a:ln>
        </p:spPr>
      </p:sp>
      <p:sp>
        <p:nvSpPr>
          <p:cNvPr id="30" name="streep"/>
          <p:cNvSpPr/>
          <p:nvPr/>
        </p:nvSpPr>
        <p:spPr>
          <a:xfrm>
            <a:off x="548640" y="5157216"/>
            <a:ext cx="109728" cy="786384"/>
          </a:xfrm>
          <a:prstGeom prst="rect">
            <a:avLst/>
          </a:prstGeom>
          <a:solidFill>
            <a:schemeClr val="accent1"/>
          </a:solidFill>
          <a:ln w="12700">
            <a:solidFill>
              <a:schemeClr val="accent1"/>
            </a:solidFill>
            <a:prstDash val="solid"/>
          </a:ln>
        </p:spPr>
      </p:sp>
      <p:sp>
        <p:nvSpPr>
          <p:cNvPr id="31" name="nummercirkel"/>
          <p:cNvSpPr/>
          <p:nvPr/>
        </p:nvSpPr>
        <p:spPr>
          <a:xfrm>
            <a:off x="868680" y="5321808"/>
            <a:ext cx="457200" cy="457200"/>
          </a:xfrm>
          <a:prstGeom prst="ellipse">
            <a:avLst/>
          </a:prstGeom>
          <a:solidFill>
            <a:schemeClr val="accent1"/>
          </a:solidFill>
          <a:ln w="12700">
            <a:solidFill>
              <a:schemeClr val="accent1"/>
            </a:solidFill>
            <a:prstDash val="solid"/>
          </a:ln>
        </p:spPr>
      </p:sp>
      <p:sp>
        <p:nvSpPr>
          <p:cNvPr id="32" name="Text 30"/>
          <p:cNvSpPr txBox="1"/>
          <p:nvPr/>
        </p:nvSpPr>
        <p:spPr>
          <a:xfrm>
            <a:off x="868680" y="53218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17</a:t>
            </a:r>
            <a:endParaRPr lang="en-US" sz="1600" dirty="0"/>
          </a:p>
        </p:txBody>
      </p:sp>
      <p:sp>
        <p:nvSpPr>
          <p:cNvPr id="33" name="Text 31"/>
          <p:cNvSpPr txBox="1"/>
          <p:nvPr/>
        </p:nvSpPr>
        <p:spPr>
          <a:xfrm>
            <a:off x="1554480" y="5157216"/>
            <a:ext cx="7772400" cy="786384"/>
          </a:xfrm>
          <a:prstGeom prst="rect">
            <a:avLst/>
          </a:prstGeom>
          <a:noFill/>
          <a:ln/>
        </p:spPr>
        <p:txBody>
          <a:bodyPr wrap="square" lIns="0" tIns="0" rIns="0" bIns="0" rtlCol="0" anchor="ctr"/>
          <a:lstStyle/>
          <a:p>
            <a:pPr indent="0" marL="0">
              <a:buNone/>
            </a:pPr>
            <a:r>
              <a:rPr lang="en-US" sz="1600" dirty="0">
                <a:solidFill>
                  <a:schemeClr val="tx1"/>
                </a:solidFill>
              </a:rPr>
              <a:t>Een GitHub Actions-werkstroom die Ruff en je tests draait</a:t>
            </a:r>
            <a:endParaRPr lang="en-US" sz="1600" dirty="0"/>
          </a:p>
        </p:txBody>
      </p:sp>
      <p:sp>
        <p:nvSpPr>
          <p:cNvPr id="34" name="Text 32"/>
          <p:cNvSpPr txBox="1"/>
          <p:nvPr/>
        </p:nvSpPr>
        <p:spPr>
          <a:xfrm>
            <a:off x="9509760" y="5157216"/>
            <a:ext cx="1920240" cy="786384"/>
          </a:xfrm>
          <a:prstGeom prst="rect">
            <a:avLst/>
          </a:prstGeom>
          <a:noFill/>
          <a:ln/>
        </p:spPr>
        <p:txBody>
          <a:bodyPr wrap="square" lIns="0" tIns="0" rIns="0" bIns="0" rtlCol="0" anchor="ctr"/>
          <a:lstStyle/>
          <a:p>
            <a:pPr algn="r" indent="0" marL="0">
              <a:buNone/>
            </a:pPr>
            <a:r>
              <a:rPr lang="en-US" sz="1400" b="1" dirty="0">
                <a:solidFill>
                  <a:schemeClr val="tx2"/>
                </a:solidFill>
              </a:rPr>
              <a:t>21</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Niveau 3 — uitdaging: eisen 18 tot 22</a:t>
            </a:r>
            <a:endParaRPr lang="en-US" sz="3400" dirty="0"/>
          </a:p>
        </p:txBody>
      </p:sp>
      <p:sp>
        <p:nvSpPr>
          <p:cNvPr id="3" name="Text 1"/>
          <p:cNvSpPr txBox="1"/>
          <p:nvPr/>
        </p:nvSpPr>
        <p:spPr>
          <a:xfrm>
            <a:off x="548640" y="1261872"/>
            <a:ext cx="8229600" cy="274320"/>
          </a:xfrm>
          <a:prstGeom prst="rect">
            <a:avLst/>
          </a:prstGeom>
          <a:noFill/>
          <a:ln/>
        </p:spPr>
        <p:txBody>
          <a:bodyPr wrap="square" lIns="0" tIns="0" rIns="0" bIns="0" rtlCol="0" anchor="ctr"/>
          <a:lstStyle/>
          <a:p>
            <a:pPr indent="0" marL="0">
              <a:buNone/>
            </a:pPr>
            <a:r>
              <a:rPr lang="en-US" sz="1200" b="1" spc="100" kern="0" dirty="0">
                <a:solidFill>
                  <a:schemeClr val="accent3"/>
                </a:solidFill>
              </a:rPr>
              <a:t>NIVEAU 3 · UITDAGING · VOOR WIE MEER WIL</a:t>
            </a:r>
            <a:endParaRPr lang="en-US" sz="1200" dirty="0"/>
          </a:p>
        </p:txBody>
      </p:sp>
      <p:sp>
        <p:nvSpPr>
          <p:cNvPr id="4" name="Text 2"/>
          <p:cNvSpPr txBox="1"/>
          <p:nvPr/>
        </p:nvSpPr>
        <p:spPr>
          <a:xfrm>
            <a:off x="9509760" y="1261872"/>
            <a:ext cx="1920240" cy="274320"/>
          </a:xfrm>
          <a:prstGeom prst="rect">
            <a:avLst/>
          </a:prstGeom>
          <a:noFill/>
          <a:ln/>
        </p:spPr>
        <p:txBody>
          <a:bodyPr wrap="square" lIns="0" tIns="0" rIns="0" bIns="0" rtlCol="0" anchor="t"/>
          <a:lstStyle/>
          <a:p>
            <a:pPr algn="r" indent="0" marL="0">
              <a:buNone/>
            </a:pPr>
            <a:r>
              <a:rPr lang="en-US" sz="1200" b="1" spc="100" kern="0" dirty="0">
                <a:solidFill>
                  <a:schemeClr val="tx2"/>
                </a:solidFill>
              </a:rPr>
              <a:t>UIT HOOFDSTUK</a:t>
            </a:r>
            <a:endParaRPr lang="en-US" sz="1200" dirty="0"/>
          </a:p>
        </p:txBody>
      </p:sp>
      <p:sp>
        <p:nvSpPr>
          <p:cNvPr id="5" name="kaart"/>
          <p:cNvSpPr/>
          <p:nvPr/>
        </p:nvSpPr>
        <p:spPr>
          <a:xfrm>
            <a:off x="548640" y="1645920"/>
            <a:ext cx="11064240" cy="786384"/>
          </a:xfrm>
          <a:prstGeom prst="roundRect">
            <a:avLst>
              <a:gd name="adj" fmla="val 13953"/>
            </a:avLst>
          </a:prstGeom>
          <a:solidFill>
            <a:schemeClr val="bg2"/>
          </a:solidFill>
          <a:ln w="12700">
            <a:solidFill>
              <a:schemeClr val="bg2"/>
            </a:solidFill>
            <a:prstDash val="solid"/>
          </a:ln>
        </p:spPr>
      </p:sp>
      <p:sp>
        <p:nvSpPr>
          <p:cNvPr id="6" name="streep"/>
          <p:cNvSpPr/>
          <p:nvPr/>
        </p:nvSpPr>
        <p:spPr>
          <a:xfrm>
            <a:off x="548640" y="1645920"/>
            <a:ext cx="109728" cy="786384"/>
          </a:xfrm>
          <a:prstGeom prst="rect">
            <a:avLst/>
          </a:prstGeom>
          <a:solidFill>
            <a:schemeClr val="accent3"/>
          </a:solidFill>
          <a:ln w="12700">
            <a:solidFill>
              <a:schemeClr val="accent3"/>
            </a:solidFill>
            <a:prstDash val="solid"/>
          </a:ln>
        </p:spPr>
      </p:sp>
      <p:sp>
        <p:nvSpPr>
          <p:cNvPr id="7" name="nummercirkel"/>
          <p:cNvSpPr/>
          <p:nvPr/>
        </p:nvSpPr>
        <p:spPr>
          <a:xfrm>
            <a:off x="868680" y="1810512"/>
            <a:ext cx="457200" cy="457200"/>
          </a:xfrm>
          <a:prstGeom prst="ellipse">
            <a:avLst/>
          </a:prstGeom>
          <a:solidFill>
            <a:schemeClr val="accent3"/>
          </a:solidFill>
          <a:ln w="12700">
            <a:solidFill>
              <a:schemeClr val="accent3"/>
            </a:solidFill>
            <a:prstDash val="solid"/>
          </a:ln>
        </p:spPr>
      </p:sp>
      <p:sp>
        <p:nvSpPr>
          <p:cNvPr id="8" name="Text 6"/>
          <p:cNvSpPr txBox="1"/>
          <p:nvPr/>
        </p:nvSpPr>
        <p:spPr>
          <a:xfrm>
            <a:off x="868680" y="18105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18</a:t>
            </a:r>
            <a:endParaRPr lang="en-US" sz="1600" dirty="0"/>
          </a:p>
        </p:txBody>
      </p:sp>
      <p:sp>
        <p:nvSpPr>
          <p:cNvPr id="9" name="Text 7"/>
          <p:cNvSpPr txBox="1"/>
          <p:nvPr/>
        </p:nvSpPr>
        <p:spPr>
          <a:xfrm>
            <a:off x="1554480" y="1645920"/>
            <a:ext cx="7772400" cy="786384"/>
          </a:xfrm>
          <a:prstGeom prst="rect">
            <a:avLst/>
          </a:prstGeom>
          <a:noFill/>
          <a:ln/>
        </p:spPr>
        <p:txBody>
          <a:bodyPr wrap="square" lIns="0" tIns="0" rIns="0" bIns="0" rtlCol="0" anchor="ctr"/>
          <a:lstStyle/>
          <a:p>
            <a:pPr indent="0" marL="0">
              <a:buNone/>
            </a:pPr>
            <a:r>
              <a:rPr lang="en-US" sz="1600" dirty="0">
                <a:solidFill>
                  <a:schemeClr val="tx1"/>
                </a:solidFill>
              </a:rPr>
              <a:t>Een ongedaanmaakfunctie die de laatste wijziging terugdraait, met append() en pop() op een lijst</a:t>
            </a:r>
            <a:endParaRPr lang="en-US" sz="1600" dirty="0"/>
          </a:p>
        </p:txBody>
      </p:sp>
      <p:sp>
        <p:nvSpPr>
          <p:cNvPr id="10" name="Text 8"/>
          <p:cNvSpPr txBox="1"/>
          <p:nvPr/>
        </p:nvSpPr>
        <p:spPr>
          <a:xfrm>
            <a:off x="9509760" y="1645920"/>
            <a:ext cx="1920240" cy="786384"/>
          </a:xfrm>
          <a:prstGeom prst="rect">
            <a:avLst/>
          </a:prstGeom>
          <a:noFill/>
          <a:ln/>
        </p:spPr>
        <p:txBody>
          <a:bodyPr wrap="square" lIns="0" tIns="0" rIns="0" bIns="0" rtlCol="0" anchor="ctr"/>
          <a:lstStyle/>
          <a:p>
            <a:pPr algn="r" indent="0" marL="0">
              <a:buNone/>
            </a:pPr>
            <a:r>
              <a:rPr lang="en-US" sz="1400" b="1" dirty="0">
                <a:solidFill>
                  <a:schemeClr val="tx2"/>
                </a:solidFill>
              </a:rPr>
              <a:t>12</a:t>
            </a:r>
            <a:endParaRPr lang="en-US" sz="1400" dirty="0"/>
          </a:p>
        </p:txBody>
      </p:sp>
      <p:sp>
        <p:nvSpPr>
          <p:cNvPr id="11" name="kaart"/>
          <p:cNvSpPr/>
          <p:nvPr/>
        </p:nvSpPr>
        <p:spPr>
          <a:xfrm>
            <a:off x="548640" y="2523744"/>
            <a:ext cx="11064240" cy="786384"/>
          </a:xfrm>
          <a:prstGeom prst="roundRect">
            <a:avLst>
              <a:gd name="adj" fmla="val 13953"/>
            </a:avLst>
          </a:prstGeom>
          <a:solidFill>
            <a:schemeClr val="bg2"/>
          </a:solidFill>
          <a:ln w="12700">
            <a:solidFill>
              <a:schemeClr val="bg2"/>
            </a:solidFill>
            <a:prstDash val="solid"/>
          </a:ln>
        </p:spPr>
      </p:sp>
      <p:sp>
        <p:nvSpPr>
          <p:cNvPr id="12" name="streep"/>
          <p:cNvSpPr/>
          <p:nvPr/>
        </p:nvSpPr>
        <p:spPr>
          <a:xfrm>
            <a:off x="548640" y="2523744"/>
            <a:ext cx="109728" cy="786384"/>
          </a:xfrm>
          <a:prstGeom prst="rect">
            <a:avLst/>
          </a:prstGeom>
          <a:solidFill>
            <a:schemeClr val="accent3"/>
          </a:solidFill>
          <a:ln w="12700">
            <a:solidFill>
              <a:schemeClr val="accent3"/>
            </a:solidFill>
            <a:prstDash val="solid"/>
          </a:ln>
        </p:spPr>
      </p:sp>
      <p:sp>
        <p:nvSpPr>
          <p:cNvPr id="13" name="nummercirkel"/>
          <p:cNvSpPr/>
          <p:nvPr/>
        </p:nvSpPr>
        <p:spPr>
          <a:xfrm>
            <a:off x="868680" y="2688336"/>
            <a:ext cx="457200" cy="457200"/>
          </a:xfrm>
          <a:prstGeom prst="ellipse">
            <a:avLst/>
          </a:prstGeom>
          <a:solidFill>
            <a:schemeClr val="accent3"/>
          </a:solidFill>
          <a:ln w="12700">
            <a:solidFill>
              <a:schemeClr val="accent3"/>
            </a:solidFill>
            <a:prstDash val="solid"/>
          </a:ln>
        </p:spPr>
      </p:sp>
      <p:sp>
        <p:nvSpPr>
          <p:cNvPr id="14" name="Text 12"/>
          <p:cNvSpPr txBox="1"/>
          <p:nvPr/>
        </p:nvSpPr>
        <p:spPr>
          <a:xfrm>
            <a:off x="868680" y="26883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19</a:t>
            </a:r>
            <a:endParaRPr lang="en-US" sz="1600" dirty="0"/>
          </a:p>
        </p:txBody>
      </p:sp>
      <p:sp>
        <p:nvSpPr>
          <p:cNvPr id="15" name="Text 13"/>
          <p:cNvSpPr txBox="1"/>
          <p:nvPr/>
        </p:nvSpPr>
        <p:spPr>
          <a:xfrm>
            <a:off x="1554480" y="2523744"/>
            <a:ext cx="7772400" cy="786384"/>
          </a:xfrm>
          <a:prstGeom prst="rect">
            <a:avLst/>
          </a:prstGeom>
          <a:noFill/>
          <a:ln/>
        </p:spPr>
        <p:txBody>
          <a:bodyPr wrap="square" lIns="0" tIns="0" rIns="0" bIns="0" rtlCol="0" anchor="ctr"/>
          <a:lstStyle/>
          <a:p>
            <a:pPr indent="0" marL="0">
              <a:buNone/>
            </a:pPr>
            <a:r>
              <a:rPr lang="en-US" sz="1600" dirty="0">
                <a:solidFill>
                  <a:schemeClr val="tx1"/>
                </a:solidFill>
              </a:rPr>
              <a:t>Een venster met tkinter voor minstens één onderdeel, dat dezelfde functies hergebruikt</a:t>
            </a:r>
            <a:endParaRPr lang="en-US" sz="1600" dirty="0"/>
          </a:p>
        </p:txBody>
      </p:sp>
      <p:sp>
        <p:nvSpPr>
          <p:cNvPr id="16" name="Text 14"/>
          <p:cNvSpPr txBox="1"/>
          <p:nvPr/>
        </p:nvSpPr>
        <p:spPr>
          <a:xfrm>
            <a:off x="9509760" y="2523744"/>
            <a:ext cx="1920240" cy="786384"/>
          </a:xfrm>
          <a:prstGeom prst="rect">
            <a:avLst/>
          </a:prstGeom>
          <a:noFill/>
          <a:ln/>
        </p:spPr>
        <p:txBody>
          <a:bodyPr wrap="square" lIns="0" tIns="0" rIns="0" bIns="0" rtlCol="0" anchor="ctr"/>
          <a:lstStyle/>
          <a:p>
            <a:pPr algn="r" indent="0" marL="0">
              <a:buNone/>
            </a:pPr>
            <a:r>
              <a:rPr lang="en-US" sz="1400" b="1" dirty="0">
                <a:solidFill>
                  <a:schemeClr val="tx2"/>
                </a:solidFill>
              </a:rPr>
              <a:t>19</a:t>
            </a:r>
            <a:endParaRPr lang="en-US" sz="1400" dirty="0"/>
          </a:p>
        </p:txBody>
      </p:sp>
      <p:sp>
        <p:nvSpPr>
          <p:cNvPr id="17" name="kaart"/>
          <p:cNvSpPr/>
          <p:nvPr/>
        </p:nvSpPr>
        <p:spPr>
          <a:xfrm>
            <a:off x="548640" y="3401568"/>
            <a:ext cx="11064240" cy="786384"/>
          </a:xfrm>
          <a:prstGeom prst="roundRect">
            <a:avLst>
              <a:gd name="adj" fmla="val 13953"/>
            </a:avLst>
          </a:prstGeom>
          <a:solidFill>
            <a:schemeClr val="bg2"/>
          </a:solidFill>
          <a:ln w="12700">
            <a:solidFill>
              <a:schemeClr val="bg2"/>
            </a:solidFill>
            <a:prstDash val="solid"/>
          </a:ln>
        </p:spPr>
      </p:sp>
      <p:sp>
        <p:nvSpPr>
          <p:cNvPr id="18" name="streep"/>
          <p:cNvSpPr/>
          <p:nvPr/>
        </p:nvSpPr>
        <p:spPr>
          <a:xfrm>
            <a:off x="548640" y="3401568"/>
            <a:ext cx="109728" cy="786384"/>
          </a:xfrm>
          <a:prstGeom prst="rect">
            <a:avLst/>
          </a:prstGeom>
          <a:solidFill>
            <a:schemeClr val="accent3"/>
          </a:solidFill>
          <a:ln w="12700">
            <a:solidFill>
              <a:schemeClr val="accent3"/>
            </a:solidFill>
            <a:prstDash val="solid"/>
          </a:ln>
        </p:spPr>
      </p:sp>
      <p:sp>
        <p:nvSpPr>
          <p:cNvPr id="19" name="nummercirkel"/>
          <p:cNvSpPr/>
          <p:nvPr/>
        </p:nvSpPr>
        <p:spPr>
          <a:xfrm>
            <a:off x="868680" y="3566160"/>
            <a:ext cx="457200" cy="457200"/>
          </a:xfrm>
          <a:prstGeom prst="ellipse">
            <a:avLst/>
          </a:prstGeom>
          <a:solidFill>
            <a:schemeClr val="accent3"/>
          </a:solidFill>
          <a:ln w="12700">
            <a:solidFill>
              <a:schemeClr val="accent3"/>
            </a:solidFill>
            <a:prstDash val="solid"/>
          </a:ln>
        </p:spPr>
      </p:sp>
      <p:sp>
        <p:nvSpPr>
          <p:cNvPr id="20" name="Text 18"/>
          <p:cNvSpPr txBox="1"/>
          <p:nvPr/>
        </p:nvSpPr>
        <p:spPr>
          <a:xfrm>
            <a:off x="868680" y="3566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20</a:t>
            </a:r>
            <a:endParaRPr lang="en-US" sz="1600" dirty="0"/>
          </a:p>
        </p:txBody>
      </p:sp>
      <p:sp>
        <p:nvSpPr>
          <p:cNvPr id="21" name="Text 19"/>
          <p:cNvSpPr txBox="1"/>
          <p:nvPr/>
        </p:nvSpPr>
        <p:spPr>
          <a:xfrm>
            <a:off x="1554480" y="3401568"/>
            <a:ext cx="7772400" cy="786384"/>
          </a:xfrm>
          <a:prstGeom prst="rect">
            <a:avLst/>
          </a:prstGeom>
          <a:noFill/>
          <a:ln/>
        </p:spPr>
        <p:txBody>
          <a:bodyPr wrap="square" lIns="0" tIns="0" rIns="0" bIns="0" rtlCol="0" anchor="ctr"/>
          <a:lstStyle/>
          <a:p>
            <a:pPr indent="0" marL="0">
              <a:buNone/>
            </a:pPr>
            <a:r>
              <a:rPr lang="en-US" sz="1600" dirty="0">
                <a:solidFill>
                  <a:schemeClr val="tx1"/>
                </a:solidFill>
              </a:rPr>
              <a:t>Een beslissingstabel voor je belangrijkste regel, volledig getest</a:t>
            </a:r>
            <a:endParaRPr lang="en-US" sz="1600" dirty="0"/>
          </a:p>
        </p:txBody>
      </p:sp>
      <p:sp>
        <p:nvSpPr>
          <p:cNvPr id="22" name="Text 20"/>
          <p:cNvSpPr txBox="1"/>
          <p:nvPr/>
        </p:nvSpPr>
        <p:spPr>
          <a:xfrm>
            <a:off x="9509760" y="3401568"/>
            <a:ext cx="1920240" cy="786384"/>
          </a:xfrm>
          <a:prstGeom prst="rect">
            <a:avLst/>
          </a:prstGeom>
          <a:noFill/>
          <a:ln/>
        </p:spPr>
        <p:txBody>
          <a:bodyPr wrap="square" lIns="0" tIns="0" rIns="0" bIns="0" rtlCol="0" anchor="ctr"/>
          <a:lstStyle/>
          <a:p>
            <a:pPr algn="r" indent="0" marL="0">
              <a:buNone/>
            </a:pPr>
            <a:r>
              <a:rPr lang="en-US" sz="1400" b="1" dirty="0">
                <a:solidFill>
                  <a:schemeClr val="tx2"/>
                </a:solidFill>
              </a:rPr>
              <a:t>23, 28</a:t>
            </a:r>
            <a:endParaRPr lang="en-US" sz="1400" dirty="0"/>
          </a:p>
        </p:txBody>
      </p:sp>
      <p:sp>
        <p:nvSpPr>
          <p:cNvPr id="23" name="kaart"/>
          <p:cNvSpPr/>
          <p:nvPr/>
        </p:nvSpPr>
        <p:spPr>
          <a:xfrm>
            <a:off x="548640" y="4279392"/>
            <a:ext cx="11064240" cy="786384"/>
          </a:xfrm>
          <a:prstGeom prst="roundRect">
            <a:avLst>
              <a:gd name="adj" fmla="val 13953"/>
            </a:avLst>
          </a:prstGeom>
          <a:solidFill>
            <a:schemeClr val="bg2"/>
          </a:solidFill>
          <a:ln w="12700">
            <a:solidFill>
              <a:schemeClr val="bg2"/>
            </a:solidFill>
            <a:prstDash val="solid"/>
          </a:ln>
        </p:spPr>
      </p:sp>
      <p:sp>
        <p:nvSpPr>
          <p:cNvPr id="24" name="streep"/>
          <p:cNvSpPr/>
          <p:nvPr/>
        </p:nvSpPr>
        <p:spPr>
          <a:xfrm>
            <a:off x="548640" y="4279392"/>
            <a:ext cx="109728" cy="786384"/>
          </a:xfrm>
          <a:prstGeom prst="rect">
            <a:avLst/>
          </a:prstGeom>
          <a:solidFill>
            <a:schemeClr val="accent3"/>
          </a:solidFill>
          <a:ln w="12700">
            <a:solidFill>
              <a:schemeClr val="accent3"/>
            </a:solidFill>
            <a:prstDash val="solid"/>
          </a:ln>
        </p:spPr>
      </p:sp>
      <p:sp>
        <p:nvSpPr>
          <p:cNvPr id="25" name="nummercirkel"/>
          <p:cNvSpPr/>
          <p:nvPr/>
        </p:nvSpPr>
        <p:spPr>
          <a:xfrm>
            <a:off x="868680" y="4443984"/>
            <a:ext cx="457200" cy="457200"/>
          </a:xfrm>
          <a:prstGeom prst="ellipse">
            <a:avLst/>
          </a:prstGeom>
          <a:solidFill>
            <a:schemeClr val="accent3"/>
          </a:solidFill>
          <a:ln w="12700">
            <a:solidFill>
              <a:schemeClr val="accent3"/>
            </a:solidFill>
            <a:prstDash val="solid"/>
          </a:ln>
        </p:spPr>
      </p:sp>
      <p:sp>
        <p:nvSpPr>
          <p:cNvPr id="26" name="Text 24"/>
          <p:cNvSpPr txBox="1"/>
          <p:nvPr/>
        </p:nvSpPr>
        <p:spPr>
          <a:xfrm>
            <a:off x="868680" y="44439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21</a:t>
            </a:r>
            <a:endParaRPr lang="en-US" sz="1600" dirty="0"/>
          </a:p>
        </p:txBody>
      </p:sp>
      <p:sp>
        <p:nvSpPr>
          <p:cNvPr id="27" name="Text 25"/>
          <p:cNvSpPr txBox="1"/>
          <p:nvPr/>
        </p:nvSpPr>
        <p:spPr>
          <a:xfrm>
            <a:off x="1554480" y="4279392"/>
            <a:ext cx="7772400" cy="786384"/>
          </a:xfrm>
          <a:prstGeom prst="rect">
            <a:avLst/>
          </a:prstGeom>
          <a:noFill/>
          <a:ln/>
        </p:spPr>
        <p:txBody>
          <a:bodyPr wrap="square" lIns="0" tIns="0" rIns="0" bIns="0" rtlCol="0" anchor="ctr"/>
          <a:lstStyle/>
          <a:p>
            <a:pPr indent="0" marL="0">
              <a:buNone/>
            </a:pPr>
            <a:r>
              <a:rPr lang="en-US" sz="1600" dirty="0">
                <a:solidFill>
                  <a:schemeClr val="tx1"/>
                </a:solidFill>
              </a:rPr>
              <a:t>Een export naar een tekstverslag met een opgemaakte tabel</a:t>
            </a:r>
            <a:endParaRPr lang="en-US" sz="1600" dirty="0"/>
          </a:p>
        </p:txBody>
      </p:sp>
      <p:sp>
        <p:nvSpPr>
          <p:cNvPr id="28" name="Text 26"/>
          <p:cNvSpPr txBox="1"/>
          <p:nvPr/>
        </p:nvSpPr>
        <p:spPr>
          <a:xfrm>
            <a:off x="9509760" y="4279392"/>
            <a:ext cx="1920240" cy="786384"/>
          </a:xfrm>
          <a:prstGeom prst="rect">
            <a:avLst/>
          </a:prstGeom>
          <a:noFill/>
          <a:ln/>
        </p:spPr>
        <p:txBody>
          <a:bodyPr wrap="square" lIns="0" tIns="0" rIns="0" bIns="0" rtlCol="0" anchor="ctr"/>
          <a:lstStyle/>
          <a:p>
            <a:pPr algn="r" indent="0" marL="0">
              <a:buNone/>
            </a:pPr>
            <a:r>
              <a:rPr lang="en-US" sz="1400" b="1" dirty="0">
                <a:solidFill>
                  <a:schemeClr val="tx2"/>
                </a:solidFill>
              </a:rPr>
              <a:t>8, 16</a:t>
            </a:r>
            <a:endParaRPr lang="en-US" sz="1400" dirty="0"/>
          </a:p>
        </p:txBody>
      </p:sp>
      <p:sp>
        <p:nvSpPr>
          <p:cNvPr id="29" name="kaart"/>
          <p:cNvSpPr/>
          <p:nvPr/>
        </p:nvSpPr>
        <p:spPr>
          <a:xfrm>
            <a:off x="548640" y="5157216"/>
            <a:ext cx="11064240" cy="786384"/>
          </a:xfrm>
          <a:prstGeom prst="roundRect">
            <a:avLst>
              <a:gd name="adj" fmla="val 13953"/>
            </a:avLst>
          </a:prstGeom>
          <a:solidFill>
            <a:schemeClr val="bg2"/>
          </a:solidFill>
          <a:ln w="12700">
            <a:solidFill>
              <a:schemeClr val="bg2"/>
            </a:solidFill>
            <a:prstDash val="solid"/>
          </a:ln>
        </p:spPr>
      </p:sp>
      <p:sp>
        <p:nvSpPr>
          <p:cNvPr id="30" name="streep"/>
          <p:cNvSpPr/>
          <p:nvPr/>
        </p:nvSpPr>
        <p:spPr>
          <a:xfrm>
            <a:off x="548640" y="5157216"/>
            <a:ext cx="109728" cy="786384"/>
          </a:xfrm>
          <a:prstGeom prst="rect">
            <a:avLst/>
          </a:prstGeom>
          <a:solidFill>
            <a:schemeClr val="accent3"/>
          </a:solidFill>
          <a:ln w="12700">
            <a:solidFill>
              <a:schemeClr val="accent3"/>
            </a:solidFill>
            <a:prstDash val="solid"/>
          </a:ln>
        </p:spPr>
      </p:sp>
      <p:sp>
        <p:nvSpPr>
          <p:cNvPr id="31" name="nummercirkel"/>
          <p:cNvSpPr/>
          <p:nvPr/>
        </p:nvSpPr>
        <p:spPr>
          <a:xfrm>
            <a:off x="868680" y="5321808"/>
            <a:ext cx="457200" cy="457200"/>
          </a:xfrm>
          <a:prstGeom prst="ellipse">
            <a:avLst/>
          </a:prstGeom>
          <a:solidFill>
            <a:schemeClr val="accent3"/>
          </a:solidFill>
          <a:ln w="12700">
            <a:solidFill>
              <a:schemeClr val="accent3"/>
            </a:solidFill>
            <a:prstDash val="solid"/>
          </a:ln>
        </p:spPr>
      </p:sp>
      <p:sp>
        <p:nvSpPr>
          <p:cNvPr id="32" name="Text 30"/>
          <p:cNvSpPr txBox="1"/>
          <p:nvPr/>
        </p:nvSpPr>
        <p:spPr>
          <a:xfrm>
            <a:off x="868680" y="53218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22</a:t>
            </a:r>
            <a:endParaRPr lang="en-US" sz="1600" dirty="0"/>
          </a:p>
        </p:txBody>
      </p:sp>
      <p:sp>
        <p:nvSpPr>
          <p:cNvPr id="33" name="Text 31"/>
          <p:cNvSpPr txBox="1"/>
          <p:nvPr/>
        </p:nvSpPr>
        <p:spPr>
          <a:xfrm>
            <a:off x="1554480" y="5157216"/>
            <a:ext cx="7772400" cy="786384"/>
          </a:xfrm>
          <a:prstGeom prst="rect">
            <a:avLst/>
          </a:prstGeom>
          <a:noFill/>
          <a:ln/>
        </p:spPr>
        <p:txBody>
          <a:bodyPr wrap="square" lIns="0" tIns="0" rIns="0" bIns="0" rtlCol="0" anchor="ctr"/>
          <a:lstStyle/>
          <a:p>
            <a:pPr indent="0" marL="0">
              <a:buNone/>
            </a:pPr>
            <a:r>
              <a:rPr lang="en-US" sz="1600" dirty="0">
                <a:solidFill>
                  <a:schemeClr val="tx1"/>
                </a:solidFill>
              </a:rPr>
              <a:t>Een foutonderzoek met Mill's methods, uitgeschreven in je README</a:t>
            </a:r>
            <a:endParaRPr lang="en-US" sz="1600" dirty="0"/>
          </a:p>
        </p:txBody>
      </p:sp>
      <p:sp>
        <p:nvSpPr>
          <p:cNvPr id="34" name="Text 32"/>
          <p:cNvSpPr txBox="1"/>
          <p:nvPr/>
        </p:nvSpPr>
        <p:spPr>
          <a:xfrm>
            <a:off x="9509760" y="5157216"/>
            <a:ext cx="1920240" cy="786384"/>
          </a:xfrm>
          <a:prstGeom prst="rect">
            <a:avLst/>
          </a:prstGeom>
          <a:noFill/>
          <a:ln/>
        </p:spPr>
        <p:txBody>
          <a:bodyPr wrap="square" lIns="0" tIns="0" rIns="0" bIns="0" rtlCol="0" anchor="ctr"/>
          <a:lstStyle/>
          <a:p>
            <a:pPr algn="r" indent="0" marL="0">
              <a:buNone/>
            </a:pPr>
            <a:r>
              <a:rPr lang="en-US" sz="1400" b="1" dirty="0">
                <a:solidFill>
                  <a:schemeClr val="tx2"/>
                </a:solidFill>
              </a:rPr>
              <a:t>27</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731520" y="3017520"/>
            <a:ext cx="10698480" cy="1097280"/>
          </a:xfrm>
          <a:prstGeom prst="rect">
            <a:avLst/>
          </a:prstGeom>
          <a:noFill/>
          <a:ln/>
        </p:spPr>
        <p:txBody>
          <a:bodyPr wrap="square" lIns="0" tIns="0" rIns="0" bIns="0" rtlCol="0" anchor="t"/>
          <a:lstStyle/>
          <a:p>
            <a:pPr algn="l" indent="0" marL="0">
              <a:buNone/>
            </a:pPr>
            <a:r>
              <a:rPr lang="en-US" sz="4400" b="1" dirty="0">
                <a:solidFill>
                  <a:schemeClr val="bg1"/>
                </a:solidFill>
              </a:rPr>
              <a:t>Wat je oplevert</a:t>
            </a:r>
            <a:endParaRPr lang="en-US" sz="4400" dirty="0"/>
          </a:p>
        </p:txBody>
      </p:sp>
      <p:sp>
        <p:nvSpPr>
          <p:cNvPr id="3" name="Text 0"/>
          <p:cNvSpPr/>
          <p:nvPr>
            <p:ph idx="100" type="body" hasCustomPrompt="1"/>
          </p:nvPr>
        </p:nvSpPr>
        <p:spPr>
          <a:xfrm>
            <a:off x="731520" y="1463040"/>
            <a:ext cx="3657600" cy="1463040"/>
          </a:xfrm>
          <a:prstGeom prst="rect">
            <a:avLst/>
          </a:prstGeom>
          <a:noFill/>
          <a:ln/>
        </p:spPr>
        <p:txBody>
          <a:bodyPr wrap="square" lIns="0" tIns="0" rIns="0" bIns="0" rtlCol="0" anchor="b"/>
          <a:lstStyle/>
          <a:p>
            <a:pPr indent="0" marL="0">
              <a:buNone/>
            </a:pPr>
            <a:r>
              <a:rPr lang="en-US" sz="9600" b="1" dirty="0">
                <a:solidFill>
                  <a:schemeClr val="accent1"/>
                </a:solidFill>
                <a:latin typeface="Cambria" pitchFamily="34" charset="0"/>
                <a:ea typeface="Cambria" pitchFamily="34" charset="-122"/>
                <a:cs typeface="Cambria" pitchFamily="34" charset="-120"/>
              </a:rPr>
              <a:t>29.3</a:t>
            </a:r>
            <a:endParaRPr lang="en-US" sz="9600" dirty="0"/>
          </a:p>
        </p:txBody>
      </p:sp>
      <p:sp>
        <p:nvSpPr>
          <p:cNvPr id="4" name="Text 0"/>
          <p:cNvSpPr/>
          <p:nvPr>
            <p:ph idx="102" type="body" hasCustomPrompt="1"/>
          </p:nvPr>
        </p:nvSpPr>
        <p:spPr>
          <a:xfrm>
            <a:off x="731520" y="4206240"/>
            <a:ext cx="9601200" cy="1097280"/>
          </a:xfrm>
          <a:prstGeom prst="rect">
            <a:avLst/>
          </a:prstGeom>
          <a:noFill/>
          <a:ln/>
        </p:spPr>
        <p:txBody>
          <a:bodyPr wrap="square" lIns="0" tIns="0" rIns="0" bIns="0" rtlCol="0" anchor="t"/>
          <a:lstStyle/>
          <a:p>
            <a:pPr indent="0" marL="0">
              <a:buNone/>
            </a:pPr>
            <a:r>
              <a:rPr lang="en-US" sz="2000" dirty="0">
                <a:solidFill>
                  <a:schemeClr val="bg2"/>
                </a:solidFill>
              </a:rPr>
              <a:t>Eén repository op GitHub, met een vaste structuur.</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Eén repository, met deze structuur</a:t>
            </a:r>
            <a:endParaRPr lang="en-US" sz="3400" dirty="0"/>
          </a:p>
        </p:txBody>
      </p:sp>
      <p:sp>
        <p:nvSpPr>
          <p:cNvPr id="3" name="codevak"/>
          <p:cNvSpPr/>
          <p:nvPr/>
        </p:nvSpPr>
        <p:spPr>
          <a:xfrm>
            <a:off x="548640" y="1325880"/>
            <a:ext cx="6035040" cy="4709160"/>
          </a:xfrm>
          <a:prstGeom prst="roundRect">
            <a:avLst>
              <a:gd name="adj" fmla="val 1942"/>
            </a:avLst>
          </a:prstGeom>
          <a:solidFill>
            <a:srgbClr val="161A33"/>
          </a:solidFill>
          <a:ln w="12700">
            <a:solidFill>
              <a:srgbClr val="161A33"/>
            </a:solidFill>
            <a:prstDash val="solid"/>
          </a:ln>
        </p:spPr>
      </p:sp>
      <p:sp>
        <p:nvSpPr>
          <p:cNvPr id="4" name="Text 2"/>
          <p:cNvSpPr txBox="1"/>
          <p:nvPr/>
        </p:nvSpPr>
        <p:spPr>
          <a:xfrm>
            <a:off x="777240" y="1435608"/>
            <a:ext cx="557784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MAPSTRUCTUUR</a:t>
            </a:r>
            <a:endParaRPr lang="en-US" sz="1100" dirty="0"/>
          </a:p>
        </p:txBody>
      </p:sp>
      <p:sp>
        <p:nvSpPr>
          <p:cNvPr id="5" name="code"/>
          <p:cNvSpPr txBox="1"/>
          <p:nvPr/>
        </p:nvSpPr>
        <p:spPr>
          <a:xfrm>
            <a:off x="777240" y="1783080"/>
            <a:ext cx="5577840" cy="4114800"/>
          </a:xfrm>
          <a:prstGeom prst="rect">
            <a:avLst/>
          </a:prstGeom>
          <a:noFill/>
          <a:ln/>
        </p:spPr>
        <p:txBody>
          <a:bodyPr wrap="square" lIns="0" tIns="0" rIns="0" bIns="0" rtlCol="0" anchor="t"/>
          <a:lstStyle/>
          <a:p>
            <a:pPr indent="0" marL="0">
              <a:buNone/>
            </a:pPr>
            <a:r>
              <a:rPr lang="en-US" sz="1300" dirty="0">
                <a:solidFill>
                  <a:srgbClr val="E8ECF8"/>
                </a:solidFill>
                <a:latin typeface="Consolas" pitchFamily="34" charset="0"/>
                <a:ea typeface="Consolas" pitchFamily="34" charset="-122"/>
                <a:cs typeface="Consolas" pitchFamily="34" charset="-120"/>
              </a:rPr>
              <a:t>mijn-eindopdracht/</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.github/</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 workflows/</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 controle.yml          niveau 2</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gegevens/</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 leden.csv</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 lessen.csv</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src/</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 __init__.py</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 model.py                  de klassen</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 opslag.py                 lezen en schrijven</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 regels.py                 de berekeningen</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 menu.py                   de bediening</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tests/</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 test_regels.py</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.gitignore</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README.md</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requirements.txt</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main.py                       het startpunt</a:t>
            </a:r>
            <a:endParaRPr lang="en-US" sz="1300" dirty="0"/>
          </a:p>
        </p:txBody>
      </p:sp>
      <p:sp>
        <p:nvSpPr>
          <p:cNvPr id="6" name="icooncirkel"/>
          <p:cNvSpPr/>
          <p:nvPr/>
        </p:nvSpPr>
        <p:spPr>
          <a:xfrm>
            <a:off x="6903720" y="1371600"/>
            <a:ext cx="548640" cy="548640"/>
          </a:xfrm>
          <a:prstGeom prst="ellipse">
            <a:avLst/>
          </a:prstGeom>
          <a:solidFill>
            <a:schemeClr val="accent2"/>
          </a:solidFill>
          <a:ln w="12700">
            <a:solidFill>
              <a:schemeClr val="accent2"/>
            </a:solidFill>
            <a:prstDash val="solid"/>
          </a:ln>
        </p:spPr>
      </p:sp>
      <p:pic>
        <p:nvPicPr>
          <p:cNvPr id="7" name="icoon" descr="preencoded.png">    </p:cNvPr>
          <p:cNvPicPr>
            <a:picLocks noChangeAspect="1"/>
          </p:cNvPicPr>
          <p:nvPr/>
        </p:nvPicPr>
        <p:blipFill>
          <a:blip r:embed="rId1"/>
          <a:stretch>
            <a:fillRect/>
          </a:stretch>
        </p:blipFill>
        <p:spPr>
          <a:xfrm>
            <a:off x="7040880" y="1508760"/>
            <a:ext cx="274320" cy="274320"/>
          </a:xfrm>
          <a:prstGeom prst="rect">
            <a:avLst/>
          </a:prstGeom>
        </p:spPr>
      </p:pic>
      <p:sp>
        <p:nvSpPr>
          <p:cNvPr id="8" name="Text 5"/>
          <p:cNvSpPr txBox="1"/>
          <p:nvPr/>
        </p:nvSpPr>
        <p:spPr>
          <a:xfrm>
            <a:off x="7635240" y="1325880"/>
            <a:ext cx="3977640" cy="292608"/>
          </a:xfrm>
          <a:prstGeom prst="rect">
            <a:avLst/>
          </a:prstGeom>
          <a:noFill/>
          <a:ln/>
        </p:spPr>
        <p:txBody>
          <a:bodyPr wrap="square" lIns="0" tIns="0" rIns="0" bIns="0" rtlCol="0" anchor="t"/>
          <a:lstStyle/>
          <a:p>
            <a:pPr indent="0" marL="0">
              <a:buNone/>
            </a:pPr>
            <a:r>
              <a:rPr lang="en-US" sz="1400" b="1" dirty="0">
                <a:solidFill>
                  <a:schemeClr val="tx1"/>
                </a:solidFill>
                <a:latin typeface="Consolas" pitchFamily="34" charset="0"/>
                <a:ea typeface="Consolas" pitchFamily="34" charset="-122"/>
                <a:cs typeface="Consolas" pitchFamily="34" charset="-120"/>
              </a:rPr>
              <a:t>src/</a:t>
            </a:r>
            <a:endParaRPr lang="en-US" sz="1400" dirty="0"/>
          </a:p>
        </p:txBody>
      </p:sp>
      <p:sp>
        <p:nvSpPr>
          <p:cNvPr id="9" name="Text 6"/>
          <p:cNvSpPr txBox="1"/>
          <p:nvPr/>
        </p:nvSpPr>
        <p:spPr>
          <a:xfrm>
            <a:off x="7635240" y="1618488"/>
            <a:ext cx="3977640" cy="411480"/>
          </a:xfrm>
          <a:prstGeom prst="rect">
            <a:avLst/>
          </a:prstGeom>
          <a:noFill/>
          <a:ln/>
        </p:spPr>
        <p:txBody>
          <a:bodyPr wrap="square" lIns="0" tIns="0" rIns="0" bIns="0" rtlCol="0" anchor="t"/>
          <a:lstStyle/>
          <a:p>
            <a:pPr indent="0" marL="0">
              <a:buNone/>
            </a:pPr>
            <a:r>
              <a:rPr lang="en-US" sz="1300" dirty="0">
                <a:solidFill>
                  <a:schemeClr val="tx2"/>
                </a:solidFill>
              </a:rPr>
              <a:t>De code, in vier modules: klassen, opslag, berekeningen en bediening apart.</a:t>
            </a:r>
            <a:endParaRPr lang="en-US" sz="1300" dirty="0"/>
          </a:p>
        </p:txBody>
      </p:sp>
      <p:sp>
        <p:nvSpPr>
          <p:cNvPr id="10" name="icooncirkel"/>
          <p:cNvSpPr/>
          <p:nvPr/>
        </p:nvSpPr>
        <p:spPr>
          <a:xfrm>
            <a:off x="6903720" y="2148840"/>
            <a:ext cx="548640" cy="548640"/>
          </a:xfrm>
          <a:prstGeom prst="ellipse">
            <a:avLst/>
          </a:prstGeom>
          <a:solidFill>
            <a:schemeClr val="accent3"/>
          </a:solidFill>
          <a:ln w="12700">
            <a:solidFill>
              <a:schemeClr val="accent3"/>
            </a:solidFill>
            <a:prstDash val="solid"/>
          </a:ln>
        </p:spPr>
      </p:sp>
      <p:pic>
        <p:nvPicPr>
          <p:cNvPr id="11" name="icoon" descr="preencoded.png">    </p:cNvPr>
          <p:cNvPicPr>
            <a:picLocks noChangeAspect="1"/>
          </p:cNvPicPr>
          <p:nvPr/>
        </p:nvPicPr>
        <p:blipFill>
          <a:blip r:embed="rId2"/>
          <a:stretch>
            <a:fillRect/>
          </a:stretch>
        </p:blipFill>
        <p:spPr>
          <a:xfrm>
            <a:off x="7040880" y="2286000"/>
            <a:ext cx="274320" cy="274320"/>
          </a:xfrm>
          <a:prstGeom prst="rect">
            <a:avLst/>
          </a:prstGeom>
        </p:spPr>
      </p:pic>
      <p:sp>
        <p:nvSpPr>
          <p:cNvPr id="12" name="Text 8"/>
          <p:cNvSpPr txBox="1"/>
          <p:nvPr/>
        </p:nvSpPr>
        <p:spPr>
          <a:xfrm>
            <a:off x="7635240" y="2103120"/>
            <a:ext cx="3977640" cy="292608"/>
          </a:xfrm>
          <a:prstGeom prst="rect">
            <a:avLst/>
          </a:prstGeom>
          <a:noFill/>
          <a:ln/>
        </p:spPr>
        <p:txBody>
          <a:bodyPr wrap="square" lIns="0" tIns="0" rIns="0" bIns="0" rtlCol="0" anchor="t"/>
          <a:lstStyle/>
          <a:p>
            <a:pPr indent="0" marL="0">
              <a:buNone/>
            </a:pPr>
            <a:r>
              <a:rPr lang="en-US" sz="1400" b="1" dirty="0">
                <a:solidFill>
                  <a:schemeClr val="tx1"/>
                </a:solidFill>
                <a:latin typeface="Consolas" pitchFamily="34" charset="0"/>
                <a:ea typeface="Consolas" pitchFamily="34" charset="-122"/>
                <a:cs typeface="Consolas" pitchFamily="34" charset="-120"/>
              </a:rPr>
              <a:t>tests/</a:t>
            </a:r>
            <a:endParaRPr lang="en-US" sz="1400" dirty="0"/>
          </a:p>
        </p:txBody>
      </p:sp>
      <p:sp>
        <p:nvSpPr>
          <p:cNvPr id="13" name="Text 9"/>
          <p:cNvSpPr txBox="1"/>
          <p:nvPr/>
        </p:nvSpPr>
        <p:spPr>
          <a:xfrm>
            <a:off x="7635240" y="2395728"/>
            <a:ext cx="3977640" cy="411480"/>
          </a:xfrm>
          <a:prstGeom prst="rect">
            <a:avLst/>
          </a:prstGeom>
          <a:noFill/>
          <a:ln/>
        </p:spPr>
        <p:txBody>
          <a:bodyPr wrap="square" lIns="0" tIns="0" rIns="0" bIns="0" rtlCol="0" anchor="t"/>
          <a:lstStyle/>
          <a:p>
            <a:pPr indent="0" marL="0">
              <a:buNone/>
            </a:pPr>
            <a:r>
              <a:rPr lang="en-US" sz="1300" dirty="0">
                <a:solidFill>
                  <a:schemeClr val="tx2"/>
                </a:solidFill>
              </a:rPr>
              <a:t>De controles bij je rekenregels.</a:t>
            </a:r>
            <a:endParaRPr lang="en-US" sz="1300" dirty="0"/>
          </a:p>
        </p:txBody>
      </p:sp>
      <p:sp>
        <p:nvSpPr>
          <p:cNvPr id="14" name="icooncirkel"/>
          <p:cNvSpPr/>
          <p:nvPr/>
        </p:nvSpPr>
        <p:spPr>
          <a:xfrm>
            <a:off x="6903720" y="2926080"/>
            <a:ext cx="548640" cy="548640"/>
          </a:xfrm>
          <a:prstGeom prst="ellipse">
            <a:avLst/>
          </a:prstGeom>
          <a:solidFill>
            <a:schemeClr val="accent5"/>
          </a:solidFill>
          <a:ln w="12700">
            <a:solidFill>
              <a:schemeClr val="accent5"/>
            </a:solidFill>
            <a:prstDash val="solid"/>
          </a:ln>
        </p:spPr>
      </p:sp>
      <p:pic>
        <p:nvPicPr>
          <p:cNvPr id="15" name="icoon" descr="preencoded.png">    </p:cNvPr>
          <p:cNvPicPr>
            <a:picLocks noChangeAspect="1"/>
          </p:cNvPicPr>
          <p:nvPr/>
        </p:nvPicPr>
        <p:blipFill>
          <a:blip r:embed="rId3"/>
          <a:stretch>
            <a:fillRect/>
          </a:stretch>
        </p:blipFill>
        <p:spPr>
          <a:xfrm>
            <a:off x="7040880" y="3063240"/>
            <a:ext cx="274320" cy="274320"/>
          </a:xfrm>
          <a:prstGeom prst="rect">
            <a:avLst/>
          </a:prstGeom>
        </p:spPr>
      </p:pic>
      <p:sp>
        <p:nvSpPr>
          <p:cNvPr id="16" name="Text 11"/>
          <p:cNvSpPr txBox="1"/>
          <p:nvPr/>
        </p:nvSpPr>
        <p:spPr>
          <a:xfrm>
            <a:off x="7635240" y="2880360"/>
            <a:ext cx="3977640" cy="292608"/>
          </a:xfrm>
          <a:prstGeom prst="rect">
            <a:avLst/>
          </a:prstGeom>
          <a:noFill/>
          <a:ln/>
        </p:spPr>
        <p:txBody>
          <a:bodyPr wrap="square" lIns="0" tIns="0" rIns="0" bIns="0" rtlCol="0" anchor="t"/>
          <a:lstStyle/>
          <a:p>
            <a:pPr indent="0" marL="0">
              <a:buNone/>
            </a:pPr>
            <a:r>
              <a:rPr lang="en-US" sz="1400" b="1" dirty="0">
                <a:solidFill>
                  <a:schemeClr val="tx1"/>
                </a:solidFill>
                <a:latin typeface="Consolas" pitchFamily="34" charset="0"/>
                <a:ea typeface="Consolas" pitchFamily="34" charset="-122"/>
                <a:cs typeface="Consolas" pitchFamily="34" charset="-120"/>
              </a:rPr>
              <a:t>gegevens/</a:t>
            </a:r>
            <a:endParaRPr lang="en-US" sz="1400" dirty="0"/>
          </a:p>
        </p:txBody>
      </p:sp>
      <p:sp>
        <p:nvSpPr>
          <p:cNvPr id="17" name="Text 12"/>
          <p:cNvSpPr txBox="1"/>
          <p:nvPr/>
        </p:nvSpPr>
        <p:spPr>
          <a:xfrm>
            <a:off x="7635240" y="3172968"/>
            <a:ext cx="3977640" cy="411480"/>
          </a:xfrm>
          <a:prstGeom prst="rect">
            <a:avLst/>
          </a:prstGeom>
          <a:noFill/>
          <a:ln/>
        </p:spPr>
        <p:txBody>
          <a:bodyPr wrap="square" lIns="0" tIns="0" rIns="0" bIns="0" rtlCol="0" anchor="t"/>
          <a:lstStyle/>
          <a:p>
            <a:pPr indent="0" marL="0">
              <a:buNone/>
            </a:pPr>
            <a:r>
              <a:rPr lang="en-US" sz="1300" dirty="0">
                <a:solidFill>
                  <a:schemeClr val="tx2"/>
                </a:solidFill>
              </a:rPr>
              <a:t>De bestanden waarin alles bewaard blijft.</a:t>
            </a:r>
            <a:endParaRPr lang="en-US" sz="1300" dirty="0"/>
          </a:p>
        </p:txBody>
      </p:sp>
      <p:sp>
        <p:nvSpPr>
          <p:cNvPr id="18" name="icooncirkel"/>
          <p:cNvSpPr/>
          <p:nvPr/>
        </p:nvSpPr>
        <p:spPr>
          <a:xfrm>
            <a:off x="6903720" y="3703320"/>
            <a:ext cx="548640" cy="548640"/>
          </a:xfrm>
          <a:prstGeom prst="ellipse">
            <a:avLst/>
          </a:prstGeom>
          <a:solidFill>
            <a:schemeClr val="accent1"/>
          </a:solidFill>
          <a:ln w="12700">
            <a:solidFill>
              <a:schemeClr val="accent1"/>
            </a:solidFill>
            <a:prstDash val="solid"/>
          </a:ln>
        </p:spPr>
      </p:sp>
      <p:pic>
        <p:nvPicPr>
          <p:cNvPr id="19" name="icoon" descr="preencoded.png">    </p:cNvPr>
          <p:cNvPicPr>
            <a:picLocks noChangeAspect="1"/>
          </p:cNvPicPr>
          <p:nvPr/>
        </p:nvPicPr>
        <p:blipFill>
          <a:blip r:embed="rId4"/>
          <a:stretch>
            <a:fillRect/>
          </a:stretch>
        </p:blipFill>
        <p:spPr>
          <a:xfrm>
            <a:off x="7040880" y="3840480"/>
            <a:ext cx="274320" cy="274320"/>
          </a:xfrm>
          <a:prstGeom prst="rect">
            <a:avLst/>
          </a:prstGeom>
        </p:spPr>
      </p:pic>
      <p:sp>
        <p:nvSpPr>
          <p:cNvPr id="20" name="Text 14"/>
          <p:cNvSpPr txBox="1"/>
          <p:nvPr/>
        </p:nvSpPr>
        <p:spPr>
          <a:xfrm>
            <a:off x="7635240" y="3657600"/>
            <a:ext cx="3977640" cy="292608"/>
          </a:xfrm>
          <a:prstGeom prst="rect">
            <a:avLst/>
          </a:prstGeom>
          <a:noFill/>
          <a:ln/>
        </p:spPr>
        <p:txBody>
          <a:bodyPr wrap="square" lIns="0" tIns="0" rIns="0" bIns="0" rtlCol="0" anchor="t"/>
          <a:lstStyle/>
          <a:p>
            <a:pPr indent="0" marL="0">
              <a:buNone/>
            </a:pPr>
            <a:r>
              <a:rPr lang="en-US" sz="1400" b="1" dirty="0">
                <a:solidFill>
                  <a:schemeClr val="tx1"/>
                </a:solidFill>
                <a:latin typeface="Consolas" pitchFamily="34" charset="0"/>
                <a:ea typeface="Consolas" pitchFamily="34" charset="-122"/>
                <a:cs typeface="Consolas" pitchFamily="34" charset="-120"/>
              </a:rPr>
              <a:t>main.py</a:t>
            </a:r>
            <a:endParaRPr lang="en-US" sz="1400" dirty="0"/>
          </a:p>
        </p:txBody>
      </p:sp>
      <p:sp>
        <p:nvSpPr>
          <p:cNvPr id="21" name="Text 15"/>
          <p:cNvSpPr txBox="1"/>
          <p:nvPr/>
        </p:nvSpPr>
        <p:spPr>
          <a:xfrm>
            <a:off x="7635240" y="3950208"/>
            <a:ext cx="3977640" cy="411480"/>
          </a:xfrm>
          <a:prstGeom prst="rect">
            <a:avLst/>
          </a:prstGeom>
          <a:noFill/>
          <a:ln/>
        </p:spPr>
        <p:txBody>
          <a:bodyPr wrap="square" lIns="0" tIns="0" rIns="0" bIns="0" rtlCol="0" anchor="t"/>
          <a:lstStyle/>
          <a:p>
            <a:pPr indent="0" marL="0">
              <a:buNone/>
            </a:pPr>
            <a:r>
              <a:rPr lang="en-US" sz="1300" dirty="0">
                <a:solidFill>
                  <a:schemeClr val="tx2"/>
                </a:solidFill>
              </a:rPr>
              <a:t>Het startpunt: hiermee start je het programma.</a:t>
            </a:r>
            <a:endParaRPr lang="en-US" sz="1300" dirty="0"/>
          </a:p>
        </p:txBody>
      </p:sp>
      <p:sp>
        <p:nvSpPr>
          <p:cNvPr id="22" name="kaart"/>
          <p:cNvSpPr/>
          <p:nvPr/>
        </p:nvSpPr>
        <p:spPr>
          <a:xfrm>
            <a:off x="6903720" y="4526280"/>
            <a:ext cx="4709160" cy="1463040"/>
          </a:xfrm>
          <a:prstGeom prst="roundRect">
            <a:avLst>
              <a:gd name="adj" fmla="val 7500"/>
            </a:avLst>
          </a:prstGeom>
          <a:solidFill>
            <a:schemeClr val="tx1"/>
          </a:solidFill>
          <a:ln w="12700">
            <a:solidFill>
              <a:schemeClr val="tx1"/>
            </a:solidFill>
            <a:prstDash val="solid"/>
          </a:ln>
        </p:spPr>
      </p:sp>
      <p:sp>
        <p:nvSpPr>
          <p:cNvPr id="23" name="Text 17"/>
          <p:cNvSpPr txBox="1"/>
          <p:nvPr/>
        </p:nvSpPr>
        <p:spPr>
          <a:xfrm>
            <a:off x="7178040" y="4681728"/>
            <a:ext cx="2743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SNELTOETS</a:t>
            </a:r>
            <a:endParaRPr lang="en-US" sz="1200" dirty="0"/>
          </a:p>
        </p:txBody>
      </p:sp>
      <p:sp>
        <p:nvSpPr>
          <p:cNvPr id="24" name="Text 18"/>
          <p:cNvSpPr txBox="1"/>
          <p:nvPr/>
        </p:nvSpPr>
        <p:spPr>
          <a:xfrm>
            <a:off x="7178040" y="4983480"/>
            <a:ext cx="4206240" cy="914400"/>
          </a:xfrm>
          <a:prstGeom prst="rect">
            <a:avLst/>
          </a:prstGeom>
          <a:noFill/>
          <a:ln/>
        </p:spPr>
        <p:txBody>
          <a:bodyPr wrap="square" lIns="0" tIns="0" rIns="0" bIns="0" rtlCol="0" anchor="t"/>
          <a:lstStyle/>
          <a:p>
            <a:pPr indent="0" marL="0">
              <a:buNone/>
            </a:pPr>
            <a:r>
              <a:rPr lang="en-US" sz="1300" dirty="0">
                <a:solidFill>
                  <a:schemeClr val="bg1"/>
                </a:solidFill>
              </a:rPr>
              <a:t>Maak de boomstructuur met de terminal en </a:t>
            </a:r>
            <a:pPr indent="0" marL="0">
              <a:buNone/>
            </a:pPr>
            <a:r>
              <a:rPr lang="en-US" sz="1300" dirty="0">
                <a:solidFill>
                  <a:schemeClr val="accent1"/>
                </a:solidFill>
                <a:latin typeface="Consolas" pitchFamily="34" charset="0"/>
                <a:ea typeface="Consolas" pitchFamily="34" charset="-122"/>
                <a:cs typeface="Consolas" pitchFamily="34" charset="-120"/>
              </a:rPr>
              <a:t>mkdir</a:t>
            </a:r>
            <a:pPr indent="0" marL="0">
              <a:buNone/>
            </a:pPr>
            <a:r>
              <a:rPr lang="en-US" sz="1300" dirty="0">
                <a:solidFill>
                  <a:schemeClr val="bg1"/>
                </a:solidFill>
              </a:rPr>
              <a:t>, niet met de muis. Spring daarna naar elk bestand met </a:t>
            </a:r>
            <a:pPr indent="0" marL="0">
              <a:buNone/>
            </a:pPr>
            <a:r>
              <a:rPr lang="en-US" sz="1300" b="1" dirty="0">
                <a:solidFill>
                  <a:schemeClr val="accent1"/>
                </a:solidFill>
              </a:rPr>
              <a:t>Ctrl+P</a:t>
            </a:r>
            <a:pPr indent="0" marL="0">
              <a:buNone/>
            </a:pPr>
            <a:r>
              <a:rPr lang="en-US" sz="1300" dirty="0">
                <a:solidFill>
                  <a:schemeClr val="bg1"/>
                </a:solidFill>
              </a:rPr>
              <a:t> en de eerste letters van zijn naam.</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731520" y="3017520"/>
            <a:ext cx="10698480" cy="1097280"/>
          </a:xfrm>
          <a:prstGeom prst="rect">
            <a:avLst/>
          </a:prstGeom>
          <a:noFill/>
          <a:ln/>
        </p:spPr>
        <p:txBody>
          <a:bodyPr wrap="square" lIns="0" tIns="0" rIns="0" bIns="0" rtlCol="0" anchor="t"/>
          <a:lstStyle/>
          <a:p>
            <a:pPr algn="l" indent="0" marL="0">
              <a:buNone/>
            </a:pPr>
            <a:r>
              <a:rPr lang="en-US" sz="4400" b="1" dirty="0">
                <a:solidFill>
                  <a:schemeClr val="bg1"/>
                </a:solidFill>
              </a:rPr>
              <a:t>Hoe er beoordeeld wordt</a:t>
            </a:r>
            <a:endParaRPr lang="en-US" sz="4400" dirty="0"/>
          </a:p>
        </p:txBody>
      </p:sp>
      <p:sp>
        <p:nvSpPr>
          <p:cNvPr id="3" name="Text 0"/>
          <p:cNvSpPr/>
          <p:nvPr>
            <p:ph idx="100" type="body" hasCustomPrompt="1"/>
          </p:nvPr>
        </p:nvSpPr>
        <p:spPr>
          <a:xfrm>
            <a:off x="731520" y="1463040"/>
            <a:ext cx="3657600" cy="1463040"/>
          </a:xfrm>
          <a:prstGeom prst="rect">
            <a:avLst/>
          </a:prstGeom>
          <a:noFill/>
          <a:ln/>
        </p:spPr>
        <p:txBody>
          <a:bodyPr wrap="square" lIns="0" tIns="0" rIns="0" bIns="0" rtlCol="0" anchor="b"/>
          <a:lstStyle/>
          <a:p>
            <a:pPr indent="0" marL="0">
              <a:buNone/>
            </a:pPr>
            <a:r>
              <a:rPr lang="en-US" sz="9600" b="1" dirty="0">
                <a:solidFill>
                  <a:schemeClr val="accent1"/>
                </a:solidFill>
                <a:latin typeface="Cambria" pitchFamily="34" charset="0"/>
                <a:ea typeface="Cambria" pitchFamily="34" charset="-122"/>
                <a:cs typeface="Cambria" pitchFamily="34" charset="-120"/>
              </a:rPr>
              <a:t>29.4</a:t>
            </a:r>
            <a:endParaRPr lang="en-US" sz="9600" dirty="0"/>
          </a:p>
        </p:txBody>
      </p:sp>
      <p:sp>
        <p:nvSpPr>
          <p:cNvPr id="4" name="Text 0"/>
          <p:cNvSpPr/>
          <p:nvPr>
            <p:ph idx="102" type="body" hasCustomPrompt="1"/>
          </p:nvPr>
        </p:nvSpPr>
        <p:spPr>
          <a:xfrm>
            <a:off x="731520" y="4206240"/>
            <a:ext cx="9601200" cy="1097280"/>
          </a:xfrm>
          <a:prstGeom prst="rect">
            <a:avLst/>
          </a:prstGeom>
          <a:noFill/>
          <a:ln/>
        </p:spPr>
        <p:txBody>
          <a:bodyPr wrap="square" lIns="0" tIns="0" rIns="0" bIns="0" rtlCol="0" anchor="t"/>
          <a:lstStyle/>
          <a:p>
            <a:pPr indent="0" marL="0">
              <a:buNone/>
            </a:pPr>
            <a:r>
              <a:rPr lang="en-US" sz="2000" dirty="0">
                <a:solidFill>
                  <a:schemeClr val="bg2"/>
                </a:solidFill>
              </a:rPr>
              <a:t>Zes onderdelen, elk met een eigen gewicht. Werken is niet genoeg: het moet ook leesbaar zijn.</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Zes onderdelen, zes gewichten</a:t>
            </a:r>
            <a:endParaRPr lang="en-US" sz="3400" dirty="0"/>
          </a:p>
        </p:txBody>
      </p:sp>
      <p:sp>
        <p:nvSpPr>
          <p:cNvPr id="3" name="kaart"/>
          <p:cNvSpPr/>
          <p:nvPr/>
        </p:nvSpPr>
        <p:spPr>
          <a:xfrm>
            <a:off x="548640" y="1325880"/>
            <a:ext cx="7269480" cy="694944"/>
          </a:xfrm>
          <a:prstGeom prst="roundRect">
            <a:avLst>
              <a:gd name="adj" fmla="val 15789"/>
            </a:avLst>
          </a:prstGeom>
          <a:solidFill>
            <a:schemeClr val="bg2"/>
          </a:solidFill>
          <a:ln w="12700">
            <a:solidFill>
              <a:schemeClr val="bg2"/>
            </a:solidFill>
            <a:prstDash val="solid"/>
          </a:ln>
        </p:spPr>
      </p:sp>
      <p:sp>
        <p:nvSpPr>
          <p:cNvPr id="4" name="Text 2"/>
          <p:cNvSpPr txBox="1"/>
          <p:nvPr/>
        </p:nvSpPr>
        <p:spPr>
          <a:xfrm>
            <a:off x="731520" y="1325880"/>
            <a:ext cx="2103120" cy="694944"/>
          </a:xfrm>
          <a:prstGeom prst="rect">
            <a:avLst/>
          </a:prstGeom>
          <a:noFill/>
          <a:ln/>
        </p:spPr>
        <p:txBody>
          <a:bodyPr wrap="square" lIns="0" tIns="0" rIns="0" bIns="0" rtlCol="0" anchor="ctr"/>
          <a:lstStyle/>
          <a:p>
            <a:pPr indent="0" marL="0">
              <a:buNone/>
            </a:pPr>
            <a:r>
              <a:rPr lang="en-US" sz="1500" b="1" dirty="0">
                <a:solidFill>
                  <a:schemeClr val="tx1"/>
                </a:solidFill>
              </a:rPr>
              <a:t>Werking</a:t>
            </a:r>
            <a:endParaRPr lang="en-US" sz="1500" dirty="0"/>
          </a:p>
        </p:txBody>
      </p:sp>
      <p:sp>
        <p:nvSpPr>
          <p:cNvPr id="5" name="Text 3"/>
          <p:cNvSpPr txBox="1"/>
          <p:nvPr/>
        </p:nvSpPr>
        <p:spPr>
          <a:xfrm>
            <a:off x="2834640" y="1325880"/>
            <a:ext cx="777240" cy="694944"/>
          </a:xfrm>
          <a:prstGeom prst="rect">
            <a:avLst/>
          </a:prstGeom>
          <a:noFill/>
          <a:ln/>
        </p:spPr>
        <p:txBody>
          <a:bodyPr wrap="square" lIns="0" tIns="0" rIns="0" bIns="0" rtlCol="0" anchor="ctr"/>
          <a:lstStyle/>
          <a:p>
            <a:pPr algn="r" indent="0" marL="0">
              <a:buNone/>
            </a:pPr>
            <a:r>
              <a:rPr lang="en-US" sz="1800" b="1" dirty="0">
                <a:solidFill>
                  <a:schemeClr val="accent2"/>
                </a:solidFill>
                <a:latin typeface="Cambria" pitchFamily="34" charset="0"/>
                <a:ea typeface="Cambria" pitchFamily="34" charset="-122"/>
                <a:cs typeface="Cambria" pitchFamily="34" charset="-120"/>
              </a:rPr>
              <a:t>30 %</a:t>
            </a:r>
            <a:endParaRPr lang="en-US" sz="1800" dirty="0"/>
          </a:p>
        </p:txBody>
      </p:sp>
      <p:sp>
        <p:nvSpPr>
          <p:cNvPr id="6" name="balk"/>
          <p:cNvSpPr/>
          <p:nvPr/>
        </p:nvSpPr>
        <p:spPr>
          <a:xfrm>
            <a:off x="3749040" y="1572768"/>
            <a:ext cx="1371600" cy="201168"/>
          </a:xfrm>
          <a:prstGeom prst="rect">
            <a:avLst/>
          </a:prstGeom>
          <a:solidFill>
            <a:schemeClr val="accent2"/>
          </a:solidFill>
          <a:ln w="12700">
            <a:solidFill>
              <a:schemeClr val="accent2"/>
            </a:solidFill>
            <a:prstDash val="solid"/>
          </a:ln>
        </p:spPr>
      </p:sp>
      <p:sp>
        <p:nvSpPr>
          <p:cNvPr id="7" name="Text 5"/>
          <p:cNvSpPr txBox="1"/>
          <p:nvPr/>
        </p:nvSpPr>
        <p:spPr>
          <a:xfrm>
            <a:off x="5257800" y="1325880"/>
            <a:ext cx="2423160" cy="694944"/>
          </a:xfrm>
          <a:prstGeom prst="rect">
            <a:avLst/>
          </a:prstGeom>
          <a:noFill/>
          <a:ln/>
        </p:spPr>
        <p:txBody>
          <a:bodyPr wrap="square" lIns="0" tIns="0" rIns="0" bIns="0" rtlCol="0" anchor="ctr"/>
          <a:lstStyle/>
          <a:p>
            <a:pPr indent="0" marL="0">
              <a:buNone/>
            </a:pPr>
            <a:r>
              <a:rPr lang="en-US" sz="1200" dirty="0">
                <a:solidFill>
                  <a:schemeClr val="tx2"/>
                </a:solidFill>
              </a:rPr>
              <a:t>Doet het wat het belooft, ook bij rare invoer</a:t>
            </a:r>
            <a:endParaRPr lang="en-US" sz="1200" dirty="0"/>
          </a:p>
        </p:txBody>
      </p:sp>
      <p:sp>
        <p:nvSpPr>
          <p:cNvPr id="8" name="kaart"/>
          <p:cNvSpPr/>
          <p:nvPr/>
        </p:nvSpPr>
        <p:spPr>
          <a:xfrm>
            <a:off x="548640" y="2112264"/>
            <a:ext cx="7269480" cy="694944"/>
          </a:xfrm>
          <a:prstGeom prst="roundRect">
            <a:avLst>
              <a:gd name="adj" fmla="val 15789"/>
            </a:avLst>
          </a:prstGeom>
          <a:solidFill>
            <a:schemeClr val="bg2"/>
          </a:solidFill>
          <a:ln w="12700">
            <a:solidFill>
              <a:schemeClr val="bg2"/>
            </a:solidFill>
            <a:prstDash val="solid"/>
          </a:ln>
        </p:spPr>
      </p:sp>
      <p:sp>
        <p:nvSpPr>
          <p:cNvPr id="9" name="Text 7"/>
          <p:cNvSpPr txBox="1"/>
          <p:nvPr/>
        </p:nvSpPr>
        <p:spPr>
          <a:xfrm>
            <a:off x="731520" y="2112264"/>
            <a:ext cx="2103120" cy="694944"/>
          </a:xfrm>
          <a:prstGeom prst="rect">
            <a:avLst/>
          </a:prstGeom>
          <a:noFill/>
          <a:ln/>
        </p:spPr>
        <p:txBody>
          <a:bodyPr wrap="square" lIns="0" tIns="0" rIns="0" bIns="0" rtlCol="0" anchor="ctr"/>
          <a:lstStyle/>
          <a:p>
            <a:pPr indent="0" marL="0">
              <a:buNone/>
            </a:pPr>
            <a:r>
              <a:rPr lang="en-US" sz="1500" b="1" dirty="0">
                <a:solidFill>
                  <a:schemeClr val="tx1"/>
                </a:solidFill>
              </a:rPr>
              <a:t>Correctheid van de regels</a:t>
            </a:r>
            <a:endParaRPr lang="en-US" sz="1500" dirty="0"/>
          </a:p>
        </p:txBody>
      </p:sp>
      <p:sp>
        <p:nvSpPr>
          <p:cNvPr id="10" name="Text 8"/>
          <p:cNvSpPr txBox="1"/>
          <p:nvPr/>
        </p:nvSpPr>
        <p:spPr>
          <a:xfrm>
            <a:off x="2834640" y="2112264"/>
            <a:ext cx="777240" cy="694944"/>
          </a:xfrm>
          <a:prstGeom prst="rect">
            <a:avLst/>
          </a:prstGeom>
          <a:noFill/>
          <a:ln/>
        </p:spPr>
        <p:txBody>
          <a:bodyPr wrap="square" lIns="0" tIns="0" rIns="0" bIns="0" rtlCol="0" anchor="ctr"/>
          <a:lstStyle/>
          <a:p>
            <a:pPr algn="r" indent="0" marL="0">
              <a:buNone/>
            </a:pPr>
            <a:r>
              <a:rPr lang="en-US" sz="1800" b="1" dirty="0">
                <a:solidFill>
                  <a:schemeClr val="accent2"/>
                </a:solidFill>
                <a:latin typeface="Cambria" pitchFamily="34" charset="0"/>
                <a:ea typeface="Cambria" pitchFamily="34" charset="-122"/>
                <a:cs typeface="Cambria" pitchFamily="34" charset="-120"/>
              </a:rPr>
              <a:t>20 %</a:t>
            </a:r>
            <a:endParaRPr lang="en-US" sz="1800" dirty="0"/>
          </a:p>
        </p:txBody>
      </p:sp>
      <p:sp>
        <p:nvSpPr>
          <p:cNvPr id="11" name="balk"/>
          <p:cNvSpPr/>
          <p:nvPr/>
        </p:nvSpPr>
        <p:spPr>
          <a:xfrm>
            <a:off x="3749040" y="2359152"/>
            <a:ext cx="914400" cy="201168"/>
          </a:xfrm>
          <a:prstGeom prst="rect">
            <a:avLst/>
          </a:prstGeom>
          <a:solidFill>
            <a:schemeClr val="accent2"/>
          </a:solidFill>
          <a:ln w="12700">
            <a:solidFill>
              <a:schemeClr val="accent2"/>
            </a:solidFill>
            <a:prstDash val="solid"/>
          </a:ln>
        </p:spPr>
      </p:sp>
      <p:sp>
        <p:nvSpPr>
          <p:cNvPr id="12" name="Text 10"/>
          <p:cNvSpPr txBox="1"/>
          <p:nvPr/>
        </p:nvSpPr>
        <p:spPr>
          <a:xfrm>
            <a:off x="5257800" y="2112264"/>
            <a:ext cx="2423160" cy="694944"/>
          </a:xfrm>
          <a:prstGeom prst="rect">
            <a:avLst/>
          </a:prstGeom>
          <a:noFill/>
          <a:ln/>
        </p:spPr>
        <p:txBody>
          <a:bodyPr wrap="square" lIns="0" tIns="0" rIns="0" bIns="0" rtlCol="0" anchor="ctr"/>
          <a:lstStyle/>
          <a:p>
            <a:pPr indent="0" marL="0">
              <a:buNone/>
            </a:pPr>
            <a:r>
              <a:rPr lang="en-US" sz="1200" dirty="0">
                <a:solidFill>
                  <a:schemeClr val="tx2"/>
                </a:solidFill>
              </a:rPr>
              <a:t>Kloppen de berekeningen, ook op de grenzen</a:t>
            </a:r>
            <a:endParaRPr lang="en-US" sz="1200" dirty="0"/>
          </a:p>
        </p:txBody>
      </p:sp>
      <p:sp>
        <p:nvSpPr>
          <p:cNvPr id="13" name="kaart"/>
          <p:cNvSpPr/>
          <p:nvPr/>
        </p:nvSpPr>
        <p:spPr>
          <a:xfrm>
            <a:off x="548640" y="2898648"/>
            <a:ext cx="7269480" cy="694944"/>
          </a:xfrm>
          <a:prstGeom prst="roundRect">
            <a:avLst>
              <a:gd name="adj" fmla="val 15789"/>
            </a:avLst>
          </a:prstGeom>
          <a:solidFill>
            <a:schemeClr val="bg2"/>
          </a:solidFill>
          <a:ln w="12700">
            <a:solidFill>
              <a:schemeClr val="bg2"/>
            </a:solidFill>
            <a:prstDash val="solid"/>
          </a:ln>
        </p:spPr>
      </p:sp>
      <p:sp>
        <p:nvSpPr>
          <p:cNvPr id="14" name="Text 12"/>
          <p:cNvSpPr txBox="1"/>
          <p:nvPr/>
        </p:nvSpPr>
        <p:spPr>
          <a:xfrm>
            <a:off x="731520" y="2898648"/>
            <a:ext cx="2103120" cy="694944"/>
          </a:xfrm>
          <a:prstGeom prst="rect">
            <a:avLst/>
          </a:prstGeom>
          <a:noFill/>
          <a:ln/>
        </p:spPr>
        <p:txBody>
          <a:bodyPr wrap="square" lIns="0" tIns="0" rIns="0" bIns="0" rtlCol="0" anchor="ctr"/>
          <a:lstStyle/>
          <a:p>
            <a:pPr indent="0" marL="0">
              <a:buNone/>
            </a:pPr>
            <a:r>
              <a:rPr lang="en-US" sz="1500" b="1" dirty="0">
                <a:solidFill>
                  <a:schemeClr val="tx1"/>
                </a:solidFill>
              </a:rPr>
              <a:t>Leesbaarheid</a:t>
            </a:r>
            <a:endParaRPr lang="en-US" sz="1500" dirty="0"/>
          </a:p>
        </p:txBody>
      </p:sp>
      <p:sp>
        <p:nvSpPr>
          <p:cNvPr id="15" name="Text 13"/>
          <p:cNvSpPr txBox="1"/>
          <p:nvPr/>
        </p:nvSpPr>
        <p:spPr>
          <a:xfrm>
            <a:off x="2834640" y="2898648"/>
            <a:ext cx="777240" cy="694944"/>
          </a:xfrm>
          <a:prstGeom prst="rect">
            <a:avLst/>
          </a:prstGeom>
          <a:noFill/>
          <a:ln/>
        </p:spPr>
        <p:txBody>
          <a:bodyPr wrap="square" lIns="0" tIns="0" rIns="0" bIns="0" rtlCol="0" anchor="ctr"/>
          <a:lstStyle/>
          <a:p>
            <a:pPr algn="r" indent="0" marL="0">
              <a:buNone/>
            </a:pPr>
            <a:r>
              <a:rPr lang="en-US" sz="1800" b="1" dirty="0">
                <a:solidFill>
                  <a:schemeClr val="accent1"/>
                </a:solidFill>
                <a:latin typeface="Cambria" pitchFamily="34" charset="0"/>
                <a:ea typeface="Cambria" pitchFamily="34" charset="-122"/>
                <a:cs typeface="Cambria" pitchFamily="34" charset="-120"/>
              </a:rPr>
              <a:t>20 %</a:t>
            </a:r>
            <a:endParaRPr lang="en-US" sz="1800" dirty="0"/>
          </a:p>
        </p:txBody>
      </p:sp>
      <p:sp>
        <p:nvSpPr>
          <p:cNvPr id="16" name="balk"/>
          <p:cNvSpPr/>
          <p:nvPr/>
        </p:nvSpPr>
        <p:spPr>
          <a:xfrm>
            <a:off x="3749040" y="3145536"/>
            <a:ext cx="914400" cy="201168"/>
          </a:xfrm>
          <a:prstGeom prst="rect">
            <a:avLst/>
          </a:prstGeom>
          <a:solidFill>
            <a:schemeClr val="accent1"/>
          </a:solidFill>
          <a:ln w="12700">
            <a:solidFill>
              <a:schemeClr val="accent1"/>
            </a:solidFill>
            <a:prstDash val="solid"/>
          </a:ln>
        </p:spPr>
      </p:sp>
      <p:sp>
        <p:nvSpPr>
          <p:cNvPr id="17" name="Text 15"/>
          <p:cNvSpPr txBox="1"/>
          <p:nvPr/>
        </p:nvSpPr>
        <p:spPr>
          <a:xfrm>
            <a:off x="5257800" y="2898648"/>
            <a:ext cx="2423160" cy="694944"/>
          </a:xfrm>
          <a:prstGeom prst="rect">
            <a:avLst/>
          </a:prstGeom>
          <a:noFill/>
          <a:ln/>
        </p:spPr>
        <p:txBody>
          <a:bodyPr wrap="square" lIns="0" tIns="0" rIns="0" bIns="0" rtlCol="0" anchor="ctr"/>
          <a:lstStyle/>
          <a:p>
            <a:pPr indent="0" marL="0">
              <a:buNone/>
            </a:pPr>
            <a:r>
              <a:rPr lang="en-US" sz="1200" dirty="0">
                <a:solidFill>
                  <a:schemeClr val="tx2"/>
                </a:solidFill>
              </a:rPr>
              <a:t>Namen, functies, docstrings, geen herhaling, PEP 8</a:t>
            </a:r>
            <a:endParaRPr lang="en-US" sz="1200" dirty="0"/>
          </a:p>
        </p:txBody>
      </p:sp>
      <p:sp>
        <p:nvSpPr>
          <p:cNvPr id="18" name="kaart"/>
          <p:cNvSpPr/>
          <p:nvPr/>
        </p:nvSpPr>
        <p:spPr>
          <a:xfrm>
            <a:off x="548640" y="3685032"/>
            <a:ext cx="7269480" cy="694944"/>
          </a:xfrm>
          <a:prstGeom prst="roundRect">
            <a:avLst>
              <a:gd name="adj" fmla="val 15789"/>
            </a:avLst>
          </a:prstGeom>
          <a:solidFill>
            <a:schemeClr val="bg2"/>
          </a:solidFill>
          <a:ln w="12700">
            <a:solidFill>
              <a:schemeClr val="bg2"/>
            </a:solidFill>
            <a:prstDash val="solid"/>
          </a:ln>
        </p:spPr>
      </p:sp>
      <p:sp>
        <p:nvSpPr>
          <p:cNvPr id="19" name="Text 17"/>
          <p:cNvSpPr txBox="1"/>
          <p:nvPr/>
        </p:nvSpPr>
        <p:spPr>
          <a:xfrm>
            <a:off x="731520" y="3685032"/>
            <a:ext cx="2103120" cy="694944"/>
          </a:xfrm>
          <a:prstGeom prst="rect">
            <a:avLst/>
          </a:prstGeom>
          <a:noFill/>
          <a:ln/>
        </p:spPr>
        <p:txBody>
          <a:bodyPr wrap="square" lIns="0" tIns="0" rIns="0" bIns="0" rtlCol="0" anchor="ctr"/>
          <a:lstStyle/>
          <a:p>
            <a:pPr indent="0" marL="0">
              <a:buNone/>
            </a:pPr>
            <a:r>
              <a:rPr lang="en-US" sz="1500" b="1" dirty="0">
                <a:solidFill>
                  <a:schemeClr val="tx1"/>
                </a:solidFill>
              </a:rPr>
              <a:t>Testen</a:t>
            </a:r>
            <a:endParaRPr lang="en-US" sz="1500" dirty="0"/>
          </a:p>
        </p:txBody>
      </p:sp>
      <p:sp>
        <p:nvSpPr>
          <p:cNvPr id="20" name="Text 18"/>
          <p:cNvSpPr txBox="1"/>
          <p:nvPr/>
        </p:nvSpPr>
        <p:spPr>
          <a:xfrm>
            <a:off x="2834640" y="3685032"/>
            <a:ext cx="777240" cy="694944"/>
          </a:xfrm>
          <a:prstGeom prst="rect">
            <a:avLst/>
          </a:prstGeom>
          <a:noFill/>
          <a:ln/>
        </p:spPr>
        <p:txBody>
          <a:bodyPr wrap="square" lIns="0" tIns="0" rIns="0" bIns="0" rtlCol="0" anchor="ctr"/>
          <a:lstStyle/>
          <a:p>
            <a:pPr algn="r" indent="0" marL="0">
              <a:buNone/>
            </a:pPr>
            <a:r>
              <a:rPr lang="en-US" sz="1800" b="1" dirty="0">
                <a:solidFill>
                  <a:schemeClr val="accent1"/>
                </a:solidFill>
                <a:latin typeface="Cambria" pitchFamily="34" charset="0"/>
                <a:ea typeface="Cambria" pitchFamily="34" charset="-122"/>
                <a:cs typeface="Cambria" pitchFamily="34" charset="-120"/>
              </a:rPr>
              <a:t>15 %</a:t>
            </a:r>
            <a:endParaRPr lang="en-US" sz="1800" dirty="0"/>
          </a:p>
        </p:txBody>
      </p:sp>
      <p:sp>
        <p:nvSpPr>
          <p:cNvPr id="21" name="balk"/>
          <p:cNvSpPr/>
          <p:nvPr/>
        </p:nvSpPr>
        <p:spPr>
          <a:xfrm>
            <a:off x="3749040" y="3931920"/>
            <a:ext cx="685800" cy="201168"/>
          </a:xfrm>
          <a:prstGeom prst="rect">
            <a:avLst/>
          </a:prstGeom>
          <a:solidFill>
            <a:schemeClr val="accent1"/>
          </a:solidFill>
          <a:ln w="12700">
            <a:solidFill>
              <a:schemeClr val="accent1"/>
            </a:solidFill>
            <a:prstDash val="solid"/>
          </a:ln>
        </p:spPr>
      </p:sp>
      <p:sp>
        <p:nvSpPr>
          <p:cNvPr id="22" name="Text 20"/>
          <p:cNvSpPr txBox="1"/>
          <p:nvPr/>
        </p:nvSpPr>
        <p:spPr>
          <a:xfrm>
            <a:off x="5257800" y="3685032"/>
            <a:ext cx="2423160" cy="694944"/>
          </a:xfrm>
          <a:prstGeom prst="rect">
            <a:avLst/>
          </a:prstGeom>
          <a:noFill/>
          <a:ln/>
        </p:spPr>
        <p:txBody>
          <a:bodyPr wrap="square" lIns="0" tIns="0" rIns="0" bIns="0" rtlCol="0" anchor="ctr"/>
          <a:lstStyle/>
          <a:p>
            <a:pPr indent="0" marL="0">
              <a:buNone/>
            </a:pPr>
            <a:r>
              <a:rPr lang="en-US" sz="1200" dirty="0">
                <a:solidFill>
                  <a:schemeClr val="tx2"/>
                </a:solidFill>
              </a:rPr>
              <a:t>Zijn de gevallen gekozen of bedacht</a:t>
            </a:r>
            <a:endParaRPr lang="en-US" sz="1200" dirty="0"/>
          </a:p>
        </p:txBody>
      </p:sp>
      <p:sp>
        <p:nvSpPr>
          <p:cNvPr id="23" name="kaart"/>
          <p:cNvSpPr/>
          <p:nvPr/>
        </p:nvSpPr>
        <p:spPr>
          <a:xfrm>
            <a:off x="548640" y="4471416"/>
            <a:ext cx="7269480" cy="694944"/>
          </a:xfrm>
          <a:prstGeom prst="roundRect">
            <a:avLst>
              <a:gd name="adj" fmla="val 15789"/>
            </a:avLst>
          </a:prstGeom>
          <a:solidFill>
            <a:schemeClr val="bg2"/>
          </a:solidFill>
          <a:ln w="12700">
            <a:solidFill>
              <a:schemeClr val="bg2"/>
            </a:solidFill>
            <a:prstDash val="solid"/>
          </a:ln>
        </p:spPr>
      </p:sp>
      <p:sp>
        <p:nvSpPr>
          <p:cNvPr id="24" name="Text 22"/>
          <p:cNvSpPr txBox="1"/>
          <p:nvPr/>
        </p:nvSpPr>
        <p:spPr>
          <a:xfrm>
            <a:off x="731520" y="4471416"/>
            <a:ext cx="2103120" cy="694944"/>
          </a:xfrm>
          <a:prstGeom prst="rect">
            <a:avLst/>
          </a:prstGeom>
          <a:noFill/>
          <a:ln/>
        </p:spPr>
        <p:txBody>
          <a:bodyPr wrap="square" lIns="0" tIns="0" rIns="0" bIns="0" rtlCol="0" anchor="ctr"/>
          <a:lstStyle/>
          <a:p>
            <a:pPr indent="0" marL="0">
              <a:buNone/>
            </a:pPr>
            <a:r>
              <a:rPr lang="en-US" sz="1500" b="1" dirty="0">
                <a:solidFill>
                  <a:schemeClr val="tx1"/>
                </a:solidFill>
              </a:rPr>
              <a:t>Git</a:t>
            </a:r>
            <a:endParaRPr lang="en-US" sz="1500" dirty="0"/>
          </a:p>
        </p:txBody>
      </p:sp>
      <p:sp>
        <p:nvSpPr>
          <p:cNvPr id="25" name="Text 23"/>
          <p:cNvSpPr txBox="1"/>
          <p:nvPr/>
        </p:nvSpPr>
        <p:spPr>
          <a:xfrm>
            <a:off x="2834640" y="4471416"/>
            <a:ext cx="777240" cy="694944"/>
          </a:xfrm>
          <a:prstGeom prst="rect">
            <a:avLst/>
          </a:prstGeom>
          <a:noFill/>
          <a:ln/>
        </p:spPr>
        <p:txBody>
          <a:bodyPr wrap="square" lIns="0" tIns="0" rIns="0" bIns="0" rtlCol="0" anchor="ctr"/>
          <a:lstStyle/>
          <a:p>
            <a:pPr algn="r" indent="0" marL="0">
              <a:buNone/>
            </a:pPr>
            <a:r>
              <a:rPr lang="en-US" sz="1800" b="1" dirty="0">
                <a:solidFill>
                  <a:schemeClr val="accent1"/>
                </a:solidFill>
                <a:latin typeface="Cambria" pitchFamily="34" charset="0"/>
                <a:ea typeface="Cambria" pitchFamily="34" charset="-122"/>
                <a:cs typeface="Cambria" pitchFamily="34" charset="-120"/>
              </a:rPr>
              <a:t>10 %</a:t>
            </a:r>
            <a:endParaRPr lang="en-US" sz="1800" dirty="0"/>
          </a:p>
        </p:txBody>
      </p:sp>
      <p:sp>
        <p:nvSpPr>
          <p:cNvPr id="26" name="balk"/>
          <p:cNvSpPr/>
          <p:nvPr/>
        </p:nvSpPr>
        <p:spPr>
          <a:xfrm>
            <a:off x="3749040" y="4718304"/>
            <a:ext cx="457200" cy="201168"/>
          </a:xfrm>
          <a:prstGeom prst="rect">
            <a:avLst/>
          </a:prstGeom>
          <a:solidFill>
            <a:schemeClr val="accent1"/>
          </a:solidFill>
          <a:ln w="12700">
            <a:solidFill>
              <a:schemeClr val="accent1"/>
            </a:solidFill>
            <a:prstDash val="solid"/>
          </a:ln>
        </p:spPr>
      </p:sp>
      <p:sp>
        <p:nvSpPr>
          <p:cNvPr id="27" name="Text 25"/>
          <p:cNvSpPr txBox="1"/>
          <p:nvPr/>
        </p:nvSpPr>
        <p:spPr>
          <a:xfrm>
            <a:off x="5257800" y="4471416"/>
            <a:ext cx="2423160" cy="694944"/>
          </a:xfrm>
          <a:prstGeom prst="rect">
            <a:avLst/>
          </a:prstGeom>
          <a:noFill/>
          <a:ln/>
        </p:spPr>
        <p:txBody>
          <a:bodyPr wrap="square" lIns="0" tIns="0" rIns="0" bIns="0" rtlCol="0" anchor="ctr"/>
          <a:lstStyle/>
          <a:p>
            <a:pPr indent="0" marL="0">
              <a:buNone/>
            </a:pPr>
            <a:r>
              <a:rPr lang="en-US" sz="1200" dirty="0">
                <a:solidFill>
                  <a:schemeClr val="tx2"/>
                </a:solidFill>
              </a:rPr>
              <a:t>Kleine commits, leesbare boodschappen, alles erin</a:t>
            </a:r>
            <a:endParaRPr lang="en-US" sz="1200" dirty="0"/>
          </a:p>
        </p:txBody>
      </p:sp>
      <p:sp>
        <p:nvSpPr>
          <p:cNvPr id="28" name="kaart"/>
          <p:cNvSpPr/>
          <p:nvPr/>
        </p:nvSpPr>
        <p:spPr>
          <a:xfrm>
            <a:off x="548640" y="5257800"/>
            <a:ext cx="7269480" cy="694944"/>
          </a:xfrm>
          <a:prstGeom prst="roundRect">
            <a:avLst>
              <a:gd name="adj" fmla="val 15789"/>
            </a:avLst>
          </a:prstGeom>
          <a:solidFill>
            <a:schemeClr val="bg2"/>
          </a:solidFill>
          <a:ln w="12700">
            <a:solidFill>
              <a:schemeClr val="bg2"/>
            </a:solidFill>
            <a:prstDash val="solid"/>
          </a:ln>
        </p:spPr>
      </p:sp>
      <p:sp>
        <p:nvSpPr>
          <p:cNvPr id="29" name="Text 27"/>
          <p:cNvSpPr txBox="1"/>
          <p:nvPr/>
        </p:nvSpPr>
        <p:spPr>
          <a:xfrm>
            <a:off x="731520" y="5257800"/>
            <a:ext cx="2103120" cy="694944"/>
          </a:xfrm>
          <a:prstGeom prst="rect">
            <a:avLst/>
          </a:prstGeom>
          <a:noFill/>
          <a:ln/>
        </p:spPr>
        <p:txBody>
          <a:bodyPr wrap="square" lIns="0" tIns="0" rIns="0" bIns="0" rtlCol="0" anchor="ctr"/>
          <a:lstStyle/>
          <a:p>
            <a:pPr indent="0" marL="0">
              <a:buNone/>
            </a:pPr>
            <a:r>
              <a:rPr lang="en-US" sz="1500" b="1" dirty="0">
                <a:solidFill>
                  <a:schemeClr val="tx1"/>
                </a:solidFill>
              </a:rPr>
              <a:t>Documentatie</a:t>
            </a:r>
            <a:endParaRPr lang="en-US" sz="1500" dirty="0"/>
          </a:p>
        </p:txBody>
      </p:sp>
      <p:sp>
        <p:nvSpPr>
          <p:cNvPr id="30" name="Text 28"/>
          <p:cNvSpPr txBox="1"/>
          <p:nvPr/>
        </p:nvSpPr>
        <p:spPr>
          <a:xfrm>
            <a:off x="2834640" y="5257800"/>
            <a:ext cx="777240" cy="694944"/>
          </a:xfrm>
          <a:prstGeom prst="rect">
            <a:avLst/>
          </a:prstGeom>
          <a:noFill/>
          <a:ln/>
        </p:spPr>
        <p:txBody>
          <a:bodyPr wrap="square" lIns="0" tIns="0" rIns="0" bIns="0" rtlCol="0" anchor="ctr"/>
          <a:lstStyle/>
          <a:p>
            <a:pPr algn="r" indent="0" marL="0">
              <a:buNone/>
            </a:pPr>
            <a:r>
              <a:rPr lang="en-US" sz="1800" b="1" dirty="0">
                <a:solidFill>
                  <a:schemeClr val="accent1"/>
                </a:solidFill>
                <a:latin typeface="Cambria" pitchFamily="34" charset="0"/>
                <a:ea typeface="Cambria" pitchFamily="34" charset="-122"/>
                <a:cs typeface="Cambria" pitchFamily="34" charset="-120"/>
              </a:rPr>
              <a:t>5 %</a:t>
            </a:r>
            <a:endParaRPr lang="en-US" sz="1800" dirty="0"/>
          </a:p>
        </p:txBody>
      </p:sp>
      <p:sp>
        <p:nvSpPr>
          <p:cNvPr id="31" name="balk"/>
          <p:cNvSpPr/>
          <p:nvPr/>
        </p:nvSpPr>
        <p:spPr>
          <a:xfrm>
            <a:off x="3749040" y="5504688"/>
            <a:ext cx="228600" cy="201168"/>
          </a:xfrm>
          <a:prstGeom prst="rect">
            <a:avLst/>
          </a:prstGeom>
          <a:solidFill>
            <a:schemeClr val="accent1"/>
          </a:solidFill>
          <a:ln w="12700">
            <a:solidFill>
              <a:schemeClr val="accent1"/>
            </a:solidFill>
            <a:prstDash val="solid"/>
          </a:ln>
        </p:spPr>
      </p:sp>
      <p:sp>
        <p:nvSpPr>
          <p:cNvPr id="32" name="Text 30"/>
          <p:cNvSpPr txBox="1"/>
          <p:nvPr/>
        </p:nvSpPr>
        <p:spPr>
          <a:xfrm>
            <a:off x="5257800" y="5257800"/>
            <a:ext cx="2423160" cy="694944"/>
          </a:xfrm>
          <a:prstGeom prst="rect">
            <a:avLst/>
          </a:prstGeom>
          <a:noFill/>
          <a:ln/>
        </p:spPr>
        <p:txBody>
          <a:bodyPr wrap="square" lIns="0" tIns="0" rIns="0" bIns="0" rtlCol="0" anchor="ctr"/>
          <a:lstStyle/>
          <a:p>
            <a:pPr indent="0" marL="0">
              <a:buNone/>
            </a:pPr>
            <a:r>
              <a:rPr lang="en-US" sz="1200" dirty="0">
                <a:solidFill>
                  <a:schemeClr val="tx2"/>
                </a:solidFill>
              </a:rPr>
              <a:t>Kan een ander het starten zonder jou</a:t>
            </a:r>
            <a:endParaRPr lang="en-US" sz="1200" dirty="0"/>
          </a:p>
        </p:txBody>
      </p:sp>
      <p:sp>
        <p:nvSpPr>
          <p:cNvPr id="33" name="kaart"/>
          <p:cNvSpPr/>
          <p:nvPr/>
        </p:nvSpPr>
        <p:spPr>
          <a:xfrm>
            <a:off x="8138160" y="1325880"/>
            <a:ext cx="3474720" cy="4663440"/>
          </a:xfrm>
          <a:prstGeom prst="roundRect">
            <a:avLst>
              <a:gd name="adj" fmla="val 3158"/>
            </a:avLst>
          </a:prstGeom>
          <a:solidFill>
            <a:schemeClr val="tx1"/>
          </a:solidFill>
          <a:ln w="12700">
            <a:solidFill>
              <a:schemeClr val="tx1"/>
            </a:solidFill>
            <a:prstDash val="solid"/>
          </a:ln>
        </p:spPr>
      </p:sp>
      <p:sp>
        <p:nvSpPr>
          <p:cNvPr id="34" name="icooncirkel"/>
          <p:cNvSpPr/>
          <p:nvPr/>
        </p:nvSpPr>
        <p:spPr>
          <a:xfrm>
            <a:off x="8412480" y="1600200"/>
            <a:ext cx="594360" cy="594360"/>
          </a:xfrm>
          <a:prstGeom prst="ellipse">
            <a:avLst/>
          </a:prstGeom>
          <a:solidFill>
            <a:schemeClr val="accent3"/>
          </a:solidFill>
          <a:ln w="12700">
            <a:solidFill>
              <a:schemeClr val="accent3"/>
            </a:solidFill>
            <a:prstDash val="solid"/>
          </a:ln>
        </p:spPr>
      </p:sp>
      <p:pic>
        <p:nvPicPr>
          <p:cNvPr id="35" name="icoon" descr="preencoded.png">    </p:cNvPr>
          <p:cNvPicPr>
            <a:picLocks noChangeAspect="1"/>
          </p:cNvPicPr>
          <p:nvPr/>
        </p:nvPicPr>
        <p:blipFill>
          <a:blip r:embed="rId1"/>
          <a:stretch>
            <a:fillRect/>
          </a:stretch>
        </p:blipFill>
        <p:spPr>
          <a:xfrm>
            <a:off x="8561070" y="1748790"/>
            <a:ext cx="297180" cy="297180"/>
          </a:xfrm>
          <a:prstGeom prst="rect">
            <a:avLst/>
          </a:prstGeom>
        </p:spPr>
      </p:pic>
      <p:sp>
        <p:nvSpPr>
          <p:cNvPr id="36" name="Text 33"/>
          <p:cNvSpPr txBox="1"/>
          <p:nvPr/>
        </p:nvSpPr>
        <p:spPr>
          <a:xfrm>
            <a:off x="9189720" y="1764792"/>
            <a:ext cx="21945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LET OP</a:t>
            </a:r>
            <a:endParaRPr lang="en-US" sz="1200" dirty="0"/>
          </a:p>
        </p:txBody>
      </p:sp>
      <p:sp>
        <p:nvSpPr>
          <p:cNvPr id="37" name="Text 34"/>
          <p:cNvSpPr txBox="1"/>
          <p:nvPr/>
        </p:nvSpPr>
        <p:spPr>
          <a:xfrm>
            <a:off x="8412480" y="2423160"/>
            <a:ext cx="2971800" cy="123444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Een programma dat alles kan en onleesbaar is, haalt hooguit de helft.</a:t>
            </a:r>
            <a:endParaRPr lang="en-US" sz="1800" dirty="0"/>
          </a:p>
        </p:txBody>
      </p:sp>
      <p:sp>
        <p:nvSpPr>
          <p:cNvPr id="38" name="Text 35"/>
          <p:cNvSpPr txBox="1"/>
          <p:nvPr/>
        </p:nvSpPr>
        <p:spPr>
          <a:xfrm>
            <a:off x="8412480" y="3794760"/>
            <a:ext cx="2971800" cy="2011680"/>
          </a:xfrm>
          <a:prstGeom prst="rect">
            <a:avLst/>
          </a:prstGeom>
          <a:noFill/>
          <a:ln/>
        </p:spPr>
        <p:txBody>
          <a:bodyPr wrap="square" lIns="0" tIns="0" rIns="0" bIns="0" rtlCol="0" anchor="t"/>
          <a:lstStyle/>
          <a:p>
            <a:pPr indent="0" marL="0">
              <a:buNone/>
            </a:pPr>
            <a:r>
              <a:rPr lang="en-US" sz="1400" dirty="0">
                <a:solidFill>
                  <a:schemeClr val="bg2"/>
                </a:solidFill>
              </a:rPr>
              <a:t>Dat is geen schoolse strengheid. Code wordt vaker gelezen dan geschreven, en de persoon die jouw code over een half jaar leest, ben jij.</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731520" y="3017520"/>
            <a:ext cx="10698480" cy="1097280"/>
          </a:xfrm>
          <a:prstGeom prst="rect">
            <a:avLst/>
          </a:prstGeom>
          <a:noFill/>
          <a:ln/>
        </p:spPr>
        <p:txBody>
          <a:bodyPr wrap="square" lIns="0" tIns="0" rIns="0" bIns="0" rtlCol="0" anchor="t"/>
          <a:lstStyle/>
          <a:p>
            <a:pPr algn="l" indent="0" marL="0">
              <a:buNone/>
            </a:pPr>
            <a:r>
              <a:rPr lang="en-US" sz="4400" b="1" dirty="0">
                <a:solidFill>
                  <a:schemeClr val="bg1"/>
                </a:solidFill>
              </a:rPr>
              <a:t>Het werkplan</a:t>
            </a:r>
            <a:endParaRPr lang="en-US" sz="4400" dirty="0"/>
          </a:p>
        </p:txBody>
      </p:sp>
      <p:sp>
        <p:nvSpPr>
          <p:cNvPr id="3" name="Text 0"/>
          <p:cNvSpPr/>
          <p:nvPr>
            <p:ph idx="100" type="body" hasCustomPrompt="1"/>
          </p:nvPr>
        </p:nvSpPr>
        <p:spPr>
          <a:xfrm>
            <a:off x="731520" y="1463040"/>
            <a:ext cx="3657600" cy="1463040"/>
          </a:xfrm>
          <a:prstGeom prst="rect">
            <a:avLst/>
          </a:prstGeom>
          <a:noFill/>
          <a:ln/>
        </p:spPr>
        <p:txBody>
          <a:bodyPr wrap="square" lIns="0" tIns="0" rIns="0" bIns="0" rtlCol="0" anchor="b"/>
          <a:lstStyle/>
          <a:p>
            <a:pPr indent="0" marL="0">
              <a:buNone/>
            </a:pPr>
            <a:r>
              <a:rPr lang="en-US" sz="9600" b="1" dirty="0">
                <a:solidFill>
                  <a:schemeClr val="accent1"/>
                </a:solidFill>
                <a:latin typeface="Cambria" pitchFamily="34" charset="0"/>
                <a:ea typeface="Cambria" pitchFamily="34" charset="-122"/>
                <a:cs typeface="Cambria" pitchFamily="34" charset="-120"/>
              </a:rPr>
              <a:t>29.5</a:t>
            </a:r>
            <a:endParaRPr lang="en-US" sz="9600" dirty="0"/>
          </a:p>
        </p:txBody>
      </p:sp>
      <p:sp>
        <p:nvSpPr>
          <p:cNvPr id="4" name="Text 0"/>
          <p:cNvSpPr/>
          <p:nvPr>
            <p:ph idx="102" type="body" hasCustomPrompt="1"/>
          </p:nvPr>
        </p:nvSpPr>
        <p:spPr>
          <a:xfrm>
            <a:off x="731520" y="4206240"/>
            <a:ext cx="9601200" cy="1097280"/>
          </a:xfrm>
          <a:prstGeom prst="rect">
            <a:avLst/>
          </a:prstGeom>
          <a:noFill/>
          <a:ln/>
        </p:spPr>
        <p:txBody>
          <a:bodyPr wrap="square" lIns="0" tIns="0" rIns="0" bIns="0" rtlCol="0" anchor="t"/>
          <a:lstStyle/>
          <a:p>
            <a:pPr indent="0" marL="0">
              <a:buNone/>
            </a:pPr>
            <a:r>
              <a:rPr lang="en-US" sz="2000" dirty="0">
                <a:solidFill>
                  <a:schemeClr val="bg2"/>
                </a:solidFill>
              </a:rPr>
              <a:t>Doe het in deze volgorde. De verleiding is om met het menu te beginnen, en dat is de duurste fout.</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Tien stappen, in deze volgorde</a:t>
            </a:r>
            <a:endParaRPr lang="en-US" sz="3400" dirty="0"/>
          </a:p>
        </p:txBody>
      </p:sp>
      <p:sp>
        <p:nvSpPr>
          <p:cNvPr id="3" name="haak"/>
          <p:cNvSpPr/>
          <p:nvPr/>
        </p:nvSpPr>
        <p:spPr>
          <a:xfrm>
            <a:off x="548640" y="1572768"/>
            <a:ext cx="6537960" cy="54864"/>
          </a:xfrm>
          <a:prstGeom prst="rect">
            <a:avLst/>
          </a:prstGeom>
          <a:solidFill>
            <a:schemeClr val="accent5"/>
          </a:solidFill>
          <a:ln w="12700">
            <a:solidFill>
              <a:schemeClr val="accent5"/>
            </a:solidFill>
            <a:prstDash val="solid"/>
          </a:ln>
        </p:spPr>
      </p:sp>
      <p:sp>
        <p:nvSpPr>
          <p:cNvPr id="4" name="Text 2"/>
          <p:cNvSpPr txBox="1"/>
          <p:nvPr/>
        </p:nvSpPr>
        <p:spPr>
          <a:xfrm>
            <a:off x="548640" y="1261872"/>
            <a:ext cx="6537960" cy="274320"/>
          </a:xfrm>
          <a:prstGeom prst="rect">
            <a:avLst/>
          </a:prstGeom>
          <a:noFill/>
          <a:ln/>
        </p:spPr>
        <p:txBody>
          <a:bodyPr wrap="square" lIns="0" tIns="0" rIns="0" bIns="0" rtlCol="0" anchor="t"/>
          <a:lstStyle/>
          <a:p>
            <a:pPr algn="ctr" indent="0" marL="0">
              <a:buNone/>
            </a:pPr>
            <a:r>
              <a:rPr lang="en-US" sz="1200" b="1" spc="100" kern="0" dirty="0">
                <a:solidFill>
                  <a:schemeClr val="accent5"/>
                </a:solidFill>
              </a:rPr>
              <a:t>OEFENING 29.1</a:t>
            </a:r>
            <a:endParaRPr lang="en-US" sz="1200" dirty="0"/>
          </a:p>
        </p:txBody>
      </p:sp>
      <p:sp>
        <p:nvSpPr>
          <p:cNvPr id="5" name="haak"/>
          <p:cNvSpPr/>
          <p:nvPr/>
        </p:nvSpPr>
        <p:spPr>
          <a:xfrm>
            <a:off x="7269480" y="1572768"/>
            <a:ext cx="4297680" cy="54864"/>
          </a:xfrm>
          <a:prstGeom prst="rect">
            <a:avLst/>
          </a:prstGeom>
          <a:solidFill>
            <a:schemeClr val="accent2"/>
          </a:solidFill>
          <a:ln w="12700">
            <a:solidFill>
              <a:schemeClr val="accent2"/>
            </a:solidFill>
            <a:prstDash val="solid"/>
          </a:ln>
        </p:spPr>
      </p:sp>
      <p:sp>
        <p:nvSpPr>
          <p:cNvPr id="6" name="Text 4"/>
          <p:cNvSpPr txBox="1"/>
          <p:nvPr/>
        </p:nvSpPr>
        <p:spPr>
          <a:xfrm>
            <a:off x="7269480" y="1261872"/>
            <a:ext cx="4297680" cy="274320"/>
          </a:xfrm>
          <a:prstGeom prst="rect">
            <a:avLst/>
          </a:prstGeom>
          <a:noFill/>
          <a:ln/>
        </p:spPr>
        <p:txBody>
          <a:bodyPr wrap="square" lIns="0" tIns="0" rIns="0" bIns="0" rtlCol="0" anchor="t"/>
          <a:lstStyle/>
          <a:p>
            <a:pPr algn="ctr" indent="0" marL="0">
              <a:buNone/>
            </a:pPr>
            <a:r>
              <a:rPr lang="en-US" sz="1200" b="1" spc="100" kern="0" dirty="0">
                <a:solidFill>
                  <a:schemeClr val="accent2"/>
                </a:solidFill>
              </a:rPr>
              <a:t>OEFENING 29.2</a:t>
            </a:r>
            <a:endParaRPr lang="en-US" sz="1200" dirty="0"/>
          </a:p>
        </p:txBody>
      </p:sp>
      <p:sp>
        <p:nvSpPr>
          <p:cNvPr id="7" name="kaart"/>
          <p:cNvSpPr/>
          <p:nvPr/>
        </p:nvSpPr>
        <p:spPr>
          <a:xfrm>
            <a:off x="548640" y="1783080"/>
            <a:ext cx="205740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8" name="nummercirkel"/>
          <p:cNvSpPr/>
          <p:nvPr/>
        </p:nvSpPr>
        <p:spPr>
          <a:xfrm>
            <a:off x="731520" y="1965960"/>
            <a:ext cx="502920" cy="502920"/>
          </a:xfrm>
          <a:prstGeom prst="ellipse">
            <a:avLst/>
          </a:prstGeom>
          <a:solidFill>
            <a:schemeClr val="accent5"/>
          </a:solidFill>
          <a:ln w="12700">
            <a:solidFill>
              <a:schemeClr val="accent5"/>
            </a:solidFill>
            <a:prstDash val="solid"/>
          </a:ln>
        </p:spPr>
      </p:sp>
      <p:sp>
        <p:nvSpPr>
          <p:cNvPr id="9" name="Text 7"/>
          <p:cNvSpPr txBox="1"/>
          <p:nvPr/>
        </p:nvSpPr>
        <p:spPr>
          <a:xfrm>
            <a:off x="731520"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10" name="Text 8"/>
          <p:cNvSpPr txBox="1"/>
          <p:nvPr/>
        </p:nvSpPr>
        <p:spPr>
          <a:xfrm>
            <a:off x="1325880" y="1965960"/>
            <a:ext cx="1143000" cy="502920"/>
          </a:xfrm>
          <a:prstGeom prst="rect">
            <a:avLst/>
          </a:prstGeom>
          <a:noFill/>
          <a:ln/>
        </p:spPr>
        <p:txBody>
          <a:bodyPr wrap="square" lIns="0" tIns="0" rIns="0" bIns="0" rtlCol="0" anchor="ctr"/>
          <a:lstStyle/>
          <a:p>
            <a:pPr algn="r" indent="0" marL="0">
              <a:buNone/>
            </a:pPr>
            <a:r>
              <a:rPr lang="en-US" sz="1200" b="1" dirty="0">
                <a:solidFill>
                  <a:schemeClr val="tx2"/>
                </a:solidFill>
              </a:rPr>
              <a:t>H 3</a:t>
            </a:r>
            <a:endParaRPr lang="en-US" sz="1200" dirty="0"/>
          </a:p>
        </p:txBody>
      </p:sp>
      <p:sp>
        <p:nvSpPr>
          <p:cNvPr id="11" name="Text 9"/>
          <p:cNvSpPr txBox="1"/>
          <p:nvPr/>
        </p:nvSpPr>
        <p:spPr>
          <a:xfrm>
            <a:off x="731520" y="2606040"/>
            <a:ext cx="1737360" cy="1051560"/>
          </a:xfrm>
          <a:prstGeom prst="rect">
            <a:avLst/>
          </a:prstGeom>
          <a:noFill/>
          <a:ln/>
        </p:spPr>
        <p:txBody>
          <a:bodyPr wrap="square" lIns="0" tIns="0" rIns="0" bIns="0" rtlCol="0" anchor="t"/>
          <a:lstStyle/>
          <a:p>
            <a:pPr indent="0" marL="0">
              <a:buNone/>
            </a:pPr>
            <a:r>
              <a:rPr lang="en-US" sz="1300" dirty="0">
                <a:solidFill>
                  <a:schemeClr val="tx1"/>
                </a:solidFill>
              </a:rPr>
              <a:t>De situatie beschrijven in gewone taal, met de regels erin</a:t>
            </a:r>
            <a:endParaRPr lang="en-US" sz="1300" dirty="0"/>
          </a:p>
        </p:txBody>
      </p:sp>
      <p:sp>
        <p:nvSpPr>
          <p:cNvPr id="12" name="kaart"/>
          <p:cNvSpPr/>
          <p:nvPr/>
        </p:nvSpPr>
        <p:spPr>
          <a:xfrm>
            <a:off x="2788920" y="1783080"/>
            <a:ext cx="205740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3" name="nummercirkel"/>
          <p:cNvSpPr/>
          <p:nvPr/>
        </p:nvSpPr>
        <p:spPr>
          <a:xfrm>
            <a:off x="2971800" y="1965960"/>
            <a:ext cx="502920" cy="502920"/>
          </a:xfrm>
          <a:prstGeom prst="ellipse">
            <a:avLst/>
          </a:prstGeom>
          <a:solidFill>
            <a:schemeClr val="accent5"/>
          </a:solidFill>
          <a:ln w="12700">
            <a:solidFill>
              <a:schemeClr val="accent5"/>
            </a:solidFill>
            <a:prstDash val="solid"/>
          </a:ln>
        </p:spPr>
      </p:sp>
      <p:sp>
        <p:nvSpPr>
          <p:cNvPr id="14" name="Text 12"/>
          <p:cNvSpPr txBox="1"/>
          <p:nvPr/>
        </p:nvSpPr>
        <p:spPr>
          <a:xfrm>
            <a:off x="2971800"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5" name="Text 13"/>
          <p:cNvSpPr txBox="1"/>
          <p:nvPr/>
        </p:nvSpPr>
        <p:spPr>
          <a:xfrm>
            <a:off x="3566160" y="1965960"/>
            <a:ext cx="1143000" cy="502920"/>
          </a:xfrm>
          <a:prstGeom prst="rect">
            <a:avLst/>
          </a:prstGeom>
          <a:noFill/>
          <a:ln/>
        </p:spPr>
        <p:txBody>
          <a:bodyPr wrap="square" lIns="0" tIns="0" rIns="0" bIns="0" rtlCol="0" anchor="ctr"/>
          <a:lstStyle/>
          <a:p>
            <a:pPr algn="r" indent="0" marL="0">
              <a:buNone/>
            </a:pPr>
            <a:r>
              <a:rPr lang="en-US" sz="1200" b="1" dirty="0">
                <a:solidFill>
                  <a:schemeClr val="tx2"/>
                </a:solidFill>
              </a:rPr>
              <a:t>H 5, 13, 18</a:t>
            </a:r>
            <a:endParaRPr lang="en-US" sz="1200" dirty="0"/>
          </a:p>
        </p:txBody>
      </p:sp>
      <p:sp>
        <p:nvSpPr>
          <p:cNvPr id="16" name="Text 14"/>
          <p:cNvSpPr txBox="1"/>
          <p:nvPr/>
        </p:nvSpPr>
        <p:spPr>
          <a:xfrm>
            <a:off x="2971800" y="2606040"/>
            <a:ext cx="1737360" cy="1051560"/>
          </a:xfrm>
          <a:prstGeom prst="rect">
            <a:avLst/>
          </a:prstGeom>
          <a:noFill/>
          <a:ln/>
        </p:spPr>
        <p:txBody>
          <a:bodyPr wrap="square" lIns="0" tIns="0" rIns="0" bIns="0" rtlCol="0" anchor="t"/>
          <a:lstStyle/>
          <a:p>
            <a:pPr indent="0" marL="0">
              <a:buNone/>
            </a:pPr>
            <a:r>
              <a:rPr lang="en-US" sz="1300" dirty="0">
                <a:solidFill>
                  <a:schemeClr val="tx1"/>
                </a:solidFill>
              </a:rPr>
              <a:t>De gegevens vastleggen: welke dingen, welke velden, welk type</a:t>
            </a:r>
            <a:endParaRPr lang="en-US" sz="1300" dirty="0"/>
          </a:p>
        </p:txBody>
      </p:sp>
      <p:sp>
        <p:nvSpPr>
          <p:cNvPr id="17" name="kaart"/>
          <p:cNvSpPr/>
          <p:nvPr/>
        </p:nvSpPr>
        <p:spPr>
          <a:xfrm>
            <a:off x="5029200" y="1783080"/>
            <a:ext cx="205740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8" name="nummercirkel"/>
          <p:cNvSpPr/>
          <p:nvPr/>
        </p:nvSpPr>
        <p:spPr>
          <a:xfrm>
            <a:off x="5212080" y="1965960"/>
            <a:ext cx="502920" cy="502920"/>
          </a:xfrm>
          <a:prstGeom prst="ellipse">
            <a:avLst/>
          </a:prstGeom>
          <a:solidFill>
            <a:schemeClr val="accent5"/>
          </a:solidFill>
          <a:ln w="12700">
            <a:solidFill>
              <a:schemeClr val="accent5"/>
            </a:solidFill>
            <a:prstDash val="solid"/>
          </a:ln>
        </p:spPr>
      </p:sp>
      <p:sp>
        <p:nvSpPr>
          <p:cNvPr id="19" name="Text 17"/>
          <p:cNvSpPr txBox="1"/>
          <p:nvPr/>
        </p:nvSpPr>
        <p:spPr>
          <a:xfrm>
            <a:off x="5212080"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20" name="Text 18"/>
          <p:cNvSpPr txBox="1"/>
          <p:nvPr/>
        </p:nvSpPr>
        <p:spPr>
          <a:xfrm>
            <a:off x="5806440" y="1965960"/>
            <a:ext cx="1143000" cy="502920"/>
          </a:xfrm>
          <a:prstGeom prst="rect">
            <a:avLst/>
          </a:prstGeom>
          <a:noFill/>
          <a:ln/>
        </p:spPr>
        <p:txBody>
          <a:bodyPr wrap="square" lIns="0" tIns="0" rIns="0" bIns="0" rtlCol="0" anchor="ctr"/>
          <a:lstStyle/>
          <a:p>
            <a:pPr algn="r" indent="0" marL="0">
              <a:buNone/>
            </a:pPr>
            <a:r>
              <a:rPr lang="en-US" sz="1200" b="1" dirty="0">
                <a:solidFill>
                  <a:schemeClr val="tx2"/>
                </a:solidFill>
              </a:rPr>
              <a:t>H 25</a:t>
            </a:r>
            <a:endParaRPr lang="en-US" sz="1200" dirty="0"/>
          </a:p>
        </p:txBody>
      </p:sp>
      <p:sp>
        <p:nvSpPr>
          <p:cNvPr id="21" name="Text 19"/>
          <p:cNvSpPr txBox="1"/>
          <p:nvPr/>
        </p:nvSpPr>
        <p:spPr>
          <a:xfrm>
            <a:off x="5212080" y="2606040"/>
            <a:ext cx="1737360" cy="1051560"/>
          </a:xfrm>
          <a:prstGeom prst="rect">
            <a:avLst/>
          </a:prstGeom>
          <a:noFill/>
          <a:ln/>
        </p:spPr>
        <p:txBody>
          <a:bodyPr wrap="square" lIns="0" tIns="0" rIns="0" bIns="0" rtlCol="0" anchor="t"/>
          <a:lstStyle/>
          <a:p>
            <a:pPr indent="0" marL="0">
              <a:buNone/>
            </a:pPr>
            <a:r>
              <a:rPr lang="en-US" sz="1300" dirty="0">
                <a:solidFill>
                  <a:schemeClr val="tx1"/>
                </a:solidFill>
              </a:rPr>
              <a:t>De regels opschrijven als contracten, vóór je ze codeert</a:t>
            </a:r>
            <a:endParaRPr lang="en-US" sz="1300" dirty="0"/>
          </a:p>
        </p:txBody>
      </p:sp>
      <p:sp>
        <p:nvSpPr>
          <p:cNvPr id="22" name="kaart"/>
          <p:cNvSpPr/>
          <p:nvPr/>
        </p:nvSpPr>
        <p:spPr>
          <a:xfrm>
            <a:off x="7269480" y="1783080"/>
            <a:ext cx="205740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23" name="nummercirkel"/>
          <p:cNvSpPr/>
          <p:nvPr/>
        </p:nvSpPr>
        <p:spPr>
          <a:xfrm>
            <a:off x="7452360" y="1965960"/>
            <a:ext cx="502920" cy="502920"/>
          </a:xfrm>
          <a:prstGeom prst="ellipse">
            <a:avLst/>
          </a:prstGeom>
          <a:solidFill>
            <a:schemeClr val="accent2"/>
          </a:solidFill>
          <a:ln w="12700">
            <a:solidFill>
              <a:schemeClr val="accent2"/>
            </a:solidFill>
            <a:prstDash val="solid"/>
          </a:ln>
        </p:spPr>
      </p:sp>
      <p:sp>
        <p:nvSpPr>
          <p:cNvPr id="24" name="Text 22"/>
          <p:cNvSpPr txBox="1"/>
          <p:nvPr/>
        </p:nvSpPr>
        <p:spPr>
          <a:xfrm>
            <a:off x="7452360"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25" name="Text 23"/>
          <p:cNvSpPr txBox="1"/>
          <p:nvPr/>
        </p:nvSpPr>
        <p:spPr>
          <a:xfrm>
            <a:off x="8046720" y="1965960"/>
            <a:ext cx="1143000" cy="502920"/>
          </a:xfrm>
          <a:prstGeom prst="rect">
            <a:avLst/>
          </a:prstGeom>
          <a:noFill/>
          <a:ln/>
        </p:spPr>
        <p:txBody>
          <a:bodyPr wrap="square" lIns="0" tIns="0" rIns="0" bIns="0" rtlCol="0" anchor="ctr"/>
          <a:lstStyle/>
          <a:p>
            <a:pPr algn="r" indent="0" marL="0">
              <a:buNone/>
            </a:pPr>
            <a:r>
              <a:rPr lang="en-US" sz="1200" b="1" dirty="0">
                <a:solidFill>
                  <a:schemeClr val="tx2"/>
                </a:solidFill>
              </a:rPr>
              <a:t>H 11, 18</a:t>
            </a:r>
            <a:endParaRPr lang="en-US" sz="1200" dirty="0"/>
          </a:p>
        </p:txBody>
      </p:sp>
      <p:sp>
        <p:nvSpPr>
          <p:cNvPr id="26" name="Text 24"/>
          <p:cNvSpPr txBox="1"/>
          <p:nvPr/>
        </p:nvSpPr>
        <p:spPr>
          <a:xfrm>
            <a:off x="7452360" y="2606040"/>
            <a:ext cx="1737360" cy="1051560"/>
          </a:xfrm>
          <a:prstGeom prst="rect">
            <a:avLst/>
          </a:prstGeom>
          <a:noFill/>
          <a:ln/>
        </p:spPr>
        <p:txBody>
          <a:bodyPr wrap="square" lIns="0" tIns="0" rIns="0" bIns="0" rtlCol="0" anchor="t"/>
          <a:lstStyle/>
          <a:p>
            <a:pPr indent="0" marL="0">
              <a:buNone/>
            </a:pPr>
            <a:r>
              <a:rPr lang="en-US" sz="1300" dirty="0">
                <a:solidFill>
                  <a:schemeClr val="tx1"/>
                </a:solidFill>
              </a:rPr>
              <a:t>De kern bouwen: klassen en berekeningen, zonder menu</a:t>
            </a:r>
            <a:endParaRPr lang="en-US" sz="1300" dirty="0"/>
          </a:p>
        </p:txBody>
      </p:sp>
      <p:sp>
        <p:nvSpPr>
          <p:cNvPr id="27" name="kaart"/>
          <p:cNvSpPr/>
          <p:nvPr/>
        </p:nvSpPr>
        <p:spPr>
          <a:xfrm>
            <a:off x="9509760" y="1783080"/>
            <a:ext cx="205740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28" name="nummercirkel"/>
          <p:cNvSpPr/>
          <p:nvPr/>
        </p:nvSpPr>
        <p:spPr>
          <a:xfrm>
            <a:off x="9692640" y="1965960"/>
            <a:ext cx="502920" cy="502920"/>
          </a:xfrm>
          <a:prstGeom prst="ellipse">
            <a:avLst/>
          </a:prstGeom>
          <a:solidFill>
            <a:schemeClr val="accent2"/>
          </a:solidFill>
          <a:ln w="12700">
            <a:solidFill>
              <a:schemeClr val="accent2"/>
            </a:solidFill>
            <a:prstDash val="solid"/>
          </a:ln>
        </p:spPr>
      </p:sp>
      <p:sp>
        <p:nvSpPr>
          <p:cNvPr id="29" name="Text 27"/>
          <p:cNvSpPr txBox="1"/>
          <p:nvPr/>
        </p:nvSpPr>
        <p:spPr>
          <a:xfrm>
            <a:off x="9692640"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5</a:t>
            </a:r>
            <a:endParaRPr lang="en-US" sz="1600" dirty="0"/>
          </a:p>
        </p:txBody>
      </p:sp>
      <p:sp>
        <p:nvSpPr>
          <p:cNvPr id="30" name="Text 28"/>
          <p:cNvSpPr txBox="1"/>
          <p:nvPr/>
        </p:nvSpPr>
        <p:spPr>
          <a:xfrm>
            <a:off x="10287000" y="1965960"/>
            <a:ext cx="1143000" cy="502920"/>
          </a:xfrm>
          <a:prstGeom prst="rect">
            <a:avLst/>
          </a:prstGeom>
          <a:noFill/>
          <a:ln/>
        </p:spPr>
        <p:txBody>
          <a:bodyPr wrap="square" lIns="0" tIns="0" rIns="0" bIns="0" rtlCol="0" anchor="ctr"/>
          <a:lstStyle/>
          <a:p>
            <a:pPr algn="r" indent="0" marL="0">
              <a:buNone/>
            </a:pPr>
            <a:r>
              <a:rPr lang="en-US" sz="1200" b="1" dirty="0">
                <a:solidFill>
                  <a:schemeClr val="tx2"/>
                </a:solidFill>
              </a:rPr>
              <a:t>H 28</a:t>
            </a:r>
            <a:endParaRPr lang="en-US" sz="1200" dirty="0"/>
          </a:p>
        </p:txBody>
      </p:sp>
      <p:sp>
        <p:nvSpPr>
          <p:cNvPr id="31" name="Text 29"/>
          <p:cNvSpPr txBox="1"/>
          <p:nvPr/>
        </p:nvSpPr>
        <p:spPr>
          <a:xfrm>
            <a:off x="9692640" y="2606040"/>
            <a:ext cx="1737360" cy="1051560"/>
          </a:xfrm>
          <a:prstGeom prst="rect">
            <a:avLst/>
          </a:prstGeom>
          <a:noFill/>
          <a:ln/>
        </p:spPr>
        <p:txBody>
          <a:bodyPr wrap="square" lIns="0" tIns="0" rIns="0" bIns="0" rtlCol="0" anchor="t"/>
          <a:lstStyle/>
          <a:p>
            <a:pPr indent="0" marL="0">
              <a:buNone/>
            </a:pPr>
            <a:r>
              <a:rPr lang="en-US" sz="1300" dirty="0">
                <a:solidFill>
                  <a:schemeClr val="tx1"/>
                </a:solidFill>
              </a:rPr>
              <a:t>De tests bij de kern schrijven, met klassen en grenzen</a:t>
            </a:r>
            <a:endParaRPr lang="en-US" sz="1300" dirty="0"/>
          </a:p>
        </p:txBody>
      </p:sp>
      <p:sp>
        <p:nvSpPr>
          <p:cNvPr id="32" name="kaart"/>
          <p:cNvSpPr/>
          <p:nvPr/>
        </p:nvSpPr>
        <p:spPr>
          <a:xfrm>
            <a:off x="548640" y="3931920"/>
            <a:ext cx="205740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33" name="nummercirkel"/>
          <p:cNvSpPr/>
          <p:nvPr/>
        </p:nvSpPr>
        <p:spPr>
          <a:xfrm>
            <a:off x="731520" y="4114800"/>
            <a:ext cx="502920" cy="502920"/>
          </a:xfrm>
          <a:prstGeom prst="ellipse">
            <a:avLst/>
          </a:prstGeom>
          <a:solidFill>
            <a:schemeClr val="tx2"/>
          </a:solidFill>
          <a:ln w="12700">
            <a:solidFill>
              <a:schemeClr val="tx2"/>
            </a:solidFill>
            <a:prstDash val="solid"/>
          </a:ln>
        </p:spPr>
      </p:sp>
      <p:sp>
        <p:nvSpPr>
          <p:cNvPr id="34" name="Text 32"/>
          <p:cNvSpPr txBox="1"/>
          <p:nvPr/>
        </p:nvSpPr>
        <p:spPr>
          <a:xfrm>
            <a:off x="731520" y="4114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6</a:t>
            </a:r>
            <a:endParaRPr lang="en-US" sz="1600" dirty="0"/>
          </a:p>
        </p:txBody>
      </p:sp>
      <p:sp>
        <p:nvSpPr>
          <p:cNvPr id="35" name="Text 33"/>
          <p:cNvSpPr txBox="1"/>
          <p:nvPr/>
        </p:nvSpPr>
        <p:spPr>
          <a:xfrm>
            <a:off x="1325880" y="4114800"/>
            <a:ext cx="1143000" cy="502920"/>
          </a:xfrm>
          <a:prstGeom prst="rect">
            <a:avLst/>
          </a:prstGeom>
          <a:noFill/>
          <a:ln/>
        </p:spPr>
        <p:txBody>
          <a:bodyPr wrap="square" lIns="0" tIns="0" rIns="0" bIns="0" rtlCol="0" anchor="ctr"/>
          <a:lstStyle/>
          <a:p>
            <a:pPr algn="r" indent="0" marL="0">
              <a:buNone/>
            </a:pPr>
            <a:r>
              <a:rPr lang="en-US" sz="1200" b="1" dirty="0">
                <a:solidFill>
                  <a:schemeClr val="tx2"/>
                </a:solidFill>
              </a:rPr>
              <a:t>H 16</a:t>
            </a:r>
            <a:endParaRPr lang="en-US" sz="1200" dirty="0"/>
          </a:p>
        </p:txBody>
      </p:sp>
      <p:sp>
        <p:nvSpPr>
          <p:cNvPr id="36" name="Text 34"/>
          <p:cNvSpPr txBox="1"/>
          <p:nvPr/>
        </p:nvSpPr>
        <p:spPr>
          <a:xfrm>
            <a:off x="731520" y="4754880"/>
            <a:ext cx="1737360" cy="1051560"/>
          </a:xfrm>
          <a:prstGeom prst="rect">
            <a:avLst/>
          </a:prstGeom>
          <a:noFill/>
          <a:ln/>
        </p:spPr>
        <p:txBody>
          <a:bodyPr wrap="square" lIns="0" tIns="0" rIns="0" bIns="0" rtlCol="0" anchor="t"/>
          <a:lstStyle/>
          <a:p>
            <a:pPr indent="0" marL="0">
              <a:buNone/>
            </a:pPr>
            <a:r>
              <a:rPr lang="en-US" sz="1300" dirty="0">
                <a:solidFill>
                  <a:schemeClr val="tx1"/>
                </a:solidFill>
              </a:rPr>
              <a:t>Opslag toevoegen: lezen en schrijven</a:t>
            </a:r>
            <a:endParaRPr lang="en-US" sz="1300" dirty="0"/>
          </a:p>
        </p:txBody>
      </p:sp>
      <p:sp>
        <p:nvSpPr>
          <p:cNvPr id="37" name="kaart"/>
          <p:cNvSpPr/>
          <p:nvPr/>
        </p:nvSpPr>
        <p:spPr>
          <a:xfrm>
            <a:off x="2788920" y="3931920"/>
            <a:ext cx="2057400" cy="1965960"/>
          </a:xfrm>
          <a:prstGeom prst="roundRect">
            <a:avLst>
              <a:gd name="adj" fmla="val 5581"/>
            </a:avLst>
          </a:prstGeom>
          <a:solidFill>
            <a:schemeClr val="tx1"/>
          </a:solidFill>
          <a:ln w="12700">
            <a:solidFill>
              <a:schemeClr val="tx1"/>
            </a:solidFill>
            <a:prstDash val="solid"/>
          </a:ln>
        </p:spPr>
      </p:sp>
      <p:sp>
        <p:nvSpPr>
          <p:cNvPr id="38" name="nummercirkel"/>
          <p:cNvSpPr/>
          <p:nvPr/>
        </p:nvSpPr>
        <p:spPr>
          <a:xfrm>
            <a:off x="2971800" y="4114800"/>
            <a:ext cx="502920" cy="502920"/>
          </a:xfrm>
          <a:prstGeom prst="ellipse">
            <a:avLst/>
          </a:prstGeom>
          <a:solidFill>
            <a:schemeClr val="accent3"/>
          </a:solidFill>
          <a:ln w="12700">
            <a:solidFill>
              <a:schemeClr val="accent3"/>
            </a:solidFill>
            <a:prstDash val="solid"/>
          </a:ln>
        </p:spPr>
      </p:sp>
      <p:sp>
        <p:nvSpPr>
          <p:cNvPr id="39" name="Text 37"/>
          <p:cNvSpPr txBox="1"/>
          <p:nvPr/>
        </p:nvSpPr>
        <p:spPr>
          <a:xfrm>
            <a:off x="2971800" y="4114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7</a:t>
            </a:r>
            <a:endParaRPr lang="en-US" sz="1600" dirty="0"/>
          </a:p>
        </p:txBody>
      </p:sp>
      <p:sp>
        <p:nvSpPr>
          <p:cNvPr id="40" name="Text 38"/>
          <p:cNvSpPr txBox="1"/>
          <p:nvPr/>
        </p:nvSpPr>
        <p:spPr>
          <a:xfrm>
            <a:off x="3566160" y="4114800"/>
            <a:ext cx="1143000" cy="502920"/>
          </a:xfrm>
          <a:prstGeom prst="rect">
            <a:avLst/>
          </a:prstGeom>
          <a:noFill/>
          <a:ln/>
        </p:spPr>
        <p:txBody>
          <a:bodyPr wrap="square" lIns="0" tIns="0" rIns="0" bIns="0" rtlCol="0" anchor="ctr"/>
          <a:lstStyle/>
          <a:p>
            <a:pPr algn="r" indent="0" marL="0">
              <a:buNone/>
            </a:pPr>
            <a:r>
              <a:rPr lang="en-US" sz="1200" b="1" dirty="0">
                <a:solidFill>
                  <a:schemeClr val="accent1"/>
                </a:solidFill>
              </a:rPr>
              <a:t>H 9, 10</a:t>
            </a:r>
            <a:endParaRPr lang="en-US" sz="1200" dirty="0"/>
          </a:p>
        </p:txBody>
      </p:sp>
      <p:sp>
        <p:nvSpPr>
          <p:cNvPr id="41" name="Text 39"/>
          <p:cNvSpPr txBox="1"/>
          <p:nvPr/>
        </p:nvSpPr>
        <p:spPr>
          <a:xfrm>
            <a:off x="2971800" y="4754880"/>
            <a:ext cx="1737360" cy="1051560"/>
          </a:xfrm>
          <a:prstGeom prst="rect">
            <a:avLst/>
          </a:prstGeom>
          <a:noFill/>
          <a:ln/>
        </p:spPr>
        <p:txBody>
          <a:bodyPr wrap="square" lIns="0" tIns="0" rIns="0" bIns="0" rtlCol="0" anchor="t"/>
          <a:lstStyle/>
          <a:p>
            <a:pPr indent="0" marL="0">
              <a:buNone/>
            </a:pPr>
            <a:r>
              <a:rPr lang="en-US" sz="1300" b="1" dirty="0">
                <a:solidFill>
                  <a:schemeClr val="bg1"/>
                </a:solidFill>
              </a:rPr>
              <a:t>Pas nu het menu bouwen</a:t>
            </a:r>
            <a:endParaRPr lang="en-US" sz="1300" dirty="0"/>
          </a:p>
        </p:txBody>
      </p:sp>
      <p:sp>
        <p:nvSpPr>
          <p:cNvPr id="42" name="kaart"/>
          <p:cNvSpPr/>
          <p:nvPr/>
        </p:nvSpPr>
        <p:spPr>
          <a:xfrm>
            <a:off x="5029200" y="3931920"/>
            <a:ext cx="205740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43" name="nummercirkel"/>
          <p:cNvSpPr/>
          <p:nvPr/>
        </p:nvSpPr>
        <p:spPr>
          <a:xfrm>
            <a:off x="5212080" y="4114800"/>
            <a:ext cx="502920" cy="502920"/>
          </a:xfrm>
          <a:prstGeom prst="ellipse">
            <a:avLst/>
          </a:prstGeom>
          <a:solidFill>
            <a:schemeClr val="tx2"/>
          </a:solidFill>
          <a:ln w="12700">
            <a:solidFill>
              <a:schemeClr val="tx2"/>
            </a:solidFill>
            <a:prstDash val="solid"/>
          </a:ln>
        </p:spPr>
      </p:sp>
      <p:sp>
        <p:nvSpPr>
          <p:cNvPr id="44" name="Text 42"/>
          <p:cNvSpPr txBox="1"/>
          <p:nvPr/>
        </p:nvSpPr>
        <p:spPr>
          <a:xfrm>
            <a:off x="5212080" y="4114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8</a:t>
            </a:r>
            <a:endParaRPr lang="en-US" sz="1600" dirty="0"/>
          </a:p>
        </p:txBody>
      </p:sp>
      <p:sp>
        <p:nvSpPr>
          <p:cNvPr id="45" name="Text 43"/>
          <p:cNvSpPr txBox="1"/>
          <p:nvPr/>
        </p:nvSpPr>
        <p:spPr>
          <a:xfrm>
            <a:off x="5806440" y="4114800"/>
            <a:ext cx="1143000" cy="502920"/>
          </a:xfrm>
          <a:prstGeom prst="rect">
            <a:avLst/>
          </a:prstGeom>
          <a:noFill/>
          <a:ln/>
        </p:spPr>
        <p:txBody>
          <a:bodyPr wrap="square" lIns="0" tIns="0" rIns="0" bIns="0" rtlCol="0" anchor="ctr"/>
          <a:lstStyle/>
          <a:p>
            <a:pPr algn="r" indent="0" marL="0">
              <a:buNone/>
            </a:pPr>
            <a:r>
              <a:rPr lang="en-US" sz="1200" b="1" dirty="0">
                <a:solidFill>
                  <a:schemeClr val="tx2"/>
                </a:solidFill>
              </a:rPr>
              <a:t>H 15</a:t>
            </a:r>
            <a:endParaRPr lang="en-US" sz="1200" dirty="0"/>
          </a:p>
        </p:txBody>
      </p:sp>
      <p:sp>
        <p:nvSpPr>
          <p:cNvPr id="46" name="Text 44"/>
          <p:cNvSpPr txBox="1"/>
          <p:nvPr/>
        </p:nvSpPr>
        <p:spPr>
          <a:xfrm>
            <a:off x="5212080" y="4754880"/>
            <a:ext cx="1737360" cy="1051560"/>
          </a:xfrm>
          <a:prstGeom prst="rect">
            <a:avLst/>
          </a:prstGeom>
          <a:noFill/>
          <a:ln/>
        </p:spPr>
        <p:txBody>
          <a:bodyPr wrap="square" lIns="0" tIns="0" rIns="0" bIns="0" rtlCol="0" anchor="t"/>
          <a:lstStyle/>
          <a:p>
            <a:pPr indent="0" marL="0">
              <a:buNone/>
            </a:pPr>
            <a:r>
              <a:rPr lang="en-US" sz="1300" dirty="0">
                <a:solidFill>
                  <a:schemeClr val="tx1"/>
                </a:solidFill>
              </a:rPr>
              <a:t>Foutafhandeling rond alle invoer</a:t>
            </a:r>
            <a:endParaRPr lang="en-US" sz="1300" dirty="0"/>
          </a:p>
        </p:txBody>
      </p:sp>
      <p:sp>
        <p:nvSpPr>
          <p:cNvPr id="47" name="kaart"/>
          <p:cNvSpPr/>
          <p:nvPr/>
        </p:nvSpPr>
        <p:spPr>
          <a:xfrm>
            <a:off x="7269480" y="3931920"/>
            <a:ext cx="205740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48" name="nummercirkel"/>
          <p:cNvSpPr/>
          <p:nvPr/>
        </p:nvSpPr>
        <p:spPr>
          <a:xfrm>
            <a:off x="7452360" y="4114800"/>
            <a:ext cx="502920" cy="502920"/>
          </a:xfrm>
          <a:prstGeom prst="ellipse">
            <a:avLst/>
          </a:prstGeom>
          <a:solidFill>
            <a:schemeClr val="tx2"/>
          </a:solidFill>
          <a:ln w="12700">
            <a:solidFill>
              <a:schemeClr val="tx2"/>
            </a:solidFill>
            <a:prstDash val="solid"/>
          </a:ln>
        </p:spPr>
      </p:sp>
      <p:sp>
        <p:nvSpPr>
          <p:cNvPr id="49" name="Text 47"/>
          <p:cNvSpPr txBox="1"/>
          <p:nvPr/>
        </p:nvSpPr>
        <p:spPr>
          <a:xfrm>
            <a:off x="7452360" y="4114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9</a:t>
            </a:r>
            <a:endParaRPr lang="en-US" sz="1600" dirty="0"/>
          </a:p>
        </p:txBody>
      </p:sp>
      <p:sp>
        <p:nvSpPr>
          <p:cNvPr id="50" name="Text 48"/>
          <p:cNvSpPr txBox="1"/>
          <p:nvPr/>
        </p:nvSpPr>
        <p:spPr>
          <a:xfrm>
            <a:off x="8046720" y="4114800"/>
            <a:ext cx="1143000" cy="502920"/>
          </a:xfrm>
          <a:prstGeom prst="rect">
            <a:avLst/>
          </a:prstGeom>
          <a:noFill/>
          <a:ln/>
        </p:spPr>
        <p:txBody>
          <a:bodyPr wrap="square" lIns="0" tIns="0" rIns="0" bIns="0" rtlCol="0" anchor="ctr"/>
          <a:lstStyle/>
          <a:p>
            <a:pPr algn="r" indent="0" marL="0">
              <a:buNone/>
            </a:pPr>
            <a:r>
              <a:rPr lang="en-US" sz="1200" b="1" dirty="0">
                <a:solidFill>
                  <a:schemeClr val="tx2"/>
                </a:solidFill>
              </a:rPr>
              <a:t>H 1</a:t>
            </a:r>
            <a:endParaRPr lang="en-US" sz="1200" dirty="0"/>
          </a:p>
        </p:txBody>
      </p:sp>
      <p:sp>
        <p:nvSpPr>
          <p:cNvPr id="51" name="Text 49"/>
          <p:cNvSpPr txBox="1"/>
          <p:nvPr/>
        </p:nvSpPr>
        <p:spPr>
          <a:xfrm>
            <a:off x="7452360" y="4754880"/>
            <a:ext cx="1737360" cy="1051560"/>
          </a:xfrm>
          <a:prstGeom prst="rect">
            <a:avLst/>
          </a:prstGeom>
          <a:noFill/>
          <a:ln/>
        </p:spPr>
        <p:txBody>
          <a:bodyPr wrap="square" lIns="0" tIns="0" rIns="0" bIns="0" rtlCol="0" anchor="t"/>
          <a:lstStyle/>
          <a:p>
            <a:pPr indent="0" marL="0">
              <a:buNone/>
            </a:pPr>
            <a:r>
              <a:rPr lang="en-US" sz="1300" dirty="0">
                <a:solidFill>
                  <a:schemeClr val="tx1"/>
                </a:solidFill>
              </a:rPr>
              <a:t>Ruff draaien, opruimen, docstrings nakijken</a:t>
            </a:r>
            <a:endParaRPr lang="en-US" sz="1300" dirty="0"/>
          </a:p>
        </p:txBody>
      </p:sp>
      <p:sp>
        <p:nvSpPr>
          <p:cNvPr id="52" name="kaart"/>
          <p:cNvSpPr/>
          <p:nvPr/>
        </p:nvSpPr>
        <p:spPr>
          <a:xfrm>
            <a:off x="9509760" y="3931920"/>
            <a:ext cx="205740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53" name="nummercirkel"/>
          <p:cNvSpPr/>
          <p:nvPr/>
        </p:nvSpPr>
        <p:spPr>
          <a:xfrm>
            <a:off x="9692640" y="4114800"/>
            <a:ext cx="502920" cy="502920"/>
          </a:xfrm>
          <a:prstGeom prst="ellipse">
            <a:avLst/>
          </a:prstGeom>
          <a:solidFill>
            <a:schemeClr val="tx2"/>
          </a:solidFill>
          <a:ln w="12700">
            <a:solidFill>
              <a:schemeClr val="tx2"/>
            </a:solidFill>
            <a:prstDash val="solid"/>
          </a:ln>
        </p:spPr>
      </p:sp>
      <p:sp>
        <p:nvSpPr>
          <p:cNvPr id="54" name="Text 52"/>
          <p:cNvSpPr txBox="1"/>
          <p:nvPr/>
        </p:nvSpPr>
        <p:spPr>
          <a:xfrm>
            <a:off x="9692640" y="4114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10</a:t>
            </a:r>
            <a:endParaRPr lang="en-US" sz="1600" dirty="0"/>
          </a:p>
        </p:txBody>
      </p:sp>
      <p:sp>
        <p:nvSpPr>
          <p:cNvPr id="55" name="Text 53"/>
          <p:cNvSpPr txBox="1"/>
          <p:nvPr/>
        </p:nvSpPr>
        <p:spPr>
          <a:xfrm>
            <a:off x="10287000" y="4114800"/>
            <a:ext cx="1143000" cy="502920"/>
          </a:xfrm>
          <a:prstGeom prst="rect">
            <a:avLst/>
          </a:prstGeom>
          <a:noFill/>
          <a:ln/>
        </p:spPr>
        <p:txBody>
          <a:bodyPr wrap="square" lIns="0" tIns="0" rIns="0" bIns="0" rtlCol="0" anchor="ctr"/>
          <a:lstStyle/>
          <a:p>
            <a:pPr algn="r" indent="0" marL="0">
              <a:buNone/>
            </a:pPr>
            <a:r>
              <a:rPr lang="en-US" sz="1200" b="1" dirty="0">
                <a:solidFill>
                  <a:schemeClr val="tx2"/>
                </a:solidFill>
              </a:rPr>
              <a:t>H 2</a:t>
            </a:r>
            <a:endParaRPr lang="en-US" sz="1200" dirty="0"/>
          </a:p>
        </p:txBody>
      </p:sp>
      <p:sp>
        <p:nvSpPr>
          <p:cNvPr id="56" name="Text 54"/>
          <p:cNvSpPr txBox="1"/>
          <p:nvPr/>
        </p:nvSpPr>
        <p:spPr>
          <a:xfrm>
            <a:off x="9692640" y="4754880"/>
            <a:ext cx="1737360" cy="1051560"/>
          </a:xfrm>
          <a:prstGeom prst="rect">
            <a:avLst/>
          </a:prstGeom>
          <a:noFill/>
          <a:ln/>
        </p:spPr>
        <p:txBody>
          <a:bodyPr wrap="square" lIns="0" tIns="0" rIns="0" bIns="0" rtlCol="0" anchor="t"/>
          <a:lstStyle/>
          <a:p>
            <a:pPr indent="0" marL="0">
              <a:buNone/>
            </a:pPr>
            <a:r>
              <a:rPr lang="en-US" sz="1300" dirty="0">
                <a:solidFill>
                  <a:schemeClr val="tx1"/>
                </a:solidFill>
              </a:rPr>
              <a:t>README schrijven en de laatste commit doen</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Waarom het menu als voorlaatste?</a:t>
            </a:r>
            <a:endParaRPr lang="en-US" sz="3400" dirty="0"/>
          </a:p>
        </p:txBody>
      </p:sp>
      <p:sp>
        <p:nvSpPr>
          <p:cNvPr id="3" name="kaart"/>
          <p:cNvSpPr/>
          <p:nvPr/>
        </p:nvSpPr>
        <p:spPr>
          <a:xfrm>
            <a:off x="548640" y="1325880"/>
            <a:ext cx="5349240" cy="4663440"/>
          </a:xfrm>
          <a:prstGeom prst="roundRect">
            <a:avLst>
              <a:gd name="adj" fmla="val 2353"/>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4" name="icooncirkel"/>
          <p:cNvSpPr/>
          <p:nvPr/>
        </p:nvSpPr>
        <p:spPr>
          <a:xfrm>
            <a:off x="822960" y="1554480"/>
            <a:ext cx="640080" cy="640080"/>
          </a:xfrm>
          <a:prstGeom prst="ellipse">
            <a:avLst/>
          </a:prstGeom>
          <a:solidFill>
            <a:schemeClr val="accent3"/>
          </a:solidFill>
          <a:ln w="12700">
            <a:solidFill>
              <a:schemeClr val="accent3"/>
            </a:solidFill>
            <a:prstDash val="solid"/>
          </a:ln>
        </p:spPr>
      </p:sp>
      <p:pic>
        <p:nvPicPr>
          <p:cNvPr id="5" name="icoon" descr="preencoded.png">    </p:cNvPr>
          <p:cNvPicPr>
            <a:picLocks noChangeAspect="1"/>
          </p:cNvPicPr>
          <p:nvPr/>
        </p:nvPicPr>
        <p:blipFill>
          <a:blip r:embed="rId1"/>
          <a:stretch>
            <a:fillRect/>
          </a:stretch>
        </p:blipFill>
        <p:spPr>
          <a:xfrm>
            <a:off x="982980" y="1714500"/>
            <a:ext cx="320040" cy="320040"/>
          </a:xfrm>
          <a:prstGeom prst="rect">
            <a:avLst/>
          </a:prstGeom>
        </p:spPr>
      </p:pic>
      <p:sp>
        <p:nvSpPr>
          <p:cNvPr id="6" name="Text 3"/>
          <p:cNvSpPr txBox="1"/>
          <p:nvPr/>
        </p:nvSpPr>
        <p:spPr>
          <a:xfrm>
            <a:off x="1645920" y="1554480"/>
            <a:ext cx="4023360" cy="64008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Eerst het menu</a:t>
            </a:r>
            <a:endParaRPr lang="en-US" sz="2100" dirty="0"/>
          </a:p>
        </p:txBody>
      </p:sp>
      <p:sp>
        <p:nvSpPr>
          <p:cNvPr id="7" name="blok"/>
          <p:cNvSpPr/>
          <p:nvPr/>
        </p:nvSpPr>
        <p:spPr>
          <a:xfrm>
            <a:off x="822960" y="2423160"/>
            <a:ext cx="2194560" cy="292608"/>
          </a:xfrm>
          <a:prstGeom prst="roundRect">
            <a:avLst>
              <a:gd name="adj" fmla="val 15625"/>
            </a:avLst>
          </a:prstGeom>
          <a:solidFill>
            <a:schemeClr val="tx2"/>
          </a:solidFill>
          <a:ln w="12700">
            <a:solidFill>
              <a:schemeClr val="tx2"/>
            </a:solidFill>
            <a:prstDash val="solid"/>
          </a:ln>
        </p:spPr>
      </p:sp>
      <p:sp>
        <p:nvSpPr>
          <p:cNvPr id="8" name="Text 5"/>
          <p:cNvSpPr txBox="1"/>
          <p:nvPr/>
        </p:nvSpPr>
        <p:spPr>
          <a:xfrm>
            <a:off x="822960" y="2423160"/>
            <a:ext cx="2194560" cy="292608"/>
          </a:xfrm>
          <a:prstGeom prst="rect">
            <a:avLst/>
          </a:prstGeom>
          <a:noFill/>
          <a:ln/>
        </p:spPr>
        <p:txBody>
          <a:bodyPr wrap="square" lIns="0" tIns="0" rIns="0" bIns="0" rtlCol="0" anchor="ctr"/>
          <a:lstStyle/>
          <a:p>
            <a:pPr algn="ctr" indent="0" marL="0">
              <a:buNone/>
            </a:pPr>
            <a:r>
              <a:rPr lang="en-US" sz="1100" dirty="0">
                <a:solidFill>
                  <a:schemeClr val="bg1"/>
                </a:solidFill>
                <a:latin typeface="Consolas" pitchFamily="34" charset="0"/>
                <a:ea typeface="Consolas" pitchFamily="34" charset="-122"/>
                <a:cs typeface="Consolas" pitchFamily="34" charset="-120"/>
              </a:rPr>
              <a:t>input()</a:t>
            </a:r>
            <a:endParaRPr lang="en-US" sz="1100" dirty="0"/>
          </a:p>
        </p:txBody>
      </p:sp>
      <p:sp>
        <p:nvSpPr>
          <p:cNvPr id="9" name="blok"/>
          <p:cNvSpPr/>
          <p:nvPr/>
        </p:nvSpPr>
        <p:spPr>
          <a:xfrm>
            <a:off x="1280160" y="2788920"/>
            <a:ext cx="1737360" cy="292608"/>
          </a:xfrm>
          <a:prstGeom prst="roundRect">
            <a:avLst>
              <a:gd name="adj" fmla="val 15625"/>
            </a:avLst>
          </a:prstGeom>
          <a:solidFill>
            <a:schemeClr val="accent2"/>
          </a:solidFill>
          <a:ln w="12700">
            <a:solidFill>
              <a:schemeClr val="accent2"/>
            </a:solidFill>
            <a:prstDash val="solid"/>
          </a:ln>
        </p:spPr>
      </p:sp>
      <p:sp>
        <p:nvSpPr>
          <p:cNvPr id="10" name="Text 7"/>
          <p:cNvSpPr txBox="1"/>
          <p:nvPr/>
        </p:nvSpPr>
        <p:spPr>
          <a:xfrm>
            <a:off x="1280160" y="2788920"/>
            <a:ext cx="1737360" cy="292608"/>
          </a:xfrm>
          <a:prstGeom prst="rect">
            <a:avLst/>
          </a:prstGeom>
          <a:noFill/>
          <a:ln/>
        </p:spPr>
        <p:txBody>
          <a:bodyPr wrap="square" lIns="0" tIns="0" rIns="0" bIns="0" rtlCol="0" anchor="ctr"/>
          <a:lstStyle/>
          <a:p>
            <a:pPr algn="ctr" indent="0" marL="0">
              <a:buNone/>
            </a:pPr>
            <a:r>
              <a:rPr lang="en-US" sz="1100" dirty="0">
                <a:solidFill>
                  <a:schemeClr val="bg1"/>
                </a:solidFill>
                <a:latin typeface="Consolas" pitchFamily="34" charset="0"/>
                <a:ea typeface="Consolas" pitchFamily="34" charset="-122"/>
                <a:cs typeface="Consolas" pitchFamily="34" charset="-120"/>
              </a:rPr>
              <a:t>logica</a:t>
            </a:r>
            <a:endParaRPr lang="en-US" sz="1100" dirty="0"/>
          </a:p>
        </p:txBody>
      </p:sp>
      <p:sp>
        <p:nvSpPr>
          <p:cNvPr id="11" name="blok"/>
          <p:cNvSpPr/>
          <p:nvPr/>
        </p:nvSpPr>
        <p:spPr>
          <a:xfrm>
            <a:off x="822960" y="3154680"/>
            <a:ext cx="2194560" cy="292608"/>
          </a:xfrm>
          <a:prstGeom prst="roundRect">
            <a:avLst>
              <a:gd name="adj" fmla="val 15625"/>
            </a:avLst>
          </a:prstGeom>
          <a:solidFill>
            <a:schemeClr val="tx2"/>
          </a:solidFill>
          <a:ln w="12700">
            <a:solidFill>
              <a:schemeClr val="tx2"/>
            </a:solidFill>
            <a:prstDash val="solid"/>
          </a:ln>
        </p:spPr>
      </p:sp>
      <p:sp>
        <p:nvSpPr>
          <p:cNvPr id="12" name="Text 9"/>
          <p:cNvSpPr txBox="1"/>
          <p:nvPr/>
        </p:nvSpPr>
        <p:spPr>
          <a:xfrm>
            <a:off x="822960" y="3154680"/>
            <a:ext cx="2194560" cy="292608"/>
          </a:xfrm>
          <a:prstGeom prst="rect">
            <a:avLst/>
          </a:prstGeom>
          <a:noFill/>
          <a:ln/>
        </p:spPr>
        <p:txBody>
          <a:bodyPr wrap="square" lIns="0" tIns="0" rIns="0" bIns="0" rtlCol="0" anchor="ctr"/>
          <a:lstStyle/>
          <a:p>
            <a:pPr algn="ctr" indent="0" marL="0">
              <a:buNone/>
            </a:pPr>
            <a:r>
              <a:rPr lang="en-US" sz="1100" dirty="0">
                <a:solidFill>
                  <a:schemeClr val="bg1"/>
                </a:solidFill>
                <a:latin typeface="Consolas" pitchFamily="34" charset="0"/>
                <a:ea typeface="Consolas" pitchFamily="34" charset="-122"/>
                <a:cs typeface="Consolas" pitchFamily="34" charset="-120"/>
              </a:rPr>
              <a:t>print()</a:t>
            </a:r>
            <a:endParaRPr lang="en-US" sz="1100" dirty="0"/>
          </a:p>
        </p:txBody>
      </p:sp>
      <p:sp>
        <p:nvSpPr>
          <p:cNvPr id="13" name="blok"/>
          <p:cNvSpPr/>
          <p:nvPr/>
        </p:nvSpPr>
        <p:spPr>
          <a:xfrm>
            <a:off x="1280160" y="3520440"/>
            <a:ext cx="1737360" cy="292608"/>
          </a:xfrm>
          <a:prstGeom prst="roundRect">
            <a:avLst>
              <a:gd name="adj" fmla="val 15625"/>
            </a:avLst>
          </a:prstGeom>
          <a:solidFill>
            <a:schemeClr val="accent2"/>
          </a:solidFill>
          <a:ln w="12700">
            <a:solidFill>
              <a:schemeClr val="accent2"/>
            </a:solidFill>
            <a:prstDash val="solid"/>
          </a:ln>
        </p:spPr>
      </p:sp>
      <p:sp>
        <p:nvSpPr>
          <p:cNvPr id="14" name="Text 11"/>
          <p:cNvSpPr txBox="1"/>
          <p:nvPr/>
        </p:nvSpPr>
        <p:spPr>
          <a:xfrm>
            <a:off x="1280160" y="3520440"/>
            <a:ext cx="1737360" cy="292608"/>
          </a:xfrm>
          <a:prstGeom prst="rect">
            <a:avLst/>
          </a:prstGeom>
          <a:noFill/>
          <a:ln/>
        </p:spPr>
        <p:txBody>
          <a:bodyPr wrap="square" lIns="0" tIns="0" rIns="0" bIns="0" rtlCol="0" anchor="ctr"/>
          <a:lstStyle/>
          <a:p>
            <a:pPr algn="ctr" indent="0" marL="0">
              <a:buNone/>
            </a:pPr>
            <a:r>
              <a:rPr lang="en-US" sz="1100" dirty="0">
                <a:solidFill>
                  <a:schemeClr val="bg1"/>
                </a:solidFill>
                <a:latin typeface="Consolas" pitchFamily="34" charset="0"/>
                <a:ea typeface="Consolas" pitchFamily="34" charset="-122"/>
                <a:cs typeface="Consolas" pitchFamily="34" charset="-120"/>
              </a:rPr>
              <a:t>logica</a:t>
            </a:r>
            <a:endParaRPr lang="en-US" sz="1100" dirty="0"/>
          </a:p>
        </p:txBody>
      </p:sp>
      <p:sp>
        <p:nvSpPr>
          <p:cNvPr id="15" name="blok"/>
          <p:cNvSpPr/>
          <p:nvPr/>
        </p:nvSpPr>
        <p:spPr>
          <a:xfrm>
            <a:off x="822960" y="3886200"/>
            <a:ext cx="2194560" cy="292608"/>
          </a:xfrm>
          <a:prstGeom prst="roundRect">
            <a:avLst>
              <a:gd name="adj" fmla="val 15625"/>
            </a:avLst>
          </a:prstGeom>
          <a:solidFill>
            <a:schemeClr val="tx2"/>
          </a:solidFill>
          <a:ln w="12700">
            <a:solidFill>
              <a:schemeClr val="tx2"/>
            </a:solidFill>
            <a:prstDash val="solid"/>
          </a:ln>
        </p:spPr>
      </p:sp>
      <p:sp>
        <p:nvSpPr>
          <p:cNvPr id="16" name="Text 13"/>
          <p:cNvSpPr txBox="1"/>
          <p:nvPr/>
        </p:nvSpPr>
        <p:spPr>
          <a:xfrm>
            <a:off x="822960" y="3886200"/>
            <a:ext cx="2194560" cy="292608"/>
          </a:xfrm>
          <a:prstGeom prst="rect">
            <a:avLst/>
          </a:prstGeom>
          <a:noFill/>
          <a:ln/>
        </p:spPr>
        <p:txBody>
          <a:bodyPr wrap="square" lIns="0" tIns="0" rIns="0" bIns="0" rtlCol="0" anchor="ctr"/>
          <a:lstStyle/>
          <a:p>
            <a:pPr algn="ctr" indent="0" marL="0">
              <a:buNone/>
            </a:pPr>
            <a:r>
              <a:rPr lang="en-US" sz="1100" dirty="0">
                <a:solidFill>
                  <a:schemeClr val="bg1"/>
                </a:solidFill>
                <a:latin typeface="Consolas" pitchFamily="34" charset="0"/>
                <a:ea typeface="Consolas" pitchFamily="34" charset="-122"/>
                <a:cs typeface="Consolas" pitchFamily="34" charset="-120"/>
              </a:rPr>
              <a:t>input()</a:t>
            </a:r>
            <a:endParaRPr lang="en-US" sz="1100" dirty="0"/>
          </a:p>
        </p:txBody>
      </p:sp>
      <p:sp>
        <p:nvSpPr>
          <p:cNvPr id="17" name="blok"/>
          <p:cNvSpPr/>
          <p:nvPr/>
        </p:nvSpPr>
        <p:spPr>
          <a:xfrm>
            <a:off x="1280160" y="4251960"/>
            <a:ext cx="1737360" cy="292608"/>
          </a:xfrm>
          <a:prstGeom prst="roundRect">
            <a:avLst>
              <a:gd name="adj" fmla="val 15625"/>
            </a:avLst>
          </a:prstGeom>
          <a:solidFill>
            <a:schemeClr val="accent2"/>
          </a:solidFill>
          <a:ln w="12700">
            <a:solidFill>
              <a:schemeClr val="accent2"/>
            </a:solidFill>
            <a:prstDash val="solid"/>
          </a:ln>
        </p:spPr>
      </p:sp>
      <p:sp>
        <p:nvSpPr>
          <p:cNvPr id="18" name="Text 15"/>
          <p:cNvSpPr txBox="1"/>
          <p:nvPr/>
        </p:nvSpPr>
        <p:spPr>
          <a:xfrm>
            <a:off x="1280160" y="4251960"/>
            <a:ext cx="1737360" cy="292608"/>
          </a:xfrm>
          <a:prstGeom prst="rect">
            <a:avLst/>
          </a:prstGeom>
          <a:noFill/>
          <a:ln/>
        </p:spPr>
        <p:txBody>
          <a:bodyPr wrap="square" lIns="0" tIns="0" rIns="0" bIns="0" rtlCol="0" anchor="ctr"/>
          <a:lstStyle/>
          <a:p>
            <a:pPr algn="ctr" indent="0" marL="0">
              <a:buNone/>
            </a:pPr>
            <a:r>
              <a:rPr lang="en-US" sz="1100" dirty="0">
                <a:solidFill>
                  <a:schemeClr val="bg1"/>
                </a:solidFill>
                <a:latin typeface="Consolas" pitchFamily="34" charset="0"/>
                <a:ea typeface="Consolas" pitchFamily="34" charset="-122"/>
                <a:cs typeface="Consolas" pitchFamily="34" charset="-120"/>
              </a:rPr>
              <a:t>logica</a:t>
            </a:r>
            <a:endParaRPr lang="en-US" sz="1100" dirty="0"/>
          </a:p>
        </p:txBody>
      </p:sp>
      <p:sp>
        <p:nvSpPr>
          <p:cNvPr id="19" name="blok"/>
          <p:cNvSpPr/>
          <p:nvPr/>
        </p:nvSpPr>
        <p:spPr>
          <a:xfrm>
            <a:off x="822960" y="4617720"/>
            <a:ext cx="2194560" cy="292608"/>
          </a:xfrm>
          <a:prstGeom prst="roundRect">
            <a:avLst>
              <a:gd name="adj" fmla="val 15625"/>
            </a:avLst>
          </a:prstGeom>
          <a:solidFill>
            <a:schemeClr val="tx2"/>
          </a:solidFill>
          <a:ln w="12700">
            <a:solidFill>
              <a:schemeClr val="tx2"/>
            </a:solidFill>
            <a:prstDash val="solid"/>
          </a:ln>
        </p:spPr>
      </p:sp>
      <p:sp>
        <p:nvSpPr>
          <p:cNvPr id="20" name="Text 17"/>
          <p:cNvSpPr txBox="1"/>
          <p:nvPr/>
        </p:nvSpPr>
        <p:spPr>
          <a:xfrm>
            <a:off x="822960" y="4617720"/>
            <a:ext cx="2194560" cy="292608"/>
          </a:xfrm>
          <a:prstGeom prst="rect">
            <a:avLst/>
          </a:prstGeom>
          <a:noFill/>
          <a:ln/>
        </p:spPr>
        <p:txBody>
          <a:bodyPr wrap="square" lIns="0" tIns="0" rIns="0" bIns="0" rtlCol="0" anchor="ctr"/>
          <a:lstStyle/>
          <a:p>
            <a:pPr algn="ctr" indent="0" marL="0">
              <a:buNone/>
            </a:pPr>
            <a:r>
              <a:rPr lang="en-US" sz="1100" dirty="0">
                <a:solidFill>
                  <a:schemeClr val="bg1"/>
                </a:solidFill>
                <a:latin typeface="Consolas" pitchFamily="34" charset="0"/>
                <a:ea typeface="Consolas" pitchFamily="34" charset="-122"/>
                <a:cs typeface="Consolas" pitchFamily="34" charset="-120"/>
              </a:rPr>
              <a:t>print()</a:t>
            </a:r>
            <a:endParaRPr lang="en-US" sz="1100" dirty="0"/>
          </a:p>
        </p:txBody>
      </p:sp>
      <p:sp>
        <p:nvSpPr>
          <p:cNvPr id="21" name="Text 18"/>
          <p:cNvSpPr txBox="1"/>
          <p:nvPr/>
        </p:nvSpPr>
        <p:spPr>
          <a:xfrm>
            <a:off x="3246120" y="2468880"/>
            <a:ext cx="2468880" cy="2377440"/>
          </a:xfrm>
          <a:prstGeom prst="rect">
            <a:avLst/>
          </a:prstGeom>
          <a:noFill/>
          <a:ln/>
        </p:spPr>
        <p:txBody>
          <a:bodyPr wrap="square" lIns="0" tIns="0" rIns="0" bIns="0" rtlCol="0" anchor="t"/>
          <a:lstStyle/>
          <a:p>
            <a:pPr indent="0" marL="0">
              <a:buNone/>
            </a:pPr>
            <a:r>
              <a:rPr lang="en-US" sz="1400" dirty="0">
                <a:solidFill>
                  <a:schemeClr val="tx2"/>
                </a:solidFill>
              </a:rPr>
              <a:t>De logica zit verstopt tussen input() en print(). Een testprogramma kan er niet bij: er zit invoer in.</a:t>
            </a:r>
            <a:endParaRPr lang="en-US" sz="1400" dirty="0"/>
          </a:p>
        </p:txBody>
      </p:sp>
      <p:sp>
        <p:nvSpPr>
          <p:cNvPr id="22" name="Text 19"/>
          <p:cNvSpPr txBox="1"/>
          <p:nvPr/>
        </p:nvSpPr>
        <p:spPr>
          <a:xfrm>
            <a:off x="822960" y="5166360"/>
            <a:ext cx="4846320" cy="685800"/>
          </a:xfrm>
          <a:prstGeom prst="rect">
            <a:avLst/>
          </a:prstGeom>
          <a:noFill/>
          <a:ln/>
        </p:spPr>
        <p:txBody>
          <a:bodyPr wrap="square" lIns="0" tIns="0" rIns="0" bIns="0" rtlCol="0" anchor="t"/>
          <a:lstStyle/>
          <a:p>
            <a:pPr indent="0" marL="0">
              <a:buNone/>
            </a:pPr>
            <a:r>
              <a:rPr lang="en-US" sz="1400" b="1" dirty="0">
                <a:solidFill>
                  <a:schemeClr val="accent3"/>
                </a:solidFill>
              </a:rPr>
              <a:t>Het menu is de gemakkelijkste code van het project, en de moeilijkste om te testen.</a:t>
            </a:r>
            <a:endParaRPr lang="en-US" sz="1400" dirty="0"/>
          </a:p>
        </p:txBody>
      </p:sp>
      <p:sp>
        <p:nvSpPr>
          <p:cNvPr id="23" name="kaart"/>
          <p:cNvSpPr/>
          <p:nvPr/>
        </p:nvSpPr>
        <p:spPr>
          <a:xfrm>
            <a:off x="6263640" y="1325880"/>
            <a:ext cx="5349240" cy="4663440"/>
          </a:xfrm>
          <a:prstGeom prst="roundRect">
            <a:avLst>
              <a:gd name="adj" fmla="val 2353"/>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24" name="icooncirkel"/>
          <p:cNvSpPr/>
          <p:nvPr/>
        </p:nvSpPr>
        <p:spPr>
          <a:xfrm>
            <a:off x="6537960" y="1554480"/>
            <a:ext cx="640080" cy="640080"/>
          </a:xfrm>
          <a:prstGeom prst="ellipse">
            <a:avLst/>
          </a:prstGeom>
          <a:solidFill>
            <a:schemeClr val="accent2"/>
          </a:solidFill>
          <a:ln w="12700">
            <a:solidFill>
              <a:schemeClr val="accent2"/>
            </a:solidFill>
            <a:prstDash val="solid"/>
          </a:ln>
        </p:spPr>
      </p:sp>
      <p:pic>
        <p:nvPicPr>
          <p:cNvPr id="25" name="icoon" descr="preencoded.png">    </p:cNvPr>
          <p:cNvPicPr>
            <a:picLocks noChangeAspect="1"/>
          </p:cNvPicPr>
          <p:nvPr/>
        </p:nvPicPr>
        <p:blipFill>
          <a:blip r:embed="rId2"/>
          <a:stretch>
            <a:fillRect/>
          </a:stretch>
        </p:blipFill>
        <p:spPr>
          <a:xfrm>
            <a:off x="6697980" y="1714500"/>
            <a:ext cx="320040" cy="320040"/>
          </a:xfrm>
          <a:prstGeom prst="rect">
            <a:avLst/>
          </a:prstGeom>
        </p:spPr>
      </p:pic>
      <p:sp>
        <p:nvSpPr>
          <p:cNvPr id="26" name="Text 22"/>
          <p:cNvSpPr txBox="1"/>
          <p:nvPr/>
        </p:nvSpPr>
        <p:spPr>
          <a:xfrm>
            <a:off x="7360920" y="1554480"/>
            <a:ext cx="4023360" cy="64008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Eerst de kern</a:t>
            </a:r>
            <a:endParaRPr lang="en-US" sz="2100" dirty="0"/>
          </a:p>
        </p:txBody>
      </p:sp>
      <p:sp>
        <p:nvSpPr>
          <p:cNvPr id="27" name="menulaag"/>
          <p:cNvSpPr/>
          <p:nvPr/>
        </p:nvSpPr>
        <p:spPr>
          <a:xfrm>
            <a:off x="6537960" y="2423160"/>
            <a:ext cx="2743200" cy="2514600"/>
          </a:xfrm>
          <a:prstGeom prst="roundRect">
            <a:avLst>
              <a:gd name="adj" fmla="val 4364"/>
            </a:avLst>
          </a:prstGeom>
          <a:solidFill>
            <a:schemeClr val="bg1"/>
          </a:solidFill>
          <a:ln w="38100">
            <a:solidFill>
              <a:schemeClr val="accent1"/>
            </a:solidFill>
            <a:prstDash val="solid"/>
          </a:ln>
        </p:spPr>
      </p:sp>
      <p:sp>
        <p:nvSpPr>
          <p:cNvPr id="28" name="Text 24"/>
          <p:cNvSpPr txBox="1"/>
          <p:nvPr/>
        </p:nvSpPr>
        <p:spPr>
          <a:xfrm>
            <a:off x="6537960" y="2468880"/>
            <a:ext cx="2743200" cy="274320"/>
          </a:xfrm>
          <a:prstGeom prst="rect">
            <a:avLst/>
          </a:prstGeom>
          <a:noFill/>
          <a:ln/>
        </p:spPr>
        <p:txBody>
          <a:bodyPr wrap="square" lIns="0" tIns="0" rIns="0" bIns="0" rtlCol="0" anchor="t"/>
          <a:lstStyle/>
          <a:p>
            <a:pPr algn="ctr" indent="0" marL="0">
              <a:buNone/>
            </a:pPr>
            <a:r>
              <a:rPr lang="en-US" sz="1100" b="1" spc="200" kern="0" dirty="0">
                <a:solidFill>
                  <a:schemeClr val="accent1"/>
                </a:solidFill>
              </a:rPr>
              <a:t>MENU</a:t>
            </a:r>
            <a:endParaRPr lang="en-US" sz="1100" dirty="0"/>
          </a:p>
        </p:txBody>
      </p:sp>
      <p:sp>
        <p:nvSpPr>
          <p:cNvPr id="29" name="kern"/>
          <p:cNvSpPr/>
          <p:nvPr/>
        </p:nvSpPr>
        <p:spPr>
          <a:xfrm>
            <a:off x="6766560" y="2788920"/>
            <a:ext cx="2286000" cy="1920240"/>
          </a:xfrm>
          <a:prstGeom prst="roundRect">
            <a:avLst>
              <a:gd name="adj" fmla="val 4762"/>
            </a:avLst>
          </a:prstGeom>
          <a:solidFill>
            <a:schemeClr val="accent2"/>
          </a:solidFill>
          <a:ln w="12700">
            <a:solidFill>
              <a:schemeClr val="accent2"/>
            </a:solidFill>
            <a:prstDash val="solid"/>
          </a:ln>
        </p:spPr>
      </p:sp>
      <p:sp>
        <p:nvSpPr>
          <p:cNvPr id="30" name="Text 26"/>
          <p:cNvSpPr txBox="1"/>
          <p:nvPr/>
        </p:nvSpPr>
        <p:spPr>
          <a:xfrm>
            <a:off x="6903720" y="2788920"/>
            <a:ext cx="2011680" cy="1920240"/>
          </a:xfrm>
          <a:prstGeom prst="rect">
            <a:avLst/>
          </a:prstGeom>
          <a:noFill/>
          <a:ln/>
        </p:spPr>
        <p:txBody>
          <a:bodyPr wrap="square" lIns="0" tIns="0" rIns="0" bIns="0" rtlCol="0" anchor="ctr"/>
          <a:lstStyle/>
          <a:p>
            <a:pPr algn="ctr" indent="0" marL="0">
              <a:buNone/>
            </a:pPr>
            <a:r>
              <a:rPr lang="en-US" sz="1200" b="1" spc="200" kern="0" dirty="0">
                <a:solidFill>
                  <a:schemeClr val="bg1"/>
                </a:solidFill>
              </a:rPr>
              <a:t>KERN</a:t>
            </a:r>
            <a:endParaRPr lang="en-US" sz="1600" dirty="0"/>
          </a:p>
          <a:p>
            <a:pPr algn="ctr" indent="0" marL="0">
              <a:buNone/>
            </a:pPr>
            <a:r>
              <a:rPr lang="en-US" sz="1400" dirty="0">
                <a:solidFill>
                  <a:schemeClr val="bg1"/>
                </a:solidFill>
              </a:rPr>
              <a:t>klassen en berekeningen</a:t>
            </a:r>
            <a:endParaRPr lang="en-US" sz="1600" dirty="0"/>
          </a:p>
        </p:txBody>
      </p:sp>
      <p:sp>
        <p:nvSpPr>
          <p:cNvPr id="31" name="Text 27"/>
          <p:cNvSpPr txBox="1"/>
          <p:nvPr/>
        </p:nvSpPr>
        <p:spPr>
          <a:xfrm>
            <a:off x="9509760" y="2468880"/>
            <a:ext cx="1920240" cy="1188720"/>
          </a:xfrm>
          <a:prstGeom prst="rect">
            <a:avLst/>
          </a:prstGeom>
          <a:noFill/>
          <a:ln/>
        </p:spPr>
        <p:txBody>
          <a:bodyPr wrap="square" lIns="0" tIns="0" rIns="0" bIns="0" rtlCol="0" anchor="t"/>
          <a:lstStyle/>
          <a:p>
            <a:pPr indent="0" marL="0">
              <a:buNone/>
            </a:pPr>
            <a:r>
              <a:rPr lang="en-US" sz="1400" b="1" dirty="0">
                <a:solidFill>
                  <a:schemeClr val="tx1"/>
                </a:solidFill>
              </a:rPr>
              <a:t>Volledig te testen zonder één keer iets te typen.</a:t>
            </a:r>
            <a:endParaRPr lang="en-US" sz="1400" dirty="0"/>
          </a:p>
        </p:txBody>
      </p:sp>
      <p:sp>
        <p:nvSpPr>
          <p:cNvPr id="32" name="Text 28"/>
          <p:cNvSpPr txBox="1"/>
          <p:nvPr/>
        </p:nvSpPr>
        <p:spPr>
          <a:xfrm>
            <a:off x="9509760" y="3657600"/>
            <a:ext cx="1920240" cy="1280160"/>
          </a:xfrm>
          <a:prstGeom prst="rect">
            <a:avLst/>
          </a:prstGeom>
          <a:noFill/>
          <a:ln/>
        </p:spPr>
        <p:txBody>
          <a:bodyPr wrap="square" lIns="0" tIns="0" rIns="0" bIns="0" rtlCol="0" anchor="t"/>
          <a:lstStyle/>
          <a:p>
            <a:pPr indent="0" marL="0">
              <a:buNone/>
            </a:pPr>
            <a:r>
              <a:rPr lang="en-US" sz="1400" dirty="0">
                <a:solidFill>
                  <a:schemeClr val="tx2"/>
                </a:solidFill>
              </a:rPr>
              <a:t>Het menu wordt een dunne laag die vragen stelt en antwoorden doorgeeft.</a:t>
            </a:r>
            <a:endParaRPr lang="en-US" sz="1400" dirty="0"/>
          </a:p>
        </p:txBody>
      </p:sp>
      <p:sp>
        <p:nvSpPr>
          <p:cNvPr id="33" name="Text 29"/>
          <p:cNvSpPr txBox="1"/>
          <p:nvPr/>
        </p:nvSpPr>
        <p:spPr>
          <a:xfrm>
            <a:off x="6537960" y="5166360"/>
            <a:ext cx="4846320" cy="685800"/>
          </a:xfrm>
          <a:prstGeom prst="rect">
            <a:avLst/>
          </a:prstGeom>
          <a:noFill/>
          <a:ln/>
        </p:spPr>
        <p:txBody>
          <a:bodyPr wrap="square" lIns="0" tIns="0" rIns="0" bIns="0" rtlCol="0" anchor="t"/>
          <a:lstStyle/>
          <a:p>
            <a:pPr indent="0" marL="0">
              <a:buNone/>
            </a:pPr>
            <a:r>
              <a:rPr lang="en-US" sz="1600" b="1" dirty="0">
                <a:solidFill>
                  <a:schemeClr val="accent2"/>
                </a:solidFill>
              </a:rPr>
              <a:t>Kern eerst, menu laatst.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731520" y="3017520"/>
            <a:ext cx="10698480" cy="1097280"/>
          </a:xfrm>
          <a:prstGeom prst="rect">
            <a:avLst/>
          </a:prstGeom>
          <a:noFill/>
          <a:ln/>
        </p:spPr>
        <p:txBody>
          <a:bodyPr wrap="square" lIns="0" tIns="0" rIns="0" bIns="0" rtlCol="0" anchor="t"/>
          <a:lstStyle/>
          <a:p>
            <a:pPr algn="l" indent="0" marL="0">
              <a:buNone/>
            </a:pPr>
            <a:r>
              <a:rPr lang="en-US" sz="4400" b="1" dirty="0">
                <a:solidFill>
                  <a:schemeClr val="bg1"/>
                </a:solidFill>
              </a:rPr>
              <a:t>Waar het meestal misgaat</a:t>
            </a:r>
            <a:endParaRPr lang="en-US" sz="4400" dirty="0"/>
          </a:p>
        </p:txBody>
      </p:sp>
      <p:sp>
        <p:nvSpPr>
          <p:cNvPr id="3" name="Text 0"/>
          <p:cNvSpPr/>
          <p:nvPr>
            <p:ph idx="100" type="body" hasCustomPrompt="1"/>
          </p:nvPr>
        </p:nvSpPr>
        <p:spPr>
          <a:xfrm>
            <a:off x="731520" y="1463040"/>
            <a:ext cx="3657600" cy="1463040"/>
          </a:xfrm>
          <a:prstGeom prst="rect">
            <a:avLst/>
          </a:prstGeom>
          <a:noFill/>
          <a:ln/>
        </p:spPr>
        <p:txBody>
          <a:bodyPr wrap="square" lIns="0" tIns="0" rIns="0" bIns="0" rtlCol="0" anchor="b"/>
          <a:lstStyle/>
          <a:p>
            <a:pPr indent="0" marL="0">
              <a:buNone/>
            </a:pPr>
            <a:r>
              <a:rPr lang="en-US" sz="9600" b="1" dirty="0">
                <a:solidFill>
                  <a:schemeClr val="accent1"/>
                </a:solidFill>
                <a:latin typeface="Cambria" pitchFamily="34" charset="0"/>
                <a:ea typeface="Cambria" pitchFamily="34" charset="-122"/>
                <a:cs typeface="Cambria" pitchFamily="34" charset="-120"/>
              </a:rPr>
              <a:t>29.6</a:t>
            </a:r>
            <a:endParaRPr lang="en-US" sz="9600" dirty="0"/>
          </a:p>
        </p:txBody>
      </p:sp>
      <p:sp>
        <p:nvSpPr>
          <p:cNvPr id="4" name="Text 0"/>
          <p:cNvSpPr/>
          <p:nvPr>
            <p:ph idx="102" type="body" hasCustomPrompt="1"/>
          </p:nvPr>
        </p:nvSpPr>
        <p:spPr>
          <a:xfrm>
            <a:off x="731520" y="4206240"/>
            <a:ext cx="9601200" cy="1097280"/>
          </a:xfrm>
          <a:prstGeom prst="rect">
            <a:avLst/>
          </a:prstGeom>
          <a:noFill/>
          <a:ln/>
        </p:spPr>
        <p:txBody>
          <a:bodyPr wrap="square" lIns="0" tIns="0" rIns="0" bIns="0" rtlCol="0" anchor="t"/>
          <a:lstStyle/>
          <a:p>
            <a:pPr indent="0" marL="0">
              <a:buNone/>
            </a:pPr>
            <a:r>
              <a:rPr lang="en-US" sz="2000" dirty="0">
                <a:solidFill>
                  <a:schemeClr val="bg2"/>
                </a:solidFill>
              </a:rPr>
              <a:t>Acht valkuilen die je kunt zien aankomen, en wat je in plaats daarvan doet.</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Acht valkuilen</a:t>
            </a:r>
            <a:endParaRPr lang="en-US" sz="3400" dirty="0"/>
          </a:p>
        </p:txBody>
      </p:sp>
      <p:sp>
        <p:nvSpPr>
          <p:cNvPr id="3" name="tabelkop"/>
          <p:cNvSpPr/>
          <p:nvPr/>
        </p:nvSpPr>
        <p:spPr>
          <a:xfrm>
            <a:off x="548640" y="1280160"/>
            <a:ext cx="11064240" cy="457200"/>
          </a:xfrm>
          <a:prstGeom prst="rect">
            <a:avLst/>
          </a:prstGeom>
          <a:solidFill>
            <a:schemeClr val="tx1"/>
          </a:solidFill>
          <a:ln w="12700">
            <a:solidFill>
              <a:schemeClr val="tx1"/>
            </a:solidFill>
            <a:prstDash val="solid"/>
          </a:ln>
        </p:spPr>
      </p:sp>
      <p:sp>
        <p:nvSpPr>
          <p:cNvPr id="4" name="Text 2"/>
          <p:cNvSpPr txBox="1"/>
          <p:nvPr/>
        </p:nvSpPr>
        <p:spPr>
          <a:xfrm>
            <a:off x="685800" y="1280160"/>
            <a:ext cx="3383280" cy="457200"/>
          </a:xfrm>
          <a:prstGeom prst="rect">
            <a:avLst/>
          </a:prstGeom>
          <a:noFill/>
          <a:ln/>
        </p:spPr>
        <p:txBody>
          <a:bodyPr wrap="square" lIns="0" tIns="0" rIns="0" bIns="0" rtlCol="0" anchor="ctr"/>
          <a:lstStyle/>
          <a:p>
            <a:pPr indent="0" marL="0">
              <a:buNone/>
            </a:pPr>
            <a:r>
              <a:rPr lang="en-US" sz="1200" b="1" dirty="0">
                <a:solidFill>
                  <a:schemeClr val="bg1"/>
                </a:solidFill>
              </a:rPr>
              <a:t>Valkuil</a:t>
            </a:r>
            <a:endParaRPr lang="en-US" sz="1200" dirty="0"/>
          </a:p>
        </p:txBody>
      </p:sp>
      <p:sp>
        <p:nvSpPr>
          <p:cNvPr id="5" name="Text 3"/>
          <p:cNvSpPr txBox="1"/>
          <p:nvPr/>
        </p:nvSpPr>
        <p:spPr>
          <a:xfrm>
            <a:off x="4343400" y="1280160"/>
            <a:ext cx="3291840" cy="457200"/>
          </a:xfrm>
          <a:prstGeom prst="rect">
            <a:avLst/>
          </a:prstGeom>
          <a:noFill/>
          <a:ln/>
        </p:spPr>
        <p:txBody>
          <a:bodyPr wrap="square" lIns="0" tIns="0" rIns="0" bIns="0" rtlCol="0" anchor="ctr"/>
          <a:lstStyle/>
          <a:p>
            <a:pPr indent="0" marL="0">
              <a:buNone/>
            </a:pPr>
            <a:r>
              <a:rPr lang="en-US" sz="1200" b="1" dirty="0">
                <a:solidFill>
                  <a:schemeClr val="bg1"/>
                </a:solidFill>
              </a:rPr>
              <a:t>Wat er gebeurt</a:t>
            </a:r>
            <a:endParaRPr lang="en-US" sz="1200" dirty="0"/>
          </a:p>
        </p:txBody>
      </p:sp>
      <p:sp>
        <p:nvSpPr>
          <p:cNvPr id="6" name="Text 4"/>
          <p:cNvSpPr txBox="1"/>
          <p:nvPr/>
        </p:nvSpPr>
        <p:spPr>
          <a:xfrm>
            <a:off x="7909560" y="1280160"/>
            <a:ext cx="3566160" cy="457200"/>
          </a:xfrm>
          <a:prstGeom prst="rect">
            <a:avLst/>
          </a:prstGeom>
          <a:noFill/>
          <a:ln/>
        </p:spPr>
        <p:txBody>
          <a:bodyPr wrap="square" lIns="0" tIns="0" rIns="0" bIns="0" rtlCol="0" anchor="ctr"/>
          <a:lstStyle/>
          <a:p>
            <a:pPr indent="0" marL="0">
              <a:buNone/>
            </a:pPr>
            <a:r>
              <a:rPr lang="en-US" sz="1200" b="1" dirty="0">
                <a:solidFill>
                  <a:schemeClr val="bg1"/>
                </a:solidFill>
              </a:rPr>
              <a:t>Wat je in plaats daarvan doet</a:t>
            </a:r>
            <a:endParaRPr lang="en-US" sz="1200" dirty="0"/>
          </a:p>
        </p:txBody>
      </p:sp>
      <p:sp>
        <p:nvSpPr>
          <p:cNvPr id="7" name="tabelrij"/>
          <p:cNvSpPr/>
          <p:nvPr/>
        </p:nvSpPr>
        <p:spPr>
          <a:xfrm>
            <a:off x="548640" y="1737360"/>
            <a:ext cx="11064240" cy="548640"/>
          </a:xfrm>
          <a:prstGeom prst="rect">
            <a:avLst/>
          </a:prstGeom>
          <a:solidFill>
            <a:schemeClr val="bg2"/>
          </a:solidFill>
          <a:ln w="9525">
            <a:solidFill>
              <a:schemeClr val="bg2"/>
            </a:solidFill>
            <a:prstDash val="solid"/>
          </a:ln>
        </p:spPr>
      </p:sp>
      <p:sp>
        <p:nvSpPr>
          <p:cNvPr id="8" name="Text 6"/>
          <p:cNvSpPr txBox="1"/>
          <p:nvPr/>
        </p:nvSpPr>
        <p:spPr>
          <a:xfrm>
            <a:off x="685800" y="1737360"/>
            <a:ext cx="3383280" cy="548640"/>
          </a:xfrm>
          <a:prstGeom prst="rect">
            <a:avLst/>
          </a:prstGeom>
          <a:noFill/>
          <a:ln/>
        </p:spPr>
        <p:txBody>
          <a:bodyPr wrap="square" lIns="0" tIns="0" rIns="0" bIns="0" rtlCol="0" anchor="ctr"/>
          <a:lstStyle/>
          <a:p>
            <a:pPr indent="0" marL="0">
              <a:buNone/>
            </a:pPr>
            <a:r>
              <a:rPr lang="en-US" sz="1300" b="1" dirty="0">
                <a:solidFill>
                  <a:schemeClr val="tx1"/>
                </a:solidFill>
              </a:rPr>
              <a:t>Alles in één bestand van 800 regels</a:t>
            </a:r>
            <a:endParaRPr lang="en-US" sz="1300" dirty="0"/>
          </a:p>
        </p:txBody>
      </p:sp>
      <p:sp>
        <p:nvSpPr>
          <p:cNvPr id="9" name="Text 7"/>
          <p:cNvSpPr txBox="1"/>
          <p:nvPr/>
        </p:nvSpPr>
        <p:spPr>
          <a:xfrm>
            <a:off x="4343400" y="1737360"/>
            <a:ext cx="3291840" cy="548640"/>
          </a:xfrm>
          <a:prstGeom prst="rect">
            <a:avLst/>
          </a:prstGeom>
          <a:noFill/>
          <a:ln/>
        </p:spPr>
        <p:txBody>
          <a:bodyPr wrap="square" lIns="0" tIns="0" rIns="0" bIns="0" rtlCol="0" anchor="ctr"/>
          <a:lstStyle/>
          <a:p>
            <a:pPr indent="0" marL="0">
              <a:buNone/>
            </a:pPr>
            <a:r>
              <a:rPr lang="en-US" sz="1300" dirty="0">
                <a:solidFill>
                  <a:schemeClr val="tx2"/>
                </a:solidFill>
              </a:rPr>
              <a:t>Niets is meer terug te vinden</a:t>
            </a:r>
            <a:endParaRPr lang="en-US" sz="1300" dirty="0"/>
          </a:p>
        </p:txBody>
      </p:sp>
      <p:sp>
        <p:nvSpPr>
          <p:cNvPr id="10" name="Text 8"/>
          <p:cNvSpPr txBox="1"/>
          <p:nvPr/>
        </p:nvSpPr>
        <p:spPr>
          <a:xfrm>
            <a:off x="7909560" y="1737360"/>
            <a:ext cx="3566160" cy="548640"/>
          </a:xfrm>
          <a:prstGeom prst="rect">
            <a:avLst/>
          </a:prstGeom>
          <a:noFill/>
          <a:ln/>
        </p:spPr>
        <p:txBody>
          <a:bodyPr wrap="square" lIns="0" tIns="0" rIns="0" bIns="0" rtlCol="0" anchor="ctr"/>
          <a:lstStyle/>
          <a:p>
            <a:pPr indent="0" marL="0">
              <a:buNone/>
            </a:pPr>
            <a:r>
              <a:rPr lang="en-US" sz="1300" dirty="0">
                <a:solidFill>
                  <a:schemeClr val="tx2"/>
                </a:solidFill>
              </a:rPr>
              <a:t>Splitsen zodra een bestand boven de 200 regels komt</a:t>
            </a:r>
            <a:endParaRPr lang="en-US" sz="1300" dirty="0"/>
          </a:p>
        </p:txBody>
      </p:sp>
      <p:sp>
        <p:nvSpPr>
          <p:cNvPr id="11" name="tabelrij"/>
          <p:cNvSpPr/>
          <p:nvPr/>
        </p:nvSpPr>
        <p:spPr>
          <a:xfrm>
            <a:off x="548640" y="2286000"/>
            <a:ext cx="11064240" cy="548640"/>
          </a:xfrm>
          <a:prstGeom prst="rect">
            <a:avLst/>
          </a:prstGeom>
          <a:solidFill>
            <a:schemeClr val="bg1"/>
          </a:solidFill>
          <a:ln w="9525">
            <a:solidFill>
              <a:schemeClr val="bg2"/>
            </a:solidFill>
            <a:prstDash val="solid"/>
          </a:ln>
        </p:spPr>
      </p:sp>
      <p:sp>
        <p:nvSpPr>
          <p:cNvPr id="12" name="Text 10"/>
          <p:cNvSpPr txBox="1"/>
          <p:nvPr/>
        </p:nvSpPr>
        <p:spPr>
          <a:xfrm>
            <a:off x="685800" y="2286000"/>
            <a:ext cx="3383280" cy="548640"/>
          </a:xfrm>
          <a:prstGeom prst="rect">
            <a:avLst/>
          </a:prstGeom>
          <a:noFill/>
          <a:ln/>
        </p:spPr>
        <p:txBody>
          <a:bodyPr wrap="square" lIns="0" tIns="0" rIns="0" bIns="0" rtlCol="0" anchor="ctr"/>
          <a:lstStyle/>
          <a:p>
            <a:pPr indent="0" marL="0">
              <a:buNone/>
            </a:pPr>
            <a:r>
              <a:rPr lang="en-US" sz="1300" b="1" dirty="0">
                <a:solidFill>
                  <a:schemeClr val="tx1"/>
                </a:solidFill>
              </a:rPr>
              <a:t>Beginnen met het menu</a:t>
            </a:r>
            <a:endParaRPr lang="en-US" sz="1300" dirty="0"/>
          </a:p>
        </p:txBody>
      </p:sp>
      <p:sp>
        <p:nvSpPr>
          <p:cNvPr id="13" name="Text 11"/>
          <p:cNvSpPr txBox="1"/>
          <p:nvPr/>
        </p:nvSpPr>
        <p:spPr>
          <a:xfrm>
            <a:off x="4343400" y="2286000"/>
            <a:ext cx="3291840" cy="548640"/>
          </a:xfrm>
          <a:prstGeom prst="rect">
            <a:avLst/>
          </a:prstGeom>
          <a:noFill/>
          <a:ln/>
        </p:spPr>
        <p:txBody>
          <a:bodyPr wrap="square" lIns="0" tIns="0" rIns="0" bIns="0" rtlCol="0" anchor="ctr"/>
          <a:lstStyle/>
          <a:p>
            <a:pPr indent="0" marL="0">
              <a:buNone/>
            </a:pPr>
            <a:r>
              <a:rPr lang="en-US" sz="1300" dirty="0">
                <a:solidFill>
                  <a:schemeClr val="tx2"/>
                </a:solidFill>
              </a:rPr>
              <a:t>De logica raakt vermengd met invoer</a:t>
            </a:r>
            <a:endParaRPr lang="en-US" sz="1300" dirty="0"/>
          </a:p>
        </p:txBody>
      </p:sp>
      <p:sp>
        <p:nvSpPr>
          <p:cNvPr id="14" name="Text 12"/>
          <p:cNvSpPr txBox="1"/>
          <p:nvPr/>
        </p:nvSpPr>
        <p:spPr>
          <a:xfrm>
            <a:off x="7909560" y="2286000"/>
            <a:ext cx="3566160" cy="548640"/>
          </a:xfrm>
          <a:prstGeom prst="rect">
            <a:avLst/>
          </a:prstGeom>
          <a:noFill/>
          <a:ln/>
        </p:spPr>
        <p:txBody>
          <a:bodyPr wrap="square" lIns="0" tIns="0" rIns="0" bIns="0" rtlCol="0" anchor="ctr"/>
          <a:lstStyle/>
          <a:p>
            <a:pPr indent="0" marL="0">
              <a:buNone/>
            </a:pPr>
            <a:r>
              <a:rPr lang="en-US" sz="1300" dirty="0">
                <a:solidFill>
                  <a:schemeClr val="tx2"/>
                </a:solidFill>
              </a:rPr>
              <a:t>Kern eerst, menu laatst</a:t>
            </a:r>
            <a:endParaRPr lang="en-US" sz="1300" dirty="0"/>
          </a:p>
        </p:txBody>
      </p:sp>
      <p:sp>
        <p:nvSpPr>
          <p:cNvPr id="15" name="tabelrij"/>
          <p:cNvSpPr/>
          <p:nvPr/>
        </p:nvSpPr>
        <p:spPr>
          <a:xfrm>
            <a:off x="548640" y="2834640"/>
            <a:ext cx="11064240" cy="548640"/>
          </a:xfrm>
          <a:prstGeom prst="rect">
            <a:avLst/>
          </a:prstGeom>
          <a:solidFill>
            <a:schemeClr val="bg2"/>
          </a:solidFill>
          <a:ln w="9525">
            <a:solidFill>
              <a:schemeClr val="bg2"/>
            </a:solidFill>
            <a:prstDash val="solid"/>
          </a:ln>
        </p:spPr>
      </p:sp>
      <p:sp>
        <p:nvSpPr>
          <p:cNvPr id="16" name="Text 14"/>
          <p:cNvSpPr txBox="1"/>
          <p:nvPr/>
        </p:nvSpPr>
        <p:spPr>
          <a:xfrm>
            <a:off x="685800" y="2834640"/>
            <a:ext cx="3383280" cy="548640"/>
          </a:xfrm>
          <a:prstGeom prst="rect">
            <a:avLst/>
          </a:prstGeom>
          <a:noFill/>
          <a:ln/>
        </p:spPr>
        <p:txBody>
          <a:bodyPr wrap="square" lIns="0" tIns="0" rIns="0" bIns="0" rtlCol="0" anchor="ctr"/>
          <a:lstStyle/>
          <a:p>
            <a:pPr indent="0" marL="0">
              <a:buNone/>
            </a:pPr>
            <a:r>
              <a:rPr lang="en-US" sz="1300" b="1" dirty="0">
                <a:solidFill>
                  <a:schemeClr val="tx1"/>
                </a:solidFill>
              </a:rPr>
              <a:t>Eén commit op de laatste avond</a:t>
            </a:r>
            <a:endParaRPr lang="en-US" sz="1300" dirty="0"/>
          </a:p>
        </p:txBody>
      </p:sp>
      <p:sp>
        <p:nvSpPr>
          <p:cNvPr id="17" name="Text 15"/>
          <p:cNvSpPr txBox="1"/>
          <p:nvPr/>
        </p:nvSpPr>
        <p:spPr>
          <a:xfrm>
            <a:off x="4343400" y="2834640"/>
            <a:ext cx="3291840" cy="548640"/>
          </a:xfrm>
          <a:prstGeom prst="rect">
            <a:avLst/>
          </a:prstGeom>
          <a:noFill/>
          <a:ln/>
        </p:spPr>
        <p:txBody>
          <a:bodyPr wrap="square" lIns="0" tIns="0" rIns="0" bIns="0" rtlCol="0" anchor="ctr"/>
          <a:lstStyle/>
          <a:p>
            <a:pPr indent="0" marL="0">
              <a:buNone/>
            </a:pPr>
            <a:r>
              <a:rPr lang="en-US" sz="1300" dirty="0">
                <a:solidFill>
                  <a:schemeClr val="tx2"/>
                </a:solidFill>
              </a:rPr>
              <a:t>Geen geschiedenis, en niets terug te draaien</a:t>
            </a:r>
            <a:endParaRPr lang="en-US" sz="1300" dirty="0"/>
          </a:p>
        </p:txBody>
      </p:sp>
      <p:sp>
        <p:nvSpPr>
          <p:cNvPr id="18" name="Text 16"/>
          <p:cNvSpPr txBox="1"/>
          <p:nvPr/>
        </p:nvSpPr>
        <p:spPr>
          <a:xfrm>
            <a:off x="7909560" y="2834640"/>
            <a:ext cx="3566160" cy="548640"/>
          </a:xfrm>
          <a:prstGeom prst="rect">
            <a:avLst/>
          </a:prstGeom>
          <a:noFill/>
          <a:ln/>
        </p:spPr>
        <p:txBody>
          <a:bodyPr wrap="square" lIns="0" tIns="0" rIns="0" bIns="0" rtlCol="0" anchor="ctr"/>
          <a:lstStyle/>
          <a:p>
            <a:pPr indent="0" marL="0">
              <a:buNone/>
            </a:pPr>
            <a:r>
              <a:rPr lang="en-US" sz="1300" dirty="0">
                <a:solidFill>
                  <a:schemeClr val="tx2"/>
                </a:solidFill>
              </a:rPr>
              <a:t>Elke werksessie een commit</a:t>
            </a:r>
            <a:endParaRPr lang="en-US" sz="1300" dirty="0"/>
          </a:p>
        </p:txBody>
      </p:sp>
      <p:sp>
        <p:nvSpPr>
          <p:cNvPr id="19" name="tabelrij"/>
          <p:cNvSpPr/>
          <p:nvPr/>
        </p:nvSpPr>
        <p:spPr>
          <a:xfrm>
            <a:off x="548640" y="3383280"/>
            <a:ext cx="11064240" cy="548640"/>
          </a:xfrm>
          <a:prstGeom prst="rect">
            <a:avLst/>
          </a:prstGeom>
          <a:solidFill>
            <a:schemeClr val="bg1"/>
          </a:solidFill>
          <a:ln w="9525">
            <a:solidFill>
              <a:schemeClr val="bg2"/>
            </a:solidFill>
            <a:prstDash val="solid"/>
          </a:ln>
        </p:spPr>
      </p:sp>
      <p:sp>
        <p:nvSpPr>
          <p:cNvPr id="20" name="Text 18"/>
          <p:cNvSpPr txBox="1"/>
          <p:nvPr/>
        </p:nvSpPr>
        <p:spPr>
          <a:xfrm>
            <a:off x="685800" y="3383280"/>
            <a:ext cx="3383280" cy="548640"/>
          </a:xfrm>
          <a:prstGeom prst="rect">
            <a:avLst/>
          </a:prstGeom>
          <a:noFill/>
          <a:ln/>
        </p:spPr>
        <p:txBody>
          <a:bodyPr wrap="square" lIns="0" tIns="0" rIns="0" bIns="0" rtlCol="0" anchor="ctr"/>
          <a:lstStyle/>
          <a:p>
            <a:pPr indent="0" marL="0">
              <a:buNone/>
            </a:pPr>
            <a:r>
              <a:rPr lang="en-US" sz="1300" b="1" dirty="0">
                <a:solidFill>
                  <a:schemeClr val="tx1"/>
                </a:solidFill>
              </a:rPr>
              <a:t>Gegevens in het geheugen laten</a:t>
            </a:r>
            <a:endParaRPr lang="en-US" sz="1300" dirty="0"/>
          </a:p>
        </p:txBody>
      </p:sp>
      <p:sp>
        <p:nvSpPr>
          <p:cNvPr id="21" name="Text 19"/>
          <p:cNvSpPr txBox="1"/>
          <p:nvPr/>
        </p:nvSpPr>
        <p:spPr>
          <a:xfrm>
            <a:off x="4343400" y="3383280"/>
            <a:ext cx="3291840" cy="548640"/>
          </a:xfrm>
          <a:prstGeom prst="rect">
            <a:avLst/>
          </a:prstGeom>
          <a:noFill/>
          <a:ln/>
        </p:spPr>
        <p:txBody>
          <a:bodyPr wrap="square" lIns="0" tIns="0" rIns="0" bIns="0" rtlCol="0" anchor="ctr"/>
          <a:lstStyle/>
          <a:p>
            <a:pPr indent="0" marL="0">
              <a:buNone/>
            </a:pPr>
            <a:r>
              <a:rPr lang="en-US" sz="1300" dirty="0">
                <a:solidFill>
                  <a:schemeClr val="tx2"/>
                </a:solidFill>
              </a:rPr>
              <a:t>Bij afsluiten is alles weg</a:t>
            </a:r>
            <a:endParaRPr lang="en-US" sz="1300" dirty="0"/>
          </a:p>
        </p:txBody>
      </p:sp>
      <p:sp>
        <p:nvSpPr>
          <p:cNvPr id="22" name="Text 20"/>
          <p:cNvSpPr txBox="1"/>
          <p:nvPr/>
        </p:nvSpPr>
        <p:spPr>
          <a:xfrm>
            <a:off x="7909560" y="3383280"/>
            <a:ext cx="3566160" cy="548640"/>
          </a:xfrm>
          <a:prstGeom prst="rect">
            <a:avLst/>
          </a:prstGeom>
          <a:noFill/>
          <a:ln/>
        </p:spPr>
        <p:txBody>
          <a:bodyPr wrap="square" lIns="0" tIns="0" rIns="0" bIns="0" rtlCol="0" anchor="ctr"/>
          <a:lstStyle/>
          <a:p>
            <a:pPr indent="0" marL="0">
              <a:buNone/>
            </a:pPr>
            <a:r>
              <a:rPr lang="en-US" sz="1300" dirty="0">
                <a:solidFill>
                  <a:schemeClr val="tx2"/>
                </a:solidFill>
              </a:rPr>
              <a:t>Opslag vroeg toevoegen, stap 6</a:t>
            </a:r>
            <a:endParaRPr lang="en-US" sz="1300" dirty="0"/>
          </a:p>
        </p:txBody>
      </p:sp>
      <p:sp>
        <p:nvSpPr>
          <p:cNvPr id="23" name="tabelrij"/>
          <p:cNvSpPr/>
          <p:nvPr/>
        </p:nvSpPr>
        <p:spPr>
          <a:xfrm>
            <a:off x="548640" y="3931920"/>
            <a:ext cx="11064240" cy="548640"/>
          </a:xfrm>
          <a:prstGeom prst="rect">
            <a:avLst/>
          </a:prstGeom>
          <a:solidFill>
            <a:schemeClr val="bg2"/>
          </a:solidFill>
          <a:ln w="9525">
            <a:solidFill>
              <a:schemeClr val="bg2"/>
            </a:solidFill>
            <a:prstDash val="solid"/>
          </a:ln>
        </p:spPr>
      </p:sp>
      <p:sp>
        <p:nvSpPr>
          <p:cNvPr id="24" name="Text 22"/>
          <p:cNvSpPr txBox="1"/>
          <p:nvPr/>
        </p:nvSpPr>
        <p:spPr>
          <a:xfrm>
            <a:off x="685800" y="3931920"/>
            <a:ext cx="3383280" cy="548640"/>
          </a:xfrm>
          <a:prstGeom prst="rect">
            <a:avLst/>
          </a:prstGeom>
          <a:noFill/>
          <a:ln/>
        </p:spPr>
        <p:txBody>
          <a:bodyPr wrap="square" lIns="0" tIns="0" rIns="0" bIns="0" rtlCol="0" anchor="ctr"/>
          <a:lstStyle/>
          <a:p>
            <a:pPr indent="0" marL="0">
              <a:buNone/>
            </a:pPr>
            <a:r>
              <a:rPr lang="en-US" sz="1300" b="1" dirty="0">
                <a:solidFill>
                  <a:schemeClr val="tx1"/>
                </a:solidFill>
              </a:rPr>
              <a:t>Alleen testen met nette invoer</a:t>
            </a:r>
            <a:endParaRPr lang="en-US" sz="1300" dirty="0"/>
          </a:p>
        </p:txBody>
      </p:sp>
      <p:sp>
        <p:nvSpPr>
          <p:cNvPr id="25" name="Text 23"/>
          <p:cNvSpPr txBox="1"/>
          <p:nvPr/>
        </p:nvSpPr>
        <p:spPr>
          <a:xfrm>
            <a:off x="4343400" y="3931920"/>
            <a:ext cx="3291840" cy="548640"/>
          </a:xfrm>
          <a:prstGeom prst="rect">
            <a:avLst/>
          </a:prstGeom>
          <a:noFill/>
          <a:ln/>
        </p:spPr>
        <p:txBody>
          <a:bodyPr wrap="square" lIns="0" tIns="0" rIns="0" bIns="0" rtlCol="0" anchor="ctr"/>
          <a:lstStyle/>
          <a:p>
            <a:pPr indent="0" marL="0">
              <a:buNone/>
            </a:pPr>
            <a:r>
              <a:rPr lang="en-US" sz="1300" dirty="0">
                <a:solidFill>
                  <a:schemeClr val="tx2"/>
                </a:solidFill>
              </a:rPr>
              <a:t>Crasht bij de eerste lege regel</a:t>
            </a:r>
            <a:endParaRPr lang="en-US" sz="1300" dirty="0"/>
          </a:p>
        </p:txBody>
      </p:sp>
      <p:sp>
        <p:nvSpPr>
          <p:cNvPr id="26" name="Text 24"/>
          <p:cNvSpPr txBox="1"/>
          <p:nvPr/>
        </p:nvSpPr>
        <p:spPr>
          <a:xfrm>
            <a:off x="7909560" y="3931920"/>
            <a:ext cx="3566160" cy="548640"/>
          </a:xfrm>
          <a:prstGeom prst="rect">
            <a:avLst/>
          </a:prstGeom>
          <a:noFill/>
          <a:ln/>
        </p:spPr>
        <p:txBody>
          <a:bodyPr wrap="square" lIns="0" tIns="0" rIns="0" bIns="0" rtlCol="0" anchor="ctr"/>
          <a:lstStyle/>
          <a:p>
            <a:pPr indent="0" marL="0">
              <a:buNone/>
            </a:pPr>
            <a:r>
              <a:rPr lang="en-US" sz="1300" dirty="0">
                <a:solidFill>
                  <a:schemeClr val="tx2"/>
                </a:solidFill>
              </a:rPr>
              <a:t>De ongeldige klassen uit 28.3</a:t>
            </a:r>
            <a:endParaRPr lang="en-US" sz="1300" dirty="0"/>
          </a:p>
        </p:txBody>
      </p:sp>
      <p:sp>
        <p:nvSpPr>
          <p:cNvPr id="27" name="tabelrij"/>
          <p:cNvSpPr/>
          <p:nvPr/>
        </p:nvSpPr>
        <p:spPr>
          <a:xfrm>
            <a:off x="548640" y="4480560"/>
            <a:ext cx="11064240" cy="548640"/>
          </a:xfrm>
          <a:prstGeom prst="rect">
            <a:avLst/>
          </a:prstGeom>
          <a:solidFill>
            <a:schemeClr val="bg1"/>
          </a:solidFill>
          <a:ln w="9525">
            <a:solidFill>
              <a:schemeClr val="bg2"/>
            </a:solidFill>
            <a:prstDash val="solid"/>
          </a:ln>
        </p:spPr>
      </p:sp>
      <p:sp>
        <p:nvSpPr>
          <p:cNvPr id="28" name="Text 26"/>
          <p:cNvSpPr txBox="1"/>
          <p:nvPr/>
        </p:nvSpPr>
        <p:spPr>
          <a:xfrm>
            <a:off x="685800" y="4480560"/>
            <a:ext cx="3383280" cy="548640"/>
          </a:xfrm>
          <a:prstGeom prst="rect">
            <a:avLst/>
          </a:prstGeom>
          <a:noFill/>
          <a:ln/>
        </p:spPr>
        <p:txBody>
          <a:bodyPr wrap="square" lIns="0" tIns="0" rIns="0" bIns="0" rtlCol="0" anchor="ctr"/>
          <a:lstStyle/>
          <a:p>
            <a:pPr indent="0" marL="0">
              <a:buNone/>
            </a:pPr>
            <a:r>
              <a:rPr lang="en-US" sz="1300" b="1" dirty="0">
                <a:solidFill>
                  <a:schemeClr val="tx1"/>
                </a:solidFill>
              </a:rPr>
              <a:t>Bedragen als float optellen</a:t>
            </a:r>
            <a:endParaRPr lang="en-US" sz="1300" dirty="0"/>
          </a:p>
        </p:txBody>
      </p:sp>
      <p:sp>
        <p:nvSpPr>
          <p:cNvPr id="29" name="Text 27"/>
          <p:cNvSpPr txBox="1"/>
          <p:nvPr/>
        </p:nvSpPr>
        <p:spPr>
          <a:xfrm>
            <a:off x="4343400" y="4480560"/>
            <a:ext cx="3291840" cy="548640"/>
          </a:xfrm>
          <a:prstGeom prst="rect">
            <a:avLst/>
          </a:prstGeom>
          <a:noFill/>
          <a:ln/>
        </p:spPr>
        <p:txBody>
          <a:bodyPr wrap="square" lIns="0" tIns="0" rIns="0" bIns="0" rtlCol="0" anchor="ctr"/>
          <a:lstStyle/>
          <a:p>
            <a:pPr indent="0" marL="0">
              <a:buNone/>
            </a:pPr>
            <a:r>
              <a:rPr lang="en-US" sz="1300" dirty="0">
                <a:solidFill>
                  <a:schemeClr val="tx2"/>
                </a:solidFill>
              </a:rPr>
              <a:t>Centen die niet kloppen</a:t>
            </a:r>
            <a:endParaRPr lang="en-US" sz="1300" dirty="0"/>
          </a:p>
        </p:txBody>
      </p:sp>
      <p:sp>
        <p:nvSpPr>
          <p:cNvPr id="30" name="Text 28"/>
          <p:cNvSpPr txBox="1"/>
          <p:nvPr/>
        </p:nvSpPr>
        <p:spPr>
          <a:xfrm>
            <a:off x="7909560" y="4480560"/>
            <a:ext cx="3566160" cy="548640"/>
          </a:xfrm>
          <a:prstGeom prst="rect">
            <a:avLst/>
          </a:prstGeom>
          <a:noFill/>
          <a:ln/>
        </p:spPr>
        <p:txBody>
          <a:bodyPr wrap="square" lIns="0" tIns="0" rIns="0" bIns="0" rtlCol="0" anchor="ctr"/>
          <a:lstStyle/>
          <a:p>
            <a:pPr indent="0" marL="0">
              <a:buNone/>
            </a:pPr>
            <a:r>
              <a:rPr lang="en-US" sz="1300" dirty="0">
                <a:solidFill>
                  <a:schemeClr val="tx2"/>
                </a:solidFill>
              </a:rPr>
              <a:t>Reken in hele centen, zoals in hoofdstuk 6</a:t>
            </a:r>
            <a:endParaRPr lang="en-US" sz="1300" dirty="0"/>
          </a:p>
        </p:txBody>
      </p:sp>
      <p:sp>
        <p:nvSpPr>
          <p:cNvPr id="31" name="tabelrij"/>
          <p:cNvSpPr/>
          <p:nvPr/>
        </p:nvSpPr>
        <p:spPr>
          <a:xfrm>
            <a:off x="548640" y="5029200"/>
            <a:ext cx="11064240" cy="548640"/>
          </a:xfrm>
          <a:prstGeom prst="rect">
            <a:avLst/>
          </a:prstGeom>
          <a:solidFill>
            <a:schemeClr val="bg2"/>
          </a:solidFill>
          <a:ln w="9525">
            <a:solidFill>
              <a:schemeClr val="bg2"/>
            </a:solidFill>
            <a:prstDash val="solid"/>
          </a:ln>
        </p:spPr>
      </p:sp>
      <p:sp>
        <p:nvSpPr>
          <p:cNvPr id="32" name="Text 30"/>
          <p:cNvSpPr txBox="1"/>
          <p:nvPr/>
        </p:nvSpPr>
        <p:spPr>
          <a:xfrm>
            <a:off x="685800" y="5029200"/>
            <a:ext cx="3383280" cy="548640"/>
          </a:xfrm>
          <a:prstGeom prst="rect">
            <a:avLst/>
          </a:prstGeom>
          <a:noFill/>
          <a:ln/>
        </p:spPr>
        <p:txBody>
          <a:bodyPr wrap="square" lIns="0" tIns="0" rIns="0" bIns="0" rtlCol="0" anchor="ctr"/>
          <a:lstStyle/>
          <a:p>
            <a:pPr indent="0" marL="0">
              <a:buNone/>
            </a:pPr>
            <a:r>
              <a:rPr lang="en-US" sz="1300" b="1" dirty="0">
                <a:solidFill>
                  <a:schemeClr val="tx1"/>
                </a:solidFill>
              </a:rPr>
              <a:t>De regels tijdens het bouwen verzinnen</a:t>
            </a:r>
            <a:endParaRPr lang="en-US" sz="1300" dirty="0"/>
          </a:p>
        </p:txBody>
      </p:sp>
      <p:sp>
        <p:nvSpPr>
          <p:cNvPr id="33" name="Text 31"/>
          <p:cNvSpPr txBox="1"/>
          <p:nvPr/>
        </p:nvSpPr>
        <p:spPr>
          <a:xfrm>
            <a:off x="4343400" y="5029200"/>
            <a:ext cx="3291840" cy="548640"/>
          </a:xfrm>
          <a:prstGeom prst="rect">
            <a:avLst/>
          </a:prstGeom>
          <a:noFill/>
          <a:ln/>
        </p:spPr>
        <p:txBody>
          <a:bodyPr wrap="square" lIns="0" tIns="0" rIns="0" bIns="0" rtlCol="0" anchor="ctr"/>
          <a:lstStyle/>
          <a:p>
            <a:pPr indent="0" marL="0">
              <a:buNone/>
            </a:pPr>
            <a:r>
              <a:rPr lang="en-US" sz="1300" dirty="0">
                <a:solidFill>
                  <a:schemeClr val="tx2"/>
                </a:solidFill>
              </a:rPr>
              <a:t>Halverwege verandert alles</a:t>
            </a:r>
            <a:endParaRPr lang="en-US" sz="1300" dirty="0"/>
          </a:p>
        </p:txBody>
      </p:sp>
      <p:sp>
        <p:nvSpPr>
          <p:cNvPr id="34" name="Text 32"/>
          <p:cNvSpPr txBox="1"/>
          <p:nvPr/>
        </p:nvSpPr>
        <p:spPr>
          <a:xfrm>
            <a:off x="7909560" y="5029200"/>
            <a:ext cx="3566160" cy="548640"/>
          </a:xfrm>
          <a:prstGeom prst="rect">
            <a:avLst/>
          </a:prstGeom>
          <a:noFill/>
          <a:ln/>
        </p:spPr>
        <p:txBody>
          <a:bodyPr wrap="square" lIns="0" tIns="0" rIns="0" bIns="0" rtlCol="0" anchor="ctr"/>
          <a:lstStyle/>
          <a:p>
            <a:pPr indent="0" marL="0">
              <a:buNone/>
            </a:pPr>
            <a:r>
              <a:rPr lang="en-US" sz="1300" dirty="0">
                <a:solidFill>
                  <a:schemeClr val="tx2"/>
                </a:solidFill>
              </a:rPr>
              <a:t>Stap 1 tot en met 3 eerst afmaken</a:t>
            </a:r>
            <a:endParaRPr lang="en-US" sz="1300" dirty="0"/>
          </a:p>
        </p:txBody>
      </p:sp>
      <p:sp>
        <p:nvSpPr>
          <p:cNvPr id="35" name="tabelrij"/>
          <p:cNvSpPr/>
          <p:nvPr/>
        </p:nvSpPr>
        <p:spPr>
          <a:xfrm>
            <a:off x="548640" y="5577840"/>
            <a:ext cx="11064240" cy="548640"/>
          </a:xfrm>
          <a:prstGeom prst="rect">
            <a:avLst/>
          </a:prstGeom>
          <a:solidFill>
            <a:schemeClr val="bg1"/>
          </a:solidFill>
          <a:ln w="9525">
            <a:solidFill>
              <a:schemeClr val="bg2"/>
            </a:solidFill>
            <a:prstDash val="solid"/>
          </a:ln>
        </p:spPr>
      </p:sp>
      <p:sp>
        <p:nvSpPr>
          <p:cNvPr id="36" name="Text 34"/>
          <p:cNvSpPr txBox="1"/>
          <p:nvPr/>
        </p:nvSpPr>
        <p:spPr>
          <a:xfrm>
            <a:off x="685800" y="5577840"/>
            <a:ext cx="3383280" cy="548640"/>
          </a:xfrm>
          <a:prstGeom prst="rect">
            <a:avLst/>
          </a:prstGeom>
          <a:noFill/>
          <a:ln/>
        </p:spPr>
        <p:txBody>
          <a:bodyPr wrap="square" lIns="0" tIns="0" rIns="0" bIns="0" rtlCol="0" anchor="ctr"/>
          <a:lstStyle/>
          <a:p>
            <a:pPr indent="0" marL="0">
              <a:buNone/>
            </a:pPr>
            <a:r>
              <a:rPr lang="en-US" sz="1300" b="1" dirty="0">
                <a:solidFill>
                  <a:schemeClr val="tx1"/>
                </a:solidFill>
              </a:rPr>
              <a:t>Kopiëren wat je niet begrijpt</a:t>
            </a:r>
            <a:endParaRPr lang="en-US" sz="1300" dirty="0"/>
          </a:p>
        </p:txBody>
      </p:sp>
      <p:sp>
        <p:nvSpPr>
          <p:cNvPr id="37" name="Text 35"/>
          <p:cNvSpPr txBox="1"/>
          <p:nvPr/>
        </p:nvSpPr>
        <p:spPr>
          <a:xfrm>
            <a:off x="4343400" y="5577840"/>
            <a:ext cx="3291840" cy="548640"/>
          </a:xfrm>
          <a:prstGeom prst="rect">
            <a:avLst/>
          </a:prstGeom>
          <a:noFill/>
          <a:ln/>
        </p:spPr>
        <p:txBody>
          <a:bodyPr wrap="square" lIns="0" tIns="0" rIns="0" bIns="0" rtlCol="0" anchor="ctr"/>
          <a:lstStyle/>
          <a:p>
            <a:pPr indent="0" marL="0">
              <a:buNone/>
            </a:pPr>
            <a:r>
              <a:rPr lang="en-US" sz="1300" dirty="0">
                <a:solidFill>
                  <a:schemeClr val="tx2"/>
                </a:solidFill>
              </a:rPr>
              <a:t>Je kunt het niet herstellen als het breekt</a:t>
            </a:r>
            <a:endParaRPr lang="en-US" sz="1300" dirty="0"/>
          </a:p>
        </p:txBody>
      </p:sp>
      <p:sp>
        <p:nvSpPr>
          <p:cNvPr id="38" name="Text 36"/>
          <p:cNvSpPr txBox="1"/>
          <p:nvPr/>
        </p:nvSpPr>
        <p:spPr>
          <a:xfrm>
            <a:off x="7909560" y="5577840"/>
            <a:ext cx="3566160" cy="548640"/>
          </a:xfrm>
          <a:prstGeom prst="rect">
            <a:avLst/>
          </a:prstGeom>
          <a:noFill/>
          <a:ln/>
        </p:spPr>
        <p:txBody>
          <a:bodyPr wrap="square" lIns="0" tIns="0" rIns="0" bIns="0" rtlCol="0" anchor="ctr"/>
          <a:lstStyle/>
          <a:p>
            <a:pPr indent="0" marL="0">
              <a:buNone/>
            </a:pPr>
            <a:r>
              <a:rPr lang="en-US" sz="1300" dirty="0">
                <a:solidFill>
                  <a:schemeClr val="tx2"/>
                </a:solidFill>
              </a:rPr>
              <a:t>Zie hoofdstuk 20 en 22</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731520" y="3017520"/>
            <a:ext cx="10698480" cy="1097280"/>
          </a:xfrm>
          <a:prstGeom prst="rect">
            <a:avLst/>
          </a:prstGeom>
          <a:noFill/>
          <a:ln/>
        </p:spPr>
        <p:txBody>
          <a:bodyPr wrap="square" lIns="0" tIns="0" rIns="0" bIns="0" rtlCol="0" anchor="t"/>
          <a:lstStyle/>
          <a:p>
            <a:pPr algn="l" indent="0" marL="0">
              <a:buNone/>
            </a:pPr>
            <a:r>
              <a:rPr lang="en-US" sz="4400" b="1" dirty="0">
                <a:solidFill>
                  <a:schemeClr val="bg1"/>
                </a:solidFill>
              </a:rPr>
              <a:t>De inleverlijst</a:t>
            </a:r>
            <a:endParaRPr lang="en-US" sz="4400" dirty="0"/>
          </a:p>
        </p:txBody>
      </p:sp>
      <p:sp>
        <p:nvSpPr>
          <p:cNvPr id="3" name="Text 0"/>
          <p:cNvSpPr/>
          <p:nvPr>
            <p:ph idx="100" type="body" hasCustomPrompt="1"/>
          </p:nvPr>
        </p:nvSpPr>
        <p:spPr>
          <a:xfrm>
            <a:off x="731520" y="1463040"/>
            <a:ext cx="3657600" cy="1463040"/>
          </a:xfrm>
          <a:prstGeom prst="rect">
            <a:avLst/>
          </a:prstGeom>
          <a:noFill/>
          <a:ln/>
        </p:spPr>
        <p:txBody>
          <a:bodyPr wrap="square" lIns="0" tIns="0" rIns="0" bIns="0" rtlCol="0" anchor="b"/>
          <a:lstStyle/>
          <a:p>
            <a:pPr indent="0" marL="0">
              <a:buNone/>
            </a:pPr>
            <a:r>
              <a:rPr lang="en-US" sz="9600" b="1" dirty="0">
                <a:solidFill>
                  <a:schemeClr val="accent1"/>
                </a:solidFill>
                <a:latin typeface="Cambria" pitchFamily="34" charset="0"/>
                <a:ea typeface="Cambria" pitchFamily="34" charset="-122"/>
                <a:cs typeface="Cambria" pitchFamily="34" charset="-120"/>
              </a:rPr>
              <a:t>29.7</a:t>
            </a:r>
            <a:endParaRPr lang="en-US" sz="9600" dirty="0"/>
          </a:p>
        </p:txBody>
      </p:sp>
      <p:sp>
        <p:nvSpPr>
          <p:cNvPr id="4" name="Text 0"/>
          <p:cNvSpPr/>
          <p:nvPr>
            <p:ph idx="102" type="body" hasCustomPrompt="1"/>
          </p:nvPr>
        </p:nvSpPr>
        <p:spPr>
          <a:xfrm>
            <a:off x="731520" y="4206240"/>
            <a:ext cx="9601200" cy="1097280"/>
          </a:xfrm>
          <a:prstGeom prst="rect">
            <a:avLst/>
          </a:prstGeom>
          <a:noFill/>
          <a:ln/>
        </p:spPr>
        <p:txBody>
          <a:bodyPr wrap="square" lIns="0" tIns="0" rIns="0" bIns="0" rtlCol="0" anchor="t"/>
          <a:lstStyle/>
          <a:p>
            <a:pPr indent="0" marL="0">
              <a:buNone/>
            </a:pPr>
            <a:r>
              <a:rPr lang="en-US" sz="2000" dirty="0">
                <a:solidFill>
                  <a:schemeClr val="bg2"/>
                </a:solidFill>
              </a:rPr>
              <a:t>Loop deze lijst af vóór je inlevert. Elk punt is ooit iemands punten gaan kosten.</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Tien punten om na te kijken vóór je inlevert</a:t>
            </a:r>
            <a:endParaRPr lang="en-US" sz="3400" dirty="0"/>
          </a:p>
        </p:txBody>
      </p:sp>
      <p:sp>
        <p:nvSpPr>
          <p:cNvPr id="3" name="kaart"/>
          <p:cNvSpPr/>
          <p:nvPr/>
        </p:nvSpPr>
        <p:spPr>
          <a:xfrm>
            <a:off x="548640" y="1325880"/>
            <a:ext cx="5440680" cy="804672"/>
          </a:xfrm>
          <a:prstGeom prst="roundRect">
            <a:avLst>
              <a:gd name="adj" fmla="val 13636"/>
            </a:avLst>
          </a:prstGeom>
          <a:solidFill>
            <a:schemeClr val="bg2"/>
          </a:solidFill>
          <a:ln w="12700">
            <a:solidFill>
              <a:schemeClr val="bg2"/>
            </a:solidFill>
            <a:prstDash val="solid"/>
          </a:ln>
        </p:spPr>
      </p:sp>
      <p:pic>
        <p:nvPicPr>
          <p:cNvPr id="4" name="vakje" descr="preencoded.png">    </p:cNvPr>
          <p:cNvPicPr>
            <a:picLocks noChangeAspect="1"/>
          </p:cNvPicPr>
          <p:nvPr/>
        </p:nvPicPr>
        <p:blipFill>
          <a:blip r:embed="rId1"/>
          <a:stretch>
            <a:fillRect/>
          </a:stretch>
        </p:blipFill>
        <p:spPr>
          <a:xfrm>
            <a:off x="731520" y="1572768"/>
            <a:ext cx="310896" cy="310896"/>
          </a:xfrm>
          <a:prstGeom prst="rect">
            <a:avLst/>
          </a:prstGeom>
        </p:spPr>
      </p:pic>
      <p:sp>
        <p:nvSpPr>
          <p:cNvPr id="5" name="Text 2"/>
          <p:cNvSpPr txBox="1"/>
          <p:nvPr/>
        </p:nvSpPr>
        <p:spPr>
          <a:xfrm>
            <a:off x="1143000" y="1325880"/>
            <a:ext cx="365760" cy="804672"/>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1</a:t>
            </a:r>
            <a:endParaRPr lang="en-US" sz="1600" dirty="0"/>
          </a:p>
        </p:txBody>
      </p:sp>
      <p:sp>
        <p:nvSpPr>
          <p:cNvPr id="6" name="Text 3"/>
          <p:cNvSpPr txBox="1"/>
          <p:nvPr/>
        </p:nvSpPr>
        <p:spPr>
          <a:xfrm>
            <a:off x="1554480" y="1325880"/>
            <a:ext cx="4297680" cy="804672"/>
          </a:xfrm>
          <a:prstGeom prst="rect">
            <a:avLst/>
          </a:prstGeom>
          <a:noFill/>
          <a:ln/>
        </p:spPr>
        <p:txBody>
          <a:bodyPr wrap="square" lIns="0" tIns="0" rIns="0" bIns="0" rtlCol="0" anchor="ctr"/>
          <a:lstStyle/>
          <a:p>
            <a:pPr indent="0" marL="0">
              <a:buNone/>
            </a:pPr>
            <a:r>
              <a:rPr lang="en-US" sz="1400" dirty="0">
                <a:solidFill>
                  <a:schemeClr val="tx1"/>
                </a:solidFill>
              </a:rPr>
              <a:t>git status is leeg: alles is gecommit en gepusht</a:t>
            </a:r>
            <a:endParaRPr lang="en-US" sz="1400" dirty="0"/>
          </a:p>
        </p:txBody>
      </p:sp>
      <p:sp>
        <p:nvSpPr>
          <p:cNvPr id="7" name="kaart"/>
          <p:cNvSpPr/>
          <p:nvPr/>
        </p:nvSpPr>
        <p:spPr>
          <a:xfrm>
            <a:off x="548640" y="2258568"/>
            <a:ext cx="5440680" cy="804672"/>
          </a:xfrm>
          <a:prstGeom prst="roundRect">
            <a:avLst>
              <a:gd name="adj" fmla="val 13636"/>
            </a:avLst>
          </a:prstGeom>
          <a:solidFill>
            <a:schemeClr val="bg2"/>
          </a:solidFill>
          <a:ln w="12700">
            <a:solidFill>
              <a:schemeClr val="bg2"/>
            </a:solidFill>
            <a:prstDash val="solid"/>
          </a:ln>
        </p:spPr>
      </p:sp>
      <p:pic>
        <p:nvPicPr>
          <p:cNvPr id="8" name="vakje" descr="preencoded.png">    </p:cNvPr>
          <p:cNvPicPr>
            <a:picLocks noChangeAspect="1"/>
          </p:cNvPicPr>
          <p:nvPr/>
        </p:nvPicPr>
        <p:blipFill>
          <a:blip r:embed="rId2"/>
          <a:stretch>
            <a:fillRect/>
          </a:stretch>
        </p:blipFill>
        <p:spPr>
          <a:xfrm>
            <a:off x="731520" y="2505456"/>
            <a:ext cx="310896" cy="310896"/>
          </a:xfrm>
          <a:prstGeom prst="rect">
            <a:avLst/>
          </a:prstGeom>
        </p:spPr>
      </p:pic>
      <p:sp>
        <p:nvSpPr>
          <p:cNvPr id="9" name="Text 5"/>
          <p:cNvSpPr txBox="1"/>
          <p:nvPr/>
        </p:nvSpPr>
        <p:spPr>
          <a:xfrm>
            <a:off x="1143000" y="2258568"/>
            <a:ext cx="365760" cy="804672"/>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2</a:t>
            </a:r>
            <a:endParaRPr lang="en-US" sz="1600" dirty="0"/>
          </a:p>
        </p:txBody>
      </p:sp>
      <p:sp>
        <p:nvSpPr>
          <p:cNvPr id="10" name="Text 6"/>
          <p:cNvSpPr txBox="1"/>
          <p:nvPr/>
        </p:nvSpPr>
        <p:spPr>
          <a:xfrm>
            <a:off x="1554480" y="2258568"/>
            <a:ext cx="4297680" cy="804672"/>
          </a:xfrm>
          <a:prstGeom prst="rect">
            <a:avLst/>
          </a:prstGeom>
          <a:noFill/>
          <a:ln/>
        </p:spPr>
        <p:txBody>
          <a:bodyPr wrap="square" lIns="0" tIns="0" rIns="0" bIns="0" rtlCol="0" anchor="ctr"/>
          <a:lstStyle/>
          <a:p>
            <a:pPr indent="0" marL="0">
              <a:buNone/>
            </a:pPr>
            <a:r>
              <a:rPr lang="en-US" sz="1400" dirty="0">
                <a:solidFill>
                  <a:schemeClr val="tx1"/>
                </a:solidFill>
              </a:rPr>
              <a:t>De repository bevat geen .venv, geen __pycache__ en geen wachtwoorden</a:t>
            </a:r>
            <a:endParaRPr lang="en-US" sz="1400" dirty="0"/>
          </a:p>
        </p:txBody>
      </p:sp>
      <p:sp>
        <p:nvSpPr>
          <p:cNvPr id="11" name="kaart"/>
          <p:cNvSpPr/>
          <p:nvPr/>
        </p:nvSpPr>
        <p:spPr>
          <a:xfrm>
            <a:off x="548640" y="3191256"/>
            <a:ext cx="5440680" cy="804672"/>
          </a:xfrm>
          <a:prstGeom prst="roundRect">
            <a:avLst>
              <a:gd name="adj" fmla="val 13636"/>
            </a:avLst>
          </a:prstGeom>
          <a:solidFill>
            <a:schemeClr val="bg2"/>
          </a:solidFill>
          <a:ln w="12700">
            <a:solidFill>
              <a:schemeClr val="bg2"/>
            </a:solidFill>
            <a:prstDash val="solid"/>
          </a:ln>
        </p:spPr>
      </p:sp>
      <p:pic>
        <p:nvPicPr>
          <p:cNvPr id="12" name="vakje" descr="preencoded.png">    </p:cNvPr>
          <p:cNvPicPr>
            <a:picLocks noChangeAspect="1"/>
          </p:cNvPicPr>
          <p:nvPr/>
        </p:nvPicPr>
        <p:blipFill>
          <a:blip r:embed="rId3"/>
          <a:stretch>
            <a:fillRect/>
          </a:stretch>
        </p:blipFill>
        <p:spPr>
          <a:xfrm>
            <a:off x="731520" y="3438144"/>
            <a:ext cx="310896" cy="310896"/>
          </a:xfrm>
          <a:prstGeom prst="rect">
            <a:avLst/>
          </a:prstGeom>
        </p:spPr>
      </p:pic>
      <p:sp>
        <p:nvSpPr>
          <p:cNvPr id="13" name="Text 8"/>
          <p:cNvSpPr txBox="1"/>
          <p:nvPr/>
        </p:nvSpPr>
        <p:spPr>
          <a:xfrm>
            <a:off x="1143000" y="3191256"/>
            <a:ext cx="365760" cy="804672"/>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3</a:t>
            </a:r>
            <a:endParaRPr lang="en-US" sz="1600" dirty="0"/>
          </a:p>
        </p:txBody>
      </p:sp>
      <p:sp>
        <p:nvSpPr>
          <p:cNvPr id="14" name="Text 9"/>
          <p:cNvSpPr txBox="1"/>
          <p:nvPr/>
        </p:nvSpPr>
        <p:spPr>
          <a:xfrm>
            <a:off x="1554480" y="3191256"/>
            <a:ext cx="4297680" cy="804672"/>
          </a:xfrm>
          <a:prstGeom prst="rect">
            <a:avLst/>
          </a:prstGeom>
          <a:noFill/>
          <a:ln/>
        </p:spPr>
        <p:txBody>
          <a:bodyPr wrap="square" lIns="0" tIns="0" rIns="0" bIns="0" rtlCol="0" anchor="ctr"/>
          <a:lstStyle/>
          <a:p>
            <a:pPr indent="0" marL="0">
              <a:buNone/>
            </a:pPr>
            <a:r>
              <a:rPr lang="en-US" sz="1400" dirty="0">
                <a:solidFill>
                  <a:schemeClr val="tx1"/>
                </a:solidFill>
              </a:rPr>
              <a:t>Iemand anders kan het starten met alleen de README</a:t>
            </a:r>
            <a:endParaRPr lang="en-US" sz="1400" dirty="0"/>
          </a:p>
        </p:txBody>
      </p:sp>
      <p:sp>
        <p:nvSpPr>
          <p:cNvPr id="15" name="kaart"/>
          <p:cNvSpPr/>
          <p:nvPr/>
        </p:nvSpPr>
        <p:spPr>
          <a:xfrm>
            <a:off x="548640" y="4123944"/>
            <a:ext cx="5440680" cy="804672"/>
          </a:xfrm>
          <a:prstGeom prst="roundRect">
            <a:avLst>
              <a:gd name="adj" fmla="val 13636"/>
            </a:avLst>
          </a:prstGeom>
          <a:solidFill>
            <a:schemeClr val="bg2"/>
          </a:solidFill>
          <a:ln w="12700">
            <a:solidFill>
              <a:schemeClr val="bg2"/>
            </a:solidFill>
            <a:prstDash val="solid"/>
          </a:ln>
        </p:spPr>
      </p:sp>
      <p:pic>
        <p:nvPicPr>
          <p:cNvPr id="16" name="vakje" descr="preencoded.png">    </p:cNvPr>
          <p:cNvPicPr>
            <a:picLocks noChangeAspect="1"/>
          </p:cNvPicPr>
          <p:nvPr/>
        </p:nvPicPr>
        <p:blipFill>
          <a:blip r:embed="rId4"/>
          <a:stretch>
            <a:fillRect/>
          </a:stretch>
        </p:blipFill>
        <p:spPr>
          <a:xfrm>
            <a:off x="731520" y="4370832"/>
            <a:ext cx="310896" cy="310896"/>
          </a:xfrm>
          <a:prstGeom prst="rect">
            <a:avLst/>
          </a:prstGeom>
        </p:spPr>
      </p:pic>
      <p:sp>
        <p:nvSpPr>
          <p:cNvPr id="17" name="Text 11"/>
          <p:cNvSpPr txBox="1"/>
          <p:nvPr/>
        </p:nvSpPr>
        <p:spPr>
          <a:xfrm>
            <a:off x="1143000" y="4123944"/>
            <a:ext cx="365760" cy="804672"/>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4</a:t>
            </a:r>
            <a:endParaRPr lang="en-US" sz="1600" dirty="0"/>
          </a:p>
        </p:txBody>
      </p:sp>
      <p:sp>
        <p:nvSpPr>
          <p:cNvPr id="18" name="Text 12"/>
          <p:cNvSpPr txBox="1"/>
          <p:nvPr/>
        </p:nvSpPr>
        <p:spPr>
          <a:xfrm>
            <a:off x="1554480" y="4123944"/>
            <a:ext cx="4297680" cy="804672"/>
          </a:xfrm>
          <a:prstGeom prst="rect">
            <a:avLst/>
          </a:prstGeom>
          <a:noFill/>
          <a:ln/>
        </p:spPr>
        <p:txBody>
          <a:bodyPr wrap="square" lIns="0" tIns="0" rIns="0" bIns="0" rtlCol="0" anchor="ctr"/>
          <a:lstStyle/>
          <a:p>
            <a:pPr indent="0" marL="0">
              <a:buNone/>
            </a:pPr>
            <a:r>
              <a:rPr lang="en-US" sz="1400" dirty="0">
                <a:solidFill>
                  <a:schemeClr val="tx1"/>
                </a:solidFill>
              </a:rPr>
              <a:t>ruff check . en ruff format --check . geven geen meldingen</a:t>
            </a:r>
            <a:endParaRPr lang="en-US" sz="1400" dirty="0"/>
          </a:p>
        </p:txBody>
      </p:sp>
      <p:sp>
        <p:nvSpPr>
          <p:cNvPr id="19" name="kaart"/>
          <p:cNvSpPr/>
          <p:nvPr/>
        </p:nvSpPr>
        <p:spPr>
          <a:xfrm>
            <a:off x="548640" y="5056632"/>
            <a:ext cx="5440680" cy="804672"/>
          </a:xfrm>
          <a:prstGeom prst="roundRect">
            <a:avLst>
              <a:gd name="adj" fmla="val 13636"/>
            </a:avLst>
          </a:prstGeom>
          <a:solidFill>
            <a:schemeClr val="bg2"/>
          </a:solidFill>
          <a:ln w="12700">
            <a:solidFill>
              <a:schemeClr val="bg2"/>
            </a:solidFill>
            <a:prstDash val="solid"/>
          </a:ln>
        </p:spPr>
      </p:sp>
      <p:pic>
        <p:nvPicPr>
          <p:cNvPr id="20" name="vakje" descr="preencoded.png">    </p:cNvPr>
          <p:cNvPicPr>
            <a:picLocks noChangeAspect="1"/>
          </p:cNvPicPr>
          <p:nvPr/>
        </p:nvPicPr>
        <p:blipFill>
          <a:blip r:embed="rId5"/>
          <a:stretch>
            <a:fillRect/>
          </a:stretch>
        </p:blipFill>
        <p:spPr>
          <a:xfrm>
            <a:off x="731520" y="5303520"/>
            <a:ext cx="310896" cy="310896"/>
          </a:xfrm>
          <a:prstGeom prst="rect">
            <a:avLst/>
          </a:prstGeom>
        </p:spPr>
      </p:pic>
      <p:sp>
        <p:nvSpPr>
          <p:cNvPr id="21" name="Text 14"/>
          <p:cNvSpPr txBox="1"/>
          <p:nvPr/>
        </p:nvSpPr>
        <p:spPr>
          <a:xfrm>
            <a:off x="1143000" y="5056632"/>
            <a:ext cx="365760" cy="804672"/>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5</a:t>
            </a:r>
            <a:endParaRPr lang="en-US" sz="1600" dirty="0"/>
          </a:p>
        </p:txBody>
      </p:sp>
      <p:sp>
        <p:nvSpPr>
          <p:cNvPr id="22" name="Text 15"/>
          <p:cNvSpPr txBox="1"/>
          <p:nvPr/>
        </p:nvSpPr>
        <p:spPr>
          <a:xfrm>
            <a:off x="1554480" y="5056632"/>
            <a:ext cx="4297680" cy="804672"/>
          </a:xfrm>
          <a:prstGeom prst="rect">
            <a:avLst/>
          </a:prstGeom>
          <a:noFill/>
          <a:ln/>
        </p:spPr>
        <p:txBody>
          <a:bodyPr wrap="square" lIns="0" tIns="0" rIns="0" bIns="0" rtlCol="0" anchor="ctr"/>
          <a:lstStyle/>
          <a:p>
            <a:pPr indent="0" marL="0">
              <a:buNone/>
            </a:pPr>
            <a:r>
              <a:rPr lang="en-US" sz="1400" dirty="0">
                <a:solidFill>
                  <a:schemeClr val="tx1"/>
                </a:solidFill>
              </a:rPr>
              <a:t>Je testbestand draait en staat groen</a:t>
            </a:r>
            <a:endParaRPr lang="en-US" sz="1400" dirty="0"/>
          </a:p>
        </p:txBody>
      </p:sp>
      <p:sp>
        <p:nvSpPr>
          <p:cNvPr id="23" name="kaart"/>
          <p:cNvSpPr/>
          <p:nvPr/>
        </p:nvSpPr>
        <p:spPr>
          <a:xfrm>
            <a:off x="6172200" y="1325880"/>
            <a:ext cx="5440680" cy="804672"/>
          </a:xfrm>
          <a:prstGeom prst="roundRect">
            <a:avLst>
              <a:gd name="adj" fmla="val 13636"/>
            </a:avLst>
          </a:prstGeom>
          <a:solidFill>
            <a:schemeClr val="bg2"/>
          </a:solidFill>
          <a:ln w="12700">
            <a:solidFill>
              <a:schemeClr val="bg2"/>
            </a:solidFill>
            <a:prstDash val="solid"/>
          </a:ln>
        </p:spPr>
      </p:sp>
      <p:pic>
        <p:nvPicPr>
          <p:cNvPr id="24" name="vakje" descr="preencoded.png">    </p:cNvPr>
          <p:cNvPicPr>
            <a:picLocks noChangeAspect="1"/>
          </p:cNvPicPr>
          <p:nvPr/>
        </p:nvPicPr>
        <p:blipFill>
          <a:blip r:embed="rId6"/>
          <a:stretch>
            <a:fillRect/>
          </a:stretch>
        </p:blipFill>
        <p:spPr>
          <a:xfrm>
            <a:off x="6355080" y="1572768"/>
            <a:ext cx="310896" cy="310896"/>
          </a:xfrm>
          <a:prstGeom prst="rect">
            <a:avLst/>
          </a:prstGeom>
        </p:spPr>
      </p:pic>
      <p:sp>
        <p:nvSpPr>
          <p:cNvPr id="25" name="Text 17"/>
          <p:cNvSpPr txBox="1"/>
          <p:nvPr/>
        </p:nvSpPr>
        <p:spPr>
          <a:xfrm>
            <a:off x="6766560" y="1325880"/>
            <a:ext cx="365760" cy="804672"/>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6</a:t>
            </a:r>
            <a:endParaRPr lang="en-US" sz="1600" dirty="0"/>
          </a:p>
        </p:txBody>
      </p:sp>
      <p:sp>
        <p:nvSpPr>
          <p:cNvPr id="26" name="Text 18"/>
          <p:cNvSpPr txBox="1"/>
          <p:nvPr/>
        </p:nvSpPr>
        <p:spPr>
          <a:xfrm>
            <a:off x="7178040" y="1325880"/>
            <a:ext cx="4297680" cy="804672"/>
          </a:xfrm>
          <a:prstGeom prst="rect">
            <a:avLst/>
          </a:prstGeom>
          <a:noFill/>
          <a:ln/>
        </p:spPr>
        <p:txBody>
          <a:bodyPr wrap="square" lIns="0" tIns="0" rIns="0" bIns="0" rtlCol="0" anchor="ctr"/>
          <a:lstStyle/>
          <a:p>
            <a:pPr indent="0" marL="0">
              <a:buNone/>
            </a:pPr>
            <a:r>
              <a:rPr lang="en-US" sz="1400" dirty="0">
                <a:solidFill>
                  <a:schemeClr val="tx1"/>
                </a:solidFill>
              </a:rPr>
              <a:t>Het programma crasht niet bij een lege invoer, een letter waar een getal hoort, en een negatief getal</a:t>
            </a:r>
            <a:endParaRPr lang="en-US" sz="1400" dirty="0"/>
          </a:p>
        </p:txBody>
      </p:sp>
      <p:sp>
        <p:nvSpPr>
          <p:cNvPr id="27" name="kaart"/>
          <p:cNvSpPr/>
          <p:nvPr/>
        </p:nvSpPr>
        <p:spPr>
          <a:xfrm>
            <a:off x="6172200" y="2258568"/>
            <a:ext cx="5440680" cy="804672"/>
          </a:xfrm>
          <a:prstGeom prst="roundRect">
            <a:avLst>
              <a:gd name="adj" fmla="val 13636"/>
            </a:avLst>
          </a:prstGeom>
          <a:solidFill>
            <a:schemeClr val="bg2"/>
          </a:solidFill>
          <a:ln w="12700">
            <a:solidFill>
              <a:schemeClr val="bg2"/>
            </a:solidFill>
            <a:prstDash val="solid"/>
          </a:ln>
        </p:spPr>
      </p:sp>
      <p:pic>
        <p:nvPicPr>
          <p:cNvPr id="28" name="vakje" descr="preencoded.png">    </p:cNvPr>
          <p:cNvPicPr>
            <a:picLocks noChangeAspect="1"/>
          </p:cNvPicPr>
          <p:nvPr/>
        </p:nvPicPr>
        <p:blipFill>
          <a:blip r:embed="rId7"/>
          <a:stretch>
            <a:fillRect/>
          </a:stretch>
        </p:blipFill>
        <p:spPr>
          <a:xfrm>
            <a:off x="6355080" y="2505456"/>
            <a:ext cx="310896" cy="310896"/>
          </a:xfrm>
          <a:prstGeom prst="rect">
            <a:avLst/>
          </a:prstGeom>
        </p:spPr>
      </p:pic>
      <p:sp>
        <p:nvSpPr>
          <p:cNvPr id="29" name="Text 20"/>
          <p:cNvSpPr txBox="1"/>
          <p:nvPr/>
        </p:nvSpPr>
        <p:spPr>
          <a:xfrm>
            <a:off x="6766560" y="2258568"/>
            <a:ext cx="365760" cy="804672"/>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7</a:t>
            </a:r>
            <a:endParaRPr lang="en-US" sz="1600" dirty="0"/>
          </a:p>
        </p:txBody>
      </p:sp>
      <p:sp>
        <p:nvSpPr>
          <p:cNvPr id="30" name="Text 21"/>
          <p:cNvSpPr txBox="1"/>
          <p:nvPr/>
        </p:nvSpPr>
        <p:spPr>
          <a:xfrm>
            <a:off x="7178040" y="2258568"/>
            <a:ext cx="4297680" cy="804672"/>
          </a:xfrm>
          <a:prstGeom prst="rect">
            <a:avLst/>
          </a:prstGeom>
          <a:noFill/>
          <a:ln/>
        </p:spPr>
        <p:txBody>
          <a:bodyPr wrap="square" lIns="0" tIns="0" rIns="0" bIns="0" rtlCol="0" anchor="ctr"/>
          <a:lstStyle/>
          <a:p>
            <a:pPr indent="0" marL="0">
              <a:buNone/>
            </a:pPr>
            <a:r>
              <a:rPr lang="en-US" sz="1400" dirty="0">
                <a:solidFill>
                  <a:schemeClr val="tx1"/>
                </a:solidFill>
              </a:rPr>
              <a:t>Het programma crasht niet als het gegevensbestand ontbreekt of leeg is</a:t>
            </a:r>
            <a:endParaRPr lang="en-US" sz="1400" dirty="0"/>
          </a:p>
        </p:txBody>
      </p:sp>
      <p:sp>
        <p:nvSpPr>
          <p:cNvPr id="31" name="kaart"/>
          <p:cNvSpPr/>
          <p:nvPr/>
        </p:nvSpPr>
        <p:spPr>
          <a:xfrm>
            <a:off x="6172200" y="3191256"/>
            <a:ext cx="5440680" cy="804672"/>
          </a:xfrm>
          <a:prstGeom prst="roundRect">
            <a:avLst>
              <a:gd name="adj" fmla="val 13636"/>
            </a:avLst>
          </a:prstGeom>
          <a:solidFill>
            <a:schemeClr val="bg2"/>
          </a:solidFill>
          <a:ln w="12700">
            <a:solidFill>
              <a:schemeClr val="bg2"/>
            </a:solidFill>
            <a:prstDash val="solid"/>
          </a:ln>
        </p:spPr>
      </p:sp>
      <p:pic>
        <p:nvPicPr>
          <p:cNvPr id="32" name="vakje" descr="preencoded.png">    </p:cNvPr>
          <p:cNvPicPr>
            <a:picLocks noChangeAspect="1"/>
          </p:cNvPicPr>
          <p:nvPr/>
        </p:nvPicPr>
        <p:blipFill>
          <a:blip r:embed="rId8"/>
          <a:stretch>
            <a:fillRect/>
          </a:stretch>
        </p:blipFill>
        <p:spPr>
          <a:xfrm>
            <a:off x="6355080" y="3438144"/>
            <a:ext cx="310896" cy="310896"/>
          </a:xfrm>
          <a:prstGeom prst="rect">
            <a:avLst/>
          </a:prstGeom>
        </p:spPr>
      </p:pic>
      <p:sp>
        <p:nvSpPr>
          <p:cNvPr id="33" name="Text 23"/>
          <p:cNvSpPr txBox="1"/>
          <p:nvPr/>
        </p:nvSpPr>
        <p:spPr>
          <a:xfrm>
            <a:off x="6766560" y="3191256"/>
            <a:ext cx="365760" cy="804672"/>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8</a:t>
            </a:r>
            <a:endParaRPr lang="en-US" sz="1600" dirty="0"/>
          </a:p>
        </p:txBody>
      </p:sp>
      <p:sp>
        <p:nvSpPr>
          <p:cNvPr id="34" name="Text 24"/>
          <p:cNvSpPr txBox="1"/>
          <p:nvPr/>
        </p:nvSpPr>
        <p:spPr>
          <a:xfrm>
            <a:off x="7178040" y="3191256"/>
            <a:ext cx="4297680" cy="804672"/>
          </a:xfrm>
          <a:prstGeom prst="rect">
            <a:avLst/>
          </a:prstGeom>
          <a:noFill/>
          <a:ln/>
        </p:spPr>
        <p:txBody>
          <a:bodyPr wrap="square" lIns="0" tIns="0" rIns="0" bIns="0" rtlCol="0" anchor="ctr"/>
          <a:lstStyle/>
          <a:p>
            <a:pPr indent="0" marL="0">
              <a:buNone/>
            </a:pPr>
            <a:r>
              <a:rPr lang="en-US" sz="1400" dirty="0">
                <a:solidFill>
                  <a:schemeClr val="tx1"/>
                </a:solidFill>
              </a:rPr>
              <a:t>Elke functie heeft een docstring van minstens één regel</a:t>
            </a:r>
            <a:endParaRPr lang="en-US" sz="1400" dirty="0"/>
          </a:p>
        </p:txBody>
      </p:sp>
      <p:sp>
        <p:nvSpPr>
          <p:cNvPr id="35" name="kaart"/>
          <p:cNvSpPr/>
          <p:nvPr/>
        </p:nvSpPr>
        <p:spPr>
          <a:xfrm>
            <a:off x="6172200" y="4123944"/>
            <a:ext cx="5440680" cy="804672"/>
          </a:xfrm>
          <a:prstGeom prst="roundRect">
            <a:avLst>
              <a:gd name="adj" fmla="val 13636"/>
            </a:avLst>
          </a:prstGeom>
          <a:solidFill>
            <a:schemeClr val="bg2"/>
          </a:solidFill>
          <a:ln w="12700">
            <a:solidFill>
              <a:schemeClr val="bg2"/>
            </a:solidFill>
            <a:prstDash val="solid"/>
          </a:ln>
        </p:spPr>
      </p:sp>
      <p:pic>
        <p:nvPicPr>
          <p:cNvPr id="36" name="vakje" descr="preencoded.png">    </p:cNvPr>
          <p:cNvPicPr>
            <a:picLocks noChangeAspect="1"/>
          </p:cNvPicPr>
          <p:nvPr/>
        </p:nvPicPr>
        <p:blipFill>
          <a:blip r:embed="rId9"/>
          <a:stretch>
            <a:fillRect/>
          </a:stretch>
        </p:blipFill>
        <p:spPr>
          <a:xfrm>
            <a:off x="6355080" y="4370832"/>
            <a:ext cx="310896" cy="310896"/>
          </a:xfrm>
          <a:prstGeom prst="rect">
            <a:avLst/>
          </a:prstGeom>
        </p:spPr>
      </p:pic>
      <p:sp>
        <p:nvSpPr>
          <p:cNvPr id="37" name="Text 26"/>
          <p:cNvSpPr txBox="1"/>
          <p:nvPr/>
        </p:nvSpPr>
        <p:spPr>
          <a:xfrm>
            <a:off x="6766560" y="4123944"/>
            <a:ext cx="365760" cy="804672"/>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9</a:t>
            </a:r>
            <a:endParaRPr lang="en-US" sz="1600" dirty="0"/>
          </a:p>
        </p:txBody>
      </p:sp>
      <p:sp>
        <p:nvSpPr>
          <p:cNvPr id="38" name="Text 27"/>
          <p:cNvSpPr txBox="1"/>
          <p:nvPr/>
        </p:nvSpPr>
        <p:spPr>
          <a:xfrm>
            <a:off x="7178040" y="4123944"/>
            <a:ext cx="4297680" cy="804672"/>
          </a:xfrm>
          <a:prstGeom prst="rect">
            <a:avLst/>
          </a:prstGeom>
          <a:noFill/>
          <a:ln/>
        </p:spPr>
        <p:txBody>
          <a:bodyPr wrap="square" lIns="0" tIns="0" rIns="0" bIns="0" rtlCol="0" anchor="ctr"/>
          <a:lstStyle/>
          <a:p>
            <a:pPr indent="0" marL="0">
              <a:buNone/>
            </a:pPr>
            <a:r>
              <a:rPr lang="en-US" sz="1400" dirty="0">
                <a:solidFill>
                  <a:schemeClr val="tx1"/>
                </a:solidFill>
              </a:rPr>
              <a:t>Er staan geen print-regels meer in die je alleen gebruikte om te zoeken</a:t>
            </a:r>
            <a:endParaRPr lang="en-US" sz="1400" dirty="0"/>
          </a:p>
        </p:txBody>
      </p:sp>
      <p:sp>
        <p:nvSpPr>
          <p:cNvPr id="39" name="kaart"/>
          <p:cNvSpPr/>
          <p:nvPr/>
        </p:nvSpPr>
        <p:spPr>
          <a:xfrm>
            <a:off x="6172200" y="5056632"/>
            <a:ext cx="5440680" cy="804672"/>
          </a:xfrm>
          <a:prstGeom prst="roundRect">
            <a:avLst>
              <a:gd name="adj" fmla="val 13636"/>
            </a:avLst>
          </a:prstGeom>
          <a:solidFill>
            <a:schemeClr val="bg2"/>
          </a:solidFill>
          <a:ln w="12700">
            <a:solidFill>
              <a:schemeClr val="bg2"/>
            </a:solidFill>
            <a:prstDash val="solid"/>
          </a:ln>
        </p:spPr>
      </p:sp>
      <p:pic>
        <p:nvPicPr>
          <p:cNvPr id="40" name="vakje" descr="preencoded.png">    </p:cNvPr>
          <p:cNvPicPr>
            <a:picLocks noChangeAspect="1"/>
          </p:cNvPicPr>
          <p:nvPr/>
        </p:nvPicPr>
        <p:blipFill>
          <a:blip r:embed="rId10"/>
          <a:stretch>
            <a:fillRect/>
          </a:stretch>
        </p:blipFill>
        <p:spPr>
          <a:xfrm>
            <a:off x="6355080" y="5303520"/>
            <a:ext cx="310896" cy="310896"/>
          </a:xfrm>
          <a:prstGeom prst="rect">
            <a:avLst/>
          </a:prstGeom>
        </p:spPr>
      </p:pic>
      <p:sp>
        <p:nvSpPr>
          <p:cNvPr id="41" name="Text 29"/>
          <p:cNvSpPr txBox="1"/>
          <p:nvPr/>
        </p:nvSpPr>
        <p:spPr>
          <a:xfrm>
            <a:off x="6766560" y="5056632"/>
            <a:ext cx="365760" cy="804672"/>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10</a:t>
            </a:r>
            <a:endParaRPr lang="en-US" sz="1600" dirty="0"/>
          </a:p>
        </p:txBody>
      </p:sp>
      <p:sp>
        <p:nvSpPr>
          <p:cNvPr id="42" name="Text 30"/>
          <p:cNvSpPr txBox="1"/>
          <p:nvPr/>
        </p:nvSpPr>
        <p:spPr>
          <a:xfrm>
            <a:off x="7178040" y="5056632"/>
            <a:ext cx="4297680" cy="804672"/>
          </a:xfrm>
          <a:prstGeom prst="rect">
            <a:avLst/>
          </a:prstGeom>
          <a:noFill/>
          <a:ln/>
        </p:spPr>
        <p:txBody>
          <a:bodyPr wrap="square" lIns="0" tIns="0" rIns="0" bIns="0" rtlCol="0" anchor="ctr"/>
          <a:lstStyle/>
          <a:p>
            <a:pPr indent="0" marL="0">
              <a:buNone/>
            </a:pPr>
            <a:r>
              <a:rPr lang="en-US" sz="1400" dirty="0">
                <a:solidFill>
                  <a:schemeClr val="tx1"/>
                </a:solidFill>
              </a:rPr>
              <a:t>De README bevat je naam, wat het programma doet, en hoe je het start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731520" y="3017520"/>
            <a:ext cx="10698480" cy="1097280"/>
          </a:xfrm>
          <a:prstGeom prst="rect">
            <a:avLst/>
          </a:prstGeom>
          <a:noFill/>
          <a:ln/>
        </p:spPr>
        <p:txBody>
          <a:bodyPr wrap="square" lIns="0" tIns="0" rIns="0" bIns="0" rtlCol="0" anchor="t"/>
          <a:lstStyle/>
          <a:p>
            <a:pPr algn="l" indent="0" marL="0">
              <a:buNone/>
            </a:pPr>
            <a:r>
              <a:rPr lang="en-US" sz="3800" b="1" dirty="0">
                <a:solidFill>
                  <a:schemeClr val="bg1"/>
                </a:solidFill>
              </a:rPr>
              <a:t>Klassikale oefening 29.1 — De eisen ontleden</a:t>
            </a:r>
            <a:endParaRPr lang="en-US" sz="4400" dirty="0"/>
          </a:p>
        </p:txBody>
      </p:sp>
      <p:sp>
        <p:nvSpPr>
          <p:cNvPr id="3" name="Text 0"/>
          <p:cNvSpPr/>
          <p:nvPr>
            <p:ph idx="100" type="body" hasCustomPrompt="1"/>
          </p:nvPr>
        </p:nvSpPr>
        <p:spPr>
          <a:xfrm>
            <a:off x="731520" y="1463040"/>
            <a:ext cx="3657600" cy="1463040"/>
          </a:xfrm>
          <a:prstGeom prst="rect">
            <a:avLst/>
          </a:prstGeom>
          <a:noFill/>
          <a:ln/>
        </p:spPr>
        <p:txBody>
          <a:bodyPr wrap="square" lIns="0" tIns="0" rIns="0" bIns="0" rtlCol="0" anchor="b"/>
          <a:lstStyle/>
          <a:p>
            <a:pPr indent="0" marL="0">
              <a:buNone/>
            </a:pPr>
            <a:r>
              <a:rPr lang="en-US" sz="9600" b="1" dirty="0">
                <a:solidFill>
                  <a:schemeClr val="accent1"/>
                </a:solidFill>
                <a:latin typeface="Cambria" pitchFamily="34" charset="0"/>
                <a:ea typeface="Cambria" pitchFamily="34" charset="-122"/>
                <a:cs typeface="Cambria" pitchFamily="34" charset="-120"/>
              </a:rPr>
              <a:t>29.8</a:t>
            </a:r>
            <a:endParaRPr lang="en-US" sz="9600" dirty="0"/>
          </a:p>
        </p:txBody>
      </p:sp>
      <p:sp>
        <p:nvSpPr>
          <p:cNvPr id="4" name="Text 0"/>
          <p:cNvSpPr/>
          <p:nvPr>
            <p:ph idx="102" type="body" hasCustomPrompt="1"/>
          </p:nvPr>
        </p:nvSpPr>
        <p:spPr>
          <a:xfrm>
            <a:off x="731520" y="4206240"/>
            <a:ext cx="9601200" cy="1097280"/>
          </a:xfrm>
          <a:prstGeom prst="rect">
            <a:avLst/>
          </a:prstGeom>
          <a:noFill/>
          <a:ln/>
        </p:spPr>
        <p:txBody>
          <a:bodyPr wrap="square" lIns="0" tIns="0" rIns="0" bIns="0" rtlCol="0" anchor="t"/>
          <a:lstStyle/>
          <a:p>
            <a:pPr indent="0" marL="0">
              <a:buNone/>
            </a:pPr>
            <a:r>
              <a:rPr lang="en-US" sz="2000" dirty="0">
                <a:solidFill>
                  <a:schemeClr val="bg2"/>
                </a:solidFill>
              </a:rPr>
              <a:t>Een brief van de klant, met opzet geschreven zoals klanten schrijven: onvolledig, tegenstrijdig en met aannames erin.</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Oefening 29.1 — De brief van de klant</a:t>
            </a:r>
            <a:endParaRPr lang="en-US" sz="3400" dirty="0"/>
          </a:p>
        </p:txBody>
      </p:sp>
      <p:sp>
        <p:nvSpPr>
          <p:cNvPr id="3" name="kaart"/>
          <p:cNvSpPr/>
          <p:nvPr/>
        </p:nvSpPr>
        <p:spPr>
          <a:xfrm>
            <a:off x="548640" y="1325880"/>
            <a:ext cx="6583680" cy="4663440"/>
          </a:xfrm>
          <a:prstGeom prst="roundRect">
            <a:avLst>
              <a:gd name="adj" fmla="val 2353"/>
            </a:avLst>
          </a:prstGeom>
          <a:solidFill>
            <a:schemeClr val="bg1"/>
          </a:solidFill>
          <a:ln w="12700">
            <a:solidFill>
              <a:schemeClr val="bg1"/>
            </a:solidFill>
            <a:prstDash val="solid"/>
          </a:ln>
          <a:effectLst>
            <a:outerShdw sx="100000" sy="100000" kx="0" ky="0" algn="bl" rotWithShape="0" blurRad="101600" dist="25400" dir="5400000">
              <a:srgbClr val="1B1F3B">
                <a:alpha val="12000"/>
              </a:srgbClr>
            </a:outerShdw>
          </a:effectLst>
        </p:spPr>
      </p:sp>
      <p:sp>
        <p:nvSpPr>
          <p:cNvPr id="4" name="streep"/>
          <p:cNvSpPr/>
          <p:nvPr/>
        </p:nvSpPr>
        <p:spPr>
          <a:xfrm>
            <a:off x="548640" y="1325880"/>
            <a:ext cx="109728" cy="4663440"/>
          </a:xfrm>
          <a:prstGeom prst="rect">
            <a:avLst/>
          </a:prstGeom>
          <a:solidFill>
            <a:schemeClr val="accent1"/>
          </a:solidFill>
          <a:ln w="12700">
            <a:solidFill>
              <a:schemeClr val="accent1"/>
            </a:solidFill>
            <a:prstDash val="solid"/>
          </a:ln>
        </p:spPr>
      </p:sp>
      <p:sp>
        <p:nvSpPr>
          <p:cNvPr id="5" name="icooncirkel"/>
          <p:cNvSpPr/>
          <p:nvPr/>
        </p:nvSpPr>
        <p:spPr>
          <a:xfrm>
            <a:off x="914400" y="1554480"/>
            <a:ext cx="594360" cy="594360"/>
          </a:xfrm>
          <a:prstGeom prst="ellipse">
            <a:avLst/>
          </a:prstGeom>
          <a:solidFill>
            <a:schemeClr val="accent1"/>
          </a:solidFill>
          <a:ln w="12700">
            <a:solidFill>
              <a:schemeClr val="accent1"/>
            </a:solidFill>
            <a:prstDash val="solid"/>
          </a:ln>
        </p:spPr>
      </p:sp>
      <p:pic>
        <p:nvPicPr>
          <p:cNvPr id="6" name="icoon" descr="preencoded.png">    </p:cNvPr>
          <p:cNvPicPr>
            <a:picLocks noChangeAspect="1"/>
          </p:cNvPicPr>
          <p:nvPr/>
        </p:nvPicPr>
        <p:blipFill>
          <a:blip r:embed="rId1"/>
          <a:stretch>
            <a:fillRect/>
          </a:stretch>
        </p:blipFill>
        <p:spPr>
          <a:xfrm>
            <a:off x="1062990" y="1703070"/>
            <a:ext cx="297180" cy="297180"/>
          </a:xfrm>
          <a:prstGeom prst="rect">
            <a:avLst/>
          </a:prstGeom>
        </p:spPr>
      </p:pic>
      <p:sp>
        <p:nvSpPr>
          <p:cNvPr id="7" name="Text 4"/>
          <p:cNvSpPr txBox="1"/>
          <p:nvPr/>
        </p:nvSpPr>
        <p:spPr>
          <a:xfrm>
            <a:off x="1691640" y="1719072"/>
            <a:ext cx="36576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TURNCLUB DE SPRONG</a:t>
            </a:r>
            <a:endParaRPr lang="en-US" sz="1200" dirty="0"/>
          </a:p>
        </p:txBody>
      </p:sp>
      <p:sp>
        <p:nvSpPr>
          <p:cNvPr id="8" name="Text 5"/>
          <p:cNvSpPr txBox="1"/>
          <p:nvPr/>
        </p:nvSpPr>
        <p:spPr>
          <a:xfrm>
            <a:off x="914400" y="2377440"/>
            <a:ext cx="5943600" cy="3474720"/>
          </a:xfrm>
          <a:prstGeom prst="rect">
            <a:avLst/>
          </a:prstGeom>
          <a:noFill/>
          <a:ln/>
        </p:spPr>
        <p:txBody>
          <a:bodyPr wrap="square" lIns="0" tIns="0" rIns="0" bIns="0" rtlCol="0" anchor="t"/>
          <a:lstStyle/>
          <a:p>
            <a:pPr indent="0" marL="0">
              <a:buNone/>
            </a:pPr>
            <a:r>
              <a:rPr lang="en-US" sz="1750" i="1" dirty="0">
                <a:solidFill>
                  <a:schemeClr val="tx1"/>
                </a:solidFill>
                <a:latin typeface="Cambria" pitchFamily="34" charset="0"/>
                <a:ea typeface="Cambria" pitchFamily="34" charset="-122"/>
                <a:cs typeface="Cambria" pitchFamily="34" charset="-120"/>
              </a:rPr>
              <a:t>Beste,</a:t>
            </a:r>
            <a:endParaRPr lang="en-US" sz="1750" dirty="0"/>
          </a:p>
          <a:p>
            <a:pPr indent="0" marL="0">
              <a:buNone/>
            </a:pPr>
            <a:r>
              <a:rPr lang="en-US" sz="800" i="1" dirty="0">
                <a:solidFill>
                  <a:schemeClr val="tx1"/>
                </a:solidFill>
                <a:latin typeface="Cambria" pitchFamily="34" charset="0"/>
                <a:ea typeface="Cambria" pitchFamily="34" charset="-122"/>
                <a:cs typeface="Cambria" pitchFamily="34" charset="-120"/>
              </a:rPr>
              <a:t> </a:t>
            </a:r>
            <a:endParaRPr lang="en-US" sz="1750" dirty="0"/>
          </a:p>
          <a:p>
            <a:pPr indent="0" marL="0">
              <a:buNone/>
            </a:pPr>
            <a:r>
              <a:rPr lang="en-US" sz="1750" i="1" dirty="0">
                <a:solidFill>
                  <a:schemeClr val="tx1"/>
                </a:solidFill>
                <a:latin typeface="Cambria" pitchFamily="34" charset="0"/>
                <a:ea typeface="Cambria" pitchFamily="34" charset="-122"/>
                <a:cs typeface="Cambria" pitchFamily="34" charset="-120"/>
              </a:rPr>
              <a:t>Wij zijn turnclub De Sprong. We hebben ongeveer tachtig leden, verdeeld over zes lesgroepen. Ik wil graag kunnen zien wie er in welke groep zit en wie zijn lidgeld betaald heeft. Het lidgeld is 120 euro per jaar, maar jongeren betalen minder, en wie twee kinderen inschrijft krijgt korting. Als iemand drie keer niet komt opdagen, moet hij uit de groep. Verder wil ik een lijst kunnen afdrukken van wie er nog moet betalen.</a:t>
            </a:r>
            <a:endParaRPr lang="en-US" sz="1750" dirty="0"/>
          </a:p>
          <a:p>
            <a:pPr indent="0" marL="0">
              <a:buNone/>
            </a:pPr>
            <a:r>
              <a:rPr lang="en-US" sz="800" i="1" dirty="0">
                <a:solidFill>
                  <a:schemeClr val="tx1"/>
                </a:solidFill>
                <a:latin typeface="Cambria" pitchFamily="34" charset="0"/>
                <a:ea typeface="Cambria" pitchFamily="34" charset="-122"/>
                <a:cs typeface="Cambria" pitchFamily="34" charset="-120"/>
              </a:rPr>
              <a:t> </a:t>
            </a:r>
            <a:endParaRPr lang="en-US" sz="1750" dirty="0"/>
          </a:p>
          <a:p>
            <a:pPr indent="0" marL="0">
              <a:buNone/>
            </a:pPr>
            <a:r>
              <a:rPr lang="en-US" sz="1750" i="1" dirty="0">
                <a:solidFill>
                  <a:schemeClr val="tx1"/>
                </a:solidFill>
                <a:latin typeface="Cambria" pitchFamily="34" charset="0"/>
                <a:ea typeface="Cambria" pitchFamily="34" charset="-122"/>
                <a:cs typeface="Cambria" pitchFamily="34" charset="-120"/>
              </a:rPr>
              <a:t>Het moet eenvoudig zijn, want ik ben niet zo technisch.</a:t>
            </a:r>
            <a:endParaRPr lang="en-US" sz="1750" dirty="0"/>
          </a:p>
        </p:txBody>
      </p:sp>
      <p:sp>
        <p:nvSpPr>
          <p:cNvPr id="9" name="Text 6"/>
          <p:cNvSpPr txBox="1"/>
          <p:nvPr/>
        </p:nvSpPr>
        <p:spPr>
          <a:xfrm>
            <a:off x="7452360" y="1325880"/>
            <a:ext cx="36576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WAT JE DOET</a:t>
            </a:r>
            <a:endParaRPr lang="en-US" sz="1200" dirty="0"/>
          </a:p>
        </p:txBody>
      </p:sp>
      <p:sp>
        <p:nvSpPr>
          <p:cNvPr id="10" name="nummercirkel"/>
          <p:cNvSpPr/>
          <p:nvPr/>
        </p:nvSpPr>
        <p:spPr>
          <a:xfrm>
            <a:off x="7452360" y="1828800"/>
            <a:ext cx="457200" cy="457200"/>
          </a:xfrm>
          <a:prstGeom prst="ellipse">
            <a:avLst/>
          </a:prstGeom>
          <a:solidFill>
            <a:schemeClr val="accent2"/>
          </a:solidFill>
          <a:ln w="12700">
            <a:solidFill>
              <a:schemeClr val="accent2"/>
            </a:solidFill>
            <a:prstDash val="solid"/>
          </a:ln>
        </p:spPr>
      </p:sp>
      <p:sp>
        <p:nvSpPr>
          <p:cNvPr id="11" name="Text 8"/>
          <p:cNvSpPr txBox="1"/>
          <p:nvPr/>
        </p:nvSpPr>
        <p:spPr>
          <a:xfrm>
            <a:off x="745236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12" name="Text 9"/>
          <p:cNvSpPr txBox="1"/>
          <p:nvPr/>
        </p:nvSpPr>
        <p:spPr>
          <a:xfrm>
            <a:off x="8092440" y="1737360"/>
            <a:ext cx="3520440" cy="685800"/>
          </a:xfrm>
          <a:prstGeom prst="rect">
            <a:avLst/>
          </a:prstGeom>
          <a:noFill/>
          <a:ln/>
        </p:spPr>
        <p:txBody>
          <a:bodyPr wrap="square" lIns="0" tIns="0" rIns="0" bIns="0" rtlCol="0" anchor="ctr"/>
          <a:lstStyle/>
          <a:p>
            <a:pPr indent="0" marL="0">
              <a:buNone/>
            </a:pPr>
            <a:r>
              <a:rPr lang="en-US" sz="1500" dirty="0">
                <a:solidFill>
                  <a:schemeClr val="tx1"/>
                </a:solidFill>
              </a:rPr>
              <a:t>Haal de functionele eisen eruit, en zet ze in een tabel.</a:t>
            </a:r>
            <a:endParaRPr lang="en-US" sz="1500" dirty="0"/>
          </a:p>
        </p:txBody>
      </p:sp>
      <p:sp>
        <p:nvSpPr>
          <p:cNvPr id="13" name="nummercirkel"/>
          <p:cNvSpPr/>
          <p:nvPr/>
        </p:nvSpPr>
        <p:spPr>
          <a:xfrm>
            <a:off x="7452360" y="2679192"/>
            <a:ext cx="457200" cy="457200"/>
          </a:xfrm>
          <a:prstGeom prst="ellipse">
            <a:avLst/>
          </a:prstGeom>
          <a:solidFill>
            <a:schemeClr val="accent2"/>
          </a:solidFill>
          <a:ln w="12700">
            <a:solidFill>
              <a:schemeClr val="accent2"/>
            </a:solidFill>
            <a:prstDash val="solid"/>
          </a:ln>
        </p:spPr>
      </p:sp>
      <p:sp>
        <p:nvSpPr>
          <p:cNvPr id="14" name="Text 11"/>
          <p:cNvSpPr txBox="1"/>
          <p:nvPr/>
        </p:nvSpPr>
        <p:spPr>
          <a:xfrm>
            <a:off x="7452360" y="26791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5" name="Text 12"/>
          <p:cNvSpPr txBox="1"/>
          <p:nvPr/>
        </p:nvSpPr>
        <p:spPr>
          <a:xfrm>
            <a:off x="8092440" y="2587752"/>
            <a:ext cx="3520440" cy="685800"/>
          </a:xfrm>
          <a:prstGeom prst="rect">
            <a:avLst/>
          </a:prstGeom>
          <a:noFill/>
          <a:ln/>
        </p:spPr>
        <p:txBody>
          <a:bodyPr wrap="square" lIns="0" tIns="0" rIns="0" bIns="0" rtlCol="0" anchor="ctr"/>
          <a:lstStyle/>
          <a:p>
            <a:pPr indent="0" marL="0">
              <a:buNone/>
            </a:pPr>
            <a:r>
              <a:rPr lang="en-US" sz="1500" dirty="0">
                <a:solidFill>
                  <a:schemeClr val="tx1"/>
                </a:solidFill>
              </a:rPr>
              <a:t>Leg het gegevensmodel vast: welke dingen, welke velden, welk type.</a:t>
            </a:r>
            <a:endParaRPr lang="en-US" sz="1500" dirty="0"/>
          </a:p>
        </p:txBody>
      </p:sp>
      <p:sp>
        <p:nvSpPr>
          <p:cNvPr id="16" name="nummercirkel"/>
          <p:cNvSpPr/>
          <p:nvPr/>
        </p:nvSpPr>
        <p:spPr>
          <a:xfrm>
            <a:off x="7452360" y="3529584"/>
            <a:ext cx="457200" cy="457200"/>
          </a:xfrm>
          <a:prstGeom prst="ellipse">
            <a:avLst/>
          </a:prstGeom>
          <a:solidFill>
            <a:schemeClr val="accent2"/>
          </a:solidFill>
          <a:ln w="12700">
            <a:solidFill>
              <a:schemeClr val="accent2"/>
            </a:solidFill>
            <a:prstDash val="solid"/>
          </a:ln>
        </p:spPr>
      </p:sp>
      <p:sp>
        <p:nvSpPr>
          <p:cNvPr id="17" name="Text 14"/>
          <p:cNvSpPr txBox="1"/>
          <p:nvPr/>
        </p:nvSpPr>
        <p:spPr>
          <a:xfrm>
            <a:off x="7452360" y="35295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18" name="Text 15"/>
          <p:cNvSpPr txBox="1"/>
          <p:nvPr/>
        </p:nvSpPr>
        <p:spPr>
          <a:xfrm>
            <a:off x="8092440" y="3438144"/>
            <a:ext cx="3520440" cy="685800"/>
          </a:xfrm>
          <a:prstGeom prst="rect">
            <a:avLst/>
          </a:prstGeom>
          <a:noFill/>
          <a:ln/>
        </p:spPr>
        <p:txBody>
          <a:bodyPr wrap="square" lIns="0" tIns="0" rIns="0" bIns="0" rtlCol="0" anchor="ctr"/>
          <a:lstStyle/>
          <a:p>
            <a:pPr indent="0" marL="0">
              <a:buNone/>
            </a:pPr>
            <a:r>
              <a:rPr lang="en-US" sz="1500" dirty="0">
                <a:solidFill>
                  <a:schemeClr val="tx1"/>
                </a:solidFill>
              </a:rPr>
              <a:t>Wijs de plaatsen aan waar de brief onvolledig of tegenstrijdig is.</a:t>
            </a:r>
            <a:endParaRPr lang="en-US" sz="1500" dirty="0"/>
          </a:p>
        </p:txBody>
      </p:sp>
      <p:sp>
        <p:nvSpPr>
          <p:cNvPr id="19" name="nummercirkel"/>
          <p:cNvSpPr/>
          <p:nvPr/>
        </p:nvSpPr>
        <p:spPr>
          <a:xfrm>
            <a:off x="7452360" y="4379976"/>
            <a:ext cx="457200" cy="457200"/>
          </a:xfrm>
          <a:prstGeom prst="ellipse">
            <a:avLst/>
          </a:prstGeom>
          <a:solidFill>
            <a:schemeClr val="accent2"/>
          </a:solidFill>
          <a:ln w="12700">
            <a:solidFill>
              <a:schemeClr val="accent2"/>
            </a:solidFill>
            <a:prstDash val="solid"/>
          </a:ln>
        </p:spPr>
      </p:sp>
      <p:sp>
        <p:nvSpPr>
          <p:cNvPr id="20" name="Text 17"/>
          <p:cNvSpPr txBox="1"/>
          <p:nvPr/>
        </p:nvSpPr>
        <p:spPr>
          <a:xfrm>
            <a:off x="7452360" y="43799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21" name="Text 18"/>
          <p:cNvSpPr txBox="1"/>
          <p:nvPr/>
        </p:nvSpPr>
        <p:spPr>
          <a:xfrm>
            <a:off x="8092440" y="4288536"/>
            <a:ext cx="3520440" cy="685800"/>
          </a:xfrm>
          <a:prstGeom prst="rect">
            <a:avLst/>
          </a:prstGeom>
          <a:noFill/>
          <a:ln/>
        </p:spPr>
        <p:txBody>
          <a:bodyPr wrap="square" lIns="0" tIns="0" rIns="0" bIns="0" rtlCol="0" anchor="ctr"/>
          <a:lstStyle/>
          <a:p>
            <a:pPr indent="0" marL="0">
              <a:buNone/>
            </a:pPr>
            <a:r>
              <a:rPr lang="en-US" sz="1500" dirty="0">
                <a:solidFill>
                  <a:schemeClr val="tx1"/>
                </a:solidFill>
              </a:rPr>
              <a:t>Formuleer de vragen die je aan de klant stelt vóór je begint.</a:t>
            </a:r>
            <a:endParaRPr lang="en-US" sz="1500" dirty="0"/>
          </a:p>
        </p:txBody>
      </p:sp>
      <p:sp>
        <p:nvSpPr>
          <p:cNvPr id="22" name="nummercirkel"/>
          <p:cNvSpPr/>
          <p:nvPr/>
        </p:nvSpPr>
        <p:spPr>
          <a:xfrm>
            <a:off x="7452360" y="5230368"/>
            <a:ext cx="457200" cy="457200"/>
          </a:xfrm>
          <a:prstGeom prst="ellipse">
            <a:avLst/>
          </a:prstGeom>
          <a:solidFill>
            <a:schemeClr val="accent2"/>
          </a:solidFill>
          <a:ln w="12700">
            <a:solidFill>
              <a:schemeClr val="accent2"/>
            </a:solidFill>
            <a:prstDash val="solid"/>
          </a:ln>
        </p:spPr>
      </p:sp>
      <p:sp>
        <p:nvSpPr>
          <p:cNvPr id="23" name="Text 20"/>
          <p:cNvSpPr txBox="1"/>
          <p:nvPr/>
        </p:nvSpPr>
        <p:spPr>
          <a:xfrm>
            <a:off x="7452360" y="52303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5</a:t>
            </a:r>
            <a:endParaRPr lang="en-US" sz="1600" dirty="0"/>
          </a:p>
        </p:txBody>
      </p:sp>
      <p:sp>
        <p:nvSpPr>
          <p:cNvPr id="24" name="Text 21"/>
          <p:cNvSpPr txBox="1"/>
          <p:nvPr/>
        </p:nvSpPr>
        <p:spPr>
          <a:xfrm>
            <a:off x="8092440" y="5138928"/>
            <a:ext cx="3520440" cy="685800"/>
          </a:xfrm>
          <a:prstGeom prst="rect">
            <a:avLst/>
          </a:prstGeom>
          <a:noFill/>
          <a:ln/>
        </p:spPr>
        <p:txBody>
          <a:bodyPr wrap="square" lIns="0" tIns="0" rIns="0" bIns="0" rtlCol="0" anchor="ctr"/>
          <a:lstStyle/>
          <a:p>
            <a:pPr indent="0" marL="0">
              <a:buNone/>
            </a:pPr>
            <a:r>
              <a:rPr lang="en-US" sz="1500" dirty="0">
                <a:solidFill>
                  <a:schemeClr val="tx1"/>
                </a:solidFill>
              </a:rPr>
              <a:t>Schrijf de belangrijkste rekenregel als contract.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Uitgewerkt: 1. de functionele eisen</a:t>
            </a:r>
            <a:endParaRPr lang="en-US" sz="3400" dirty="0"/>
          </a:p>
        </p:txBody>
      </p:sp>
      <p:sp>
        <p:nvSpPr>
          <p:cNvPr id="3" name="tabelkop"/>
          <p:cNvSpPr/>
          <p:nvPr/>
        </p:nvSpPr>
        <p:spPr>
          <a:xfrm>
            <a:off x="548640" y="1280160"/>
            <a:ext cx="11064240" cy="457200"/>
          </a:xfrm>
          <a:prstGeom prst="rect">
            <a:avLst/>
          </a:prstGeom>
          <a:solidFill>
            <a:schemeClr val="tx1"/>
          </a:solidFill>
          <a:ln w="12700">
            <a:solidFill>
              <a:schemeClr val="tx1"/>
            </a:solidFill>
            <a:prstDash val="solid"/>
          </a:ln>
        </p:spPr>
      </p:sp>
      <p:sp>
        <p:nvSpPr>
          <p:cNvPr id="4" name="Text 2"/>
          <p:cNvSpPr txBox="1"/>
          <p:nvPr/>
        </p:nvSpPr>
        <p:spPr>
          <a:xfrm>
            <a:off x="685800" y="1280160"/>
            <a:ext cx="457200" cy="457200"/>
          </a:xfrm>
          <a:prstGeom prst="rect">
            <a:avLst/>
          </a:prstGeom>
          <a:noFill/>
          <a:ln/>
        </p:spPr>
        <p:txBody>
          <a:bodyPr wrap="square" lIns="0" tIns="0" rIns="0" bIns="0" rtlCol="0" anchor="ctr"/>
          <a:lstStyle/>
          <a:p>
            <a:pPr indent="0" marL="0">
              <a:buNone/>
            </a:pPr>
            <a:r>
              <a:rPr lang="en-US" sz="1300" b="1" dirty="0">
                <a:solidFill>
                  <a:schemeClr val="bg1"/>
                </a:solidFill>
              </a:rPr>
              <a:t>Nr.</a:t>
            </a:r>
            <a:endParaRPr lang="en-US" sz="1300" dirty="0"/>
          </a:p>
        </p:txBody>
      </p:sp>
      <p:sp>
        <p:nvSpPr>
          <p:cNvPr id="5" name="Text 3"/>
          <p:cNvSpPr txBox="1"/>
          <p:nvPr/>
        </p:nvSpPr>
        <p:spPr>
          <a:xfrm>
            <a:off x="1417320" y="1280160"/>
            <a:ext cx="5486400" cy="457200"/>
          </a:xfrm>
          <a:prstGeom prst="rect">
            <a:avLst/>
          </a:prstGeom>
          <a:noFill/>
          <a:ln/>
        </p:spPr>
        <p:txBody>
          <a:bodyPr wrap="square" lIns="0" tIns="0" rIns="0" bIns="0" rtlCol="0" anchor="ctr"/>
          <a:lstStyle/>
          <a:p>
            <a:pPr indent="0" marL="0">
              <a:buNone/>
            </a:pPr>
            <a:r>
              <a:rPr lang="en-US" sz="1300" b="1" dirty="0">
                <a:solidFill>
                  <a:schemeClr val="bg1"/>
                </a:solidFill>
              </a:rPr>
              <a:t>Eis</a:t>
            </a:r>
            <a:endParaRPr lang="en-US" sz="1300" dirty="0"/>
          </a:p>
        </p:txBody>
      </p:sp>
      <p:sp>
        <p:nvSpPr>
          <p:cNvPr id="6" name="Text 4"/>
          <p:cNvSpPr txBox="1"/>
          <p:nvPr/>
        </p:nvSpPr>
        <p:spPr>
          <a:xfrm>
            <a:off x="7178040" y="1280160"/>
            <a:ext cx="4297680" cy="457200"/>
          </a:xfrm>
          <a:prstGeom prst="rect">
            <a:avLst/>
          </a:prstGeom>
          <a:noFill/>
          <a:ln/>
        </p:spPr>
        <p:txBody>
          <a:bodyPr wrap="square" lIns="0" tIns="0" rIns="0" bIns="0" rtlCol="0" anchor="ctr"/>
          <a:lstStyle/>
          <a:p>
            <a:pPr indent="0" marL="0">
              <a:buNone/>
            </a:pPr>
            <a:r>
              <a:rPr lang="en-US" sz="1300" b="1" dirty="0">
                <a:solidFill>
                  <a:schemeClr val="bg1"/>
                </a:solidFill>
              </a:rPr>
              <a:t>Uit welke zin</a:t>
            </a:r>
            <a:endParaRPr lang="en-US" sz="1300" dirty="0"/>
          </a:p>
        </p:txBody>
      </p:sp>
      <p:sp>
        <p:nvSpPr>
          <p:cNvPr id="7" name="tabelrij"/>
          <p:cNvSpPr/>
          <p:nvPr/>
        </p:nvSpPr>
        <p:spPr>
          <a:xfrm>
            <a:off x="548640" y="1737360"/>
            <a:ext cx="11064240" cy="484632"/>
          </a:xfrm>
          <a:prstGeom prst="rect">
            <a:avLst/>
          </a:prstGeom>
          <a:solidFill>
            <a:schemeClr val="bg2"/>
          </a:solidFill>
          <a:ln w="9525">
            <a:solidFill>
              <a:schemeClr val="bg2"/>
            </a:solidFill>
            <a:prstDash val="solid"/>
          </a:ln>
        </p:spPr>
      </p:sp>
      <p:sp>
        <p:nvSpPr>
          <p:cNvPr id="8" name="Text 6"/>
          <p:cNvSpPr txBox="1"/>
          <p:nvPr/>
        </p:nvSpPr>
        <p:spPr>
          <a:xfrm>
            <a:off x="685800" y="1737360"/>
            <a:ext cx="457200" cy="484632"/>
          </a:xfrm>
          <a:prstGeom prst="rect">
            <a:avLst/>
          </a:prstGeom>
          <a:noFill/>
          <a:ln/>
        </p:spPr>
        <p:txBody>
          <a:bodyPr wrap="square" lIns="0" tIns="0" rIns="0" bIns="0" rtlCol="0" anchor="ctr"/>
          <a:lstStyle/>
          <a:p>
            <a:pPr indent="0" marL="0">
              <a:buNone/>
            </a:pPr>
            <a:r>
              <a:rPr lang="en-US" sz="1400" b="1" dirty="0">
                <a:solidFill>
                  <a:schemeClr val="tx1"/>
                </a:solidFill>
              </a:rPr>
              <a:t>1</a:t>
            </a:r>
            <a:endParaRPr lang="en-US" sz="1400" dirty="0"/>
          </a:p>
        </p:txBody>
      </p:sp>
      <p:sp>
        <p:nvSpPr>
          <p:cNvPr id="9" name="Text 7"/>
          <p:cNvSpPr txBox="1"/>
          <p:nvPr/>
        </p:nvSpPr>
        <p:spPr>
          <a:xfrm>
            <a:off x="1417320" y="1737360"/>
            <a:ext cx="5486400" cy="484632"/>
          </a:xfrm>
          <a:prstGeom prst="rect">
            <a:avLst/>
          </a:prstGeom>
          <a:noFill/>
          <a:ln/>
        </p:spPr>
        <p:txBody>
          <a:bodyPr wrap="square" lIns="0" tIns="0" rIns="0" bIns="0" rtlCol="0" anchor="ctr"/>
          <a:lstStyle/>
          <a:p>
            <a:pPr indent="0" marL="0">
              <a:buNone/>
            </a:pPr>
            <a:r>
              <a:rPr lang="en-US" sz="1400" dirty="0">
                <a:solidFill>
                  <a:schemeClr val="tx1"/>
                </a:solidFill>
              </a:rPr>
              <a:t>Leden bewaren, met hun gegevens</a:t>
            </a:r>
            <a:endParaRPr lang="en-US" sz="1400" dirty="0"/>
          </a:p>
        </p:txBody>
      </p:sp>
      <p:sp>
        <p:nvSpPr>
          <p:cNvPr id="10" name="Text 8"/>
          <p:cNvSpPr txBox="1"/>
          <p:nvPr/>
        </p:nvSpPr>
        <p:spPr>
          <a:xfrm>
            <a:off x="7178040" y="1737360"/>
            <a:ext cx="4297680" cy="484632"/>
          </a:xfrm>
          <a:prstGeom prst="rect">
            <a:avLst/>
          </a:prstGeom>
          <a:noFill/>
          <a:ln/>
        </p:spPr>
        <p:txBody>
          <a:bodyPr wrap="square" lIns="0" tIns="0" rIns="0" bIns="0" rtlCol="0" anchor="ctr"/>
          <a:lstStyle/>
          <a:p>
            <a:pPr indent="0" marL="0">
              <a:buNone/>
            </a:pPr>
            <a:r>
              <a:rPr lang="en-US" sz="1400" dirty="0">
                <a:solidFill>
                  <a:schemeClr val="tx1"/>
                </a:solidFill>
              </a:rPr>
              <a:t>„tachtig leden”</a:t>
            </a:r>
            <a:endParaRPr lang="en-US" sz="1400" dirty="0"/>
          </a:p>
        </p:txBody>
      </p:sp>
      <p:sp>
        <p:nvSpPr>
          <p:cNvPr id="11" name="tabelrij"/>
          <p:cNvSpPr/>
          <p:nvPr/>
        </p:nvSpPr>
        <p:spPr>
          <a:xfrm>
            <a:off x="548640" y="2221992"/>
            <a:ext cx="11064240" cy="484632"/>
          </a:xfrm>
          <a:prstGeom prst="rect">
            <a:avLst/>
          </a:prstGeom>
          <a:solidFill>
            <a:schemeClr val="bg1"/>
          </a:solidFill>
          <a:ln w="9525">
            <a:solidFill>
              <a:schemeClr val="bg2"/>
            </a:solidFill>
            <a:prstDash val="solid"/>
          </a:ln>
        </p:spPr>
      </p:sp>
      <p:sp>
        <p:nvSpPr>
          <p:cNvPr id="12" name="Text 10"/>
          <p:cNvSpPr txBox="1"/>
          <p:nvPr/>
        </p:nvSpPr>
        <p:spPr>
          <a:xfrm>
            <a:off x="685800" y="2221992"/>
            <a:ext cx="457200" cy="484632"/>
          </a:xfrm>
          <a:prstGeom prst="rect">
            <a:avLst/>
          </a:prstGeom>
          <a:noFill/>
          <a:ln/>
        </p:spPr>
        <p:txBody>
          <a:bodyPr wrap="square" lIns="0" tIns="0" rIns="0" bIns="0" rtlCol="0" anchor="ctr"/>
          <a:lstStyle/>
          <a:p>
            <a:pPr indent="0" marL="0">
              <a:buNone/>
            </a:pPr>
            <a:r>
              <a:rPr lang="en-US" sz="1400" b="1" dirty="0">
                <a:solidFill>
                  <a:schemeClr val="tx1"/>
                </a:solidFill>
              </a:rPr>
              <a:t>2</a:t>
            </a:r>
            <a:endParaRPr lang="en-US" sz="1400" dirty="0"/>
          </a:p>
        </p:txBody>
      </p:sp>
      <p:sp>
        <p:nvSpPr>
          <p:cNvPr id="13" name="Text 11"/>
          <p:cNvSpPr txBox="1"/>
          <p:nvPr/>
        </p:nvSpPr>
        <p:spPr>
          <a:xfrm>
            <a:off x="1417320" y="2221992"/>
            <a:ext cx="5486400" cy="484632"/>
          </a:xfrm>
          <a:prstGeom prst="rect">
            <a:avLst/>
          </a:prstGeom>
          <a:noFill/>
          <a:ln/>
        </p:spPr>
        <p:txBody>
          <a:bodyPr wrap="square" lIns="0" tIns="0" rIns="0" bIns="0" rtlCol="0" anchor="ctr"/>
          <a:lstStyle/>
          <a:p>
            <a:pPr indent="0" marL="0">
              <a:buNone/>
            </a:pPr>
            <a:r>
              <a:rPr lang="en-US" sz="1400" dirty="0">
                <a:solidFill>
                  <a:schemeClr val="tx1"/>
                </a:solidFill>
              </a:rPr>
              <a:t>Lesgroepen bewaren en leden eraan koppelen</a:t>
            </a:r>
            <a:endParaRPr lang="en-US" sz="1400" dirty="0"/>
          </a:p>
        </p:txBody>
      </p:sp>
      <p:sp>
        <p:nvSpPr>
          <p:cNvPr id="14" name="Text 12"/>
          <p:cNvSpPr txBox="1"/>
          <p:nvPr/>
        </p:nvSpPr>
        <p:spPr>
          <a:xfrm>
            <a:off x="7178040" y="2221992"/>
            <a:ext cx="4297680" cy="484632"/>
          </a:xfrm>
          <a:prstGeom prst="rect">
            <a:avLst/>
          </a:prstGeom>
          <a:noFill/>
          <a:ln/>
        </p:spPr>
        <p:txBody>
          <a:bodyPr wrap="square" lIns="0" tIns="0" rIns="0" bIns="0" rtlCol="0" anchor="ctr"/>
          <a:lstStyle/>
          <a:p>
            <a:pPr indent="0" marL="0">
              <a:buNone/>
            </a:pPr>
            <a:r>
              <a:rPr lang="en-US" sz="1400" dirty="0">
                <a:solidFill>
                  <a:schemeClr val="tx1"/>
                </a:solidFill>
              </a:rPr>
              <a:t>„zes lesgroepen”</a:t>
            </a:r>
            <a:endParaRPr lang="en-US" sz="1400" dirty="0"/>
          </a:p>
        </p:txBody>
      </p:sp>
      <p:sp>
        <p:nvSpPr>
          <p:cNvPr id="15" name="tabelrij"/>
          <p:cNvSpPr/>
          <p:nvPr/>
        </p:nvSpPr>
        <p:spPr>
          <a:xfrm>
            <a:off x="548640" y="2706624"/>
            <a:ext cx="11064240" cy="484632"/>
          </a:xfrm>
          <a:prstGeom prst="rect">
            <a:avLst/>
          </a:prstGeom>
          <a:solidFill>
            <a:schemeClr val="bg2"/>
          </a:solidFill>
          <a:ln w="9525">
            <a:solidFill>
              <a:schemeClr val="bg2"/>
            </a:solidFill>
            <a:prstDash val="solid"/>
          </a:ln>
        </p:spPr>
      </p:sp>
      <p:sp>
        <p:nvSpPr>
          <p:cNvPr id="16" name="Text 14"/>
          <p:cNvSpPr txBox="1"/>
          <p:nvPr/>
        </p:nvSpPr>
        <p:spPr>
          <a:xfrm>
            <a:off x="685800" y="2706624"/>
            <a:ext cx="457200" cy="484632"/>
          </a:xfrm>
          <a:prstGeom prst="rect">
            <a:avLst/>
          </a:prstGeom>
          <a:noFill/>
          <a:ln/>
        </p:spPr>
        <p:txBody>
          <a:bodyPr wrap="square" lIns="0" tIns="0" rIns="0" bIns="0" rtlCol="0" anchor="ctr"/>
          <a:lstStyle/>
          <a:p>
            <a:pPr indent="0" marL="0">
              <a:buNone/>
            </a:pPr>
            <a:r>
              <a:rPr lang="en-US" sz="1400" b="1" dirty="0">
                <a:solidFill>
                  <a:schemeClr val="tx1"/>
                </a:solidFill>
              </a:rPr>
              <a:t>3</a:t>
            </a:r>
            <a:endParaRPr lang="en-US" sz="1400" dirty="0"/>
          </a:p>
        </p:txBody>
      </p:sp>
      <p:sp>
        <p:nvSpPr>
          <p:cNvPr id="17" name="Text 15"/>
          <p:cNvSpPr txBox="1"/>
          <p:nvPr/>
        </p:nvSpPr>
        <p:spPr>
          <a:xfrm>
            <a:off x="1417320" y="2706624"/>
            <a:ext cx="5486400" cy="484632"/>
          </a:xfrm>
          <a:prstGeom prst="rect">
            <a:avLst/>
          </a:prstGeom>
          <a:noFill/>
          <a:ln/>
        </p:spPr>
        <p:txBody>
          <a:bodyPr wrap="square" lIns="0" tIns="0" rIns="0" bIns="0" rtlCol="0" anchor="ctr"/>
          <a:lstStyle/>
          <a:p>
            <a:pPr indent="0" marL="0">
              <a:buNone/>
            </a:pPr>
            <a:r>
              <a:rPr lang="en-US" sz="1400" dirty="0">
                <a:solidFill>
                  <a:schemeClr val="tx1"/>
                </a:solidFill>
              </a:rPr>
              <a:t>Tonen wie in welke groep zit</a:t>
            </a:r>
            <a:endParaRPr lang="en-US" sz="1400" dirty="0"/>
          </a:p>
        </p:txBody>
      </p:sp>
      <p:sp>
        <p:nvSpPr>
          <p:cNvPr id="18" name="Text 16"/>
          <p:cNvSpPr txBox="1"/>
          <p:nvPr/>
        </p:nvSpPr>
        <p:spPr>
          <a:xfrm>
            <a:off x="7178040" y="2706624"/>
            <a:ext cx="4297680" cy="484632"/>
          </a:xfrm>
          <a:prstGeom prst="rect">
            <a:avLst/>
          </a:prstGeom>
          <a:noFill/>
          <a:ln/>
        </p:spPr>
        <p:txBody>
          <a:bodyPr wrap="square" lIns="0" tIns="0" rIns="0" bIns="0" rtlCol="0" anchor="ctr"/>
          <a:lstStyle/>
          <a:p>
            <a:pPr indent="0" marL="0">
              <a:buNone/>
            </a:pPr>
            <a:r>
              <a:rPr lang="en-US" sz="1400" dirty="0">
                <a:solidFill>
                  <a:schemeClr val="tx1"/>
                </a:solidFill>
              </a:rPr>
              <a:t>„wie er in welke groep zit”</a:t>
            </a:r>
            <a:endParaRPr lang="en-US" sz="1400" dirty="0"/>
          </a:p>
        </p:txBody>
      </p:sp>
      <p:sp>
        <p:nvSpPr>
          <p:cNvPr id="19" name="tabelrij"/>
          <p:cNvSpPr/>
          <p:nvPr/>
        </p:nvSpPr>
        <p:spPr>
          <a:xfrm>
            <a:off x="548640" y="3191256"/>
            <a:ext cx="11064240" cy="484632"/>
          </a:xfrm>
          <a:prstGeom prst="rect">
            <a:avLst/>
          </a:prstGeom>
          <a:solidFill>
            <a:schemeClr val="bg1"/>
          </a:solidFill>
          <a:ln w="9525">
            <a:solidFill>
              <a:schemeClr val="bg2"/>
            </a:solidFill>
            <a:prstDash val="solid"/>
          </a:ln>
        </p:spPr>
      </p:sp>
      <p:sp>
        <p:nvSpPr>
          <p:cNvPr id="20" name="Text 18"/>
          <p:cNvSpPr txBox="1"/>
          <p:nvPr/>
        </p:nvSpPr>
        <p:spPr>
          <a:xfrm>
            <a:off x="685800" y="3191256"/>
            <a:ext cx="457200" cy="484632"/>
          </a:xfrm>
          <a:prstGeom prst="rect">
            <a:avLst/>
          </a:prstGeom>
          <a:noFill/>
          <a:ln/>
        </p:spPr>
        <p:txBody>
          <a:bodyPr wrap="square" lIns="0" tIns="0" rIns="0" bIns="0" rtlCol="0" anchor="ctr"/>
          <a:lstStyle/>
          <a:p>
            <a:pPr indent="0" marL="0">
              <a:buNone/>
            </a:pPr>
            <a:r>
              <a:rPr lang="en-US" sz="1400" b="1" dirty="0">
                <a:solidFill>
                  <a:schemeClr val="tx1"/>
                </a:solidFill>
              </a:rPr>
              <a:t>4</a:t>
            </a:r>
            <a:endParaRPr lang="en-US" sz="1400" dirty="0"/>
          </a:p>
        </p:txBody>
      </p:sp>
      <p:sp>
        <p:nvSpPr>
          <p:cNvPr id="21" name="Text 19"/>
          <p:cNvSpPr txBox="1"/>
          <p:nvPr/>
        </p:nvSpPr>
        <p:spPr>
          <a:xfrm>
            <a:off x="1417320" y="3191256"/>
            <a:ext cx="5486400" cy="484632"/>
          </a:xfrm>
          <a:prstGeom prst="rect">
            <a:avLst/>
          </a:prstGeom>
          <a:noFill/>
          <a:ln/>
        </p:spPr>
        <p:txBody>
          <a:bodyPr wrap="square" lIns="0" tIns="0" rIns="0" bIns="0" rtlCol="0" anchor="ctr"/>
          <a:lstStyle/>
          <a:p>
            <a:pPr indent="0" marL="0">
              <a:buNone/>
            </a:pPr>
            <a:r>
              <a:rPr lang="en-US" sz="1400" dirty="0">
                <a:solidFill>
                  <a:schemeClr val="tx1"/>
                </a:solidFill>
              </a:rPr>
              <a:t>Betaalstatus per lid bijhouden</a:t>
            </a:r>
            <a:endParaRPr lang="en-US" sz="1400" dirty="0"/>
          </a:p>
        </p:txBody>
      </p:sp>
      <p:sp>
        <p:nvSpPr>
          <p:cNvPr id="22" name="Text 20"/>
          <p:cNvSpPr txBox="1"/>
          <p:nvPr/>
        </p:nvSpPr>
        <p:spPr>
          <a:xfrm>
            <a:off x="7178040" y="3191256"/>
            <a:ext cx="4297680" cy="484632"/>
          </a:xfrm>
          <a:prstGeom prst="rect">
            <a:avLst/>
          </a:prstGeom>
          <a:noFill/>
          <a:ln/>
        </p:spPr>
        <p:txBody>
          <a:bodyPr wrap="square" lIns="0" tIns="0" rIns="0" bIns="0" rtlCol="0" anchor="ctr"/>
          <a:lstStyle/>
          <a:p>
            <a:pPr indent="0" marL="0">
              <a:buNone/>
            </a:pPr>
            <a:r>
              <a:rPr lang="en-US" sz="1400" dirty="0">
                <a:solidFill>
                  <a:schemeClr val="tx1"/>
                </a:solidFill>
              </a:rPr>
              <a:t>„wie zijn lidgeld betaald heeft”</a:t>
            </a:r>
            <a:endParaRPr lang="en-US" sz="1400" dirty="0"/>
          </a:p>
        </p:txBody>
      </p:sp>
      <p:sp>
        <p:nvSpPr>
          <p:cNvPr id="23" name="tabelrij"/>
          <p:cNvSpPr/>
          <p:nvPr/>
        </p:nvSpPr>
        <p:spPr>
          <a:xfrm>
            <a:off x="548640" y="3675888"/>
            <a:ext cx="11064240" cy="484632"/>
          </a:xfrm>
          <a:prstGeom prst="rect">
            <a:avLst/>
          </a:prstGeom>
          <a:solidFill>
            <a:srgbClr val="F4A259"/>
          </a:solidFill>
          <a:ln w="9525">
            <a:solidFill>
              <a:schemeClr val="bg2"/>
            </a:solidFill>
            <a:prstDash val="solid"/>
          </a:ln>
        </p:spPr>
      </p:sp>
      <p:sp>
        <p:nvSpPr>
          <p:cNvPr id="24" name="Text 22"/>
          <p:cNvSpPr txBox="1"/>
          <p:nvPr/>
        </p:nvSpPr>
        <p:spPr>
          <a:xfrm>
            <a:off x="685800" y="3675888"/>
            <a:ext cx="457200" cy="484632"/>
          </a:xfrm>
          <a:prstGeom prst="rect">
            <a:avLst/>
          </a:prstGeom>
          <a:noFill/>
          <a:ln/>
        </p:spPr>
        <p:txBody>
          <a:bodyPr wrap="square" lIns="0" tIns="0" rIns="0" bIns="0" rtlCol="0" anchor="ctr"/>
          <a:lstStyle/>
          <a:p>
            <a:pPr indent="0" marL="0">
              <a:buNone/>
            </a:pPr>
            <a:r>
              <a:rPr lang="en-US" sz="1400" b="1" dirty="0">
                <a:solidFill>
                  <a:schemeClr val="tx1"/>
                </a:solidFill>
              </a:rPr>
              <a:t>5</a:t>
            </a:r>
            <a:endParaRPr lang="en-US" sz="1400" dirty="0"/>
          </a:p>
        </p:txBody>
      </p:sp>
      <p:sp>
        <p:nvSpPr>
          <p:cNvPr id="25" name="Text 23"/>
          <p:cNvSpPr txBox="1"/>
          <p:nvPr/>
        </p:nvSpPr>
        <p:spPr>
          <a:xfrm>
            <a:off x="1417320" y="3675888"/>
            <a:ext cx="5486400" cy="484632"/>
          </a:xfrm>
          <a:prstGeom prst="rect">
            <a:avLst/>
          </a:prstGeom>
          <a:noFill/>
          <a:ln/>
        </p:spPr>
        <p:txBody>
          <a:bodyPr wrap="square" lIns="0" tIns="0" rIns="0" bIns="0" rtlCol="0" anchor="ctr"/>
          <a:lstStyle/>
          <a:p>
            <a:pPr indent="0" marL="0">
              <a:buNone/>
            </a:pPr>
            <a:r>
              <a:rPr lang="en-US" sz="1400" dirty="0">
                <a:solidFill>
                  <a:schemeClr val="tx1"/>
                </a:solidFill>
              </a:rPr>
              <a:t>Lidgeld berekenen, met leeftijdstarief en gezinskorting</a:t>
            </a:r>
            <a:endParaRPr lang="en-US" sz="1400" dirty="0"/>
          </a:p>
        </p:txBody>
      </p:sp>
      <p:sp>
        <p:nvSpPr>
          <p:cNvPr id="26" name="Text 24"/>
          <p:cNvSpPr txBox="1"/>
          <p:nvPr/>
        </p:nvSpPr>
        <p:spPr>
          <a:xfrm>
            <a:off x="7178040" y="3675888"/>
            <a:ext cx="4297680" cy="484632"/>
          </a:xfrm>
          <a:prstGeom prst="rect">
            <a:avLst/>
          </a:prstGeom>
          <a:noFill/>
          <a:ln/>
        </p:spPr>
        <p:txBody>
          <a:bodyPr wrap="square" lIns="0" tIns="0" rIns="0" bIns="0" rtlCol="0" anchor="ctr"/>
          <a:lstStyle/>
          <a:p>
            <a:pPr indent="0" marL="0">
              <a:buNone/>
            </a:pPr>
            <a:r>
              <a:rPr lang="en-US" sz="1400" dirty="0">
                <a:solidFill>
                  <a:schemeClr val="tx1"/>
                </a:solidFill>
              </a:rPr>
              <a:t>„jongeren betalen minder”, „korting”</a:t>
            </a:r>
            <a:endParaRPr lang="en-US" sz="1400" dirty="0"/>
          </a:p>
        </p:txBody>
      </p:sp>
      <p:sp>
        <p:nvSpPr>
          <p:cNvPr id="27" name="tabelrij"/>
          <p:cNvSpPr/>
          <p:nvPr/>
        </p:nvSpPr>
        <p:spPr>
          <a:xfrm>
            <a:off x="548640" y="4160520"/>
            <a:ext cx="11064240" cy="484632"/>
          </a:xfrm>
          <a:prstGeom prst="rect">
            <a:avLst/>
          </a:prstGeom>
          <a:solidFill>
            <a:schemeClr val="bg1"/>
          </a:solidFill>
          <a:ln w="9525">
            <a:solidFill>
              <a:schemeClr val="bg2"/>
            </a:solidFill>
            <a:prstDash val="solid"/>
          </a:ln>
        </p:spPr>
      </p:sp>
      <p:sp>
        <p:nvSpPr>
          <p:cNvPr id="28" name="Text 26"/>
          <p:cNvSpPr txBox="1"/>
          <p:nvPr/>
        </p:nvSpPr>
        <p:spPr>
          <a:xfrm>
            <a:off x="685800" y="4160520"/>
            <a:ext cx="457200" cy="484632"/>
          </a:xfrm>
          <a:prstGeom prst="rect">
            <a:avLst/>
          </a:prstGeom>
          <a:noFill/>
          <a:ln/>
        </p:spPr>
        <p:txBody>
          <a:bodyPr wrap="square" lIns="0" tIns="0" rIns="0" bIns="0" rtlCol="0" anchor="ctr"/>
          <a:lstStyle/>
          <a:p>
            <a:pPr indent="0" marL="0">
              <a:buNone/>
            </a:pPr>
            <a:r>
              <a:rPr lang="en-US" sz="1400" b="1" dirty="0">
                <a:solidFill>
                  <a:schemeClr val="tx1"/>
                </a:solidFill>
              </a:rPr>
              <a:t>6</a:t>
            </a:r>
            <a:endParaRPr lang="en-US" sz="1400" dirty="0"/>
          </a:p>
        </p:txBody>
      </p:sp>
      <p:sp>
        <p:nvSpPr>
          <p:cNvPr id="29" name="Text 27"/>
          <p:cNvSpPr txBox="1"/>
          <p:nvPr/>
        </p:nvSpPr>
        <p:spPr>
          <a:xfrm>
            <a:off x="1417320" y="4160520"/>
            <a:ext cx="5486400" cy="484632"/>
          </a:xfrm>
          <a:prstGeom prst="rect">
            <a:avLst/>
          </a:prstGeom>
          <a:noFill/>
          <a:ln/>
        </p:spPr>
        <p:txBody>
          <a:bodyPr wrap="square" lIns="0" tIns="0" rIns="0" bIns="0" rtlCol="0" anchor="ctr"/>
          <a:lstStyle/>
          <a:p>
            <a:pPr indent="0" marL="0">
              <a:buNone/>
            </a:pPr>
            <a:r>
              <a:rPr lang="en-US" sz="1400" dirty="0">
                <a:solidFill>
                  <a:schemeClr val="tx1"/>
                </a:solidFill>
              </a:rPr>
              <a:t>Aanwezigheden bijhouden per les</a:t>
            </a:r>
            <a:endParaRPr lang="en-US" sz="1400" dirty="0"/>
          </a:p>
        </p:txBody>
      </p:sp>
      <p:sp>
        <p:nvSpPr>
          <p:cNvPr id="30" name="Text 28"/>
          <p:cNvSpPr txBox="1"/>
          <p:nvPr/>
        </p:nvSpPr>
        <p:spPr>
          <a:xfrm>
            <a:off x="7178040" y="4160520"/>
            <a:ext cx="4297680" cy="484632"/>
          </a:xfrm>
          <a:prstGeom prst="rect">
            <a:avLst/>
          </a:prstGeom>
          <a:noFill/>
          <a:ln/>
        </p:spPr>
        <p:txBody>
          <a:bodyPr wrap="square" lIns="0" tIns="0" rIns="0" bIns="0" rtlCol="0" anchor="ctr"/>
          <a:lstStyle/>
          <a:p>
            <a:pPr indent="0" marL="0">
              <a:buNone/>
            </a:pPr>
            <a:r>
              <a:rPr lang="en-US" sz="1400" dirty="0">
                <a:solidFill>
                  <a:schemeClr val="tx1"/>
                </a:solidFill>
              </a:rPr>
              <a:t>„drie keer niet komt opdagen”</a:t>
            </a:r>
            <a:endParaRPr lang="en-US" sz="1400" dirty="0"/>
          </a:p>
        </p:txBody>
      </p:sp>
      <p:sp>
        <p:nvSpPr>
          <p:cNvPr id="31" name="tabelrij"/>
          <p:cNvSpPr/>
          <p:nvPr/>
        </p:nvSpPr>
        <p:spPr>
          <a:xfrm>
            <a:off x="548640" y="4645152"/>
            <a:ext cx="11064240" cy="484632"/>
          </a:xfrm>
          <a:prstGeom prst="rect">
            <a:avLst/>
          </a:prstGeom>
          <a:solidFill>
            <a:schemeClr val="bg2"/>
          </a:solidFill>
          <a:ln w="9525">
            <a:solidFill>
              <a:schemeClr val="bg2"/>
            </a:solidFill>
            <a:prstDash val="solid"/>
          </a:ln>
        </p:spPr>
      </p:sp>
      <p:sp>
        <p:nvSpPr>
          <p:cNvPr id="32" name="Text 30"/>
          <p:cNvSpPr txBox="1"/>
          <p:nvPr/>
        </p:nvSpPr>
        <p:spPr>
          <a:xfrm>
            <a:off x="685800" y="4645152"/>
            <a:ext cx="457200" cy="484632"/>
          </a:xfrm>
          <a:prstGeom prst="rect">
            <a:avLst/>
          </a:prstGeom>
          <a:noFill/>
          <a:ln/>
        </p:spPr>
        <p:txBody>
          <a:bodyPr wrap="square" lIns="0" tIns="0" rIns="0" bIns="0" rtlCol="0" anchor="ctr"/>
          <a:lstStyle/>
          <a:p>
            <a:pPr indent="0" marL="0">
              <a:buNone/>
            </a:pPr>
            <a:r>
              <a:rPr lang="en-US" sz="1400" b="1" dirty="0">
                <a:solidFill>
                  <a:schemeClr val="tx1"/>
                </a:solidFill>
              </a:rPr>
              <a:t>7</a:t>
            </a:r>
            <a:endParaRPr lang="en-US" sz="1400" dirty="0"/>
          </a:p>
        </p:txBody>
      </p:sp>
      <p:sp>
        <p:nvSpPr>
          <p:cNvPr id="33" name="Text 31"/>
          <p:cNvSpPr txBox="1"/>
          <p:nvPr/>
        </p:nvSpPr>
        <p:spPr>
          <a:xfrm>
            <a:off x="1417320" y="4645152"/>
            <a:ext cx="5486400" cy="484632"/>
          </a:xfrm>
          <a:prstGeom prst="rect">
            <a:avLst/>
          </a:prstGeom>
          <a:noFill/>
          <a:ln/>
        </p:spPr>
        <p:txBody>
          <a:bodyPr wrap="square" lIns="0" tIns="0" rIns="0" bIns="0" rtlCol="0" anchor="ctr"/>
          <a:lstStyle/>
          <a:p>
            <a:pPr indent="0" marL="0">
              <a:buNone/>
            </a:pPr>
            <a:r>
              <a:rPr lang="en-US" sz="1400" dirty="0">
                <a:solidFill>
                  <a:schemeClr val="tx1"/>
                </a:solidFill>
              </a:rPr>
              <a:t>Een lid uit een groep zetten na drie afwezigheden</a:t>
            </a:r>
            <a:endParaRPr lang="en-US" sz="1400" dirty="0"/>
          </a:p>
        </p:txBody>
      </p:sp>
      <p:sp>
        <p:nvSpPr>
          <p:cNvPr id="34" name="Text 32"/>
          <p:cNvSpPr txBox="1"/>
          <p:nvPr/>
        </p:nvSpPr>
        <p:spPr>
          <a:xfrm>
            <a:off x="7178040" y="4645152"/>
            <a:ext cx="4297680" cy="484632"/>
          </a:xfrm>
          <a:prstGeom prst="rect">
            <a:avLst/>
          </a:prstGeom>
          <a:noFill/>
          <a:ln/>
        </p:spPr>
        <p:txBody>
          <a:bodyPr wrap="square" lIns="0" tIns="0" rIns="0" bIns="0" rtlCol="0" anchor="ctr"/>
          <a:lstStyle/>
          <a:p>
            <a:pPr indent="0" marL="0">
              <a:buNone/>
            </a:pPr>
            <a:r>
              <a:rPr lang="en-US" sz="1400" dirty="0">
                <a:solidFill>
                  <a:schemeClr val="tx1"/>
                </a:solidFill>
              </a:rPr>
              <a:t>Dezelfde zin</a:t>
            </a:r>
            <a:endParaRPr lang="en-US" sz="1400" dirty="0"/>
          </a:p>
        </p:txBody>
      </p:sp>
      <p:sp>
        <p:nvSpPr>
          <p:cNvPr id="35" name="tabelrij"/>
          <p:cNvSpPr/>
          <p:nvPr/>
        </p:nvSpPr>
        <p:spPr>
          <a:xfrm>
            <a:off x="548640" y="5129784"/>
            <a:ext cx="11064240" cy="484632"/>
          </a:xfrm>
          <a:prstGeom prst="rect">
            <a:avLst/>
          </a:prstGeom>
          <a:solidFill>
            <a:schemeClr val="bg1"/>
          </a:solidFill>
          <a:ln w="9525">
            <a:solidFill>
              <a:schemeClr val="bg2"/>
            </a:solidFill>
            <a:prstDash val="solid"/>
          </a:ln>
        </p:spPr>
      </p:sp>
      <p:sp>
        <p:nvSpPr>
          <p:cNvPr id="36" name="Text 34"/>
          <p:cNvSpPr txBox="1"/>
          <p:nvPr/>
        </p:nvSpPr>
        <p:spPr>
          <a:xfrm>
            <a:off x="685800" y="5129784"/>
            <a:ext cx="457200" cy="484632"/>
          </a:xfrm>
          <a:prstGeom prst="rect">
            <a:avLst/>
          </a:prstGeom>
          <a:noFill/>
          <a:ln/>
        </p:spPr>
        <p:txBody>
          <a:bodyPr wrap="square" lIns="0" tIns="0" rIns="0" bIns="0" rtlCol="0" anchor="ctr"/>
          <a:lstStyle/>
          <a:p>
            <a:pPr indent="0" marL="0">
              <a:buNone/>
            </a:pPr>
            <a:r>
              <a:rPr lang="en-US" sz="1400" b="1" dirty="0">
                <a:solidFill>
                  <a:schemeClr val="tx1"/>
                </a:solidFill>
              </a:rPr>
              <a:t>8</a:t>
            </a:r>
            <a:endParaRPr lang="en-US" sz="1400" dirty="0"/>
          </a:p>
        </p:txBody>
      </p:sp>
      <p:sp>
        <p:nvSpPr>
          <p:cNvPr id="37" name="Text 35"/>
          <p:cNvSpPr txBox="1"/>
          <p:nvPr/>
        </p:nvSpPr>
        <p:spPr>
          <a:xfrm>
            <a:off x="1417320" y="5129784"/>
            <a:ext cx="5486400" cy="484632"/>
          </a:xfrm>
          <a:prstGeom prst="rect">
            <a:avLst/>
          </a:prstGeom>
          <a:noFill/>
          <a:ln/>
        </p:spPr>
        <p:txBody>
          <a:bodyPr wrap="square" lIns="0" tIns="0" rIns="0" bIns="0" rtlCol="0" anchor="ctr"/>
          <a:lstStyle/>
          <a:p>
            <a:pPr indent="0" marL="0">
              <a:buNone/>
            </a:pPr>
            <a:r>
              <a:rPr lang="en-US" sz="1400" dirty="0">
                <a:solidFill>
                  <a:schemeClr val="tx1"/>
                </a:solidFill>
              </a:rPr>
              <a:t>Een lijst van wanbetalers tonen of exporteren</a:t>
            </a:r>
            <a:endParaRPr lang="en-US" sz="1400" dirty="0"/>
          </a:p>
        </p:txBody>
      </p:sp>
      <p:sp>
        <p:nvSpPr>
          <p:cNvPr id="38" name="Text 36"/>
          <p:cNvSpPr txBox="1"/>
          <p:nvPr/>
        </p:nvSpPr>
        <p:spPr>
          <a:xfrm>
            <a:off x="7178040" y="5129784"/>
            <a:ext cx="4297680" cy="484632"/>
          </a:xfrm>
          <a:prstGeom prst="rect">
            <a:avLst/>
          </a:prstGeom>
          <a:noFill/>
          <a:ln/>
        </p:spPr>
        <p:txBody>
          <a:bodyPr wrap="square" lIns="0" tIns="0" rIns="0" bIns="0" rtlCol="0" anchor="ctr"/>
          <a:lstStyle/>
          <a:p>
            <a:pPr indent="0" marL="0">
              <a:buNone/>
            </a:pPr>
            <a:r>
              <a:rPr lang="en-US" sz="1400" dirty="0">
                <a:solidFill>
                  <a:schemeClr val="tx1"/>
                </a:solidFill>
              </a:rPr>
              <a:t>„wie er nog moet betalen”</a:t>
            </a:r>
            <a:endParaRPr lang="en-US" sz="1400" dirty="0"/>
          </a:p>
        </p:txBody>
      </p:sp>
      <p:sp>
        <p:nvSpPr>
          <p:cNvPr id="39" name="Text 37"/>
          <p:cNvSpPr txBox="1"/>
          <p:nvPr/>
        </p:nvSpPr>
        <p:spPr>
          <a:xfrm>
            <a:off x="548640" y="5824728"/>
            <a:ext cx="11064240" cy="365760"/>
          </a:xfrm>
          <a:prstGeom prst="rect">
            <a:avLst/>
          </a:prstGeom>
          <a:noFill/>
          <a:ln/>
        </p:spPr>
        <p:txBody>
          <a:bodyPr wrap="square" lIns="0" tIns="0" rIns="0" bIns="0" rtlCol="0" anchor="t"/>
          <a:lstStyle/>
          <a:p>
            <a:pPr indent="0" marL="0">
              <a:buNone/>
            </a:pPr>
            <a:r>
              <a:rPr lang="en-US" sz="1400" i="1" dirty="0">
                <a:solidFill>
                  <a:schemeClr val="tx2"/>
                </a:solidFill>
              </a:rPr>
              <a:t>Bij elke eis staat de zin waar ze vandaan komt. Zo kun je later altijd nagaan of je iets bedacht hebt of gevraagd kreeg.</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Uitgewerkt: 2. het gegevensmodel</a:t>
            </a:r>
            <a:endParaRPr lang="en-US" sz="3400" dirty="0"/>
          </a:p>
        </p:txBody>
      </p:sp>
      <p:sp>
        <p:nvSpPr>
          <p:cNvPr id="3" name="Text 1"/>
          <p:cNvSpPr txBox="1"/>
          <p:nvPr/>
        </p:nvSpPr>
        <p:spPr>
          <a:xfrm>
            <a:off x="548640" y="1280160"/>
            <a:ext cx="27432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LID</a:t>
            </a:r>
            <a:endParaRPr lang="en-US" sz="1200" dirty="0"/>
          </a:p>
        </p:txBody>
      </p:sp>
      <p:sp>
        <p:nvSpPr>
          <p:cNvPr id="4" name="tabelkop"/>
          <p:cNvSpPr/>
          <p:nvPr/>
        </p:nvSpPr>
        <p:spPr>
          <a:xfrm>
            <a:off x="548640" y="1600200"/>
            <a:ext cx="6492240" cy="457200"/>
          </a:xfrm>
          <a:prstGeom prst="rect">
            <a:avLst/>
          </a:prstGeom>
          <a:solidFill>
            <a:schemeClr val="tx1"/>
          </a:solidFill>
          <a:ln w="12700">
            <a:solidFill>
              <a:schemeClr val="tx1"/>
            </a:solidFill>
            <a:prstDash val="solid"/>
          </a:ln>
        </p:spPr>
      </p:sp>
      <p:sp>
        <p:nvSpPr>
          <p:cNvPr id="5" name="Text 3"/>
          <p:cNvSpPr txBox="1"/>
          <p:nvPr/>
        </p:nvSpPr>
        <p:spPr>
          <a:xfrm>
            <a:off x="685800" y="1600200"/>
            <a:ext cx="1645920" cy="457200"/>
          </a:xfrm>
          <a:prstGeom prst="rect">
            <a:avLst/>
          </a:prstGeom>
          <a:noFill/>
          <a:ln/>
        </p:spPr>
        <p:txBody>
          <a:bodyPr wrap="square" lIns="0" tIns="0" rIns="0" bIns="0" rtlCol="0" anchor="ctr"/>
          <a:lstStyle/>
          <a:p>
            <a:pPr indent="0" marL="0">
              <a:buNone/>
            </a:pPr>
            <a:r>
              <a:rPr lang="en-US" sz="1200" b="1" dirty="0">
                <a:solidFill>
                  <a:schemeClr val="bg1"/>
                </a:solidFill>
              </a:rPr>
              <a:t>Veld</a:t>
            </a:r>
            <a:endParaRPr lang="en-US" sz="1200" dirty="0"/>
          </a:p>
        </p:txBody>
      </p:sp>
      <p:sp>
        <p:nvSpPr>
          <p:cNvPr id="6" name="Text 4"/>
          <p:cNvSpPr txBox="1"/>
          <p:nvPr/>
        </p:nvSpPr>
        <p:spPr>
          <a:xfrm>
            <a:off x="2606040" y="1600200"/>
            <a:ext cx="1005840" cy="457200"/>
          </a:xfrm>
          <a:prstGeom prst="rect">
            <a:avLst/>
          </a:prstGeom>
          <a:noFill/>
          <a:ln/>
        </p:spPr>
        <p:txBody>
          <a:bodyPr wrap="square" lIns="0" tIns="0" rIns="0" bIns="0" rtlCol="0" anchor="ctr"/>
          <a:lstStyle/>
          <a:p>
            <a:pPr indent="0" marL="0">
              <a:buNone/>
            </a:pPr>
            <a:r>
              <a:rPr lang="en-US" sz="1200" b="1" dirty="0">
                <a:solidFill>
                  <a:schemeClr val="bg1"/>
                </a:solidFill>
              </a:rPr>
              <a:t>Type</a:t>
            </a:r>
            <a:endParaRPr lang="en-US" sz="1200" dirty="0"/>
          </a:p>
        </p:txBody>
      </p:sp>
      <p:sp>
        <p:nvSpPr>
          <p:cNvPr id="7" name="Text 5"/>
          <p:cNvSpPr txBox="1"/>
          <p:nvPr/>
        </p:nvSpPr>
        <p:spPr>
          <a:xfrm>
            <a:off x="3886200" y="1600200"/>
            <a:ext cx="3017520" cy="457200"/>
          </a:xfrm>
          <a:prstGeom prst="rect">
            <a:avLst/>
          </a:prstGeom>
          <a:noFill/>
          <a:ln/>
        </p:spPr>
        <p:txBody>
          <a:bodyPr wrap="square" lIns="0" tIns="0" rIns="0" bIns="0" rtlCol="0" anchor="ctr"/>
          <a:lstStyle/>
          <a:p>
            <a:pPr indent="0" marL="0">
              <a:buNone/>
            </a:pPr>
            <a:r>
              <a:rPr lang="en-US" sz="1200" b="1" dirty="0">
                <a:solidFill>
                  <a:schemeClr val="bg1"/>
                </a:solidFill>
              </a:rPr>
              <a:t>Opmerking</a:t>
            </a:r>
            <a:endParaRPr lang="en-US" sz="1200" dirty="0"/>
          </a:p>
        </p:txBody>
      </p:sp>
      <p:sp>
        <p:nvSpPr>
          <p:cNvPr id="8" name="tabelrij"/>
          <p:cNvSpPr/>
          <p:nvPr/>
        </p:nvSpPr>
        <p:spPr>
          <a:xfrm>
            <a:off x="548640" y="2057400"/>
            <a:ext cx="6492240" cy="566928"/>
          </a:xfrm>
          <a:prstGeom prst="rect">
            <a:avLst/>
          </a:prstGeom>
          <a:solidFill>
            <a:schemeClr val="bg2"/>
          </a:solidFill>
          <a:ln w="9525">
            <a:solidFill>
              <a:schemeClr val="bg2"/>
            </a:solidFill>
            <a:prstDash val="solid"/>
          </a:ln>
        </p:spPr>
      </p:sp>
      <p:sp>
        <p:nvSpPr>
          <p:cNvPr id="9" name="Text 7"/>
          <p:cNvSpPr txBox="1"/>
          <p:nvPr/>
        </p:nvSpPr>
        <p:spPr>
          <a:xfrm>
            <a:off x="685800" y="2057400"/>
            <a:ext cx="1645920" cy="566928"/>
          </a:xfrm>
          <a:prstGeom prst="rect">
            <a:avLst/>
          </a:prstGeom>
          <a:noFill/>
          <a:ln/>
        </p:spPr>
        <p:txBody>
          <a:bodyPr wrap="square" lIns="0" tIns="0" rIns="0" bIns="0"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nummer</a:t>
            </a:r>
            <a:endParaRPr lang="en-US" sz="1300" dirty="0"/>
          </a:p>
        </p:txBody>
      </p:sp>
      <p:sp>
        <p:nvSpPr>
          <p:cNvPr id="10" name="Text 8"/>
          <p:cNvSpPr txBox="1"/>
          <p:nvPr/>
        </p:nvSpPr>
        <p:spPr>
          <a:xfrm>
            <a:off x="2606040" y="2057400"/>
            <a:ext cx="1005840" cy="566928"/>
          </a:xfrm>
          <a:prstGeom prst="rect">
            <a:avLst/>
          </a:prstGeom>
          <a:noFill/>
          <a:ln/>
        </p:spPr>
        <p:txBody>
          <a:bodyPr wrap="square" lIns="0" tIns="0" rIns="0" bIns="0" rtlCol="0" anchor="ctr"/>
          <a:lstStyle/>
          <a:p>
            <a:pPr indent="0" marL="0">
              <a:buNone/>
            </a:pPr>
            <a:r>
              <a:rPr lang="en-US" sz="1300" dirty="0">
                <a:solidFill>
                  <a:schemeClr val="tx1"/>
                </a:solidFill>
              </a:rPr>
              <a:t>int</a:t>
            </a:r>
            <a:endParaRPr lang="en-US" sz="1300" dirty="0"/>
          </a:p>
        </p:txBody>
      </p:sp>
      <p:sp>
        <p:nvSpPr>
          <p:cNvPr id="11" name="Text 9"/>
          <p:cNvSpPr txBox="1"/>
          <p:nvPr/>
        </p:nvSpPr>
        <p:spPr>
          <a:xfrm>
            <a:off x="3886200" y="2057400"/>
            <a:ext cx="3017520" cy="566928"/>
          </a:xfrm>
          <a:prstGeom prst="rect">
            <a:avLst/>
          </a:prstGeom>
          <a:noFill/>
          <a:ln/>
        </p:spPr>
        <p:txBody>
          <a:bodyPr wrap="square" lIns="0" tIns="0" rIns="0" bIns="0" rtlCol="0" anchor="ctr"/>
          <a:lstStyle/>
          <a:p>
            <a:pPr indent="0" marL="0">
              <a:buNone/>
            </a:pPr>
            <a:r>
              <a:rPr lang="en-US" sz="1300" dirty="0">
                <a:solidFill>
                  <a:schemeClr val="tx1"/>
                </a:solidFill>
              </a:rPr>
              <a:t>Uniek; de klant noemt het niet, jij hebt het nodig</a:t>
            </a:r>
            <a:endParaRPr lang="en-US" sz="1300" dirty="0"/>
          </a:p>
        </p:txBody>
      </p:sp>
      <p:sp>
        <p:nvSpPr>
          <p:cNvPr id="12" name="tabelrij"/>
          <p:cNvSpPr/>
          <p:nvPr/>
        </p:nvSpPr>
        <p:spPr>
          <a:xfrm>
            <a:off x="548640" y="2624328"/>
            <a:ext cx="6492240" cy="566928"/>
          </a:xfrm>
          <a:prstGeom prst="rect">
            <a:avLst/>
          </a:prstGeom>
          <a:solidFill>
            <a:schemeClr val="bg1"/>
          </a:solidFill>
          <a:ln w="9525">
            <a:solidFill>
              <a:schemeClr val="bg2"/>
            </a:solidFill>
            <a:prstDash val="solid"/>
          </a:ln>
        </p:spPr>
      </p:sp>
      <p:sp>
        <p:nvSpPr>
          <p:cNvPr id="13" name="Text 11"/>
          <p:cNvSpPr txBox="1"/>
          <p:nvPr/>
        </p:nvSpPr>
        <p:spPr>
          <a:xfrm>
            <a:off x="685800" y="2624328"/>
            <a:ext cx="1645920" cy="566928"/>
          </a:xfrm>
          <a:prstGeom prst="rect">
            <a:avLst/>
          </a:prstGeom>
          <a:noFill/>
          <a:ln/>
        </p:spPr>
        <p:txBody>
          <a:bodyPr wrap="square" lIns="0" tIns="0" rIns="0" bIns="0"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naam</a:t>
            </a:r>
            <a:endParaRPr lang="en-US" sz="1300" dirty="0"/>
          </a:p>
        </p:txBody>
      </p:sp>
      <p:sp>
        <p:nvSpPr>
          <p:cNvPr id="14" name="Text 12"/>
          <p:cNvSpPr txBox="1"/>
          <p:nvPr/>
        </p:nvSpPr>
        <p:spPr>
          <a:xfrm>
            <a:off x="2606040" y="2624328"/>
            <a:ext cx="1005840" cy="566928"/>
          </a:xfrm>
          <a:prstGeom prst="rect">
            <a:avLst/>
          </a:prstGeom>
          <a:noFill/>
          <a:ln/>
        </p:spPr>
        <p:txBody>
          <a:bodyPr wrap="square" lIns="0" tIns="0" rIns="0" bIns="0" rtlCol="0" anchor="ctr"/>
          <a:lstStyle/>
          <a:p>
            <a:pPr indent="0" marL="0">
              <a:buNone/>
            </a:pPr>
            <a:r>
              <a:rPr lang="en-US" sz="1300" dirty="0">
                <a:solidFill>
                  <a:schemeClr val="tx1"/>
                </a:solidFill>
              </a:rPr>
              <a:t>str</a:t>
            </a:r>
            <a:endParaRPr lang="en-US" sz="1300" dirty="0"/>
          </a:p>
        </p:txBody>
      </p:sp>
      <p:sp>
        <p:nvSpPr>
          <p:cNvPr id="15" name="Text 13"/>
          <p:cNvSpPr txBox="1"/>
          <p:nvPr/>
        </p:nvSpPr>
        <p:spPr>
          <a:xfrm>
            <a:off x="3886200" y="2624328"/>
            <a:ext cx="3017520" cy="566928"/>
          </a:xfrm>
          <a:prstGeom prst="rect">
            <a:avLst/>
          </a:prstGeom>
          <a:noFill/>
          <a:ln/>
        </p:spPr>
        <p:txBody>
          <a:bodyPr wrap="square" lIns="0" tIns="0" rIns="0" bIns="0" rtlCol="0" anchor="ctr"/>
          <a:lstStyle/>
          <a:p>
            <a:pPr indent="0" marL="0">
              <a:buNone/>
            </a:pPr>
            <a:r>
              <a:rPr lang="en-US" sz="1300" dirty="0">
                <a:solidFill>
                  <a:schemeClr val="tx1"/>
                </a:solidFill>
              </a:rPr>
              <a:t>Niet leeg</a:t>
            </a:r>
            <a:endParaRPr lang="en-US" sz="1300" dirty="0"/>
          </a:p>
        </p:txBody>
      </p:sp>
      <p:sp>
        <p:nvSpPr>
          <p:cNvPr id="16" name="tabelrij"/>
          <p:cNvSpPr/>
          <p:nvPr/>
        </p:nvSpPr>
        <p:spPr>
          <a:xfrm>
            <a:off x="548640" y="3191256"/>
            <a:ext cx="6492240" cy="566928"/>
          </a:xfrm>
          <a:prstGeom prst="rect">
            <a:avLst/>
          </a:prstGeom>
          <a:solidFill>
            <a:srgbClr val="F4A259"/>
          </a:solidFill>
          <a:ln w="9525">
            <a:solidFill>
              <a:schemeClr val="bg2"/>
            </a:solidFill>
            <a:prstDash val="solid"/>
          </a:ln>
        </p:spPr>
      </p:sp>
      <p:sp>
        <p:nvSpPr>
          <p:cNvPr id="17" name="Text 15"/>
          <p:cNvSpPr txBox="1"/>
          <p:nvPr/>
        </p:nvSpPr>
        <p:spPr>
          <a:xfrm>
            <a:off x="685800" y="3191256"/>
            <a:ext cx="1645920" cy="566928"/>
          </a:xfrm>
          <a:prstGeom prst="rect">
            <a:avLst/>
          </a:prstGeom>
          <a:noFill/>
          <a:ln/>
        </p:spPr>
        <p:txBody>
          <a:bodyPr wrap="square" lIns="0" tIns="0" rIns="0" bIns="0"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geboortejaar</a:t>
            </a:r>
            <a:endParaRPr lang="en-US" sz="1300" dirty="0"/>
          </a:p>
        </p:txBody>
      </p:sp>
      <p:sp>
        <p:nvSpPr>
          <p:cNvPr id="18" name="Text 16"/>
          <p:cNvSpPr txBox="1"/>
          <p:nvPr/>
        </p:nvSpPr>
        <p:spPr>
          <a:xfrm>
            <a:off x="2606040" y="3191256"/>
            <a:ext cx="1005840" cy="566928"/>
          </a:xfrm>
          <a:prstGeom prst="rect">
            <a:avLst/>
          </a:prstGeom>
          <a:noFill/>
          <a:ln/>
        </p:spPr>
        <p:txBody>
          <a:bodyPr wrap="square" lIns="0" tIns="0" rIns="0" bIns="0" rtlCol="0" anchor="ctr"/>
          <a:lstStyle/>
          <a:p>
            <a:pPr indent="0" marL="0">
              <a:buNone/>
            </a:pPr>
            <a:r>
              <a:rPr lang="en-US" sz="1300" dirty="0">
                <a:solidFill>
                  <a:schemeClr val="tx1"/>
                </a:solidFill>
              </a:rPr>
              <a:t>int</a:t>
            </a:r>
            <a:endParaRPr lang="en-US" sz="1300" dirty="0"/>
          </a:p>
        </p:txBody>
      </p:sp>
      <p:sp>
        <p:nvSpPr>
          <p:cNvPr id="19" name="Text 17"/>
          <p:cNvSpPr txBox="1"/>
          <p:nvPr/>
        </p:nvSpPr>
        <p:spPr>
          <a:xfrm>
            <a:off x="3886200" y="3191256"/>
            <a:ext cx="3017520" cy="566928"/>
          </a:xfrm>
          <a:prstGeom prst="rect">
            <a:avLst/>
          </a:prstGeom>
          <a:noFill/>
          <a:ln/>
        </p:spPr>
        <p:txBody>
          <a:bodyPr wrap="square" lIns="0" tIns="0" rIns="0" bIns="0" rtlCol="0" anchor="ctr"/>
          <a:lstStyle/>
          <a:p>
            <a:pPr indent="0" marL="0">
              <a:buNone/>
            </a:pPr>
            <a:r>
              <a:rPr lang="en-US" sz="1300" dirty="0">
                <a:solidFill>
                  <a:schemeClr val="tx1"/>
                </a:solidFill>
              </a:rPr>
              <a:t>Beter dan leeftijd: leeftijd verandert</a:t>
            </a:r>
            <a:endParaRPr lang="en-US" sz="1300" dirty="0"/>
          </a:p>
        </p:txBody>
      </p:sp>
      <p:sp>
        <p:nvSpPr>
          <p:cNvPr id="20" name="tabelrij"/>
          <p:cNvSpPr/>
          <p:nvPr/>
        </p:nvSpPr>
        <p:spPr>
          <a:xfrm>
            <a:off x="548640" y="3758184"/>
            <a:ext cx="6492240" cy="566928"/>
          </a:xfrm>
          <a:prstGeom prst="rect">
            <a:avLst/>
          </a:prstGeom>
          <a:solidFill>
            <a:schemeClr val="bg1"/>
          </a:solidFill>
          <a:ln w="9525">
            <a:solidFill>
              <a:schemeClr val="bg2"/>
            </a:solidFill>
            <a:prstDash val="solid"/>
          </a:ln>
        </p:spPr>
      </p:sp>
      <p:sp>
        <p:nvSpPr>
          <p:cNvPr id="21" name="Text 19"/>
          <p:cNvSpPr txBox="1"/>
          <p:nvPr/>
        </p:nvSpPr>
        <p:spPr>
          <a:xfrm>
            <a:off x="685800" y="3758184"/>
            <a:ext cx="1645920" cy="566928"/>
          </a:xfrm>
          <a:prstGeom prst="rect">
            <a:avLst/>
          </a:prstGeom>
          <a:noFill/>
          <a:ln/>
        </p:spPr>
        <p:txBody>
          <a:bodyPr wrap="square" lIns="0" tIns="0" rIns="0" bIns="0"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groep_id</a:t>
            </a:r>
            <a:endParaRPr lang="en-US" sz="1300" dirty="0"/>
          </a:p>
        </p:txBody>
      </p:sp>
      <p:sp>
        <p:nvSpPr>
          <p:cNvPr id="22" name="Text 20"/>
          <p:cNvSpPr txBox="1"/>
          <p:nvPr/>
        </p:nvSpPr>
        <p:spPr>
          <a:xfrm>
            <a:off x="2606040" y="3758184"/>
            <a:ext cx="1005840" cy="566928"/>
          </a:xfrm>
          <a:prstGeom prst="rect">
            <a:avLst/>
          </a:prstGeom>
          <a:noFill/>
          <a:ln/>
        </p:spPr>
        <p:txBody>
          <a:bodyPr wrap="square" lIns="0" tIns="0" rIns="0" bIns="0" rtlCol="0" anchor="ctr"/>
          <a:lstStyle/>
          <a:p>
            <a:pPr indent="0" marL="0">
              <a:buNone/>
            </a:pPr>
            <a:r>
              <a:rPr lang="en-US" sz="1300" dirty="0">
                <a:solidFill>
                  <a:schemeClr val="tx1"/>
                </a:solidFill>
              </a:rPr>
              <a:t>int</a:t>
            </a:r>
            <a:endParaRPr lang="en-US" sz="1300" dirty="0"/>
          </a:p>
        </p:txBody>
      </p:sp>
      <p:sp>
        <p:nvSpPr>
          <p:cNvPr id="23" name="Text 21"/>
          <p:cNvSpPr txBox="1"/>
          <p:nvPr/>
        </p:nvSpPr>
        <p:spPr>
          <a:xfrm>
            <a:off x="3886200" y="3758184"/>
            <a:ext cx="3017520" cy="566928"/>
          </a:xfrm>
          <a:prstGeom prst="rect">
            <a:avLst/>
          </a:prstGeom>
          <a:noFill/>
          <a:ln/>
        </p:spPr>
        <p:txBody>
          <a:bodyPr wrap="square" lIns="0" tIns="0" rIns="0" bIns="0" rtlCol="0" anchor="ctr"/>
          <a:lstStyle/>
          <a:p>
            <a:pPr indent="0" marL="0">
              <a:buNone/>
            </a:pPr>
            <a:r>
              <a:rPr lang="en-US" sz="1300" dirty="0">
                <a:solidFill>
                  <a:schemeClr val="tx1"/>
                </a:solidFill>
              </a:rPr>
              <a:t>Verwijst naar een groep</a:t>
            </a:r>
            <a:endParaRPr lang="en-US" sz="1300" dirty="0"/>
          </a:p>
        </p:txBody>
      </p:sp>
      <p:sp>
        <p:nvSpPr>
          <p:cNvPr id="24" name="tabelrij"/>
          <p:cNvSpPr/>
          <p:nvPr/>
        </p:nvSpPr>
        <p:spPr>
          <a:xfrm>
            <a:off x="548640" y="4325112"/>
            <a:ext cx="6492240" cy="566928"/>
          </a:xfrm>
          <a:prstGeom prst="rect">
            <a:avLst/>
          </a:prstGeom>
          <a:solidFill>
            <a:schemeClr val="bg2"/>
          </a:solidFill>
          <a:ln w="9525">
            <a:solidFill>
              <a:schemeClr val="bg2"/>
            </a:solidFill>
            <a:prstDash val="solid"/>
          </a:ln>
        </p:spPr>
      </p:sp>
      <p:sp>
        <p:nvSpPr>
          <p:cNvPr id="25" name="Text 23"/>
          <p:cNvSpPr txBox="1"/>
          <p:nvPr/>
        </p:nvSpPr>
        <p:spPr>
          <a:xfrm>
            <a:off x="685800" y="4325112"/>
            <a:ext cx="1645920" cy="566928"/>
          </a:xfrm>
          <a:prstGeom prst="rect">
            <a:avLst/>
          </a:prstGeom>
          <a:noFill/>
          <a:ln/>
        </p:spPr>
        <p:txBody>
          <a:bodyPr wrap="square" lIns="0" tIns="0" rIns="0" bIns="0"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gezin_id</a:t>
            </a:r>
            <a:endParaRPr lang="en-US" sz="1300" dirty="0"/>
          </a:p>
        </p:txBody>
      </p:sp>
      <p:sp>
        <p:nvSpPr>
          <p:cNvPr id="26" name="Text 24"/>
          <p:cNvSpPr txBox="1"/>
          <p:nvPr/>
        </p:nvSpPr>
        <p:spPr>
          <a:xfrm>
            <a:off x="2606040" y="4325112"/>
            <a:ext cx="1005840" cy="566928"/>
          </a:xfrm>
          <a:prstGeom prst="rect">
            <a:avLst/>
          </a:prstGeom>
          <a:noFill/>
          <a:ln/>
        </p:spPr>
        <p:txBody>
          <a:bodyPr wrap="square" lIns="0" tIns="0" rIns="0" bIns="0" rtlCol="0" anchor="ctr"/>
          <a:lstStyle/>
          <a:p>
            <a:pPr indent="0" marL="0">
              <a:buNone/>
            </a:pPr>
            <a:r>
              <a:rPr lang="en-US" sz="1300" dirty="0">
                <a:solidFill>
                  <a:schemeClr val="tx1"/>
                </a:solidFill>
              </a:rPr>
              <a:t>int of None</a:t>
            </a:r>
            <a:endParaRPr lang="en-US" sz="1300" dirty="0"/>
          </a:p>
        </p:txBody>
      </p:sp>
      <p:sp>
        <p:nvSpPr>
          <p:cNvPr id="27" name="Text 25"/>
          <p:cNvSpPr txBox="1"/>
          <p:nvPr/>
        </p:nvSpPr>
        <p:spPr>
          <a:xfrm>
            <a:off x="3886200" y="4325112"/>
            <a:ext cx="3017520" cy="566928"/>
          </a:xfrm>
          <a:prstGeom prst="rect">
            <a:avLst/>
          </a:prstGeom>
          <a:noFill/>
          <a:ln/>
        </p:spPr>
        <p:txBody>
          <a:bodyPr wrap="square" lIns="0" tIns="0" rIns="0" bIns="0" rtlCol="0" anchor="ctr"/>
          <a:lstStyle/>
          <a:p>
            <a:pPr indent="0" marL="0">
              <a:buNone/>
            </a:pPr>
            <a:r>
              <a:rPr lang="en-US" sz="1300" dirty="0">
                <a:solidFill>
                  <a:schemeClr val="tx1"/>
                </a:solidFill>
              </a:rPr>
              <a:t>Voor de gezinskorting</a:t>
            </a:r>
            <a:endParaRPr lang="en-US" sz="1300" dirty="0"/>
          </a:p>
        </p:txBody>
      </p:sp>
      <p:sp>
        <p:nvSpPr>
          <p:cNvPr id="28" name="tabelrij"/>
          <p:cNvSpPr/>
          <p:nvPr/>
        </p:nvSpPr>
        <p:spPr>
          <a:xfrm>
            <a:off x="548640" y="4892040"/>
            <a:ext cx="6492240" cy="566928"/>
          </a:xfrm>
          <a:prstGeom prst="rect">
            <a:avLst/>
          </a:prstGeom>
          <a:solidFill>
            <a:srgbClr val="F4A259"/>
          </a:solidFill>
          <a:ln w="9525">
            <a:solidFill>
              <a:schemeClr val="bg2"/>
            </a:solidFill>
            <a:prstDash val="solid"/>
          </a:ln>
        </p:spPr>
      </p:sp>
      <p:sp>
        <p:nvSpPr>
          <p:cNvPr id="29" name="Text 27"/>
          <p:cNvSpPr txBox="1"/>
          <p:nvPr/>
        </p:nvSpPr>
        <p:spPr>
          <a:xfrm>
            <a:off x="685800" y="4892040"/>
            <a:ext cx="1645920" cy="566928"/>
          </a:xfrm>
          <a:prstGeom prst="rect">
            <a:avLst/>
          </a:prstGeom>
          <a:noFill/>
          <a:ln/>
        </p:spPr>
        <p:txBody>
          <a:bodyPr wrap="square" lIns="0" tIns="0" rIns="0" bIns="0"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betaald_centen</a:t>
            </a:r>
            <a:endParaRPr lang="en-US" sz="1300" dirty="0"/>
          </a:p>
        </p:txBody>
      </p:sp>
      <p:sp>
        <p:nvSpPr>
          <p:cNvPr id="30" name="Text 28"/>
          <p:cNvSpPr txBox="1"/>
          <p:nvPr/>
        </p:nvSpPr>
        <p:spPr>
          <a:xfrm>
            <a:off x="2606040" y="4892040"/>
            <a:ext cx="1005840" cy="566928"/>
          </a:xfrm>
          <a:prstGeom prst="rect">
            <a:avLst/>
          </a:prstGeom>
          <a:noFill/>
          <a:ln/>
        </p:spPr>
        <p:txBody>
          <a:bodyPr wrap="square" lIns="0" tIns="0" rIns="0" bIns="0" rtlCol="0" anchor="ctr"/>
          <a:lstStyle/>
          <a:p>
            <a:pPr indent="0" marL="0">
              <a:buNone/>
            </a:pPr>
            <a:r>
              <a:rPr lang="en-US" sz="1300" dirty="0">
                <a:solidFill>
                  <a:schemeClr val="tx1"/>
                </a:solidFill>
              </a:rPr>
              <a:t>int</a:t>
            </a:r>
            <a:endParaRPr lang="en-US" sz="1300" dirty="0"/>
          </a:p>
        </p:txBody>
      </p:sp>
      <p:sp>
        <p:nvSpPr>
          <p:cNvPr id="31" name="Text 29"/>
          <p:cNvSpPr txBox="1"/>
          <p:nvPr/>
        </p:nvSpPr>
        <p:spPr>
          <a:xfrm>
            <a:off x="3886200" y="4892040"/>
            <a:ext cx="3017520" cy="566928"/>
          </a:xfrm>
          <a:prstGeom prst="rect">
            <a:avLst/>
          </a:prstGeom>
          <a:noFill/>
          <a:ln/>
        </p:spPr>
        <p:txBody>
          <a:bodyPr wrap="square" lIns="0" tIns="0" rIns="0" bIns="0" rtlCol="0" anchor="ctr"/>
          <a:lstStyle/>
          <a:p>
            <a:pPr indent="0" marL="0">
              <a:buNone/>
            </a:pPr>
            <a:r>
              <a:rPr lang="en-US" sz="1300" dirty="0">
                <a:solidFill>
                  <a:schemeClr val="tx1"/>
                </a:solidFill>
              </a:rPr>
              <a:t>In centen, niet in euro's</a:t>
            </a:r>
            <a:endParaRPr lang="en-US" sz="1300" dirty="0"/>
          </a:p>
        </p:txBody>
      </p:sp>
      <p:sp>
        <p:nvSpPr>
          <p:cNvPr id="32" name="Text 30"/>
          <p:cNvSpPr txBox="1"/>
          <p:nvPr/>
        </p:nvSpPr>
        <p:spPr>
          <a:xfrm>
            <a:off x="7315200" y="1280160"/>
            <a:ext cx="2743200" cy="274320"/>
          </a:xfrm>
          <a:prstGeom prst="rect">
            <a:avLst/>
          </a:prstGeom>
          <a:noFill/>
          <a:ln/>
        </p:spPr>
        <p:txBody>
          <a:bodyPr wrap="square" lIns="0" tIns="0" rIns="0" bIns="0" rtlCol="0" anchor="ctr"/>
          <a:lstStyle/>
          <a:p>
            <a:pPr indent="0" marL="0">
              <a:buNone/>
            </a:pPr>
            <a:r>
              <a:rPr lang="en-US" sz="1200" b="1" spc="100" kern="0" dirty="0">
                <a:solidFill>
                  <a:schemeClr val="accent5"/>
                </a:solidFill>
              </a:rPr>
              <a:t>GROEP</a:t>
            </a:r>
            <a:endParaRPr lang="en-US" sz="1200" dirty="0"/>
          </a:p>
        </p:txBody>
      </p:sp>
      <p:sp>
        <p:nvSpPr>
          <p:cNvPr id="33" name="tabelkop"/>
          <p:cNvSpPr/>
          <p:nvPr/>
        </p:nvSpPr>
        <p:spPr>
          <a:xfrm>
            <a:off x="7315200" y="1600200"/>
            <a:ext cx="4297680" cy="384048"/>
          </a:xfrm>
          <a:prstGeom prst="rect">
            <a:avLst/>
          </a:prstGeom>
          <a:solidFill>
            <a:schemeClr val="tx1"/>
          </a:solidFill>
          <a:ln w="12700">
            <a:solidFill>
              <a:schemeClr val="tx1"/>
            </a:solidFill>
            <a:prstDash val="solid"/>
          </a:ln>
        </p:spPr>
      </p:sp>
      <p:sp>
        <p:nvSpPr>
          <p:cNvPr id="34" name="Text 32"/>
          <p:cNvSpPr txBox="1"/>
          <p:nvPr/>
        </p:nvSpPr>
        <p:spPr>
          <a:xfrm>
            <a:off x="7452360" y="1600200"/>
            <a:ext cx="1051560" cy="384048"/>
          </a:xfrm>
          <a:prstGeom prst="rect">
            <a:avLst/>
          </a:prstGeom>
          <a:noFill/>
          <a:ln/>
        </p:spPr>
        <p:txBody>
          <a:bodyPr wrap="square" lIns="0" tIns="0" rIns="0" bIns="0" rtlCol="0" anchor="ctr"/>
          <a:lstStyle/>
          <a:p>
            <a:pPr indent="0" marL="0">
              <a:buNone/>
            </a:pPr>
            <a:r>
              <a:rPr lang="en-US" sz="1100" b="1" dirty="0">
                <a:solidFill>
                  <a:schemeClr val="bg1"/>
                </a:solidFill>
              </a:rPr>
              <a:t>Veld</a:t>
            </a:r>
            <a:endParaRPr lang="en-US" sz="1100" dirty="0"/>
          </a:p>
        </p:txBody>
      </p:sp>
      <p:sp>
        <p:nvSpPr>
          <p:cNvPr id="35" name="Text 33"/>
          <p:cNvSpPr txBox="1"/>
          <p:nvPr/>
        </p:nvSpPr>
        <p:spPr>
          <a:xfrm>
            <a:off x="8778240" y="1600200"/>
            <a:ext cx="365760" cy="384048"/>
          </a:xfrm>
          <a:prstGeom prst="rect">
            <a:avLst/>
          </a:prstGeom>
          <a:noFill/>
          <a:ln/>
        </p:spPr>
        <p:txBody>
          <a:bodyPr wrap="square" lIns="0" tIns="0" rIns="0" bIns="0" rtlCol="0" anchor="ctr"/>
          <a:lstStyle/>
          <a:p>
            <a:pPr indent="0" marL="0">
              <a:buNone/>
            </a:pPr>
            <a:r>
              <a:rPr lang="en-US" sz="1100" b="1" dirty="0">
                <a:solidFill>
                  <a:schemeClr val="bg1"/>
                </a:solidFill>
              </a:rPr>
              <a:t>Type</a:t>
            </a:r>
            <a:endParaRPr lang="en-US" sz="1100" dirty="0"/>
          </a:p>
        </p:txBody>
      </p:sp>
      <p:sp>
        <p:nvSpPr>
          <p:cNvPr id="36" name="Text 34"/>
          <p:cNvSpPr txBox="1"/>
          <p:nvPr/>
        </p:nvSpPr>
        <p:spPr>
          <a:xfrm>
            <a:off x="9418320" y="1600200"/>
            <a:ext cx="2057400" cy="384048"/>
          </a:xfrm>
          <a:prstGeom prst="rect">
            <a:avLst/>
          </a:prstGeom>
          <a:noFill/>
          <a:ln/>
        </p:spPr>
        <p:txBody>
          <a:bodyPr wrap="square" lIns="0" tIns="0" rIns="0" bIns="0" rtlCol="0" anchor="ctr"/>
          <a:lstStyle/>
          <a:p>
            <a:pPr indent="0" marL="0">
              <a:buNone/>
            </a:pPr>
            <a:r>
              <a:rPr lang="en-US" sz="1100" b="1" dirty="0">
                <a:solidFill>
                  <a:schemeClr val="bg1"/>
                </a:solidFill>
              </a:rPr>
              <a:t>Opmerking</a:t>
            </a:r>
            <a:endParaRPr lang="en-US" sz="1100" dirty="0"/>
          </a:p>
        </p:txBody>
      </p:sp>
      <p:sp>
        <p:nvSpPr>
          <p:cNvPr id="37" name="tabelrij"/>
          <p:cNvSpPr/>
          <p:nvPr/>
        </p:nvSpPr>
        <p:spPr>
          <a:xfrm>
            <a:off x="7315200" y="1984248"/>
            <a:ext cx="4297680" cy="457200"/>
          </a:xfrm>
          <a:prstGeom prst="rect">
            <a:avLst/>
          </a:prstGeom>
          <a:solidFill>
            <a:schemeClr val="bg2"/>
          </a:solidFill>
          <a:ln w="9525">
            <a:solidFill>
              <a:schemeClr val="bg2"/>
            </a:solidFill>
            <a:prstDash val="solid"/>
          </a:ln>
        </p:spPr>
      </p:sp>
      <p:sp>
        <p:nvSpPr>
          <p:cNvPr id="38" name="Text 36"/>
          <p:cNvSpPr txBox="1"/>
          <p:nvPr/>
        </p:nvSpPr>
        <p:spPr>
          <a:xfrm>
            <a:off x="7452360" y="1984248"/>
            <a:ext cx="1051560" cy="457200"/>
          </a:xfrm>
          <a:prstGeom prst="rect">
            <a:avLst/>
          </a:prstGeom>
          <a:noFill/>
          <a:ln/>
        </p:spPr>
        <p:txBody>
          <a:bodyPr wrap="square" lIns="0" tIns="0" rIns="0" bIns="0" rtlCol="0" anchor="ctr"/>
          <a:lstStyle/>
          <a:p>
            <a:pPr indent="0" marL="0">
              <a:buNone/>
            </a:pPr>
            <a:r>
              <a:rPr lang="en-US" sz="1200" dirty="0">
                <a:solidFill>
                  <a:schemeClr val="tx1"/>
                </a:solidFill>
                <a:latin typeface="Consolas" pitchFamily="34" charset="0"/>
                <a:ea typeface="Consolas" pitchFamily="34" charset="-122"/>
                <a:cs typeface="Consolas" pitchFamily="34" charset="-120"/>
              </a:rPr>
              <a:t>id</a:t>
            </a:r>
            <a:endParaRPr lang="en-US" sz="1200" dirty="0"/>
          </a:p>
        </p:txBody>
      </p:sp>
      <p:sp>
        <p:nvSpPr>
          <p:cNvPr id="39" name="Text 37"/>
          <p:cNvSpPr txBox="1"/>
          <p:nvPr/>
        </p:nvSpPr>
        <p:spPr>
          <a:xfrm>
            <a:off x="8778240" y="1984248"/>
            <a:ext cx="365760" cy="457200"/>
          </a:xfrm>
          <a:prstGeom prst="rect">
            <a:avLst/>
          </a:prstGeom>
          <a:noFill/>
          <a:ln/>
        </p:spPr>
        <p:txBody>
          <a:bodyPr wrap="square" lIns="0" tIns="0" rIns="0" bIns="0" rtlCol="0" anchor="ctr"/>
          <a:lstStyle/>
          <a:p>
            <a:pPr indent="0" marL="0">
              <a:buNone/>
            </a:pPr>
            <a:r>
              <a:rPr lang="en-US" sz="1200" dirty="0">
                <a:solidFill>
                  <a:schemeClr val="tx1"/>
                </a:solidFill>
              </a:rPr>
              <a:t>int</a:t>
            </a:r>
            <a:endParaRPr lang="en-US" sz="1200" dirty="0"/>
          </a:p>
        </p:txBody>
      </p:sp>
      <p:sp>
        <p:nvSpPr>
          <p:cNvPr id="40" name="Text 38"/>
          <p:cNvSpPr txBox="1"/>
          <p:nvPr/>
        </p:nvSpPr>
        <p:spPr>
          <a:xfrm>
            <a:off x="9418320" y="1984248"/>
            <a:ext cx="2057400" cy="457200"/>
          </a:xfrm>
          <a:prstGeom prst="rect">
            <a:avLst/>
          </a:prstGeom>
          <a:noFill/>
          <a:ln/>
        </p:spPr>
        <p:txBody>
          <a:bodyPr wrap="square" lIns="0" tIns="0" rIns="0" bIns="0" rtlCol="0" anchor="ctr"/>
          <a:lstStyle/>
          <a:p>
            <a:pPr indent="0" marL="0">
              <a:buNone/>
            </a:pPr>
            <a:endParaRPr lang="en-US" sz="1200" dirty="0"/>
          </a:p>
        </p:txBody>
      </p:sp>
      <p:sp>
        <p:nvSpPr>
          <p:cNvPr id="41" name="tabelrij"/>
          <p:cNvSpPr/>
          <p:nvPr/>
        </p:nvSpPr>
        <p:spPr>
          <a:xfrm>
            <a:off x="7315200" y="2441448"/>
            <a:ext cx="4297680" cy="457200"/>
          </a:xfrm>
          <a:prstGeom prst="rect">
            <a:avLst/>
          </a:prstGeom>
          <a:solidFill>
            <a:schemeClr val="bg1"/>
          </a:solidFill>
          <a:ln w="9525">
            <a:solidFill>
              <a:schemeClr val="bg2"/>
            </a:solidFill>
            <a:prstDash val="solid"/>
          </a:ln>
        </p:spPr>
      </p:sp>
      <p:sp>
        <p:nvSpPr>
          <p:cNvPr id="42" name="Text 40"/>
          <p:cNvSpPr txBox="1"/>
          <p:nvPr/>
        </p:nvSpPr>
        <p:spPr>
          <a:xfrm>
            <a:off x="7452360" y="2441448"/>
            <a:ext cx="1051560" cy="457200"/>
          </a:xfrm>
          <a:prstGeom prst="rect">
            <a:avLst/>
          </a:prstGeom>
          <a:noFill/>
          <a:ln/>
        </p:spPr>
        <p:txBody>
          <a:bodyPr wrap="square" lIns="0" tIns="0" rIns="0" bIns="0" rtlCol="0" anchor="ctr"/>
          <a:lstStyle/>
          <a:p>
            <a:pPr indent="0" marL="0">
              <a:buNone/>
            </a:pPr>
            <a:r>
              <a:rPr lang="en-US" sz="1200" dirty="0">
                <a:solidFill>
                  <a:schemeClr val="tx1"/>
                </a:solidFill>
                <a:latin typeface="Consolas" pitchFamily="34" charset="0"/>
                <a:ea typeface="Consolas" pitchFamily="34" charset="-122"/>
                <a:cs typeface="Consolas" pitchFamily="34" charset="-120"/>
              </a:rPr>
              <a:t>naam</a:t>
            </a:r>
            <a:endParaRPr lang="en-US" sz="1200" dirty="0"/>
          </a:p>
        </p:txBody>
      </p:sp>
      <p:sp>
        <p:nvSpPr>
          <p:cNvPr id="43" name="Text 41"/>
          <p:cNvSpPr txBox="1"/>
          <p:nvPr/>
        </p:nvSpPr>
        <p:spPr>
          <a:xfrm>
            <a:off x="8778240" y="2441448"/>
            <a:ext cx="365760" cy="457200"/>
          </a:xfrm>
          <a:prstGeom prst="rect">
            <a:avLst/>
          </a:prstGeom>
          <a:noFill/>
          <a:ln/>
        </p:spPr>
        <p:txBody>
          <a:bodyPr wrap="square" lIns="0" tIns="0" rIns="0" bIns="0" rtlCol="0" anchor="ctr"/>
          <a:lstStyle/>
          <a:p>
            <a:pPr indent="0" marL="0">
              <a:buNone/>
            </a:pPr>
            <a:r>
              <a:rPr lang="en-US" sz="1200" dirty="0">
                <a:solidFill>
                  <a:schemeClr val="tx1"/>
                </a:solidFill>
              </a:rPr>
              <a:t>str</a:t>
            </a:r>
            <a:endParaRPr lang="en-US" sz="1200" dirty="0"/>
          </a:p>
        </p:txBody>
      </p:sp>
      <p:sp>
        <p:nvSpPr>
          <p:cNvPr id="44" name="Text 42"/>
          <p:cNvSpPr txBox="1"/>
          <p:nvPr/>
        </p:nvSpPr>
        <p:spPr>
          <a:xfrm>
            <a:off x="9418320" y="2441448"/>
            <a:ext cx="2057400" cy="457200"/>
          </a:xfrm>
          <a:prstGeom prst="rect">
            <a:avLst/>
          </a:prstGeom>
          <a:noFill/>
          <a:ln/>
        </p:spPr>
        <p:txBody>
          <a:bodyPr wrap="square" lIns="0" tIns="0" rIns="0" bIns="0" rtlCol="0" anchor="ctr"/>
          <a:lstStyle/>
          <a:p>
            <a:pPr indent="0" marL="0">
              <a:buNone/>
            </a:pPr>
            <a:r>
              <a:rPr lang="en-US" sz="1200" dirty="0">
                <a:solidFill>
                  <a:schemeClr val="tx1"/>
                </a:solidFill>
              </a:rPr>
              <a:t>„Kleuters”, „Recreanten”</a:t>
            </a:r>
            <a:endParaRPr lang="en-US" sz="1200" dirty="0"/>
          </a:p>
        </p:txBody>
      </p:sp>
      <p:sp>
        <p:nvSpPr>
          <p:cNvPr id="45" name="tabelrij"/>
          <p:cNvSpPr/>
          <p:nvPr/>
        </p:nvSpPr>
        <p:spPr>
          <a:xfrm>
            <a:off x="7315200" y="2898648"/>
            <a:ext cx="4297680" cy="457200"/>
          </a:xfrm>
          <a:prstGeom prst="rect">
            <a:avLst/>
          </a:prstGeom>
          <a:solidFill>
            <a:schemeClr val="bg2"/>
          </a:solidFill>
          <a:ln w="9525">
            <a:solidFill>
              <a:schemeClr val="bg2"/>
            </a:solidFill>
            <a:prstDash val="solid"/>
          </a:ln>
        </p:spPr>
      </p:sp>
      <p:sp>
        <p:nvSpPr>
          <p:cNvPr id="46" name="Text 44"/>
          <p:cNvSpPr txBox="1"/>
          <p:nvPr/>
        </p:nvSpPr>
        <p:spPr>
          <a:xfrm>
            <a:off x="7452360" y="2898648"/>
            <a:ext cx="1051560" cy="457200"/>
          </a:xfrm>
          <a:prstGeom prst="rect">
            <a:avLst/>
          </a:prstGeom>
          <a:noFill/>
          <a:ln/>
        </p:spPr>
        <p:txBody>
          <a:bodyPr wrap="square" lIns="0" tIns="0" rIns="0" bIns="0" rtlCol="0" anchor="ctr"/>
          <a:lstStyle/>
          <a:p>
            <a:pPr indent="0" marL="0">
              <a:buNone/>
            </a:pPr>
            <a:r>
              <a:rPr lang="en-US" sz="1200" dirty="0">
                <a:solidFill>
                  <a:schemeClr val="tx1"/>
                </a:solidFill>
                <a:latin typeface="Consolas" pitchFamily="34" charset="0"/>
                <a:ea typeface="Consolas" pitchFamily="34" charset="-122"/>
                <a:cs typeface="Consolas" pitchFamily="34" charset="-120"/>
              </a:rPr>
              <a:t>dag en uur</a:t>
            </a:r>
            <a:endParaRPr lang="en-US" sz="1200" dirty="0"/>
          </a:p>
        </p:txBody>
      </p:sp>
      <p:sp>
        <p:nvSpPr>
          <p:cNvPr id="47" name="Text 45"/>
          <p:cNvSpPr txBox="1"/>
          <p:nvPr/>
        </p:nvSpPr>
        <p:spPr>
          <a:xfrm>
            <a:off x="8778240" y="2898648"/>
            <a:ext cx="365760" cy="457200"/>
          </a:xfrm>
          <a:prstGeom prst="rect">
            <a:avLst/>
          </a:prstGeom>
          <a:noFill/>
          <a:ln/>
        </p:spPr>
        <p:txBody>
          <a:bodyPr wrap="square" lIns="0" tIns="0" rIns="0" bIns="0" rtlCol="0" anchor="ctr"/>
          <a:lstStyle/>
          <a:p>
            <a:pPr indent="0" marL="0">
              <a:buNone/>
            </a:pPr>
            <a:r>
              <a:rPr lang="en-US" sz="1200" dirty="0">
                <a:solidFill>
                  <a:schemeClr val="tx1"/>
                </a:solidFill>
              </a:rPr>
              <a:t>str</a:t>
            </a:r>
            <a:endParaRPr lang="en-US" sz="1200" dirty="0"/>
          </a:p>
        </p:txBody>
      </p:sp>
      <p:sp>
        <p:nvSpPr>
          <p:cNvPr id="48" name="Text 46"/>
          <p:cNvSpPr txBox="1"/>
          <p:nvPr/>
        </p:nvSpPr>
        <p:spPr>
          <a:xfrm>
            <a:off x="9418320" y="2898648"/>
            <a:ext cx="2057400" cy="457200"/>
          </a:xfrm>
          <a:prstGeom prst="rect">
            <a:avLst/>
          </a:prstGeom>
          <a:noFill/>
          <a:ln/>
        </p:spPr>
        <p:txBody>
          <a:bodyPr wrap="square" lIns="0" tIns="0" rIns="0" bIns="0" rtlCol="0" anchor="ctr"/>
          <a:lstStyle/>
          <a:p>
            <a:pPr indent="0" marL="0">
              <a:buNone/>
            </a:pPr>
            <a:endParaRPr lang="en-US" sz="1200" dirty="0"/>
          </a:p>
        </p:txBody>
      </p:sp>
      <p:sp>
        <p:nvSpPr>
          <p:cNvPr id="49" name="Text 47"/>
          <p:cNvSpPr txBox="1"/>
          <p:nvPr/>
        </p:nvSpPr>
        <p:spPr>
          <a:xfrm>
            <a:off x="7315200" y="3520440"/>
            <a:ext cx="36576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AANWEZIGHEID</a:t>
            </a:r>
            <a:endParaRPr lang="en-US" sz="1200" dirty="0"/>
          </a:p>
        </p:txBody>
      </p:sp>
      <p:sp>
        <p:nvSpPr>
          <p:cNvPr id="50" name="tabelkop"/>
          <p:cNvSpPr/>
          <p:nvPr/>
        </p:nvSpPr>
        <p:spPr>
          <a:xfrm>
            <a:off x="7315200" y="3840480"/>
            <a:ext cx="4297680" cy="384048"/>
          </a:xfrm>
          <a:prstGeom prst="rect">
            <a:avLst/>
          </a:prstGeom>
          <a:solidFill>
            <a:schemeClr val="tx1"/>
          </a:solidFill>
          <a:ln w="12700">
            <a:solidFill>
              <a:schemeClr val="tx1"/>
            </a:solidFill>
            <a:prstDash val="solid"/>
          </a:ln>
        </p:spPr>
      </p:sp>
      <p:sp>
        <p:nvSpPr>
          <p:cNvPr id="51" name="Text 49"/>
          <p:cNvSpPr txBox="1"/>
          <p:nvPr/>
        </p:nvSpPr>
        <p:spPr>
          <a:xfrm>
            <a:off x="7452360" y="3840480"/>
            <a:ext cx="1051560" cy="384048"/>
          </a:xfrm>
          <a:prstGeom prst="rect">
            <a:avLst/>
          </a:prstGeom>
          <a:noFill/>
          <a:ln/>
        </p:spPr>
        <p:txBody>
          <a:bodyPr wrap="square" lIns="0" tIns="0" rIns="0" bIns="0" rtlCol="0" anchor="ctr"/>
          <a:lstStyle/>
          <a:p>
            <a:pPr indent="0" marL="0">
              <a:buNone/>
            </a:pPr>
            <a:r>
              <a:rPr lang="en-US" sz="1100" b="1" dirty="0">
                <a:solidFill>
                  <a:schemeClr val="bg1"/>
                </a:solidFill>
              </a:rPr>
              <a:t>Veld</a:t>
            </a:r>
            <a:endParaRPr lang="en-US" sz="1100" dirty="0"/>
          </a:p>
        </p:txBody>
      </p:sp>
      <p:sp>
        <p:nvSpPr>
          <p:cNvPr id="52" name="Text 50"/>
          <p:cNvSpPr txBox="1"/>
          <p:nvPr/>
        </p:nvSpPr>
        <p:spPr>
          <a:xfrm>
            <a:off x="8778240" y="3840480"/>
            <a:ext cx="365760" cy="384048"/>
          </a:xfrm>
          <a:prstGeom prst="rect">
            <a:avLst/>
          </a:prstGeom>
          <a:noFill/>
          <a:ln/>
        </p:spPr>
        <p:txBody>
          <a:bodyPr wrap="square" lIns="0" tIns="0" rIns="0" bIns="0" rtlCol="0" anchor="ctr"/>
          <a:lstStyle/>
          <a:p>
            <a:pPr indent="0" marL="0">
              <a:buNone/>
            </a:pPr>
            <a:r>
              <a:rPr lang="en-US" sz="1100" b="1" dirty="0">
                <a:solidFill>
                  <a:schemeClr val="bg1"/>
                </a:solidFill>
              </a:rPr>
              <a:t>Type</a:t>
            </a:r>
            <a:endParaRPr lang="en-US" sz="1100" dirty="0"/>
          </a:p>
        </p:txBody>
      </p:sp>
      <p:sp>
        <p:nvSpPr>
          <p:cNvPr id="53" name="Text 51"/>
          <p:cNvSpPr txBox="1"/>
          <p:nvPr/>
        </p:nvSpPr>
        <p:spPr>
          <a:xfrm>
            <a:off x="9418320" y="3840480"/>
            <a:ext cx="2057400" cy="384048"/>
          </a:xfrm>
          <a:prstGeom prst="rect">
            <a:avLst/>
          </a:prstGeom>
          <a:noFill/>
          <a:ln/>
        </p:spPr>
        <p:txBody>
          <a:bodyPr wrap="square" lIns="0" tIns="0" rIns="0" bIns="0" rtlCol="0" anchor="ctr"/>
          <a:lstStyle/>
          <a:p>
            <a:pPr indent="0" marL="0">
              <a:buNone/>
            </a:pPr>
            <a:r>
              <a:rPr lang="en-US" sz="1100" b="1" dirty="0">
                <a:solidFill>
                  <a:schemeClr val="bg1"/>
                </a:solidFill>
              </a:rPr>
              <a:t>Opmerking</a:t>
            </a:r>
            <a:endParaRPr lang="en-US" sz="1100" dirty="0"/>
          </a:p>
        </p:txBody>
      </p:sp>
      <p:sp>
        <p:nvSpPr>
          <p:cNvPr id="54" name="tabelrij"/>
          <p:cNvSpPr/>
          <p:nvPr/>
        </p:nvSpPr>
        <p:spPr>
          <a:xfrm>
            <a:off x="7315200" y="4224528"/>
            <a:ext cx="4297680" cy="457200"/>
          </a:xfrm>
          <a:prstGeom prst="rect">
            <a:avLst/>
          </a:prstGeom>
          <a:solidFill>
            <a:schemeClr val="bg2"/>
          </a:solidFill>
          <a:ln w="9525">
            <a:solidFill>
              <a:schemeClr val="bg2"/>
            </a:solidFill>
            <a:prstDash val="solid"/>
          </a:ln>
        </p:spPr>
      </p:sp>
      <p:sp>
        <p:nvSpPr>
          <p:cNvPr id="55" name="Text 53"/>
          <p:cNvSpPr txBox="1"/>
          <p:nvPr/>
        </p:nvSpPr>
        <p:spPr>
          <a:xfrm>
            <a:off x="7452360" y="4224528"/>
            <a:ext cx="1051560" cy="457200"/>
          </a:xfrm>
          <a:prstGeom prst="rect">
            <a:avLst/>
          </a:prstGeom>
          <a:noFill/>
          <a:ln/>
        </p:spPr>
        <p:txBody>
          <a:bodyPr wrap="square" lIns="0" tIns="0" rIns="0" bIns="0" rtlCol="0" anchor="ctr"/>
          <a:lstStyle/>
          <a:p>
            <a:pPr indent="0" marL="0">
              <a:buNone/>
            </a:pPr>
            <a:r>
              <a:rPr lang="en-US" sz="1200" dirty="0">
                <a:solidFill>
                  <a:schemeClr val="tx1"/>
                </a:solidFill>
                <a:latin typeface="Consolas" pitchFamily="34" charset="0"/>
                <a:ea typeface="Consolas" pitchFamily="34" charset="-122"/>
                <a:cs typeface="Consolas" pitchFamily="34" charset="-120"/>
              </a:rPr>
              <a:t>lid_nummer</a:t>
            </a:r>
            <a:endParaRPr lang="en-US" sz="1200" dirty="0"/>
          </a:p>
        </p:txBody>
      </p:sp>
      <p:sp>
        <p:nvSpPr>
          <p:cNvPr id="56" name="Text 54"/>
          <p:cNvSpPr txBox="1"/>
          <p:nvPr/>
        </p:nvSpPr>
        <p:spPr>
          <a:xfrm>
            <a:off x="8778240" y="4224528"/>
            <a:ext cx="365760" cy="457200"/>
          </a:xfrm>
          <a:prstGeom prst="rect">
            <a:avLst/>
          </a:prstGeom>
          <a:noFill/>
          <a:ln/>
        </p:spPr>
        <p:txBody>
          <a:bodyPr wrap="square" lIns="0" tIns="0" rIns="0" bIns="0" rtlCol="0" anchor="ctr"/>
          <a:lstStyle/>
          <a:p>
            <a:pPr indent="0" marL="0">
              <a:buNone/>
            </a:pPr>
            <a:r>
              <a:rPr lang="en-US" sz="1200" dirty="0">
                <a:solidFill>
                  <a:schemeClr val="tx1"/>
                </a:solidFill>
              </a:rPr>
              <a:t>int</a:t>
            </a:r>
            <a:endParaRPr lang="en-US" sz="1200" dirty="0"/>
          </a:p>
        </p:txBody>
      </p:sp>
      <p:sp>
        <p:nvSpPr>
          <p:cNvPr id="57" name="Text 55"/>
          <p:cNvSpPr txBox="1"/>
          <p:nvPr/>
        </p:nvSpPr>
        <p:spPr>
          <a:xfrm>
            <a:off x="9418320" y="4224528"/>
            <a:ext cx="2057400" cy="457200"/>
          </a:xfrm>
          <a:prstGeom prst="rect">
            <a:avLst/>
          </a:prstGeom>
          <a:noFill/>
          <a:ln/>
        </p:spPr>
        <p:txBody>
          <a:bodyPr wrap="square" lIns="0" tIns="0" rIns="0" bIns="0" rtlCol="0" anchor="ctr"/>
          <a:lstStyle/>
          <a:p>
            <a:pPr indent="0" marL="0">
              <a:buNone/>
            </a:pPr>
            <a:endParaRPr lang="en-US" sz="1200" dirty="0"/>
          </a:p>
        </p:txBody>
      </p:sp>
      <p:sp>
        <p:nvSpPr>
          <p:cNvPr id="58" name="tabelrij"/>
          <p:cNvSpPr/>
          <p:nvPr/>
        </p:nvSpPr>
        <p:spPr>
          <a:xfrm>
            <a:off x="7315200" y="4681728"/>
            <a:ext cx="4297680" cy="457200"/>
          </a:xfrm>
          <a:prstGeom prst="rect">
            <a:avLst/>
          </a:prstGeom>
          <a:solidFill>
            <a:schemeClr val="bg1"/>
          </a:solidFill>
          <a:ln w="9525">
            <a:solidFill>
              <a:schemeClr val="bg2"/>
            </a:solidFill>
            <a:prstDash val="solid"/>
          </a:ln>
        </p:spPr>
      </p:sp>
      <p:sp>
        <p:nvSpPr>
          <p:cNvPr id="59" name="Text 57"/>
          <p:cNvSpPr txBox="1"/>
          <p:nvPr/>
        </p:nvSpPr>
        <p:spPr>
          <a:xfrm>
            <a:off x="7452360" y="4681728"/>
            <a:ext cx="1051560" cy="457200"/>
          </a:xfrm>
          <a:prstGeom prst="rect">
            <a:avLst/>
          </a:prstGeom>
          <a:noFill/>
          <a:ln/>
        </p:spPr>
        <p:txBody>
          <a:bodyPr wrap="square" lIns="0" tIns="0" rIns="0" bIns="0" rtlCol="0" anchor="ctr"/>
          <a:lstStyle/>
          <a:p>
            <a:pPr indent="0" marL="0">
              <a:buNone/>
            </a:pPr>
            <a:r>
              <a:rPr lang="en-US" sz="1200" dirty="0">
                <a:solidFill>
                  <a:schemeClr val="tx1"/>
                </a:solidFill>
                <a:latin typeface="Consolas" pitchFamily="34" charset="0"/>
                <a:ea typeface="Consolas" pitchFamily="34" charset="-122"/>
                <a:cs typeface="Consolas" pitchFamily="34" charset="-120"/>
              </a:rPr>
              <a:t>datum</a:t>
            </a:r>
            <a:endParaRPr lang="en-US" sz="1200" dirty="0"/>
          </a:p>
        </p:txBody>
      </p:sp>
      <p:sp>
        <p:nvSpPr>
          <p:cNvPr id="60" name="Text 58"/>
          <p:cNvSpPr txBox="1"/>
          <p:nvPr/>
        </p:nvSpPr>
        <p:spPr>
          <a:xfrm>
            <a:off x="8778240" y="4681728"/>
            <a:ext cx="365760" cy="457200"/>
          </a:xfrm>
          <a:prstGeom prst="rect">
            <a:avLst/>
          </a:prstGeom>
          <a:noFill/>
          <a:ln/>
        </p:spPr>
        <p:txBody>
          <a:bodyPr wrap="square" lIns="0" tIns="0" rIns="0" bIns="0" rtlCol="0" anchor="ctr"/>
          <a:lstStyle/>
          <a:p>
            <a:pPr indent="0" marL="0">
              <a:buNone/>
            </a:pPr>
            <a:r>
              <a:rPr lang="en-US" sz="1200" dirty="0">
                <a:solidFill>
                  <a:schemeClr val="tx1"/>
                </a:solidFill>
              </a:rPr>
              <a:t>str</a:t>
            </a:r>
            <a:endParaRPr lang="en-US" sz="1200" dirty="0"/>
          </a:p>
        </p:txBody>
      </p:sp>
      <p:sp>
        <p:nvSpPr>
          <p:cNvPr id="61" name="Text 59"/>
          <p:cNvSpPr txBox="1"/>
          <p:nvPr/>
        </p:nvSpPr>
        <p:spPr>
          <a:xfrm>
            <a:off x="9418320" y="4681728"/>
            <a:ext cx="2057400" cy="457200"/>
          </a:xfrm>
          <a:prstGeom prst="rect">
            <a:avLst/>
          </a:prstGeom>
          <a:noFill/>
          <a:ln/>
        </p:spPr>
        <p:txBody>
          <a:bodyPr wrap="square" lIns="0" tIns="0" rIns="0" bIns="0" rtlCol="0" anchor="ctr"/>
          <a:lstStyle/>
          <a:p>
            <a:pPr indent="0" marL="0">
              <a:buNone/>
            </a:pPr>
            <a:r>
              <a:rPr lang="en-US" sz="1200" dirty="0">
                <a:solidFill>
                  <a:schemeClr val="tx1"/>
                </a:solidFill>
              </a:rPr>
              <a:t>ISO-vorm: 2026-09-10</a:t>
            </a:r>
            <a:endParaRPr lang="en-US" sz="1200" dirty="0"/>
          </a:p>
        </p:txBody>
      </p:sp>
      <p:sp>
        <p:nvSpPr>
          <p:cNvPr id="62" name="tabelrij"/>
          <p:cNvSpPr/>
          <p:nvPr/>
        </p:nvSpPr>
        <p:spPr>
          <a:xfrm>
            <a:off x="7315200" y="5138928"/>
            <a:ext cx="4297680" cy="457200"/>
          </a:xfrm>
          <a:prstGeom prst="rect">
            <a:avLst/>
          </a:prstGeom>
          <a:solidFill>
            <a:schemeClr val="bg2"/>
          </a:solidFill>
          <a:ln w="9525">
            <a:solidFill>
              <a:schemeClr val="bg2"/>
            </a:solidFill>
            <a:prstDash val="solid"/>
          </a:ln>
        </p:spPr>
      </p:sp>
      <p:sp>
        <p:nvSpPr>
          <p:cNvPr id="63" name="Text 61"/>
          <p:cNvSpPr txBox="1"/>
          <p:nvPr/>
        </p:nvSpPr>
        <p:spPr>
          <a:xfrm>
            <a:off x="7452360" y="5138928"/>
            <a:ext cx="1051560" cy="457200"/>
          </a:xfrm>
          <a:prstGeom prst="rect">
            <a:avLst/>
          </a:prstGeom>
          <a:noFill/>
          <a:ln/>
        </p:spPr>
        <p:txBody>
          <a:bodyPr wrap="square" lIns="0" tIns="0" rIns="0" bIns="0" rtlCol="0" anchor="ctr"/>
          <a:lstStyle/>
          <a:p>
            <a:pPr indent="0" marL="0">
              <a:buNone/>
            </a:pPr>
            <a:r>
              <a:rPr lang="en-US" sz="1200" dirty="0">
                <a:solidFill>
                  <a:schemeClr val="tx1"/>
                </a:solidFill>
                <a:latin typeface="Consolas" pitchFamily="34" charset="0"/>
                <a:ea typeface="Consolas" pitchFamily="34" charset="-122"/>
                <a:cs typeface="Consolas" pitchFamily="34" charset="-120"/>
              </a:rPr>
              <a:t>aanwezig</a:t>
            </a:r>
            <a:endParaRPr lang="en-US" sz="1200" dirty="0"/>
          </a:p>
        </p:txBody>
      </p:sp>
      <p:sp>
        <p:nvSpPr>
          <p:cNvPr id="64" name="Text 62"/>
          <p:cNvSpPr txBox="1"/>
          <p:nvPr/>
        </p:nvSpPr>
        <p:spPr>
          <a:xfrm>
            <a:off x="8778240" y="5138928"/>
            <a:ext cx="365760" cy="457200"/>
          </a:xfrm>
          <a:prstGeom prst="rect">
            <a:avLst/>
          </a:prstGeom>
          <a:noFill/>
          <a:ln/>
        </p:spPr>
        <p:txBody>
          <a:bodyPr wrap="square" lIns="0" tIns="0" rIns="0" bIns="0" rtlCol="0" anchor="ctr"/>
          <a:lstStyle/>
          <a:p>
            <a:pPr indent="0" marL="0">
              <a:buNone/>
            </a:pPr>
            <a:r>
              <a:rPr lang="en-US" sz="1200" dirty="0">
                <a:solidFill>
                  <a:schemeClr val="tx1"/>
                </a:solidFill>
              </a:rPr>
              <a:t>bool</a:t>
            </a:r>
            <a:endParaRPr lang="en-US" sz="1200" dirty="0"/>
          </a:p>
        </p:txBody>
      </p:sp>
      <p:sp>
        <p:nvSpPr>
          <p:cNvPr id="65" name="Text 63"/>
          <p:cNvSpPr txBox="1"/>
          <p:nvPr/>
        </p:nvSpPr>
        <p:spPr>
          <a:xfrm>
            <a:off x="9418320" y="5138928"/>
            <a:ext cx="2057400" cy="457200"/>
          </a:xfrm>
          <a:prstGeom prst="rect">
            <a:avLst/>
          </a:prstGeom>
          <a:noFill/>
          <a:ln/>
        </p:spPr>
        <p:txBody>
          <a:bodyPr wrap="square" lIns="0" tIns="0" rIns="0" bIns="0" rtlCol="0" anchor="ctr"/>
          <a:lstStyle/>
          <a:p>
            <a:pPr indent="0" marL="0">
              <a:buNone/>
            </a:pPr>
            <a:endParaRPr lang="en-US" sz="1200" dirty="0"/>
          </a:p>
        </p:txBody>
      </p:sp>
      <p:sp>
        <p:nvSpPr>
          <p:cNvPr id="66" name="Text 64"/>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400" i="1" dirty="0">
                <a:solidFill>
                  <a:schemeClr val="tx2"/>
                </a:solidFill>
              </a:rPr>
              <a:t>Drie soorten dingen. De gemarkeerde keuzes verdienen uitleg: zie de volgende dia.</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Twee keuzes die uitleg verdienen</a:t>
            </a:r>
            <a:endParaRPr lang="en-US" sz="3400" dirty="0"/>
          </a:p>
        </p:txBody>
      </p:sp>
      <p:sp>
        <p:nvSpPr>
          <p:cNvPr id="3" name="kaart"/>
          <p:cNvSpPr/>
          <p:nvPr/>
        </p:nvSpPr>
        <p:spPr>
          <a:xfrm>
            <a:off x="548640" y="1371600"/>
            <a:ext cx="5440680" cy="3246120"/>
          </a:xfrm>
          <a:prstGeom prst="roundRect">
            <a:avLst>
              <a:gd name="adj" fmla="val 3380"/>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4" name="icooncirkel"/>
          <p:cNvSpPr/>
          <p:nvPr/>
        </p:nvSpPr>
        <p:spPr>
          <a:xfrm>
            <a:off x="868680" y="1645920"/>
            <a:ext cx="777240" cy="777240"/>
          </a:xfrm>
          <a:prstGeom prst="ellipse">
            <a:avLst/>
          </a:prstGeom>
          <a:solidFill>
            <a:schemeClr val="accent2"/>
          </a:solidFill>
          <a:ln w="12700">
            <a:solidFill>
              <a:schemeClr val="accent2"/>
            </a:solidFill>
            <a:prstDash val="solid"/>
          </a:ln>
        </p:spPr>
      </p:sp>
      <p:pic>
        <p:nvPicPr>
          <p:cNvPr id="5" name="icoon" descr="preencoded.png">    </p:cNvPr>
          <p:cNvPicPr>
            <a:picLocks noChangeAspect="1"/>
          </p:cNvPicPr>
          <p:nvPr/>
        </p:nvPicPr>
        <p:blipFill>
          <a:blip r:embed="rId1"/>
          <a:stretch>
            <a:fillRect/>
          </a:stretch>
        </p:blipFill>
        <p:spPr>
          <a:xfrm>
            <a:off x="1062990" y="1840230"/>
            <a:ext cx="388620" cy="388620"/>
          </a:xfrm>
          <a:prstGeom prst="rect">
            <a:avLst/>
          </a:prstGeom>
        </p:spPr>
      </p:pic>
      <p:sp>
        <p:nvSpPr>
          <p:cNvPr id="6" name="Text 3"/>
          <p:cNvSpPr txBox="1"/>
          <p:nvPr/>
        </p:nvSpPr>
        <p:spPr>
          <a:xfrm>
            <a:off x="1828800" y="1691640"/>
            <a:ext cx="27432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WAAROM</a:t>
            </a:r>
            <a:endParaRPr lang="en-US" sz="1200" dirty="0"/>
          </a:p>
        </p:txBody>
      </p:sp>
      <p:sp>
        <p:nvSpPr>
          <p:cNvPr id="7" name="Text 4"/>
          <p:cNvSpPr txBox="1"/>
          <p:nvPr/>
        </p:nvSpPr>
        <p:spPr>
          <a:xfrm>
            <a:off x="1828800" y="1965960"/>
            <a:ext cx="3977640" cy="54864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Geboortejaar in plaats van leeftijd</a:t>
            </a:r>
            <a:endParaRPr lang="en-US" sz="2000" dirty="0"/>
          </a:p>
        </p:txBody>
      </p:sp>
      <p:sp>
        <p:nvSpPr>
          <p:cNvPr id="8" name="Text 5"/>
          <p:cNvSpPr txBox="1"/>
          <p:nvPr/>
        </p:nvSpPr>
        <p:spPr>
          <a:xfrm>
            <a:off x="868680" y="2743200"/>
            <a:ext cx="4846320" cy="731520"/>
          </a:xfrm>
          <a:prstGeom prst="rect">
            <a:avLst/>
          </a:prstGeom>
          <a:noFill/>
          <a:ln/>
        </p:spPr>
        <p:txBody>
          <a:bodyPr wrap="square" lIns="0" tIns="0" rIns="0" bIns="0" rtlCol="0" anchor="t"/>
          <a:lstStyle/>
          <a:p>
            <a:pPr indent="0" marL="0">
              <a:buNone/>
            </a:pPr>
            <a:r>
              <a:rPr lang="en-US" sz="1600" dirty="0">
                <a:solidFill>
                  <a:schemeClr val="tx1"/>
                </a:solidFill>
              </a:rPr>
              <a:t>Leeftijd is afgeleide informatie die elk jaar verandert.</a:t>
            </a:r>
            <a:endParaRPr lang="en-US" sz="1600" dirty="0"/>
          </a:p>
        </p:txBody>
      </p:sp>
      <p:sp>
        <p:nvSpPr>
          <p:cNvPr id="9" name="Text 6"/>
          <p:cNvSpPr txBox="1"/>
          <p:nvPr/>
        </p:nvSpPr>
        <p:spPr>
          <a:xfrm>
            <a:off x="868680" y="3520440"/>
            <a:ext cx="4846320" cy="1188720"/>
          </a:xfrm>
          <a:prstGeom prst="rect">
            <a:avLst/>
          </a:prstGeom>
          <a:noFill/>
          <a:ln/>
        </p:spPr>
        <p:txBody>
          <a:bodyPr wrap="square" lIns="0" tIns="0" rIns="0" bIns="0" rtlCol="0" anchor="t"/>
          <a:lstStyle/>
          <a:p>
            <a:pPr indent="0" marL="0">
              <a:buNone/>
            </a:pPr>
            <a:r>
              <a:rPr lang="en-US" sz="1600" b="1" dirty="0">
                <a:solidFill>
                  <a:schemeClr val="accent2"/>
                </a:solidFill>
              </a:rPr>
              <a:t>Wat je opslaat, is wat vaststaat; wat je berekent, bereken je wanneer je het nodig hebt.</a:t>
            </a:r>
            <a:endParaRPr lang="en-US" sz="1600" dirty="0"/>
          </a:p>
        </p:txBody>
      </p:sp>
      <p:sp>
        <p:nvSpPr>
          <p:cNvPr id="10" name="kaart"/>
          <p:cNvSpPr/>
          <p:nvPr/>
        </p:nvSpPr>
        <p:spPr>
          <a:xfrm>
            <a:off x="6172200" y="1371600"/>
            <a:ext cx="5440680" cy="3246120"/>
          </a:xfrm>
          <a:prstGeom prst="roundRect">
            <a:avLst>
              <a:gd name="adj" fmla="val 3380"/>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1" name="icooncirkel"/>
          <p:cNvSpPr/>
          <p:nvPr/>
        </p:nvSpPr>
        <p:spPr>
          <a:xfrm>
            <a:off x="6492240" y="1645920"/>
            <a:ext cx="777240" cy="777240"/>
          </a:xfrm>
          <a:prstGeom prst="ellipse">
            <a:avLst/>
          </a:prstGeom>
          <a:solidFill>
            <a:schemeClr val="accent1"/>
          </a:solidFill>
          <a:ln w="12700">
            <a:solidFill>
              <a:schemeClr val="accent1"/>
            </a:solidFill>
            <a:prstDash val="solid"/>
          </a:ln>
        </p:spPr>
      </p:sp>
      <p:pic>
        <p:nvPicPr>
          <p:cNvPr id="12" name="icoon" descr="preencoded.png">    </p:cNvPr>
          <p:cNvPicPr>
            <a:picLocks noChangeAspect="1"/>
          </p:cNvPicPr>
          <p:nvPr/>
        </p:nvPicPr>
        <p:blipFill>
          <a:blip r:embed="rId2"/>
          <a:stretch>
            <a:fillRect/>
          </a:stretch>
        </p:blipFill>
        <p:spPr>
          <a:xfrm>
            <a:off x="6686550" y="1840230"/>
            <a:ext cx="388620" cy="388620"/>
          </a:xfrm>
          <a:prstGeom prst="rect">
            <a:avLst/>
          </a:prstGeom>
        </p:spPr>
      </p:pic>
      <p:sp>
        <p:nvSpPr>
          <p:cNvPr id="13" name="Text 9"/>
          <p:cNvSpPr txBox="1"/>
          <p:nvPr/>
        </p:nvSpPr>
        <p:spPr>
          <a:xfrm>
            <a:off x="7452360" y="1691640"/>
            <a:ext cx="2743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WAAROM</a:t>
            </a:r>
            <a:endParaRPr lang="en-US" sz="1200" dirty="0"/>
          </a:p>
        </p:txBody>
      </p:sp>
      <p:sp>
        <p:nvSpPr>
          <p:cNvPr id="14" name="Text 10"/>
          <p:cNvSpPr txBox="1"/>
          <p:nvPr/>
        </p:nvSpPr>
        <p:spPr>
          <a:xfrm>
            <a:off x="7452360" y="1965960"/>
            <a:ext cx="3977640" cy="54864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Bedragen in centen als int</a:t>
            </a:r>
            <a:endParaRPr lang="en-US" sz="2000" dirty="0"/>
          </a:p>
        </p:txBody>
      </p:sp>
      <p:sp>
        <p:nvSpPr>
          <p:cNvPr id="15" name="Text 11"/>
          <p:cNvSpPr txBox="1"/>
          <p:nvPr/>
        </p:nvSpPr>
        <p:spPr>
          <a:xfrm>
            <a:off x="6492240" y="2743200"/>
            <a:ext cx="4846320" cy="731520"/>
          </a:xfrm>
          <a:prstGeom prst="rect">
            <a:avLst/>
          </a:prstGeom>
          <a:noFill/>
          <a:ln/>
        </p:spPr>
        <p:txBody>
          <a:bodyPr wrap="square" lIns="0" tIns="0" rIns="0" bIns="0" rtlCol="0" anchor="t"/>
          <a:lstStyle/>
          <a:p>
            <a:pPr indent="0" marL="0">
              <a:buNone/>
            </a:pPr>
            <a:r>
              <a:rPr lang="en-US" sz="1600" dirty="0">
                <a:solidFill>
                  <a:schemeClr val="tx1"/>
                </a:solidFill>
              </a:rPr>
              <a:t>De valkuil uit hoofdstuk 6: 0.1 + 0.2 == 0.3 is onwaar.</a:t>
            </a:r>
            <a:endParaRPr lang="en-US" sz="1600" dirty="0"/>
          </a:p>
        </p:txBody>
      </p:sp>
      <p:sp>
        <p:nvSpPr>
          <p:cNvPr id="16" name="Text 12"/>
          <p:cNvSpPr txBox="1"/>
          <p:nvPr/>
        </p:nvSpPr>
        <p:spPr>
          <a:xfrm>
            <a:off x="6492240" y="3520440"/>
            <a:ext cx="4846320" cy="1188720"/>
          </a:xfrm>
          <a:prstGeom prst="rect">
            <a:avLst/>
          </a:prstGeom>
          <a:noFill/>
          <a:ln/>
        </p:spPr>
        <p:txBody>
          <a:bodyPr wrap="square" lIns="0" tIns="0" rIns="0" bIns="0" rtlCol="0" anchor="t"/>
          <a:lstStyle/>
          <a:p>
            <a:pPr indent="0" marL="0">
              <a:buNone/>
            </a:pPr>
            <a:r>
              <a:rPr lang="en-US" sz="1600" b="1" dirty="0">
                <a:solidFill>
                  <a:schemeClr val="accent1"/>
                </a:solidFill>
              </a:rPr>
              <a:t>Reken in hele centen en deel pas door honderd bij het tonen, dan klopt elke optelling.</a:t>
            </a:r>
            <a:endParaRPr lang="en-US" sz="1600" dirty="0"/>
          </a:p>
        </p:txBody>
      </p:sp>
      <p:sp>
        <p:nvSpPr>
          <p:cNvPr id="17" name="codevak"/>
          <p:cNvSpPr/>
          <p:nvPr/>
        </p:nvSpPr>
        <p:spPr>
          <a:xfrm>
            <a:off x="548640" y="4892040"/>
            <a:ext cx="11064240" cy="1097280"/>
          </a:xfrm>
          <a:prstGeom prst="roundRect">
            <a:avLst>
              <a:gd name="adj" fmla="val 8333"/>
            </a:avLst>
          </a:prstGeom>
          <a:solidFill>
            <a:srgbClr val="161A33"/>
          </a:solidFill>
          <a:ln w="12700">
            <a:solidFill>
              <a:srgbClr val="161A33"/>
            </a:solidFill>
            <a:prstDash val="solid"/>
          </a:ln>
        </p:spPr>
      </p:sp>
      <p:sp>
        <p:nvSpPr>
          <p:cNvPr id="18" name="code"/>
          <p:cNvSpPr txBox="1"/>
          <p:nvPr/>
        </p:nvSpPr>
        <p:spPr>
          <a:xfrm>
            <a:off x="777240" y="5074920"/>
            <a:ext cx="10607040" cy="777240"/>
          </a:xfrm>
          <a:prstGeom prst="rect">
            <a:avLst/>
          </a:prstGeom>
          <a:noFill/>
          <a:ln/>
        </p:spPr>
        <p:txBody>
          <a:bodyPr wrap="square" lIns="0" tIns="0" rIns="0" bIns="0" rtlCol="0" anchor="t"/>
          <a:lstStyle/>
          <a:p>
            <a:pPr indent="0" marL="0">
              <a:buNone/>
            </a:pPr>
            <a:r>
              <a:rPr lang="en-US" sz="1700" dirty="0">
                <a:solidFill>
                  <a:srgbClr val="E8ECF8"/>
                </a:solidFill>
                <a:latin typeface="Consolas" pitchFamily="34" charset="0"/>
                <a:ea typeface="Consolas" pitchFamily="34" charset="-122"/>
                <a:cs typeface="Consolas" pitchFamily="34" charset="-120"/>
              </a:rPr>
              <a:t>0.1 + 0.2 == 0.3        # onwaar: kommagetallen zijn niet exact</a:t>
            </a:r>
            <a:endParaRPr lang="en-US" sz="1700" dirty="0"/>
          </a:p>
          <a:p>
            <a:pPr indent="0" marL="0">
              <a:buNone/>
            </a:pPr>
            <a:r>
              <a:rPr lang="en-US" sz="1700" dirty="0">
                <a:solidFill>
                  <a:srgbClr val="E8ECF8"/>
                </a:solidFill>
                <a:latin typeface="Consolas" pitchFamily="34" charset="0"/>
                <a:ea typeface="Consolas" pitchFamily="34" charset="-122"/>
                <a:cs typeface="Consolas" pitchFamily="34" charset="-120"/>
              </a:rPr>
              <a:t>BASISTARIEF_CENTEN = 12_000   # 120 euro, als geheel getal</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Uitgewerkt: 3. waar de brief onvolledig is</a:t>
            </a:r>
            <a:endParaRPr lang="en-US" sz="3400" dirty="0"/>
          </a:p>
        </p:txBody>
      </p:sp>
      <p:sp>
        <p:nvSpPr>
          <p:cNvPr id="3" name="kaart"/>
          <p:cNvSpPr/>
          <p:nvPr/>
        </p:nvSpPr>
        <p:spPr>
          <a:xfrm>
            <a:off x="548640" y="1325880"/>
            <a:ext cx="3566160" cy="1417320"/>
          </a:xfrm>
          <a:prstGeom prst="roundRect">
            <a:avLst>
              <a:gd name="adj" fmla="val 7742"/>
            </a:avLst>
          </a:prstGeom>
          <a:solidFill>
            <a:schemeClr val="bg2"/>
          </a:solidFill>
          <a:ln w="12700">
            <a:solidFill>
              <a:schemeClr val="bg2"/>
            </a:solidFill>
            <a:prstDash val="solid"/>
          </a:ln>
        </p:spPr>
      </p:sp>
      <p:sp>
        <p:nvSpPr>
          <p:cNvPr id="4" name="nummercirkel"/>
          <p:cNvSpPr/>
          <p:nvPr/>
        </p:nvSpPr>
        <p:spPr>
          <a:xfrm>
            <a:off x="731520" y="1508760"/>
            <a:ext cx="457200" cy="457200"/>
          </a:xfrm>
          <a:prstGeom prst="ellipse">
            <a:avLst/>
          </a:prstGeom>
          <a:solidFill>
            <a:schemeClr val="accent3"/>
          </a:solidFill>
          <a:ln w="12700">
            <a:solidFill>
              <a:schemeClr val="accent3"/>
            </a:solidFill>
            <a:prstDash val="solid"/>
          </a:ln>
        </p:spPr>
      </p:sp>
      <p:sp>
        <p:nvSpPr>
          <p:cNvPr id="5" name="Text 3"/>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325880" y="1463040"/>
            <a:ext cx="2651760" cy="1143000"/>
          </a:xfrm>
          <a:prstGeom prst="rect">
            <a:avLst/>
          </a:prstGeom>
          <a:noFill/>
          <a:ln/>
        </p:spPr>
        <p:txBody>
          <a:bodyPr wrap="square" lIns="0" tIns="0" rIns="0" bIns="0" rtlCol="0" anchor="t"/>
          <a:lstStyle/>
          <a:p>
            <a:pPr indent="0" marL="0">
              <a:buNone/>
            </a:pPr>
            <a:r>
              <a:rPr lang="en-US" sz="1400" dirty="0">
                <a:solidFill>
                  <a:schemeClr val="tx1"/>
                </a:solidFill>
              </a:rPr>
              <a:t>„Jongeren betalen minder”: hoeveel minder, en tot welke leeftijd?</a:t>
            </a:r>
            <a:endParaRPr lang="en-US" sz="1400" dirty="0"/>
          </a:p>
        </p:txBody>
      </p:sp>
      <p:sp>
        <p:nvSpPr>
          <p:cNvPr id="7" name="kaart"/>
          <p:cNvSpPr/>
          <p:nvPr/>
        </p:nvSpPr>
        <p:spPr>
          <a:xfrm>
            <a:off x="4297680" y="1325880"/>
            <a:ext cx="3566160" cy="1417320"/>
          </a:xfrm>
          <a:prstGeom prst="roundRect">
            <a:avLst>
              <a:gd name="adj" fmla="val 7742"/>
            </a:avLst>
          </a:prstGeom>
          <a:solidFill>
            <a:schemeClr val="bg2"/>
          </a:solidFill>
          <a:ln w="12700">
            <a:solidFill>
              <a:schemeClr val="bg2"/>
            </a:solidFill>
            <a:prstDash val="solid"/>
          </a:ln>
        </p:spPr>
      </p:sp>
      <p:sp>
        <p:nvSpPr>
          <p:cNvPr id="8" name="nummercirkel"/>
          <p:cNvSpPr/>
          <p:nvPr/>
        </p:nvSpPr>
        <p:spPr>
          <a:xfrm>
            <a:off x="4480560" y="1508760"/>
            <a:ext cx="457200" cy="457200"/>
          </a:xfrm>
          <a:prstGeom prst="ellipse">
            <a:avLst/>
          </a:prstGeom>
          <a:solidFill>
            <a:schemeClr val="accent3"/>
          </a:solidFill>
          <a:ln w="12700">
            <a:solidFill>
              <a:schemeClr val="accent3"/>
            </a:solidFill>
            <a:prstDash val="solid"/>
          </a:ln>
        </p:spPr>
      </p:sp>
      <p:sp>
        <p:nvSpPr>
          <p:cNvPr id="9" name="Text 7"/>
          <p:cNvSpPr txBox="1"/>
          <p:nvPr/>
        </p:nvSpPr>
        <p:spPr>
          <a:xfrm>
            <a:off x="448056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5074920" y="1463040"/>
            <a:ext cx="2651760" cy="1143000"/>
          </a:xfrm>
          <a:prstGeom prst="rect">
            <a:avLst/>
          </a:prstGeom>
          <a:noFill/>
          <a:ln/>
        </p:spPr>
        <p:txBody>
          <a:bodyPr wrap="square" lIns="0" tIns="0" rIns="0" bIns="0" rtlCol="0" anchor="t"/>
          <a:lstStyle/>
          <a:p>
            <a:pPr indent="0" marL="0">
              <a:buNone/>
            </a:pPr>
            <a:r>
              <a:rPr lang="en-US" sz="1400" dirty="0">
                <a:solidFill>
                  <a:schemeClr val="tx1"/>
                </a:solidFill>
              </a:rPr>
              <a:t>„Wie twee kinderen inschrijft”: hoeveel korting, en op welk kind?</a:t>
            </a:r>
            <a:endParaRPr lang="en-US" sz="1400" dirty="0"/>
          </a:p>
        </p:txBody>
      </p:sp>
      <p:sp>
        <p:nvSpPr>
          <p:cNvPr id="11" name="kaart"/>
          <p:cNvSpPr/>
          <p:nvPr/>
        </p:nvSpPr>
        <p:spPr>
          <a:xfrm>
            <a:off x="8046720" y="1325880"/>
            <a:ext cx="3566160" cy="1417320"/>
          </a:xfrm>
          <a:prstGeom prst="roundRect">
            <a:avLst>
              <a:gd name="adj" fmla="val 7742"/>
            </a:avLst>
          </a:prstGeom>
          <a:solidFill>
            <a:schemeClr val="bg2"/>
          </a:solidFill>
          <a:ln w="12700">
            <a:solidFill>
              <a:schemeClr val="bg2"/>
            </a:solidFill>
            <a:prstDash val="solid"/>
          </a:ln>
        </p:spPr>
      </p:sp>
      <p:sp>
        <p:nvSpPr>
          <p:cNvPr id="12" name="nummercirkel"/>
          <p:cNvSpPr/>
          <p:nvPr/>
        </p:nvSpPr>
        <p:spPr>
          <a:xfrm>
            <a:off x="8229600" y="1508760"/>
            <a:ext cx="457200" cy="457200"/>
          </a:xfrm>
          <a:prstGeom prst="ellipse">
            <a:avLst/>
          </a:prstGeom>
          <a:solidFill>
            <a:schemeClr val="accent3"/>
          </a:solidFill>
          <a:ln w="12700">
            <a:solidFill>
              <a:schemeClr val="accent3"/>
            </a:solidFill>
            <a:prstDash val="solid"/>
          </a:ln>
        </p:spPr>
      </p:sp>
      <p:sp>
        <p:nvSpPr>
          <p:cNvPr id="13" name="Text 11"/>
          <p:cNvSpPr txBox="1"/>
          <p:nvPr/>
        </p:nvSpPr>
        <p:spPr>
          <a:xfrm>
            <a:off x="822960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14" name="Text 12"/>
          <p:cNvSpPr txBox="1"/>
          <p:nvPr/>
        </p:nvSpPr>
        <p:spPr>
          <a:xfrm>
            <a:off x="8823960" y="1463040"/>
            <a:ext cx="2651760" cy="1143000"/>
          </a:xfrm>
          <a:prstGeom prst="rect">
            <a:avLst/>
          </a:prstGeom>
          <a:noFill/>
          <a:ln/>
        </p:spPr>
        <p:txBody>
          <a:bodyPr wrap="square" lIns="0" tIns="0" rIns="0" bIns="0" rtlCol="0" anchor="t"/>
          <a:lstStyle/>
          <a:p>
            <a:pPr indent="0" marL="0">
              <a:buNone/>
            </a:pPr>
            <a:r>
              <a:rPr lang="en-US" sz="1400" dirty="0">
                <a:solidFill>
                  <a:schemeClr val="tx1"/>
                </a:solidFill>
              </a:rPr>
              <a:t>Gelden beide kortingen samen, en in welke volgorde worden ze toegepast?</a:t>
            </a:r>
            <a:endParaRPr lang="en-US" sz="1400" dirty="0"/>
          </a:p>
        </p:txBody>
      </p:sp>
      <p:sp>
        <p:nvSpPr>
          <p:cNvPr id="15" name="kaart"/>
          <p:cNvSpPr/>
          <p:nvPr/>
        </p:nvSpPr>
        <p:spPr>
          <a:xfrm>
            <a:off x="548640" y="2898648"/>
            <a:ext cx="3566160" cy="1417320"/>
          </a:xfrm>
          <a:prstGeom prst="roundRect">
            <a:avLst>
              <a:gd name="adj" fmla="val 7742"/>
            </a:avLst>
          </a:prstGeom>
          <a:solidFill>
            <a:schemeClr val="bg2"/>
          </a:solidFill>
          <a:ln w="12700">
            <a:solidFill>
              <a:schemeClr val="bg2"/>
            </a:solidFill>
            <a:prstDash val="solid"/>
          </a:ln>
        </p:spPr>
      </p:sp>
      <p:sp>
        <p:nvSpPr>
          <p:cNvPr id="16" name="nummercirkel"/>
          <p:cNvSpPr/>
          <p:nvPr/>
        </p:nvSpPr>
        <p:spPr>
          <a:xfrm>
            <a:off x="731520" y="3081528"/>
            <a:ext cx="457200" cy="457200"/>
          </a:xfrm>
          <a:prstGeom prst="ellipse">
            <a:avLst/>
          </a:prstGeom>
          <a:solidFill>
            <a:schemeClr val="accent3"/>
          </a:solidFill>
          <a:ln w="12700">
            <a:solidFill>
              <a:schemeClr val="accent3"/>
            </a:solidFill>
            <a:prstDash val="solid"/>
          </a:ln>
        </p:spPr>
      </p:sp>
      <p:sp>
        <p:nvSpPr>
          <p:cNvPr id="17" name="Text 15"/>
          <p:cNvSpPr txBox="1"/>
          <p:nvPr/>
        </p:nvSpPr>
        <p:spPr>
          <a:xfrm>
            <a:off x="731520" y="30815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18" name="Text 16"/>
          <p:cNvSpPr txBox="1"/>
          <p:nvPr/>
        </p:nvSpPr>
        <p:spPr>
          <a:xfrm>
            <a:off x="1325880" y="3035808"/>
            <a:ext cx="2651760" cy="1143000"/>
          </a:xfrm>
          <a:prstGeom prst="rect">
            <a:avLst/>
          </a:prstGeom>
          <a:noFill/>
          <a:ln/>
        </p:spPr>
        <p:txBody>
          <a:bodyPr wrap="square" lIns="0" tIns="0" rIns="0" bIns="0" rtlCol="0" anchor="t"/>
          <a:lstStyle/>
          <a:p>
            <a:pPr indent="0" marL="0">
              <a:buNone/>
            </a:pPr>
            <a:r>
              <a:rPr lang="en-US" sz="1400" dirty="0">
                <a:solidFill>
                  <a:schemeClr val="tx1"/>
                </a:solidFill>
              </a:rPr>
              <a:t>„Drie keer niet komt opdagen”: drie keer na elkaar, of drie keer in totaal?</a:t>
            </a:r>
            <a:endParaRPr lang="en-US" sz="1400" dirty="0"/>
          </a:p>
        </p:txBody>
      </p:sp>
      <p:sp>
        <p:nvSpPr>
          <p:cNvPr id="19" name="kaart"/>
          <p:cNvSpPr/>
          <p:nvPr/>
        </p:nvSpPr>
        <p:spPr>
          <a:xfrm>
            <a:off x="4297680" y="2898648"/>
            <a:ext cx="3566160" cy="1417320"/>
          </a:xfrm>
          <a:prstGeom prst="roundRect">
            <a:avLst>
              <a:gd name="adj" fmla="val 7742"/>
            </a:avLst>
          </a:prstGeom>
          <a:solidFill>
            <a:schemeClr val="bg2"/>
          </a:solidFill>
          <a:ln w="12700">
            <a:solidFill>
              <a:schemeClr val="bg2"/>
            </a:solidFill>
            <a:prstDash val="solid"/>
          </a:ln>
        </p:spPr>
      </p:sp>
      <p:sp>
        <p:nvSpPr>
          <p:cNvPr id="20" name="nummercirkel"/>
          <p:cNvSpPr/>
          <p:nvPr/>
        </p:nvSpPr>
        <p:spPr>
          <a:xfrm>
            <a:off x="4480560" y="3081528"/>
            <a:ext cx="457200" cy="457200"/>
          </a:xfrm>
          <a:prstGeom prst="ellipse">
            <a:avLst/>
          </a:prstGeom>
          <a:solidFill>
            <a:schemeClr val="accent3"/>
          </a:solidFill>
          <a:ln w="12700">
            <a:solidFill>
              <a:schemeClr val="accent3"/>
            </a:solidFill>
            <a:prstDash val="solid"/>
          </a:ln>
        </p:spPr>
      </p:sp>
      <p:sp>
        <p:nvSpPr>
          <p:cNvPr id="21" name="Text 19"/>
          <p:cNvSpPr txBox="1"/>
          <p:nvPr/>
        </p:nvSpPr>
        <p:spPr>
          <a:xfrm>
            <a:off x="4480560" y="30815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5</a:t>
            </a:r>
            <a:endParaRPr lang="en-US" sz="1600" dirty="0"/>
          </a:p>
        </p:txBody>
      </p:sp>
      <p:sp>
        <p:nvSpPr>
          <p:cNvPr id="22" name="Text 20"/>
          <p:cNvSpPr txBox="1"/>
          <p:nvPr/>
        </p:nvSpPr>
        <p:spPr>
          <a:xfrm>
            <a:off x="5074920" y="3035808"/>
            <a:ext cx="2651760" cy="1143000"/>
          </a:xfrm>
          <a:prstGeom prst="rect">
            <a:avLst/>
          </a:prstGeom>
          <a:noFill/>
          <a:ln/>
        </p:spPr>
        <p:txBody>
          <a:bodyPr wrap="square" lIns="0" tIns="0" rIns="0" bIns="0" rtlCol="0" anchor="t"/>
          <a:lstStyle/>
          <a:p>
            <a:pPr indent="0" marL="0">
              <a:buNone/>
            </a:pPr>
            <a:r>
              <a:rPr lang="en-US" sz="1400" dirty="0">
                <a:solidFill>
                  <a:schemeClr val="tx1"/>
                </a:solidFill>
              </a:rPr>
              <a:t>„Moet hij uit de groep”: automatisch, of met een bevestiging door de trainer?</a:t>
            </a:r>
            <a:endParaRPr lang="en-US" sz="1400" dirty="0"/>
          </a:p>
        </p:txBody>
      </p:sp>
      <p:sp>
        <p:nvSpPr>
          <p:cNvPr id="23" name="kaart"/>
          <p:cNvSpPr/>
          <p:nvPr/>
        </p:nvSpPr>
        <p:spPr>
          <a:xfrm>
            <a:off x="8046720" y="2898648"/>
            <a:ext cx="3566160" cy="1417320"/>
          </a:xfrm>
          <a:prstGeom prst="roundRect">
            <a:avLst>
              <a:gd name="adj" fmla="val 7742"/>
            </a:avLst>
          </a:prstGeom>
          <a:solidFill>
            <a:schemeClr val="bg2"/>
          </a:solidFill>
          <a:ln w="12700">
            <a:solidFill>
              <a:schemeClr val="bg2"/>
            </a:solidFill>
            <a:prstDash val="solid"/>
          </a:ln>
        </p:spPr>
      </p:sp>
      <p:sp>
        <p:nvSpPr>
          <p:cNvPr id="24" name="nummercirkel"/>
          <p:cNvSpPr/>
          <p:nvPr/>
        </p:nvSpPr>
        <p:spPr>
          <a:xfrm>
            <a:off x="8229600" y="3081528"/>
            <a:ext cx="457200" cy="457200"/>
          </a:xfrm>
          <a:prstGeom prst="ellipse">
            <a:avLst/>
          </a:prstGeom>
          <a:solidFill>
            <a:schemeClr val="accent3"/>
          </a:solidFill>
          <a:ln w="12700">
            <a:solidFill>
              <a:schemeClr val="accent3"/>
            </a:solidFill>
            <a:prstDash val="solid"/>
          </a:ln>
        </p:spPr>
      </p:sp>
      <p:sp>
        <p:nvSpPr>
          <p:cNvPr id="25" name="Text 23"/>
          <p:cNvSpPr txBox="1"/>
          <p:nvPr/>
        </p:nvSpPr>
        <p:spPr>
          <a:xfrm>
            <a:off x="8229600" y="30815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6</a:t>
            </a:r>
            <a:endParaRPr lang="en-US" sz="1600" dirty="0"/>
          </a:p>
        </p:txBody>
      </p:sp>
      <p:sp>
        <p:nvSpPr>
          <p:cNvPr id="26" name="Text 24"/>
          <p:cNvSpPr txBox="1"/>
          <p:nvPr/>
        </p:nvSpPr>
        <p:spPr>
          <a:xfrm>
            <a:off x="8823960" y="3035808"/>
            <a:ext cx="2651760" cy="1143000"/>
          </a:xfrm>
          <a:prstGeom prst="rect">
            <a:avLst/>
          </a:prstGeom>
          <a:noFill/>
          <a:ln/>
        </p:spPr>
        <p:txBody>
          <a:bodyPr wrap="square" lIns="0" tIns="0" rIns="0" bIns="0" rtlCol="0" anchor="t"/>
          <a:lstStyle/>
          <a:p>
            <a:pPr indent="0" marL="0">
              <a:buNone/>
            </a:pPr>
            <a:r>
              <a:rPr lang="en-US" sz="1400" dirty="0">
                <a:solidFill>
                  <a:schemeClr val="tx1"/>
                </a:solidFill>
              </a:rPr>
              <a:t>Wat gebeurt er met een lid dat halverwege het jaar instapt?</a:t>
            </a:r>
            <a:endParaRPr lang="en-US" sz="1400" dirty="0"/>
          </a:p>
        </p:txBody>
      </p:sp>
      <p:sp>
        <p:nvSpPr>
          <p:cNvPr id="27" name="kaart"/>
          <p:cNvSpPr/>
          <p:nvPr/>
        </p:nvSpPr>
        <p:spPr>
          <a:xfrm>
            <a:off x="548640" y="4471416"/>
            <a:ext cx="3566160" cy="1417320"/>
          </a:xfrm>
          <a:prstGeom prst="roundRect">
            <a:avLst>
              <a:gd name="adj" fmla="val 7742"/>
            </a:avLst>
          </a:prstGeom>
          <a:solidFill>
            <a:schemeClr val="bg2"/>
          </a:solidFill>
          <a:ln w="12700">
            <a:solidFill>
              <a:schemeClr val="bg2"/>
            </a:solidFill>
            <a:prstDash val="solid"/>
          </a:ln>
        </p:spPr>
      </p:sp>
      <p:sp>
        <p:nvSpPr>
          <p:cNvPr id="28" name="nummercirkel"/>
          <p:cNvSpPr/>
          <p:nvPr/>
        </p:nvSpPr>
        <p:spPr>
          <a:xfrm>
            <a:off x="731520" y="4654296"/>
            <a:ext cx="457200" cy="457200"/>
          </a:xfrm>
          <a:prstGeom prst="ellipse">
            <a:avLst/>
          </a:prstGeom>
          <a:solidFill>
            <a:schemeClr val="accent3"/>
          </a:solidFill>
          <a:ln w="12700">
            <a:solidFill>
              <a:schemeClr val="accent3"/>
            </a:solidFill>
            <a:prstDash val="solid"/>
          </a:ln>
        </p:spPr>
      </p:sp>
      <p:sp>
        <p:nvSpPr>
          <p:cNvPr id="29" name="Text 27"/>
          <p:cNvSpPr txBox="1"/>
          <p:nvPr/>
        </p:nvSpPr>
        <p:spPr>
          <a:xfrm>
            <a:off x="731520" y="465429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7</a:t>
            </a:r>
            <a:endParaRPr lang="en-US" sz="1600" dirty="0"/>
          </a:p>
        </p:txBody>
      </p:sp>
      <p:sp>
        <p:nvSpPr>
          <p:cNvPr id="30" name="Text 28"/>
          <p:cNvSpPr txBox="1"/>
          <p:nvPr/>
        </p:nvSpPr>
        <p:spPr>
          <a:xfrm>
            <a:off x="1325880" y="4608576"/>
            <a:ext cx="2651760" cy="1143000"/>
          </a:xfrm>
          <a:prstGeom prst="rect">
            <a:avLst/>
          </a:prstGeom>
          <a:noFill/>
          <a:ln/>
        </p:spPr>
        <p:txBody>
          <a:bodyPr wrap="square" lIns="0" tIns="0" rIns="0" bIns="0" rtlCol="0" anchor="t"/>
          <a:lstStyle/>
          <a:p>
            <a:pPr indent="0" marL="0">
              <a:buNone/>
            </a:pPr>
            <a:r>
              <a:rPr lang="en-US" sz="1400" dirty="0">
                <a:solidFill>
                  <a:schemeClr val="tx1"/>
                </a:solidFill>
              </a:rPr>
              <a:t>Kan een lid in meer dan één groep zitten?</a:t>
            </a:r>
            <a:endParaRPr lang="en-US" sz="1400" dirty="0"/>
          </a:p>
        </p:txBody>
      </p:sp>
      <p:sp>
        <p:nvSpPr>
          <p:cNvPr id="31" name="kaart"/>
          <p:cNvSpPr/>
          <p:nvPr/>
        </p:nvSpPr>
        <p:spPr>
          <a:xfrm>
            <a:off x="4297680" y="4471416"/>
            <a:ext cx="3566160" cy="1417320"/>
          </a:xfrm>
          <a:prstGeom prst="roundRect">
            <a:avLst>
              <a:gd name="adj" fmla="val 7742"/>
            </a:avLst>
          </a:prstGeom>
          <a:solidFill>
            <a:schemeClr val="bg2"/>
          </a:solidFill>
          <a:ln w="12700">
            <a:solidFill>
              <a:schemeClr val="bg2"/>
            </a:solidFill>
            <a:prstDash val="solid"/>
          </a:ln>
        </p:spPr>
      </p:sp>
      <p:sp>
        <p:nvSpPr>
          <p:cNvPr id="32" name="nummercirkel"/>
          <p:cNvSpPr/>
          <p:nvPr/>
        </p:nvSpPr>
        <p:spPr>
          <a:xfrm>
            <a:off x="4480560" y="4654296"/>
            <a:ext cx="457200" cy="457200"/>
          </a:xfrm>
          <a:prstGeom prst="ellipse">
            <a:avLst/>
          </a:prstGeom>
          <a:solidFill>
            <a:schemeClr val="accent3"/>
          </a:solidFill>
          <a:ln w="12700">
            <a:solidFill>
              <a:schemeClr val="accent3"/>
            </a:solidFill>
            <a:prstDash val="solid"/>
          </a:ln>
        </p:spPr>
      </p:sp>
      <p:sp>
        <p:nvSpPr>
          <p:cNvPr id="33" name="Text 31"/>
          <p:cNvSpPr txBox="1"/>
          <p:nvPr/>
        </p:nvSpPr>
        <p:spPr>
          <a:xfrm>
            <a:off x="4480560" y="465429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8</a:t>
            </a:r>
            <a:endParaRPr lang="en-US" sz="1600" dirty="0"/>
          </a:p>
        </p:txBody>
      </p:sp>
      <p:sp>
        <p:nvSpPr>
          <p:cNvPr id="34" name="Text 32"/>
          <p:cNvSpPr txBox="1"/>
          <p:nvPr/>
        </p:nvSpPr>
        <p:spPr>
          <a:xfrm>
            <a:off x="5074920" y="4608576"/>
            <a:ext cx="2651760" cy="1143000"/>
          </a:xfrm>
          <a:prstGeom prst="rect">
            <a:avLst/>
          </a:prstGeom>
          <a:noFill/>
          <a:ln/>
        </p:spPr>
        <p:txBody>
          <a:bodyPr wrap="square" lIns="0" tIns="0" rIns="0" bIns="0" rtlCol="0" anchor="t"/>
          <a:lstStyle/>
          <a:p>
            <a:pPr indent="0" marL="0">
              <a:buNone/>
            </a:pPr>
            <a:r>
              <a:rPr lang="en-US" sz="1400" dirty="0">
                <a:solidFill>
                  <a:schemeClr val="tx1"/>
                </a:solidFill>
              </a:rPr>
              <a:t>„Nog moet betalen”: vanaf welke datum is iemand te laat?</a:t>
            </a:r>
            <a:endParaRPr lang="en-US" sz="1400" dirty="0"/>
          </a:p>
        </p:txBody>
      </p:sp>
      <p:sp>
        <p:nvSpPr>
          <p:cNvPr id="35" name="kaart"/>
          <p:cNvSpPr/>
          <p:nvPr/>
        </p:nvSpPr>
        <p:spPr>
          <a:xfrm>
            <a:off x="8046720" y="4471416"/>
            <a:ext cx="3566160" cy="1417320"/>
          </a:xfrm>
          <a:prstGeom prst="roundRect">
            <a:avLst>
              <a:gd name="adj" fmla="val 7742"/>
            </a:avLst>
          </a:prstGeom>
          <a:solidFill>
            <a:schemeClr val="bg2"/>
          </a:solidFill>
          <a:ln w="12700">
            <a:solidFill>
              <a:schemeClr val="bg2"/>
            </a:solidFill>
            <a:prstDash val="solid"/>
          </a:ln>
        </p:spPr>
      </p:sp>
      <p:sp>
        <p:nvSpPr>
          <p:cNvPr id="36" name="nummercirkel"/>
          <p:cNvSpPr/>
          <p:nvPr/>
        </p:nvSpPr>
        <p:spPr>
          <a:xfrm>
            <a:off x="8229600" y="4654296"/>
            <a:ext cx="457200" cy="457200"/>
          </a:xfrm>
          <a:prstGeom prst="ellipse">
            <a:avLst/>
          </a:prstGeom>
          <a:solidFill>
            <a:schemeClr val="accent3"/>
          </a:solidFill>
          <a:ln w="12700">
            <a:solidFill>
              <a:schemeClr val="accent3"/>
            </a:solidFill>
            <a:prstDash val="solid"/>
          </a:ln>
        </p:spPr>
      </p:sp>
      <p:sp>
        <p:nvSpPr>
          <p:cNvPr id="37" name="Text 35"/>
          <p:cNvSpPr txBox="1"/>
          <p:nvPr/>
        </p:nvSpPr>
        <p:spPr>
          <a:xfrm>
            <a:off x="8229600" y="465429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9</a:t>
            </a:r>
            <a:endParaRPr lang="en-US" sz="1600" dirty="0"/>
          </a:p>
        </p:txBody>
      </p:sp>
      <p:sp>
        <p:nvSpPr>
          <p:cNvPr id="38" name="Text 36"/>
          <p:cNvSpPr txBox="1"/>
          <p:nvPr/>
        </p:nvSpPr>
        <p:spPr>
          <a:xfrm>
            <a:off x="8823960" y="4608576"/>
            <a:ext cx="2651760" cy="1143000"/>
          </a:xfrm>
          <a:prstGeom prst="rect">
            <a:avLst/>
          </a:prstGeom>
          <a:noFill/>
          <a:ln/>
        </p:spPr>
        <p:txBody>
          <a:bodyPr wrap="square" lIns="0" tIns="0" rIns="0" bIns="0" rtlCol="0" anchor="t"/>
          <a:lstStyle/>
          <a:p>
            <a:pPr indent="0" marL="0">
              <a:buNone/>
            </a:pPr>
            <a:r>
              <a:rPr lang="en-US" sz="1400" dirty="0">
                <a:solidFill>
                  <a:schemeClr val="tx1"/>
                </a:solidFill>
              </a:rPr>
              <a:t>Wat betekent „eenvoudig”? Dat is geen eis maar een wens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Uitgewerkt: 4. vijf vragen aan de klant</a:t>
            </a:r>
            <a:endParaRPr lang="en-US" sz="3400" dirty="0"/>
          </a:p>
        </p:txBody>
      </p:sp>
      <p:sp>
        <p:nvSpPr>
          <p:cNvPr id="3" name="Text 1"/>
          <p:cNvSpPr txBox="1"/>
          <p:nvPr/>
        </p:nvSpPr>
        <p:spPr>
          <a:xfrm>
            <a:off x="548640" y="1234440"/>
            <a:ext cx="11064240" cy="457200"/>
          </a:xfrm>
          <a:prstGeom prst="rect">
            <a:avLst/>
          </a:prstGeom>
          <a:noFill/>
          <a:ln/>
        </p:spPr>
        <p:txBody>
          <a:bodyPr wrap="square" lIns="0" tIns="0" rIns="0" bIns="0" rtlCol="0" anchor="t"/>
          <a:lstStyle/>
          <a:p>
            <a:pPr indent="0" marL="0">
              <a:buNone/>
            </a:pPr>
            <a:r>
              <a:rPr lang="en-US" sz="1700" dirty="0">
                <a:solidFill>
                  <a:schemeClr val="tx2"/>
                </a:solidFill>
              </a:rPr>
              <a:t>De kunst is er niet twintig te stellen, maar de vijf te kiezen die je werk het meest veranderen.</a:t>
            </a:r>
            <a:endParaRPr lang="en-US" sz="1700" dirty="0"/>
          </a:p>
        </p:txBody>
      </p:sp>
      <p:sp>
        <p:nvSpPr>
          <p:cNvPr id="4" name="tabelkop"/>
          <p:cNvSpPr/>
          <p:nvPr/>
        </p:nvSpPr>
        <p:spPr>
          <a:xfrm>
            <a:off x="548640" y="1828800"/>
            <a:ext cx="11064240" cy="457200"/>
          </a:xfrm>
          <a:prstGeom prst="rect">
            <a:avLst/>
          </a:prstGeom>
          <a:solidFill>
            <a:schemeClr val="tx1"/>
          </a:solidFill>
          <a:ln w="12700">
            <a:solidFill>
              <a:schemeClr val="tx1"/>
            </a:solidFill>
            <a:prstDash val="solid"/>
          </a:ln>
        </p:spPr>
      </p:sp>
      <p:sp>
        <p:nvSpPr>
          <p:cNvPr id="5" name="Text 3"/>
          <p:cNvSpPr txBox="1"/>
          <p:nvPr/>
        </p:nvSpPr>
        <p:spPr>
          <a:xfrm>
            <a:off x="685800" y="1828800"/>
            <a:ext cx="6035040" cy="457200"/>
          </a:xfrm>
          <a:prstGeom prst="rect">
            <a:avLst/>
          </a:prstGeom>
          <a:noFill/>
          <a:ln/>
        </p:spPr>
        <p:txBody>
          <a:bodyPr wrap="square" lIns="0" tIns="0" rIns="0" bIns="0" rtlCol="0" anchor="ctr"/>
          <a:lstStyle/>
          <a:p>
            <a:pPr indent="0" marL="0">
              <a:buNone/>
            </a:pPr>
            <a:r>
              <a:rPr lang="en-US" sz="1400" b="1" dirty="0">
                <a:solidFill>
                  <a:schemeClr val="bg1"/>
                </a:solidFill>
              </a:rPr>
              <a:t>Vraag</a:t>
            </a:r>
            <a:endParaRPr lang="en-US" sz="1400" dirty="0"/>
          </a:p>
        </p:txBody>
      </p:sp>
      <p:sp>
        <p:nvSpPr>
          <p:cNvPr id="6" name="Text 4"/>
          <p:cNvSpPr txBox="1"/>
          <p:nvPr/>
        </p:nvSpPr>
        <p:spPr>
          <a:xfrm>
            <a:off x="6995160" y="1828800"/>
            <a:ext cx="4480560" cy="457200"/>
          </a:xfrm>
          <a:prstGeom prst="rect">
            <a:avLst/>
          </a:prstGeom>
          <a:noFill/>
          <a:ln/>
        </p:spPr>
        <p:txBody>
          <a:bodyPr wrap="square" lIns="0" tIns="0" rIns="0" bIns="0" rtlCol="0" anchor="ctr"/>
          <a:lstStyle/>
          <a:p>
            <a:pPr indent="0" marL="0">
              <a:buNone/>
            </a:pPr>
            <a:r>
              <a:rPr lang="en-US" sz="1400" b="1" dirty="0">
                <a:solidFill>
                  <a:schemeClr val="bg1"/>
                </a:solidFill>
              </a:rPr>
              <a:t>Waarom deze</a:t>
            </a:r>
            <a:endParaRPr lang="en-US" sz="1400" dirty="0"/>
          </a:p>
        </p:txBody>
      </p:sp>
      <p:sp>
        <p:nvSpPr>
          <p:cNvPr id="7" name="tabelrij"/>
          <p:cNvSpPr/>
          <p:nvPr/>
        </p:nvSpPr>
        <p:spPr>
          <a:xfrm>
            <a:off x="548640" y="2286000"/>
            <a:ext cx="11064240" cy="749808"/>
          </a:xfrm>
          <a:prstGeom prst="rect">
            <a:avLst/>
          </a:prstGeom>
          <a:solidFill>
            <a:schemeClr val="bg2"/>
          </a:solidFill>
          <a:ln w="9525">
            <a:solidFill>
              <a:schemeClr val="bg2"/>
            </a:solidFill>
            <a:prstDash val="solid"/>
          </a:ln>
        </p:spPr>
      </p:sp>
      <p:sp>
        <p:nvSpPr>
          <p:cNvPr id="8" name="Text 6"/>
          <p:cNvSpPr txBox="1"/>
          <p:nvPr/>
        </p:nvSpPr>
        <p:spPr>
          <a:xfrm>
            <a:off x="685800" y="2286000"/>
            <a:ext cx="6035040" cy="749808"/>
          </a:xfrm>
          <a:prstGeom prst="rect">
            <a:avLst/>
          </a:prstGeom>
          <a:noFill/>
          <a:ln/>
        </p:spPr>
        <p:txBody>
          <a:bodyPr wrap="square" lIns="0" tIns="0" rIns="0" bIns="0" rtlCol="0" anchor="ctr"/>
          <a:lstStyle/>
          <a:p>
            <a:pPr indent="0" marL="0">
              <a:buNone/>
            </a:pPr>
            <a:r>
              <a:rPr lang="en-US" sz="1500" b="1" dirty="0">
                <a:solidFill>
                  <a:schemeClr val="tx1"/>
                </a:solidFill>
              </a:rPr>
              <a:t>Wat is het jeugdtarief, en tot welke leeftijd geldt het?</a:t>
            </a:r>
            <a:endParaRPr lang="en-US" sz="1500" dirty="0"/>
          </a:p>
        </p:txBody>
      </p:sp>
      <p:sp>
        <p:nvSpPr>
          <p:cNvPr id="9" name="Text 7"/>
          <p:cNvSpPr txBox="1"/>
          <p:nvPr/>
        </p:nvSpPr>
        <p:spPr>
          <a:xfrm>
            <a:off x="6995160" y="2286000"/>
            <a:ext cx="4480560" cy="749808"/>
          </a:xfrm>
          <a:prstGeom prst="rect">
            <a:avLst/>
          </a:prstGeom>
          <a:noFill/>
          <a:ln/>
        </p:spPr>
        <p:txBody>
          <a:bodyPr wrap="square" lIns="0" tIns="0" rIns="0" bIns="0" rtlCol="0" anchor="ctr"/>
          <a:lstStyle/>
          <a:p>
            <a:pPr indent="0" marL="0">
              <a:buNone/>
            </a:pPr>
            <a:r>
              <a:rPr lang="en-US" sz="1500" dirty="0">
                <a:solidFill>
                  <a:schemeClr val="tx2"/>
                </a:solidFill>
              </a:rPr>
              <a:t>Zonder dit kun je eis 5 niet bouwen</a:t>
            </a:r>
            <a:endParaRPr lang="en-US" sz="1500" dirty="0"/>
          </a:p>
        </p:txBody>
      </p:sp>
      <p:sp>
        <p:nvSpPr>
          <p:cNvPr id="10" name="tabelrij"/>
          <p:cNvSpPr/>
          <p:nvPr/>
        </p:nvSpPr>
        <p:spPr>
          <a:xfrm>
            <a:off x="548640" y="3035808"/>
            <a:ext cx="11064240" cy="749808"/>
          </a:xfrm>
          <a:prstGeom prst="rect">
            <a:avLst/>
          </a:prstGeom>
          <a:solidFill>
            <a:schemeClr val="bg1"/>
          </a:solidFill>
          <a:ln w="9525">
            <a:solidFill>
              <a:schemeClr val="bg2"/>
            </a:solidFill>
            <a:prstDash val="solid"/>
          </a:ln>
        </p:spPr>
      </p:sp>
      <p:sp>
        <p:nvSpPr>
          <p:cNvPr id="11" name="Text 9"/>
          <p:cNvSpPr txBox="1"/>
          <p:nvPr/>
        </p:nvSpPr>
        <p:spPr>
          <a:xfrm>
            <a:off x="685800" y="3035808"/>
            <a:ext cx="6035040" cy="749808"/>
          </a:xfrm>
          <a:prstGeom prst="rect">
            <a:avLst/>
          </a:prstGeom>
          <a:noFill/>
          <a:ln/>
        </p:spPr>
        <p:txBody>
          <a:bodyPr wrap="square" lIns="0" tIns="0" rIns="0" bIns="0" rtlCol="0" anchor="ctr"/>
          <a:lstStyle/>
          <a:p>
            <a:pPr indent="0" marL="0">
              <a:buNone/>
            </a:pPr>
            <a:r>
              <a:rPr lang="en-US" sz="1500" b="1" dirty="0">
                <a:solidFill>
                  <a:schemeClr val="tx1"/>
                </a:solidFill>
              </a:rPr>
              <a:t>Hoeveel is de gezinskorting, en op welk lid wordt ze toegepast?</a:t>
            </a:r>
            <a:endParaRPr lang="en-US" sz="1500" dirty="0"/>
          </a:p>
        </p:txBody>
      </p:sp>
      <p:sp>
        <p:nvSpPr>
          <p:cNvPr id="12" name="Text 10"/>
          <p:cNvSpPr txBox="1"/>
          <p:nvPr/>
        </p:nvSpPr>
        <p:spPr>
          <a:xfrm>
            <a:off x="6995160" y="3035808"/>
            <a:ext cx="4480560" cy="749808"/>
          </a:xfrm>
          <a:prstGeom prst="rect">
            <a:avLst/>
          </a:prstGeom>
          <a:noFill/>
          <a:ln/>
        </p:spPr>
        <p:txBody>
          <a:bodyPr wrap="square" lIns="0" tIns="0" rIns="0" bIns="0" rtlCol="0" anchor="ctr"/>
          <a:lstStyle/>
          <a:p>
            <a:pPr indent="0" marL="0">
              <a:buNone/>
            </a:pPr>
            <a:r>
              <a:rPr lang="en-US" sz="1500" dirty="0">
                <a:solidFill>
                  <a:schemeClr val="tx2"/>
                </a:solidFill>
              </a:rPr>
              <a:t>Idem, en het bepaalt je gegevensmodel</a:t>
            </a:r>
            <a:endParaRPr lang="en-US" sz="1500" dirty="0"/>
          </a:p>
        </p:txBody>
      </p:sp>
      <p:sp>
        <p:nvSpPr>
          <p:cNvPr id="13" name="tabelrij"/>
          <p:cNvSpPr/>
          <p:nvPr/>
        </p:nvSpPr>
        <p:spPr>
          <a:xfrm>
            <a:off x="548640" y="3785616"/>
            <a:ext cx="11064240" cy="749808"/>
          </a:xfrm>
          <a:prstGeom prst="rect">
            <a:avLst/>
          </a:prstGeom>
          <a:solidFill>
            <a:schemeClr val="bg2"/>
          </a:solidFill>
          <a:ln w="9525">
            <a:solidFill>
              <a:schemeClr val="bg2"/>
            </a:solidFill>
            <a:prstDash val="solid"/>
          </a:ln>
        </p:spPr>
      </p:sp>
      <p:sp>
        <p:nvSpPr>
          <p:cNvPr id="14" name="Text 12"/>
          <p:cNvSpPr txBox="1"/>
          <p:nvPr/>
        </p:nvSpPr>
        <p:spPr>
          <a:xfrm>
            <a:off x="685800" y="3785616"/>
            <a:ext cx="6035040" cy="749808"/>
          </a:xfrm>
          <a:prstGeom prst="rect">
            <a:avLst/>
          </a:prstGeom>
          <a:noFill/>
          <a:ln/>
        </p:spPr>
        <p:txBody>
          <a:bodyPr wrap="square" lIns="0" tIns="0" rIns="0" bIns="0" rtlCol="0" anchor="ctr"/>
          <a:lstStyle/>
          <a:p>
            <a:pPr indent="0" marL="0">
              <a:buNone/>
            </a:pPr>
            <a:r>
              <a:rPr lang="en-US" sz="1500" b="1" dirty="0">
                <a:solidFill>
                  <a:schemeClr val="tx1"/>
                </a:solidFill>
              </a:rPr>
              <a:t>Drie keer afwezig in totaal, of drie keer na elkaar?</a:t>
            </a:r>
            <a:endParaRPr lang="en-US" sz="1500" dirty="0"/>
          </a:p>
        </p:txBody>
      </p:sp>
      <p:sp>
        <p:nvSpPr>
          <p:cNvPr id="15" name="Text 13"/>
          <p:cNvSpPr txBox="1"/>
          <p:nvPr/>
        </p:nvSpPr>
        <p:spPr>
          <a:xfrm>
            <a:off x="6995160" y="3785616"/>
            <a:ext cx="4480560" cy="749808"/>
          </a:xfrm>
          <a:prstGeom prst="rect">
            <a:avLst/>
          </a:prstGeom>
          <a:noFill/>
          <a:ln/>
        </p:spPr>
        <p:txBody>
          <a:bodyPr wrap="square" lIns="0" tIns="0" rIns="0" bIns="0" rtlCol="0" anchor="ctr"/>
          <a:lstStyle/>
          <a:p>
            <a:pPr indent="0" marL="0">
              <a:buNone/>
            </a:pPr>
            <a:r>
              <a:rPr lang="en-US" sz="1500" dirty="0">
                <a:solidFill>
                  <a:schemeClr val="tx2"/>
                </a:solidFill>
              </a:rPr>
              <a:t>Twee volstrekt verschillende programma's</a:t>
            </a:r>
            <a:endParaRPr lang="en-US" sz="1500" dirty="0"/>
          </a:p>
        </p:txBody>
      </p:sp>
      <p:sp>
        <p:nvSpPr>
          <p:cNvPr id="16" name="tabelrij"/>
          <p:cNvSpPr/>
          <p:nvPr/>
        </p:nvSpPr>
        <p:spPr>
          <a:xfrm>
            <a:off x="548640" y="4535424"/>
            <a:ext cx="11064240" cy="749808"/>
          </a:xfrm>
          <a:prstGeom prst="rect">
            <a:avLst/>
          </a:prstGeom>
          <a:solidFill>
            <a:schemeClr val="bg1"/>
          </a:solidFill>
          <a:ln w="9525">
            <a:solidFill>
              <a:schemeClr val="bg2"/>
            </a:solidFill>
            <a:prstDash val="solid"/>
          </a:ln>
        </p:spPr>
      </p:sp>
      <p:sp>
        <p:nvSpPr>
          <p:cNvPr id="17" name="Text 15"/>
          <p:cNvSpPr txBox="1"/>
          <p:nvPr/>
        </p:nvSpPr>
        <p:spPr>
          <a:xfrm>
            <a:off x="685800" y="4535424"/>
            <a:ext cx="6035040" cy="749808"/>
          </a:xfrm>
          <a:prstGeom prst="rect">
            <a:avLst/>
          </a:prstGeom>
          <a:noFill/>
          <a:ln/>
        </p:spPr>
        <p:txBody>
          <a:bodyPr wrap="square" lIns="0" tIns="0" rIns="0" bIns="0" rtlCol="0" anchor="ctr"/>
          <a:lstStyle/>
          <a:p>
            <a:pPr indent="0" marL="0">
              <a:buNone/>
            </a:pPr>
            <a:r>
              <a:rPr lang="en-US" sz="1500" b="1" dirty="0">
                <a:solidFill>
                  <a:schemeClr val="tx1"/>
                </a:solidFill>
              </a:rPr>
              <a:t>Gaat iemand er automatisch uit, of stelt het programma het alleen voor?</a:t>
            </a:r>
            <a:endParaRPr lang="en-US" sz="1500" dirty="0"/>
          </a:p>
        </p:txBody>
      </p:sp>
      <p:sp>
        <p:nvSpPr>
          <p:cNvPr id="18" name="Text 16"/>
          <p:cNvSpPr txBox="1"/>
          <p:nvPr/>
        </p:nvSpPr>
        <p:spPr>
          <a:xfrm>
            <a:off x="6995160" y="4535424"/>
            <a:ext cx="4480560" cy="749808"/>
          </a:xfrm>
          <a:prstGeom prst="rect">
            <a:avLst/>
          </a:prstGeom>
          <a:noFill/>
          <a:ln/>
        </p:spPr>
        <p:txBody>
          <a:bodyPr wrap="square" lIns="0" tIns="0" rIns="0" bIns="0" rtlCol="0" anchor="ctr"/>
          <a:lstStyle/>
          <a:p>
            <a:pPr indent="0" marL="0">
              <a:buNone/>
            </a:pPr>
            <a:r>
              <a:rPr lang="en-US" sz="1500" dirty="0">
                <a:solidFill>
                  <a:schemeClr val="tx2"/>
                </a:solidFill>
              </a:rPr>
              <a:t>Automatisch verwijderen is onomkeerbaar; dat wil je zelden</a:t>
            </a:r>
            <a:endParaRPr lang="en-US" sz="1500" dirty="0"/>
          </a:p>
        </p:txBody>
      </p:sp>
      <p:sp>
        <p:nvSpPr>
          <p:cNvPr id="19" name="tabelrij"/>
          <p:cNvSpPr/>
          <p:nvPr/>
        </p:nvSpPr>
        <p:spPr>
          <a:xfrm>
            <a:off x="548640" y="5285232"/>
            <a:ext cx="11064240" cy="749808"/>
          </a:xfrm>
          <a:prstGeom prst="rect">
            <a:avLst/>
          </a:prstGeom>
          <a:solidFill>
            <a:schemeClr val="bg2"/>
          </a:solidFill>
          <a:ln w="9525">
            <a:solidFill>
              <a:schemeClr val="bg2"/>
            </a:solidFill>
            <a:prstDash val="solid"/>
          </a:ln>
        </p:spPr>
      </p:sp>
      <p:sp>
        <p:nvSpPr>
          <p:cNvPr id="20" name="Text 18"/>
          <p:cNvSpPr txBox="1"/>
          <p:nvPr/>
        </p:nvSpPr>
        <p:spPr>
          <a:xfrm>
            <a:off x="685800" y="5285232"/>
            <a:ext cx="6035040" cy="749808"/>
          </a:xfrm>
          <a:prstGeom prst="rect">
            <a:avLst/>
          </a:prstGeom>
          <a:noFill/>
          <a:ln/>
        </p:spPr>
        <p:txBody>
          <a:bodyPr wrap="square" lIns="0" tIns="0" rIns="0" bIns="0" rtlCol="0" anchor="ctr"/>
          <a:lstStyle/>
          <a:p>
            <a:pPr indent="0" marL="0">
              <a:buNone/>
            </a:pPr>
            <a:r>
              <a:rPr lang="en-US" sz="1500" b="1" dirty="0">
                <a:solidFill>
                  <a:schemeClr val="tx1"/>
                </a:solidFill>
              </a:rPr>
              <a:t>Vanaf welke datum heet iemand een wanbetaler?</a:t>
            </a:r>
            <a:endParaRPr lang="en-US" sz="1500" dirty="0"/>
          </a:p>
        </p:txBody>
      </p:sp>
      <p:sp>
        <p:nvSpPr>
          <p:cNvPr id="21" name="Text 19"/>
          <p:cNvSpPr txBox="1"/>
          <p:nvPr/>
        </p:nvSpPr>
        <p:spPr>
          <a:xfrm>
            <a:off x="6995160" y="5285232"/>
            <a:ext cx="4480560" cy="749808"/>
          </a:xfrm>
          <a:prstGeom prst="rect">
            <a:avLst/>
          </a:prstGeom>
          <a:noFill/>
          <a:ln/>
        </p:spPr>
        <p:txBody>
          <a:bodyPr wrap="square" lIns="0" tIns="0" rIns="0" bIns="0" rtlCol="0" anchor="ctr"/>
          <a:lstStyle/>
          <a:p>
            <a:pPr indent="0" marL="0">
              <a:buNone/>
            </a:pPr>
            <a:r>
              <a:rPr lang="en-US" sz="1500" dirty="0">
                <a:solidFill>
                  <a:schemeClr val="tx2"/>
                </a:solidFill>
              </a:rPr>
              <a:t>Anders is de lijst uit eis 8 niet te maken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Een ingevulde regel is een verzwegen premisse</a:t>
            </a:r>
            <a:endParaRPr lang="en-US" sz="3400" dirty="0"/>
          </a:p>
        </p:txBody>
      </p:sp>
      <p:sp>
        <p:nvSpPr>
          <p:cNvPr id="3" name="kaart"/>
          <p:cNvSpPr/>
          <p:nvPr/>
        </p:nvSpPr>
        <p:spPr>
          <a:xfrm>
            <a:off x="548640" y="1325880"/>
            <a:ext cx="6583680" cy="2377440"/>
          </a:xfrm>
          <a:prstGeom prst="roundRect">
            <a:avLst>
              <a:gd name="adj" fmla="val 4615"/>
            </a:avLst>
          </a:prstGeom>
          <a:solidFill>
            <a:schemeClr val="tx1"/>
          </a:solidFill>
          <a:ln w="12700">
            <a:solidFill>
              <a:schemeClr val="tx1"/>
            </a:solidFill>
            <a:prstDash val="solid"/>
          </a:ln>
        </p:spPr>
      </p:sp>
      <p:sp>
        <p:nvSpPr>
          <p:cNvPr id="4" name="Text 2"/>
          <p:cNvSpPr txBox="1"/>
          <p:nvPr/>
        </p:nvSpPr>
        <p:spPr>
          <a:xfrm>
            <a:off x="868680" y="1554480"/>
            <a:ext cx="59436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LOGICA · WAT JE HIER EIGENLIJK DOET</a:t>
            </a:r>
            <a:endParaRPr lang="en-US" sz="1200" dirty="0"/>
          </a:p>
        </p:txBody>
      </p:sp>
      <p:sp>
        <p:nvSpPr>
          <p:cNvPr id="5" name="Text 3"/>
          <p:cNvSpPr txBox="1"/>
          <p:nvPr/>
        </p:nvSpPr>
        <p:spPr>
          <a:xfrm>
            <a:off x="868680" y="1920240"/>
            <a:ext cx="6035040" cy="1645920"/>
          </a:xfrm>
          <a:prstGeom prst="rect">
            <a:avLst/>
          </a:prstGeom>
          <a:noFill/>
          <a:ln/>
        </p:spPr>
        <p:txBody>
          <a:bodyPr wrap="square" lIns="0" tIns="0" rIns="0" bIns="0" rtlCol="0" anchor="t"/>
          <a:lstStyle/>
          <a:p>
            <a:pPr indent="0" marL="0">
              <a:buNone/>
            </a:pPr>
            <a:r>
              <a:rPr lang="en-US" sz="1800" dirty="0">
                <a:solidFill>
                  <a:schemeClr val="bg1"/>
                </a:solidFill>
                <a:latin typeface="Cambria" pitchFamily="34" charset="0"/>
                <a:ea typeface="Cambria" pitchFamily="34" charset="-122"/>
                <a:cs typeface="Cambria" pitchFamily="34" charset="-120"/>
              </a:rPr>
              <a:t>Dit is hoofdstuk 22 in de praktijk. Elke ontbrekende regel die je zelf invult, is een verzwegen premisse die in werkende code terechtkomt.</a:t>
            </a:r>
            <a:endParaRPr lang="en-US" sz="1800" dirty="0"/>
          </a:p>
        </p:txBody>
      </p:sp>
      <p:sp>
        <p:nvSpPr>
          <p:cNvPr id="6" name="stap"/>
          <p:cNvSpPr/>
          <p:nvPr/>
        </p:nvSpPr>
        <p:spPr>
          <a:xfrm>
            <a:off x="548640" y="4023360"/>
            <a:ext cx="1417320" cy="1051560"/>
          </a:xfrm>
          <a:prstGeom prst="roundRect">
            <a:avLst>
              <a:gd name="adj" fmla="val 6957"/>
            </a:avLst>
          </a:prstGeom>
          <a:solidFill>
            <a:schemeClr val="tx2"/>
          </a:solidFill>
          <a:ln w="12700">
            <a:solidFill>
              <a:schemeClr val="tx2"/>
            </a:solidFill>
            <a:prstDash val="solid"/>
          </a:ln>
        </p:spPr>
      </p:sp>
      <p:sp>
        <p:nvSpPr>
          <p:cNvPr id="7" name="Text 5"/>
          <p:cNvSpPr txBox="1"/>
          <p:nvPr/>
        </p:nvSpPr>
        <p:spPr>
          <a:xfrm>
            <a:off x="640080" y="4023360"/>
            <a:ext cx="1234440" cy="1051560"/>
          </a:xfrm>
          <a:prstGeom prst="rect">
            <a:avLst/>
          </a:prstGeom>
          <a:noFill/>
          <a:ln/>
        </p:spPr>
        <p:txBody>
          <a:bodyPr wrap="square" lIns="0" tIns="0" rIns="0" bIns="0" rtlCol="0" anchor="ctr"/>
          <a:lstStyle/>
          <a:p>
            <a:pPr algn="ctr" indent="0" marL="0">
              <a:buNone/>
            </a:pPr>
            <a:r>
              <a:rPr lang="en-US" sz="1300" b="1" dirty="0">
                <a:solidFill>
                  <a:schemeClr val="bg1"/>
                </a:solidFill>
              </a:rPr>
              <a:t>De brief laat een regel open</a:t>
            </a:r>
            <a:endParaRPr lang="en-US" sz="1300" dirty="0"/>
          </a:p>
        </p:txBody>
      </p:sp>
      <p:pic>
        <p:nvPicPr>
          <p:cNvPr id="8" name="pijl" descr="preencoded.png">    </p:cNvPr>
          <p:cNvPicPr>
            <a:picLocks noChangeAspect="1"/>
          </p:cNvPicPr>
          <p:nvPr/>
        </p:nvPicPr>
        <p:blipFill>
          <a:blip r:embed="rId1"/>
          <a:stretch>
            <a:fillRect/>
          </a:stretch>
        </p:blipFill>
        <p:spPr>
          <a:xfrm>
            <a:off x="2011680" y="4443984"/>
            <a:ext cx="182880" cy="182880"/>
          </a:xfrm>
          <a:prstGeom prst="rect">
            <a:avLst/>
          </a:prstGeom>
        </p:spPr>
      </p:pic>
      <p:sp>
        <p:nvSpPr>
          <p:cNvPr id="9" name="stap"/>
          <p:cNvSpPr/>
          <p:nvPr/>
        </p:nvSpPr>
        <p:spPr>
          <a:xfrm>
            <a:off x="2221992" y="4023360"/>
            <a:ext cx="1417320" cy="1051560"/>
          </a:xfrm>
          <a:prstGeom prst="roundRect">
            <a:avLst>
              <a:gd name="adj" fmla="val 6957"/>
            </a:avLst>
          </a:prstGeom>
          <a:solidFill>
            <a:schemeClr val="accent1"/>
          </a:solidFill>
          <a:ln w="12700">
            <a:solidFill>
              <a:schemeClr val="accent1"/>
            </a:solidFill>
            <a:prstDash val="solid"/>
          </a:ln>
        </p:spPr>
      </p:sp>
      <p:sp>
        <p:nvSpPr>
          <p:cNvPr id="10" name="Text 7"/>
          <p:cNvSpPr txBox="1"/>
          <p:nvPr/>
        </p:nvSpPr>
        <p:spPr>
          <a:xfrm>
            <a:off x="2313432" y="4023360"/>
            <a:ext cx="1234440" cy="1051560"/>
          </a:xfrm>
          <a:prstGeom prst="rect">
            <a:avLst/>
          </a:prstGeom>
          <a:noFill/>
          <a:ln/>
        </p:spPr>
        <p:txBody>
          <a:bodyPr wrap="square" lIns="0" tIns="0" rIns="0" bIns="0" rtlCol="0" anchor="ctr"/>
          <a:lstStyle/>
          <a:p>
            <a:pPr algn="ctr" indent="0" marL="0">
              <a:buNone/>
            </a:pPr>
            <a:r>
              <a:rPr lang="en-US" sz="1300" b="1" dirty="0">
                <a:solidFill>
                  <a:schemeClr val="bg1"/>
                </a:solidFill>
              </a:rPr>
              <a:t>Jij vult hem stil in</a:t>
            </a:r>
            <a:endParaRPr lang="en-US" sz="1300" dirty="0"/>
          </a:p>
        </p:txBody>
      </p:sp>
      <p:pic>
        <p:nvPicPr>
          <p:cNvPr id="11" name="pijl" descr="preencoded.png">    </p:cNvPr>
          <p:cNvPicPr>
            <a:picLocks noChangeAspect="1"/>
          </p:cNvPicPr>
          <p:nvPr/>
        </p:nvPicPr>
        <p:blipFill>
          <a:blip r:embed="rId2"/>
          <a:stretch>
            <a:fillRect/>
          </a:stretch>
        </p:blipFill>
        <p:spPr>
          <a:xfrm>
            <a:off x="3685032" y="4443984"/>
            <a:ext cx="182880" cy="182880"/>
          </a:xfrm>
          <a:prstGeom prst="rect">
            <a:avLst/>
          </a:prstGeom>
        </p:spPr>
      </p:pic>
      <p:sp>
        <p:nvSpPr>
          <p:cNvPr id="12" name="stap"/>
          <p:cNvSpPr/>
          <p:nvPr/>
        </p:nvSpPr>
        <p:spPr>
          <a:xfrm>
            <a:off x="3895344" y="4023360"/>
            <a:ext cx="1417320" cy="1051560"/>
          </a:xfrm>
          <a:prstGeom prst="roundRect">
            <a:avLst>
              <a:gd name="adj" fmla="val 6957"/>
            </a:avLst>
          </a:prstGeom>
          <a:solidFill>
            <a:schemeClr val="accent1"/>
          </a:solidFill>
          <a:ln w="12700">
            <a:solidFill>
              <a:schemeClr val="accent1"/>
            </a:solidFill>
            <a:prstDash val="solid"/>
          </a:ln>
        </p:spPr>
      </p:sp>
      <p:sp>
        <p:nvSpPr>
          <p:cNvPr id="13" name="Text 9"/>
          <p:cNvSpPr txBox="1"/>
          <p:nvPr/>
        </p:nvSpPr>
        <p:spPr>
          <a:xfrm>
            <a:off x="3986784" y="4023360"/>
            <a:ext cx="1234440" cy="1051560"/>
          </a:xfrm>
          <a:prstGeom prst="rect">
            <a:avLst/>
          </a:prstGeom>
          <a:noFill/>
          <a:ln/>
        </p:spPr>
        <p:txBody>
          <a:bodyPr wrap="square" lIns="0" tIns="0" rIns="0" bIns="0" rtlCol="0" anchor="ctr"/>
          <a:lstStyle/>
          <a:p>
            <a:pPr algn="ctr" indent="0" marL="0">
              <a:buNone/>
            </a:pPr>
            <a:r>
              <a:rPr lang="en-US" sz="1300" b="1" dirty="0">
                <a:solidFill>
                  <a:schemeClr val="bg1"/>
                </a:solidFill>
              </a:rPr>
              <a:t>Hij staat in werkende code</a:t>
            </a:r>
            <a:endParaRPr lang="en-US" sz="1300" dirty="0"/>
          </a:p>
        </p:txBody>
      </p:sp>
      <p:pic>
        <p:nvPicPr>
          <p:cNvPr id="14" name="pijl" descr="preencoded.png">    </p:cNvPr>
          <p:cNvPicPr>
            <a:picLocks noChangeAspect="1"/>
          </p:cNvPicPr>
          <p:nvPr/>
        </p:nvPicPr>
        <p:blipFill>
          <a:blip r:embed="rId3"/>
          <a:stretch>
            <a:fillRect/>
          </a:stretch>
        </p:blipFill>
        <p:spPr>
          <a:xfrm>
            <a:off x="5358384" y="4443984"/>
            <a:ext cx="182880" cy="182880"/>
          </a:xfrm>
          <a:prstGeom prst="rect">
            <a:avLst/>
          </a:prstGeom>
        </p:spPr>
      </p:pic>
      <p:sp>
        <p:nvSpPr>
          <p:cNvPr id="15" name="stap"/>
          <p:cNvSpPr/>
          <p:nvPr/>
        </p:nvSpPr>
        <p:spPr>
          <a:xfrm>
            <a:off x="5568696" y="4023360"/>
            <a:ext cx="1417320" cy="1051560"/>
          </a:xfrm>
          <a:prstGeom prst="roundRect">
            <a:avLst>
              <a:gd name="adj" fmla="val 6957"/>
            </a:avLst>
          </a:prstGeom>
          <a:solidFill>
            <a:schemeClr val="accent3"/>
          </a:solidFill>
          <a:ln w="12700">
            <a:solidFill>
              <a:schemeClr val="accent3"/>
            </a:solidFill>
            <a:prstDash val="solid"/>
          </a:ln>
        </p:spPr>
      </p:sp>
      <p:sp>
        <p:nvSpPr>
          <p:cNvPr id="16" name="Text 11"/>
          <p:cNvSpPr txBox="1"/>
          <p:nvPr/>
        </p:nvSpPr>
        <p:spPr>
          <a:xfrm>
            <a:off x="5660136" y="4023360"/>
            <a:ext cx="1234440" cy="1051560"/>
          </a:xfrm>
          <a:prstGeom prst="rect">
            <a:avLst/>
          </a:prstGeom>
          <a:noFill/>
          <a:ln/>
        </p:spPr>
        <p:txBody>
          <a:bodyPr wrap="square" lIns="0" tIns="0" rIns="0" bIns="0" rtlCol="0" anchor="ctr"/>
          <a:lstStyle/>
          <a:p>
            <a:pPr algn="ctr" indent="0" marL="0">
              <a:buNone/>
            </a:pPr>
            <a:r>
              <a:rPr lang="en-US" sz="1300" b="1" dirty="0">
                <a:solidFill>
                  <a:schemeClr val="bg1"/>
                </a:solidFill>
              </a:rPr>
              <a:t>De klant noemt het een bug</a:t>
            </a:r>
            <a:endParaRPr lang="en-US" sz="1300" dirty="0"/>
          </a:p>
        </p:txBody>
      </p:sp>
      <p:sp>
        <p:nvSpPr>
          <p:cNvPr id="17" name="Text 12"/>
          <p:cNvSpPr txBox="1"/>
          <p:nvPr/>
        </p:nvSpPr>
        <p:spPr>
          <a:xfrm>
            <a:off x="548640" y="5257800"/>
            <a:ext cx="6583680" cy="731520"/>
          </a:xfrm>
          <a:prstGeom prst="rect">
            <a:avLst/>
          </a:prstGeom>
          <a:noFill/>
          <a:ln/>
        </p:spPr>
        <p:txBody>
          <a:bodyPr wrap="square" lIns="0" tIns="0" rIns="0" bIns="0" rtlCol="0" anchor="t"/>
          <a:lstStyle/>
          <a:p>
            <a:pPr indent="0" marL="0">
              <a:buNone/>
            </a:pPr>
            <a:r>
              <a:rPr lang="en-US" sz="1400" dirty="0">
                <a:solidFill>
                  <a:schemeClr val="tx2"/>
                </a:solidFill>
              </a:rPr>
              <a:t>De klant merkt hem pas wanneer het programma iets doet wat hij niet verwachtte, en dan heet het een bug terwijl het een aanname was.</a:t>
            </a:r>
            <a:endParaRPr lang="en-US" sz="1400" dirty="0"/>
          </a:p>
        </p:txBody>
      </p:sp>
      <p:sp>
        <p:nvSpPr>
          <p:cNvPr id="18" name="kaart"/>
          <p:cNvSpPr/>
          <p:nvPr/>
        </p:nvSpPr>
        <p:spPr>
          <a:xfrm>
            <a:off x="7498080" y="1325880"/>
            <a:ext cx="4114800" cy="219456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9" name="Text 14"/>
          <p:cNvSpPr txBox="1"/>
          <p:nvPr/>
        </p:nvSpPr>
        <p:spPr>
          <a:xfrm>
            <a:off x="7772400" y="1554480"/>
            <a:ext cx="3566160" cy="91440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5 min</a:t>
            </a:r>
            <a:endParaRPr lang="en-US" sz="4800" dirty="0"/>
          </a:p>
        </p:txBody>
      </p:sp>
      <p:sp>
        <p:nvSpPr>
          <p:cNvPr id="20" name="Text 15"/>
          <p:cNvSpPr txBox="1"/>
          <p:nvPr/>
        </p:nvSpPr>
        <p:spPr>
          <a:xfrm>
            <a:off x="7772400" y="2560320"/>
            <a:ext cx="3566160" cy="822960"/>
          </a:xfrm>
          <a:prstGeom prst="rect">
            <a:avLst/>
          </a:prstGeom>
          <a:noFill/>
          <a:ln/>
        </p:spPr>
        <p:txBody>
          <a:bodyPr wrap="square" lIns="0" tIns="0" rIns="0" bIns="0" rtlCol="0" anchor="t"/>
          <a:lstStyle/>
          <a:p>
            <a:pPr indent="0" marL="0">
              <a:buNone/>
            </a:pPr>
            <a:r>
              <a:rPr lang="en-US" sz="1600" b="1" dirty="0">
                <a:solidFill>
                  <a:schemeClr val="tx1"/>
                </a:solidFill>
              </a:rPr>
              <a:t>Eén vraag stellen</a:t>
            </a:r>
            <a:endParaRPr lang="en-US" sz="1600" dirty="0"/>
          </a:p>
        </p:txBody>
      </p:sp>
      <p:sp>
        <p:nvSpPr>
          <p:cNvPr id="21" name="kaart"/>
          <p:cNvSpPr/>
          <p:nvPr/>
        </p:nvSpPr>
        <p:spPr>
          <a:xfrm>
            <a:off x="7498080" y="3703320"/>
            <a:ext cx="4114800" cy="219456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22" name="Text 17"/>
          <p:cNvSpPr txBox="1"/>
          <p:nvPr/>
        </p:nvSpPr>
        <p:spPr>
          <a:xfrm>
            <a:off x="7772400" y="3931920"/>
            <a:ext cx="3566160" cy="914400"/>
          </a:xfrm>
          <a:prstGeom prst="rect">
            <a:avLst/>
          </a:prstGeom>
          <a:noFill/>
          <a:ln/>
        </p:spPr>
        <p:txBody>
          <a:bodyPr wrap="square" lIns="0" tIns="0" rIns="0" bIns="0" rtlCol="0" anchor="ctr"/>
          <a:lstStyle/>
          <a:p>
            <a:pPr indent="0" marL="0">
              <a:buNone/>
            </a:pPr>
            <a:r>
              <a:rPr lang="en-US" sz="4800" b="1" dirty="0">
                <a:solidFill>
                  <a:schemeClr val="accent3"/>
                </a:solidFill>
                <a:latin typeface="Cambria" pitchFamily="34" charset="0"/>
                <a:ea typeface="Cambria" pitchFamily="34" charset="-122"/>
                <a:cs typeface="Cambria" pitchFamily="34" charset="-120"/>
              </a:rPr>
              <a:t>½ dag</a:t>
            </a:r>
            <a:endParaRPr lang="en-US" sz="4800" dirty="0"/>
          </a:p>
        </p:txBody>
      </p:sp>
      <p:sp>
        <p:nvSpPr>
          <p:cNvPr id="23" name="Text 18"/>
          <p:cNvSpPr txBox="1"/>
          <p:nvPr/>
        </p:nvSpPr>
        <p:spPr>
          <a:xfrm>
            <a:off x="7772400" y="4937760"/>
            <a:ext cx="3566160" cy="822960"/>
          </a:xfrm>
          <a:prstGeom prst="rect">
            <a:avLst/>
          </a:prstGeom>
          <a:noFill/>
          <a:ln/>
        </p:spPr>
        <p:txBody>
          <a:bodyPr wrap="square" lIns="0" tIns="0" rIns="0" bIns="0" rtlCol="0" anchor="t"/>
          <a:lstStyle/>
          <a:p>
            <a:pPr indent="0" marL="0">
              <a:buNone/>
            </a:pPr>
            <a:r>
              <a:rPr lang="en-US" sz="1600" b="1" dirty="0">
                <a:solidFill>
                  <a:schemeClr val="tx1"/>
                </a:solidFill>
              </a:rPr>
              <a:t>Eén verkeerde aanname: herbouwen, plus het vertrouwen</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Uitgewerkt: 5. de rekenregel als contract</a:t>
            </a:r>
            <a:endParaRPr lang="en-US" sz="3400" dirty="0"/>
          </a:p>
        </p:txBody>
      </p:sp>
      <p:sp>
        <p:nvSpPr>
          <p:cNvPr id="3" name="kaart"/>
          <p:cNvSpPr/>
          <p:nvPr/>
        </p:nvSpPr>
        <p:spPr>
          <a:xfrm>
            <a:off x="548640" y="1325880"/>
            <a:ext cx="11064240" cy="1691640"/>
          </a:xfrm>
          <a:prstGeom prst="roundRect">
            <a:avLst>
              <a:gd name="adj" fmla="val 6486"/>
            </a:avLst>
          </a:prstGeom>
          <a:solidFill>
            <a:schemeClr val="tx1"/>
          </a:solidFill>
          <a:ln w="12700">
            <a:solidFill>
              <a:schemeClr val="tx1"/>
            </a:solidFill>
            <a:prstDash val="solid"/>
          </a:ln>
        </p:spPr>
      </p:sp>
      <p:sp>
        <p:nvSpPr>
          <p:cNvPr id="4" name="Text 2"/>
          <p:cNvSpPr txBox="1"/>
          <p:nvPr/>
        </p:nvSpPr>
        <p:spPr>
          <a:xfrm>
            <a:off x="868680" y="1508760"/>
            <a:ext cx="54864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STEL DAT DE KLANT ANTWOORDT</a:t>
            </a:r>
            <a:endParaRPr lang="en-US" sz="1200" dirty="0"/>
          </a:p>
        </p:txBody>
      </p:sp>
      <p:sp>
        <p:nvSpPr>
          <p:cNvPr id="5" name="Text 3"/>
          <p:cNvSpPr txBox="1"/>
          <p:nvPr/>
        </p:nvSpPr>
        <p:spPr>
          <a:xfrm>
            <a:off x="868680" y="1874520"/>
            <a:ext cx="3291840" cy="50292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90 euro</a:t>
            </a:r>
            <a:endParaRPr lang="en-US" sz="2600" dirty="0"/>
          </a:p>
        </p:txBody>
      </p:sp>
      <p:sp>
        <p:nvSpPr>
          <p:cNvPr id="6" name="Text 4"/>
          <p:cNvSpPr txBox="1"/>
          <p:nvPr/>
        </p:nvSpPr>
        <p:spPr>
          <a:xfrm>
            <a:off x="868680" y="2377440"/>
            <a:ext cx="3291840" cy="548640"/>
          </a:xfrm>
          <a:prstGeom prst="rect">
            <a:avLst/>
          </a:prstGeom>
          <a:noFill/>
          <a:ln/>
        </p:spPr>
        <p:txBody>
          <a:bodyPr wrap="square" lIns="0" tIns="0" rIns="0" bIns="0" rtlCol="0" anchor="t"/>
          <a:lstStyle/>
          <a:p>
            <a:pPr indent="0" marL="0">
              <a:buNone/>
            </a:pPr>
            <a:r>
              <a:rPr lang="en-US" sz="1400" dirty="0">
                <a:solidFill>
                  <a:schemeClr val="bg1"/>
                </a:solidFill>
              </a:rPr>
              <a:t>jeugdtarief, tot en met 17 jaar</a:t>
            </a:r>
            <a:endParaRPr lang="en-US" sz="1400" dirty="0"/>
          </a:p>
        </p:txBody>
      </p:sp>
      <p:sp>
        <p:nvSpPr>
          <p:cNvPr id="7" name="Text 5"/>
          <p:cNvSpPr txBox="1"/>
          <p:nvPr/>
        </p:nvSpPr>
        <p:spPr>
          <a:xfrm>
            <a:off x="4480560" y="1874520"/>
            <a:ext cx="3291840" cy="50292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15 euro</a:t>
            </a:r>
            <a:endParaRPr lang="en-US" sz="2600" dirty="0"/>
          </a:p>
        </p:txBody>
      </p:sp>
      <p:sp>
        <p:nvSpPr>
          <p:cNvPr id="8" name="Text 6"/>
          <p:cNvSpPr txBox="1"/>
          <p:nvPr/>
        </p:nvSpPr>
        <p:spPr>
          <a:xfrm>
            <a:off x="4480560" y="2377440"/>
            <a:ext cx="3291840" cy="548640"/>
          </a:xfrm>
          <a:prstGeom prst="rect">
            <a:avLst/>
          </a:prstGeom>
          <a:noFill/>
          <a:ln/>
        </p:spPr>
        <p:txBody>
          <a:bodyPr wrap="square" lIns="0" tIns="0" rIns="0" bIns="0" rtlCol="0" anchor="t"/>
          <a:lstStyle/>
          <a:p>
            <a:pPr indent="0" marL="0">
              <a:buNone/>
            </a:pPr>
            <a:r>
              <a:rPr lang="en-US" sz="1400" dirty="0">
                <a:solidFill>
                  <a:schemeClr val="bg1"/>
                </a:solidFill>
              </a:rPr>
              <a:t>gezinskorting per lid, vanaf het tweede lid van hetzelfde gezin</a:t>
            </a:r>
            <a:endParaRPr lang="en-US" sz="1400" dirty="0"/>
          </a:p>
        </p:txBody>
      </p:sp>
      <p:sp>
        <p:nvSpPr>
          <p:cNvPr id="9" name="Text 7"/>
          <p:cNvSpPr txBox="1"/>
          <p:nvPr/>
        </p:nvSpPr>
        <p:spPr>
          <a:xfrm>
            <a:off x="8092440" y="1874520"/>
            <a:ext cx="3291840" cy="50292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stapelen</a:t>
            </a:r>
            <a:endParaRPr lang="en-US" sz="2600" dirty="0"/>
          </a:p>
        </p:txBody>
      </p:sp>
      <p:sp>
        <p:nvSpPr>
          <p:cNvPr id="10" name="Text 8"/>
          <p:cNvSpPr txBox="1"/>
          <p:nvPr/>
        </p:nvSpPr>
        <p:spPr>
          <a:xfrm>
            <a:off x="8092440" y="2377440"/>
            <a:ext cx="3291840" cy="548640"/>
          </a:xfrm>
          <a:prstGeom prst="rect">
            <a:avLst/>
          </a:prstGeom>
          <a:noFill/>
          <a:ln/>
        </p:spPr>
        <p:txBody>
          <a:bodyPr wrap="square" lIns="0" tIns="0" rIns="0" bIns="0" rtlCol="0" anchor="t"/>
          <a:lstStyle/>
          <a:p>
            <a:pPr indent="0" marL="0">
              <a:buNone/>
            </a:pPr>
            <a:r>
              <a:rPr lang="en-US" sz="1400" dirty="0">
                <a:solidFill>
                  <a:schemeClr val="bg1"/>
                </a:solidFill>
              </a:rPr>
              <a:t>de kortingen gelden samen</a:t>
            </a:r>
            <a:endParaRPr lang="en-US" sz="1400" dirty="0"/>
          </a:p>
        </p:txBody>
      </p:sp>
      <p:sp>
        <p:nvSpPr>
          <p:cNvPr id="11" name="tabelkop"/>
          <p:cNvSpPr/>
          <p:nvPr/>
        </p:nvSpPr>
        <p:spPr>
          <a:xfrm>
            <a:off x="548640" y="3291840"/>
            <a:ext cx="11064240" cy="457200"/>
          </a:xfrm>
          <a:prstGeom prst="rect">
            <a:avLst/>
          </a:prstGeom>
          <a:solidFill>
            <a:schemeClr val="tx1"/>
          </a:solidFill>
          <a:ln w="12700">
            <a:solidFill>
              <a:schemeClr val="tx1"/>
            </a:solidFill>
            <a:prstDash val="solid"/>
          </a:ln>
        </p:spPr>
      </p:sp>
      <p:sp>
        <p:nvSpPr>
          <p:cNvPr id="12" name="Text 10"/>
          <p:cNvSpPr txBox="1"/>
          <p:nvPr/>
        </p:nvSpPr>
        <p:spPr>
          <a:xfrm>
            <a:off x="685800" y="3291840"/>
            <a:ext cx="1920240" cy="457200"/>
          </a:xfrm>
          <a:prstGeom prst="rect">
            <a:avLst/>
          </a:prstGeom>
          <a:noFill/>
          <a:ln/>
        </p:spPr>
        <p:txBody>
          <a:bodyPr wrap="square" lIns="0" tIns="0" rIns="0" bIns="0" rtlCol="0" anchor="ctr"/>
          <a:lstStyle/>
          <a:p>
            <a:pPr indent="0" marL="0">
              <a:buNone/>
            </a:pPr>
            <a:r>
              <a:rPr lang="en-US" sz="1500" b="1" dirty="0">
                <a:solidFill>
                  <a:schemeClr val="bg1"/>
                </a:solidFill>
              </a:rPr>
              <a:t>Deel</a:t>
            </a:r>
            <a:endParaRPr lang="en-US" sz="1500" dirty="0"/>
          </a:p>
        </p:txBody>
      </p:sp>
      <p:sp>
        <p:nvSpPr>
          <p:cNvPr id="13" name="Text 11"/>
          <p:cNvSpPr txBox="1"/>
          <p:nvPr/>
        </p:nvSpPr>
        <p:spPr>
          <a:xfrm>
            <a:off x="2880360" y="3291840"/>
            <a:ext cx="8595360" cy="457200"/>
          </a:xfrm>
          <a:prstGeom prst="rect">
            <a:avLst/>
          </a:prstGeom>
          <a:noFill/>
          <a:ln/>
        </p:spPr>
        <p:txBody>
          <a:bodyPr wrap="square" lIns="0" tIns="0" rIns="0" bIns="0" rtlCol="0" anchor="ctr"/>
          <a:lstStyle/>
          <a:p>
            <a:pPr indent="0" marL="0">
              <a:buNone/>
            </a:pPr>
            <a:r>
              <a:rPr lang="en-US" sz="1500" b="1" dirty="0">
                <a:solidFill>
                  <a:schemeClr val="bg1"/>
                </a:solidFill>
              </a:rPr>
              <a:t>Bewering</a:t>
            </a:r>
            <a:endParaRPr lang="en-US" sz="1500" dirty="0"/>
          </a:p>
        </p:txBody>
      </p:sp>
      <p:sp>
        <p:nvSpPr>
          <p:cNvPr id="14" name="tabelrij"/>
          <p:cNvSpPr/>
          <p:nvPr/>
        </p:nvSpPr>
        <p:spPr>
          <a:xfrm>
            <a:off x="548640" y="3749040"/>
            <a:ext cx="11064240" cy="777240"/>
          </a:xfrm>
          <a:prstGeom prst="rect">
            <a:avLst/>
          </a:prstGeom>
          <a:solidFill>
            <a:schemeClr val="bg2"/>
          </a:solidFill>
          <a:ln w="9525">
            <a:solidFill>
              <a:schemeClr val="bg2"/>
            </a:solidFill>
            <a:prstDash val="solid"/>
          </a:ln>
        </p:spPr>
      </p:sp>
      <p:sp>
        <p:nvSpPr>
          <p:cNvPr id="15" name="Text 13"/>
          <p:cNvSpPr txBox="1"/>
          <p:nvPr/>
        </p:nvSpPr>
        <p:spPr>
          <a:xfrm>
            <a:off x="685800" y="3749040"/>
            <a:ext cx="1920240" cy="777240"/>
          </a:xfrm>
          <a:prstGeom prst="rect">
            <a:avLst/>
          </a:prstGeom>
          <a:noFill/>
          <a:ln/>
        </p:spPr>
        <p:txBody>
          <a:bodyPr wrap="square" lIns="0" tIns="0" rIns="0" bIns="0" rtlCol="0" anchor="ctr"/>
          <a:lstStyle/>
          <a:p>
            <a:pPr indent="0" marL="0">
              <a:buNone/>
            </a:pPr>
            <a:r>
              <a:rPr lang="en-US" sz="1600" b="1" dirty="0">
                <a:solidFill>
                  <a:schemeClr val="tx1"/>
                </a:solidFill>
              </a:rPr>
              <a:t>Preconditie</a:t>
            </a:r>
            <a:endParaRPr lang="en-US" sz="1600" dirty="0"/>
          </a:p>
        </p:txBody>
      </p:sp>
      <p:sp>
        <p:nvSpPr>
          <p:cNvPr id="16" name="Text 14"/>
          <p:cNvSpPr txBox="1"/>
          <p:nvPr/>
        </p:nvSpPr>
        <p:spPr>
          <a:xfrm>
            <a:off x="2880360" y="3749040"/>
            <a:ext cx="8595360" cy="777240"/>
          </a:xfrm>
          <a:prstGeom prst="rect">
            <a:avLst/>
          </a:prstGeom>
          <a:noFill/>
          <a:ln/>
        </p:spPr>
        <p:txBody>
          <a:bodyPr wrap="square" lIns="0" tIns="0" rIns="0" bIns="0" rtlCol="0" anchor="ctr"/>
          <a:lstStyle/>
          <a:p>
            <a:pPr indent="0" marL="0">
              <a:buNone/>
            </a:pPr>
            <a:r>
              <a:rPr lang="en-US" sz="1600" dirty="0">
                <a:solidFill>
                  <a:schemeClr val="tx1"/>
                </a:solidFill>
              </a:rPr>
              <a:t>geboortejaar ligt tussen 1900 en het huidige jaar; rang_in_gezin is 1 of meer</a:t>
            </a:r>
            <a:endParaRPr lang="en-US" sz="1600" dirty="0"/>
          </a:p>
        </p:txBody>
      </p:sp>
      <p:sp>
        <p:nvSpPr>
          <p:cNvPr id="17" name="tabelrij"/>
          <p:cNvSpPr/>
          <p:nvPr/>
        </p:nvSpPr>
        <p:spPr>
          <a:xfrm>
            <a:off x="548640" y="4526280"/>
            <a:ext cx="11064240" cy="777240"/>
          </a:xfrm>
          <a:prstGeom prst="rect">
            <a:avLst/>
          </a:prstGeom>
          <a:solidFill>
            <a:schemeClr val="bg1"/>
          </a:solidFill>
          <a:ln w="9525">
            <a:solidFill>
              <a:schemeClr val="bg2"/>
            </a:solidFill>
            <a:prstDash val="solid"/>
          </a:ln>
        </p:spPr>
      </p:sp>
      <p:sp>
        <p:nvSpPr>
          <p:cNvPr id="18" name="Text 16"/>
          <p:cNvSpPr txBox="1"/>
          <p:nvPr/>
        </p:nvSpPr>
        <p:spPr>
          <a:xfrm>
            <a:off x="685800" y="4526280"/>
            <a:ext cx="1920240" cy="777240"/>
          </a:xfrm>
          <a:prstGeom prst="rect">
            <a:avLst/>
          </a:prstGeom>
          <a:noFill/>
          <a:ln/>
        </p:spPr>
        <p:txBody>
          <a:bodyPr wrap="square" lIns="0" tIns="0" rIns="0" bIns="0" rtlCol="0" anchor="ctr"/>
          <a:lstStyle/>
          <a:p>
            <a:pPr indent="0" marL="0">
              <a:buNone/>
            </a:pPr>
            <a:r>
              <a:rPr lang="en-US" sz="1600" b="1" dirty="0">
                <a:solidFill>
                  <a:schemeClr val="tx1"/>
                </a:solidFill>
              </a:rPr>
              <a:t>Postconditie</a:t>
            </a:r>
            <a:endParaRPr lang="en-US" sz="1600" dirty="0"/>
          </a:p>
        </p:txBody>
      </p:sp>
      <p:sp>
        <p:nvSpPr>
          <p:cNvPr id="19" name="Text 17"/>
          <p:cNvSpPr txBox="1"/>
          <p:nvPr/>
        </p:nvSpPr>
        <p:spPr>
          <a:xfrm>
            <a:off x="2880360" y="4526280"/>
            <a:ext cx="8595360" cy="777240"/>
          </a:xfrm>
          <a:prstGeom prst="rect">
            <a:avLst/>
          </a:prstGeom>
          <a:noFill/>
          <a:ln/>
        </p:spPr>
        <p:txBody>
          <a:bodyPr wrap="square" lIns="0" tIns="0" rIns="0" bIns="0" rtlCol="0" anchor="ctr"/>
          <a:lstStyle/>
          <a:p>
            <a:pPr indent="0" marL="0">
              <a:buNone/>
            </a:pPr>
            <a:r>
              <a:rPr lang="en-US" sz="1600" dirty="0">
                <a:solidFill>
                  <a:schemeClr val="tx1"/>
                </a:solidFill>
              </a:rPr>
              <a:t>Het resultaat is een geheel aantal centen, tussen 0 en 12000</a:t>
            </a:r>
            <a:endParaRPr lang="en-US" sz="1600" dirty="0"/>
          </a:p>
        </p:txBody>
      </p:sp>
      <p:sp>
        <p:nvSpPr>
          <p:cNvPr id="20" name="tabelrij"/>
          <p:cNvSpPr/>
          <p:nvPr/>
        </p:nvSpPr>
        <p:spPr>
          <a:xfrm>
            <a:off x="548640" y="5303520"/>
            <a:ext cx="11064240" cy="777240"/>
          </a:xfrm>
          <a:prstGeom prst="rect">
            <a:avLst/>
          </a:prstGeom>
          <a:solidFill>
            <a:schemeClr val="bg2"/>
          </a:solidFill>
          <a:ln w="9525">
            <a:solidFill>
              <a:schemeClr val="bg2"/>
            </a:solidFill>
            <a:prstDash val="solid"/>
          </a:ln>
        </p:spPr>
      </p:sp>
      <p:sp>
        <p:nvSpPr>
          <p:cNvPr id="21" name="Text 19"/>
          <p:cNvSpPr txBox="1"/>
          <p:nvPr/>
        </p:nvSpPr>
        <p:spPr>
          <a:xfrm>
            <a:off x="685800" y="5303520"/>
            <a:ext cx="1920240" cy="777240"/>
          </a:xfrm>
          <a:prstGeom prst="rect">
            <a:avLst/>
          </a:prstGeom>
          <a:noFill/>
          <a:ln/>
        </p:spPr>
        <p:txBody>
          <a:bodyPr wrap="square" lIns="0" tIns="0" rIns="0" bIns="0" rtlCol="0" anchor="ctr"/>
          <a:lstStyle/>
          <a:p>
            <a:pPr indent="0" marL="0">
              <a:buNone/>
            </a:pPr>
            <a:r>
              <a:rPr lang="en-US" sz="1600" b="1" dirty="0">
                <a:solidFill>
                  <a:schemeClr val="tx1"/>
                </a:solidFill>
              </a:rPr>
              <a:t>Regel</a:t>
            </a:r>
            <a:endParaRPr lang="en-US" sz="1600" dirty="0"/>
          </a:p>
        </p:txBody>
      </p:sp>
      <p:sp>
        <p:nvSpPr>
          <p:cNvPr id="22" name="Text 20"/>
          <p:cNvSpPr txBox="1"/>
          <p:nvPr/>
        </p:nvSpPr>
        <p:spPr>
          <a:xfrm>
            <a:off x="2880360" y="5303520"/>
            <a:ext cx="8595360" cy="777240"/>
          </a:xfrm>
          <a:prstGeom prst="rect">
            <a:avLst/>
          </a:prstGeom>
          <a:noFill/>
          <a:ln/>
        </p:spPr>
        <p:txBody>
          <a:bodyPr wrap="square" lIns="0" tIns="0" rIns="0" bIns="0" rtlCol="0" anchor="ctr"/>
          <a:lstStyle/>
          <a:p>
            <a:pPr indent="0" marL="0">
              <a:buNone/>
            </a:pPr>
            <a:r>
              <a:rPr lang="en-US" sz="1600" dirty="0">
                <a:solidFill>
                  <a:schemeClr val="tx1"/>
                </a:solidFill>
              </a:rPr>
              <a:t>Basis 12000 centen, of 9000 bij een leeftijd tot en met 17; daarna 1500 centen korting vanaf het tweede gezinslid; nooit onder nul</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731520" y="3017520"/>
            <a:ext cx="10698480" cy="1097280"/>
          </a:xfrm>
          <a:prstGeom prst="rect">
            <a:avLst/>
          </a:prstGeom>
          <a:noFill/>
          <a:ln/>
        </p:spPr>
        <p:txBody>
          <a:bodyPr wrap="square" lIns="0" tIns="0" rIns="0" bIns="0" rtlCol="0" anchor="t"/>
          <a:lstStyle/>
          <a:p>
            <a:pPr algn="l" indent="0" marL="0">
              <a:buNone/>
            </a:pPr>
            <a:r>
              <a:rPr lang="en-US" sz="3400" b="1" dirty="0">
                <a:solidFill>
                  <a:schemeClr val="bg1"/>
                </a:solidFill>
              </a:rPr>
              <a:t>Klassikale oefening 29.2 — De kern bouwen en testen</a:t>
            </a:r>
            <a:endParaRPr lang="en-US" sz="4400" dirty="0"/>
          </a:p>
        </p:txBody>
      </p:sp>
      <p:sp>
        <p:nvSpPr>
          <p:cNvPr id="3" name="Text 0"/>
          <p:cNvSpPr/>
          <p:nvPr>
            <p:ph idx="100" type="body" hasCustomPrompt="1"/>
          </p:nvPr>
        </p:nvSpPr>
        <p:spPr>
          <a:xfrm>
            <a:off x="731520" y="1463040"/>
            <a:ext cx="3657600" cy="1463040"/>
          </a:xfrm>
          <a:prstGeom prst="rect">
            <a:avLst/>
          </a:prstGeom>
          <a:noFill/>
          <a:ln/>
        </p:spPr>
        <p:txBody>
          <a:bodyPr wrap="square" lIns="0" tIns="0" rIns="0" bIns="0" rtlCol="0" anchor="b"/>
          <a:lstStyle/>
          <a:p>
            <a:pPr indent="0" marL="0">
              <a:buNone/>
            </a:pPr>
            <a:r>
              <a:rPr lang="en-US" sz="9600" b="1" dirty="0">
                <a:solidFill>
                  <a:schemeClr val="accent1"/>
                </a:solidFill>
                <a:latin typeface="Cambria" pitchFamily="34" charset="0"/>
                <a:ea typeface="Cambria" pitchFamily="34" charset="-122"/>
                <a:cs typeface="Cambria" pitchFamily="34" charset="-120"/>
              </a:rPr>
              <a:t>29.9</a:t>
            </a:r>
            <a:endParaRPr lang="en-US" sz="9600" dirty="0"/>
          </a:p>
        </p:txBody>
      </p:sp>
      <p:sp>
        <p:nvSpPr>
          <p:cNvPr id="4" name="Text 0"/>
          <p:cNvSpPr/>
          <p:nvPr>
            <p:ph idx="102" type="body" hasCustomPrompt="1"/>
          </p:nvPr>
        </p:nvSpPr>
        <p:spPr>
          <a:xfrm>
            <a:off x="731520" y="4206240"/>
            <a:ext cx="9601200" cy="1097280"/>
          </a:xfrm>
          <a:prstGeom prst="rect">
            <a:avLst/>
          </a:prstGeom>
          <a:noFill/>
          <a:ln/>
        </p:spPr>
        <p:txBody>
          <a:bodyPr wrap="square" lIns="0" tIns="0" rIns="0" bIns="0" rtlCol="0" anchor="t"/>
          <a:lstStyle/>
          <a:p>
            <a:pPr indent="0" marL="0">
              <a:buNone/>
            </a:pPr>
            <a:r>
              <a:rPr lang="en-US" sz="2000" dirty="0">
                <a:solidFill>
                  <a:schemeClr val="bg2"/>
                </a:solidFill>
              </a:rPr>
              <a:t>De vragen zijn beantwoord. Nu bouw je stap 4 en 5 van het werkplan: de klassen en de rekenregel, met hun tests, en nog geen menu.</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Oefening 29.2 — Wat je doet</a:t>
            </a:r>
            <a:endParaRPr lang="en-US" sz="3400" dirty="0"/>
          </a:p>
        </p:txBody>
      </p:sp>
      <p:sp>
        <p:nvSpPr>
          <p:cNvPr id="3" name="kaart"/>
          <p:cNvSpPr/>
          <p:nvPr/>
        </p:nvSpPr>
        <p:spPr>
          <a:xfrm>
            <a:off x="548640" y="1371600"/>
            <a:ext cx="2606040" cy="301752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4" name="nummercirkel"/>
          <p:cNvSpPr/>
          <p:nvPr/>
        </p:nvSpPr>
        <p:spPr>
          <a:xfrm>
            <a:off x="777240" y="160020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6" name="icooncirkel"/>
          <p:cNvSpPr/>
          <p:nvPr/>
        </p:nvSpPr>
        <p:spPr>
          <a:xfrm>
            <a:off x="2240280" y="1600200"/>
            <a:ext cx="685800" cy="685800"/>
          </a:xfrm>
          <a:prstGeom prst="ellipse">
            <a:avLst/>
          </a:prstGeom>
          <a:solidFill>
            <a:schemeClr val="accent2"/>
          </a:solidFill>
          <a:ln w="12700">
            <a:solidFill>
              <a:schemeClr val="accent2"/>
            </a:solidFill>
            <a:prstDash val="solid"/>
          </a:ln>
        </p:spPr>
      </p:sp>
      <p:pic>
        <p:nvPicPr>
          <p:cNvPr id="7" name="icoon" descr="preencoded.png">    </p:cNvPr>
          <p:cNvPicPr>
            <a:picLocks noChangeAspect="1"/>
          </p:cNvPicPr>
          <p:nvPr/>
        </p:nvPicPr>
        <p:blipFill>
          <a:blip r:embed="rId1"/>
          <a:stretch>
            <a:fillRect/>
          </a:stretch>
        </p:blipFill>
        <p:spPr>
          <a:xfrm>
            <a:off x="2411730" y="1771650"/>
            <a:ext cx="342900" cy="342900"/>
          </a:xfrm>
          <a:prstGeom prst="rect">
            <a:avLst/>
          </a:prstGeom>
        </p:spPr>
      </p:pic>
      <p:sp>
        <p:nvSpPr>
          <p:cNvPr id="8" name="Text 5"/>
          <p:cNvSpPr txBox="1"/>
          <p:nvPr/>
        </p:nvSpPr>
        <p:spPr>
          <a:xfrm>
            <a:off x="777240" y="2514600"/>
            <a:ext cx="2194560" cy="73152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Schrijf de klasse Lid</a:t>
            </a:r>
            <a:endParaRPr lang="en-US" sz="1800" dirty="0"/>
          </a:p>
        </p:txBody>
      </p:sp>
      <p:sp>
        <p:nvSpPr>
          <p:cNvPr id="9" name="Text 6"/>
          <p:cNvSpPr txBox="1"/>
          <p:nvPr/>
        </p:nvSpPr>
        <p:spPr>
          <a:xfrm>
            <a:off x="777240" y="3291840"/>
            <a:ext cx="2194560" cy="914400"/>
          </a:xfrm>
          <a:prstGeom prst="rect">
            <a:avLst/>
          </a:prstGeom>
          <a:noFill/>
          <a:ln/>
        </p:spPr>
        <p:txBody>
          <a:bodyPr wrap="square" lIns="0" tIns="0" rIns="0" bIns="0" rtlCol="0" anchor="t"/>
          <a:lstStyle/>
          <a:p>
            <a:pPr indent="0" marL="0">
              <a:buNone/>
            </a:pPr>
            <a:r>
              <a:rPr lang="en-US" sz="1500" dirty="0">
                <a:solidFill>
                  <a:schemeClr val="tx2"/>
                </a:solidFill>
              </a:rPr>
              <a:t>met de velden uit 29.8</a:t>
            </a:r>
            <a:endParaRPr lang="en-US" sz="1500" dirty="0"/>
          </a:p>
        </p:txBody>
      </p:sp>
      <p:sp>
        <p:nvSpPr>
          <p:cNvPr id="10" name="kaart"/>
          <p:cNvSpPr/>
          <p:nvPr/>
        </p:nvSpPr>
        <p:spPr>
          <a:xfrm>
            <a:off x="3383280" y="1371600"/>
            <a:ext cx="2606040" cy="301752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1" name="nummercirkel"/>
          <p:cNvSpPr/>
          <p:nvPr/>
        </p:nvSpPr>
        <p:spPr>
          <a:xfrm>
            <a:off x="3611880" y="1600200"/>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361188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3" name="icooncirkel"/>
          <p:cNvSpPr/>
          <p:nvPr/>
        </p:nvSpPr>
        <p:spPr>
          <a:xfrm>
            <a:off x="5074920" y="1600200"/>
            <a:ext cx="685800" cy="685800"/>
          </a:xfrm>
          <a:prstGeom prst="ellipse">
            <a:avLst/>
          </a:prstGeom>
          <a:solidFill>
            <a:schemeClr val="accent1"/>
          </a:solidFill>
          <a:ln w="12700">
            <a:solidFill>
              <a:schemeClr val="accent1"/>
            </a:solidFill>
            <a:prstDash val="solid"/>
          </a:ln>
        </p:spPr>
      </p:sp>
      <p:pic>
        <p:nvPicPr>
          <p:cNvPr id="14" name="icoon" descr="preencoded.png">    </p:cNvPr>
          <p:cNvPicPr>
            <a:picLocks noChangeAspect="1"/>
          </p:cNvPicPr>
          <p:nvPr/>
        </p:nvPicPr>
        <p:blipFill>
          <a:blip r:embed="rId2"/>
          <a:stretch>
            <a:fillRect/>
          </a:stretch>
        </p:blipFill>
        <p:spPr>
          <a:xfrm>
            <a:off x="5246370" y="1771650"/>
            <a:ext cx="342900" cy="342900"/>
          </a:xfrm>
          <a:prstGeom prst="rect">
            <a:avLst/>
          </a:prstGeom>
        </p:spPr>
      </p:pic>
      <p:sp>
        <p:nvSpPr>
          <p:cNvPr id="15" name="Text 11"/>
          <p:cNvSpPr txBox="1"/>
          <p:nvPr/>
        </p:nvSpPr>
        <p:spPr>
          <a:xfrm>
            <a:off x="3611880" y="2514600"/>
            <a:ext cx="2194560" cy="73152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Schrijf lidgeld_centen</a:t>
            </a:r>
            <a:endParaRPr lang="en-US" sz="1800" dirty="0"/>
          </a:p>
        </p:txBody>
      </p:sp>
      <p:sp>
        <p:nvSpPr>
          <p:cNvPr id="16" name="Text 12"/>
          <p:cNvSpPr txBox="1"/>
          <p:nvPr/>
        </p:nvSpPr>
        <p:spPr>
          <a:xfrm>
            <a:off x="3611880" y="3291840"/>
            <a:ext cx="2194560" cy="914400"/>
          </a:xfrm>
          <a:prstGeom prst="rect">
            <a:avLst/>
          </a:prstGeom>
          <a:noFill/>
          <a:ln/>
        </p:spPr>
        <p:txBody>
          <a:bodyPr wrap="square" lIns="0" tIns="0" rIns="0" bIns="0" rtlCol="0" anchor="t"/>
          <a:lstStyle/>
          <a:p>
            <a:pPr indent="0" marL="0">
              <a:buNone/>
            </a:pPr>
            <a:r>
              <a:rPr lang="en-US" sz="1500" dirty="0">
                <a:solidFill>
                  <a:schemeClr val="tx2"/>
                </a:solidFill>
              </a:rPr>
              <a:t>volgens het contract</a:t>
            </a:r>
            <a:endParaRPr lang="en-US" sz="1500" dirty="0"/>
          </a:p>
        </p:txBody>
      </p:sp>
      <p:sp>
        <p:nvSpPr>
          <p:cNvPr id="17" name="kaart"/>
          <p:cNvSpPr/>
          <p:nvPr/>
        </p:nvSpPr>
        <p:spPr>
          <a:xfrm>
            <a:off x="6217920" y="1371600"/>
            <a:ext cx="2606040" cy="301752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8" name="nummercirkel"/>
          <p:cNvSpPr/>
          <p:nvPr/>
        </p:nvSpPr>
        <p:spPr>
          <a:xfrm>
            <a:off x="6446520" y="1600200"/>
            <a:ext cx="457200" cy="457200"/>
          </a:xfrm>
          <a:prstGeom prst="ellipse">
            <a:avLst/>
          </a:prstGeom>
          <a:solidFill>
            <a:schemeClr val="accent3"/>
          </a:solidFill>
          <a:ln w="12700">
            <a:solidFill>
              <a:schemeClr val="accent3"/>
            </a:solidFill>
            <a:prstDash val="solid"/>
          </a:ln>
        </p:spPr>
      </p:sp>
      <p:sp>
        <p:nvSpPr>
          <p:cNvPr id="19" name="Text 15"/>
          <p:cNvSpPr txBox="1"/>
          <p:nvPr/>
        </p:nvSpPr>
        <p:spPr>
          <a:xfrm>
            <a:off x="644652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20" name="icooncirkel"/>
          <p:cNvSpPr/>
          <p:nvPr/>
        </p:nvSpPr>
        <p:spPr>
          <a:xfrm>
            <a:off x="7909560" y="1600200"/>
            <a:ext cx="685800" cy="685800"/>
          </a:xfrm>
          <a:prstGeom prst="ellipse">
            <a:avLst/>
          </a:prstGeom>
          <a:solidFill>
            <a:schemeClr val="accent3"/>
          </a:solidFill>
          <a:ln w="12700">
            <a:solidFill>
              <a:schemeClr val="accent3"/>
            </a:solidFill>
            <a:prstDash val="solid"/>
          </a:ln>
        </p:spPr>
      </p:sp>
      <p:pic>
        <p:nvPicPr>
          <p:cNvPr id="21" name="icoon" descr="preencoded.png">    </p:cNvPr>
          <p:cNvPicPr>
            <a:picLocks noChangeAspect="1"/>
          </p:cNvPicPr>
          <p:nvPr/>
        </p:nvPicPr>
        <p:blipFill>
          <a:blip r:embed="rId3"/>
          <a:stretch>
            <a:fillRect/>
          </a:stretch>
        </p:blipFill>
        <p:spPr>
          <a:xfrm>
            <a:off x="8081010" y="1771650"/>
            <a:ext cx="342900" cy="342900"/>
          </a:xfrm>
          <a:prstGeom prst="rect">
            <a:avLst/>
          </a:prstGeom>
        </p:spPr>
      </p:pic>
      <p:sp>
        <p:nvSpPr>
          <p:cNvPr id="22" name="Text 17"/>
          <p:cNvSpPr txBox="1"/>
          <p:nvPr/>
        </p:nvSpPr>
        <p:spPr>
          <a:xfrm>
            <a:off x="6446520" y="2514600"/>
            <a:ext cx="2194560" cy="73152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Schrijf de tests</a:t>
            </a:r>
            <a:endParaRPr lang="en-US" sz="1800" dirty="0"/>
          </a:p>
        </p:txBody>
      </p:sp>
      <p:sp>
        <p:nvSpPr>
          <p:cNvPr id="23" name="Text 18"/>
          <p:cNvSpPr txBox="1"/>
          <p:nvPr/>
        </p:nvSpPr>
        <p:spPr>
          <a:xfrm>
            <a:off x="6446520" y="3291840"/>
            <a:ext cx="2194560" cy="914400"/>
          </a:xfrm>
          <a:prstGeom prst="rect">
            <a:avLst/>
          </a:prstGeom>
          <a:noFill/>
          <a:ln/>
        </p:spPr>
        <p:txBody>
          <a:bodyPr wrap="square" lIns="0" tIns="0" rIns="0" bIns="0" rtlCol="0" anchor="t"/>
          <a:lstStyle/>
          <a:p>
            <a:pPr indent="0" marL="0">
              <a:buNone/>
            </a:pPr>
            <a:r>
              <a:rPr lang="en-US" sz="1500" dirty="0">
                <a:solidFill>
                  <a:schemeClr val="tx2"/>
                </a:solidFill>
              </a:rPr>
              <a:t>met equivalentieklassen en grenswaarden</a:t>
            </a:r>
            <a:endParaRPr lang="en-US" sz="1500" dirty="0"/>
          </a:p>
        </p:txBody>
      </p:sp>
      <p:sp>
        <p:nvSpPr>
          <p:cNvPr id="24" name="kaart"/>
          <p:cNvSpPr/>
          <p:nvPr/>
        </p:nvSpPr>
        <p:spPr>
          <a:xfrm>
            <a:off x="9052560" y="1371600"/>
            <a:ext cx="2606040" cy="301752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25" name="nummercirkel"/>
          <p:cNvSpPr/>
          <p:nvPr/>
        </p:nvSpPr>
        <p:spPr>
          <a:xfrm>
            <a:off x="9281160" y="1600200"/>
            <a:ext cx="457200" cy="457200"/>
          </a:xfrm>
          <a:prstGeom prst="ellipse">
            <a:avLst/>
          </a:prstGeom>
          <a:solidFill>
            <a:schemeClr val="accent5"/>
          </a:solidFill>
          <a:ln w="12700">
            <a:solidFill>
              <a:schemeClr val="accent5"/>
            </a:solidFill>
            <a:prstDash val="solid"/>
          </a:ln>
        </p:spPr>
      </p:sp>
      <p:sp>
        <p:nvSpPr>
          <p:cNvPr id="26" name="Text 21"/>
          <p:cNvSpPr txBox="1"/>
          <p:nvPr/>
        </p:nvSpPr>
        <p:spPr>
          <a:xfrm>
            <a:off x="928116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27" name="icooncirkel"/>
          <p:cNvSpPr/>
          <p:nvPr/>
        </p:nvSpPr>
        <p:spPr>
          <a:xfrm>
            <a:off x="10744200" y="1600200"/>
            <a:ext cx="685800" cy="685800"/>
          </a:xfrm>
          <a:prstGeom prst="ellipse">
            <a:avLst/>
          </a:prstGeom>
          <a:solidFill>
            <a:schemeClr val="accent5"/>
          </a:solidFill>
          <a:ln w="12700">
            <a:solidFill>
              <a:schemeClr val="accent5"/>
            </a:solidFill>
            <a:prstDash val="solid"/>
          </a:ln>
        </p:spPr>
      </p:sp>
      <p:pic>
        <p:nvPicPr>
          <p:cNvPr id="28" name="icoon" descr="preencoded.png">    </p:cNvPr>
          <p:cNvPicPr>
            <a:picLocks noChangeAspect="1"/>
          </p:cNvPicPr>
          <p:nvPr/>
        </p:nvPicPr>
        <p:blipFill>
          <a:blip r:embed="rId4"/>
          <a:stretch>
            <a:fillRect/>
          </a:stretch>
        </p:blipFill>
        <p:spPr>
          <a:xfrm>
            <a:off x="10915650" y="1771650"/>
            <a:ext cx="342900" cy="342900"/>
          </a:xfrm>
          <a:prstGeom prst="rect">
            <a:avLst/>
          </a:prstGeom>
        </p:spPr>
      </p:pic>
      <p:sp>
        <p:nvSpPr>
          <p:cNvPr id="29" name="Text 23"/>
          <p:cNvSpPr txBox="1"/>
          <p:nvPr/>
        </p:nvSpPr>
        <p:spPr>
          <a:xfrm>
            <a:off x="9281160" y="2514600"/>
            <a:ext cx="2194560" cy="73152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Toon dat de kern werkt</a:t>
            </a:r>
            <a:endParaRPr lang="en-US" sz="1800" dirty="0"/>
          </a:p>
        </p:txBody>
      </p:sp>
      <p:sp>
        <p:nvSpPr>
          <p:cNvPr id="30" name="Text 24"/>
          <p:cNvSpPr txBox="1"/>
          <p:nvPr/>
        </p:nvSpPr>
        <p:spPr>
          <a:xfrm>
            <a:off x="9281160" y="3291840"/>
            <a:ext cx="2194560" cy="914400"/>
          </a:xfrm>
          <a:prstGeom prst="rect">
            <a:avLst/>
          </a:prstGeom>
          <a:noFill/>
          <a:ln/>
        </p:spPr>
        <p:txBody>
          <a:bodyPr wrap="square" lIns="0" tIns="0" rIns="0" bIns="0" rtlCol="0" anchor="t"/>
          <a:lstStyle/>
          <a:p>
            <a:pPr indent="0" marL="0">
              <a:buNone/>
            </a:pPr>
            <a:r>
              <a:rPr lang="en-US" sz="1500" dirty="0">
                <a:solidFill>
                  <a:schemeClr val="tx2"/>
                </a:solidFill>
              </a:rPr>
              <a:t>zonder dat er één keer iets ingetypt wordt</a:t>
            </a:r>
            <a:endParaRPr lang="en-US" sz="1500" dirty="0"/>
          </a:p>
        </p:txBody>
      </p:sp>
      <p:sp>
        <p:nvSpPr>
          <p:cNvPr id="31" name="kaart"/>
          <p:cNvSpPr/>
          <p:nvPr/>
        </p:nvSpPr>
        <p:spPr>
          <a:xfrm>
            <a:off x="548640" y="4709160"/>
            <a:ext cx="11064240" cy="1280160"/>
          </a:xfrm>
          <a:prstGeom prst="roundRect">
            <a:avLst>
              <a:gd name="adj" fmla="val 8571"/>
            </a:avLst>
          </a:prstGeom>
          <a:solidFill>
            <a:schemeClr val="tx1"/>
          </a:solidFill>
          <a:ln w="12700">
            <a:solidFill>
              <a:schemeClr val="tx1"/>
            </a:solidFill>
            <a:prstDash val="solid"/>
          </a:ln>
        </p:spPr>
      </p:sp>
      <p:sp>
        <p:nvSpPr>
          <p:cNvPr id="32" name="icooncirkel"/>
          <p:cNvSpPr/>
          <p:nvPr/>
        </p:nvSpPr>
        <p:spPr>
          <a:xfrm>
            <a:off x="822960" y="4937760"/>
            <a:ext cx="777240" cy="777240"/>
          </a:xfrm>
          <a:prstGeom prst="ellipse">
            <a:avLst/>
          </a:prstGeom>
          <a:solidFill>
            <a:schemeClr val="accent3"/>
          </a:solidFill>
          <a:ln w="12700">
            <a:solidFill>
              <a:schemeClr val="accent3"/>
            </a:solidFill>
            <a:prstDash val="solid"/>
          </a:ln>
        </p:spPr>
      </p:sp>
      <p:pic>
        <p:nvPicPr>
          <p:cNvPr id="33" name="icoon" descr="preencoded.png">    </p:cNvPr>
          <p:cNvPicPr>
            <a:picLocks noChangeAspect="1"/>
          </p:cNvPicPr>
          <p:nvPr/>
        </p:nvPicPr>
        <p:blipFill>
          <a:blip r:embed="rId5"/>
          <a:stretch>
            <a:fillRect/>
          </a:stretch>
        </p:blipFill>
        <p:spPr>
          <a:xfrm>
            <a:off x="1017270" y="5132070"/>
            <a:ext cx="388620" cy="388620"/>
          </a:xfrm>
          <a:prstGeom prst="rect">
            <a:avLst/>
          </a:prstGeom>
        </p:spPr>
      </p:pic>
      <p:sp>
        <p:nvSpPr>
          <p:cNvPr id="34" name="Text 27"/>
          <p:cNvSpPr txBox="1"/>
          <p:nvPr/>
        </p:nvSpPr>
        <p:spPr>
          <a:xfrm>
            <a:off x="1828800" y="4709160"/>
            <a:ext cx="9509760" cy="1280160"/>
          </a:xfrm>
          <a:prstGeom prst="rect">
            <a:avLst/>
          </a:prstGeom>
          <a:noFill/>
          <a:ln/>
        </p:spPr>
        <p:txBody>
          <a:bodyPr wrap="square" lIns="0" tIns="0" rIns="0" bIns="0" rtlCol="0" anchor="ctr"/>
          <a:lstStyle/>
          <a:p>
            <a:pPr indent="0" marL="0">
              <a:buNone/>
            </a:pPr>
            <a:r>
              <a:rPr lang="en-US" sz="1700" b="1" dirty="0">
                <a:solidFill>
                  <a:schemeClr val="accent1"/>
                </a:solidFill>
              </a:rPr>
              <a:t>Geen enkele input() in de kern.  </a:t>
            </a:r>
            <a:pPr indent="0" marL="0">
              <a:buNone/>
            </a:pPr>
            <a:r>
              <a:rPr lang="en-US" sz="1700" dirty="0">
                <a:solidFill>
                  <a:schemeClr val="bg1"/>
                </a:solidFill>
              </a:rPr>
              <a:t>Stap 4 en 5 van het werkplan: de klassen en de rekenregel, met hun tests. Het menu komt later.</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De kern (1): constanten en de klasse Lid</a:t>
            </a:r>
            <a:endParaRPr lang="en-US" sz="3400" dirty="0"/>
          </a:p>
        </p:txBody>
      </p:sp>
      <p:sp>
        <p:nvSpPr>
          <p:cNvPr id="3" name="codevak"/>
          <p:cNvSpPr/>
          <p:nvPr/>
        </p:nvSpPr>
        <p:spPr>
          <a:xfrm>
            <a:off x="548640" y="1325880"/>
            <a:ext cx="6949440" cy="4709160"/>
          </a:xfrm>
          <a:prstGeom prst="roundRect">
            <a:avLst>
              <a:gd name="adj" fmla="val 1942"/>
            </a:avLst>
          </a:prstGeom>
          <a:solidFill>
            <a:srgbClr val="161A33"/>
          </a:solidFill>
          <a:ln w="12700">
            <a:solidFill>
              <a:srgbClr val="161A33"/>
            </a:solidFill>
            <a:prstDash val="solid"/>
          </a:ln>
        </p:spPr>
      </p:sp>
      <p:sp>
        <p:nvSpPr>
          <p:cNvPr id="4" name="Text 2"/>
          <p:cNvSpPr txBox="1"/>
          <p:nvPr/>
        </p:nvSpPr>
        <p:spPr>
          <a:xfrm>
            <a:off x="777240" y="1435608"/>
            <a:ext cx="649224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PYTHON · UITWERKING-A.PY</a:t>
            </a:r>
            <a:endParaRPr lang="en-US" sz="1100" dirty="0"/>
          </a:p>
        </p:txBody>
      </p:sp>
      <p:sp>
        <p:nvSpPr>
          <p:cNvPr id="5" name="code"/>
          <p:cNvSpPr txBox="1"/>
          <p:nvPr/>
        </p:nvSpPr>
        <p:spPr>
          <a:xfrm>
            <a:off x="777240" y="1783080"/>
            <a:ext cx="6492240" cy="4114800"/>
          </a:xfrm>
          <a:prstGeom prst="rect">
            <a:avLst/>
          </a:prstGeom>
          <a:noFill/>
          <a:ln/>
        </p:spPr>
        <p:txBody>
          <a:bodyPr wrap="square" lIns="0" tIns="0" rIns="0" bIns="0" rtlCol="0" anchor="t"/>
          <a:lstStyle/>
          <a:p>
            <a:pPr indent="0" marL="0">
              <a:buNone/>
            </a:pPr>
            <a:r>
              <a:rPr lang="en-US" sz="1050" dirty="0">
                <a:solidFill>
                  <a:srgbClr val="8A93B8"/>
                </a:solidFill>
                <a:latin typeface="Consolas" pitchFamily="34" charset="0"/>
                <a:ea typeface="Consolas" pitchFamily="34" charset="-122"/>
                <a:cs typeface="Consolas" pitchFamily="34" charset="-120"/>
              </a:rPr>
              <a:t># Turnclub De Sprong — de kern van de eindopdracht</a:t>
            </a:r>
            <a:endParaRPr lang="en-US" sz="1050" dirty="0"/>
          </a:p>
          <a:p>
            <a:pPr indent="0" marL="0">
              <a:buNone/>
            </a:pPr>
            <a:r>
              <a:rPr lang="en-US" sz="1050" dirty="0">
                <a:solidFill>
                  <a:srgbClr val="8A93B8"/>
                </a:solidFill>
                <a:latin typeface="Consolas" pitchFamily="34" charset="0"/>
                <a:ea typeface="Consolas" pitchFamily="34" charset="-122"/>
                <a:cs typeface="Consolas" pitchFamily="34" charset="-120"/>
              </a:rPr>
              <a:t># constanten: verandert een tarief, dan pas je één regel aan</a:t>
            </a:r>
            <a:endParaRPr lang="en-US" sz="1050" dirty="0"/>
          </a:p>
          <a:p>
            <a:pPr indent="0" marL="0">
              <a:buNone/>
            </a:pPr>
            <a:r>
              <a:rPr lang="en-US" sz="1050" dirty="0">
                <a:solidFill>
                  <a:srgbClr val="E8ECF8"/>
                </a:solidFill>
                <a:latin typeface="Consolas" pitchFamily="34" charset="0"/>
                <a:ea typeface="Consolas" pitchFamily="34" charset="-122"/>
                <a:cs typeface="Consolas" pitchFamily="34" charset="-120"/>
              </a:rPr>
              <a:t>HUIDIG_JAAR = 2026</a:t>
            </a:r>
            <a:endParaRPr lang="en-US" sz="1050" dirty="0"/>
          </a:p>
          <a:p>
            <a:pPr indent="0" marL="0">
              <a:buNone/>
            </a:pPr>
            <a:r>
              <a:rPr lang="en-US" sz="1050" dirty="0">
                <a:solidFill>
                  <a:srgbClr val="8A93B8"/>
                </a:solidFill>
                <a:latin typeface="Consolas" pitchFamily="34" charset="0"/>
                <a:ea typeface="Consolas" pitchFamily="34" charset="-122"/>
                <a:cs typeface="Consolas" pitchFamily="34" charset="-120"/>
              </a:rPr>
              <a:t># alle bedragen in hele centen (int): 12_000 is 120 euro</a:t>
            </a:r>
            <a:endParaRPr lang="en-US" sz="1050" dirty="0"/>
          </a:p>
          <a:p>
            <a:pPr indent="0" marL="0">
              <a:buNone/>
            </a:pPr>
            <a:r>
              <a:rPr lang="en-US" sz="1050" dirty="0">
                <a:solidFill>
                  <a:srgbClr val="E8ECF8"/>
                </a:solidFill>
                <a:latin typeface="Consolas" pitchFamily="34" charset="0"/>
                <a:ea typeface="Consolas" pitchFamily="34" charset="-122"/>
                <a:cs typeface="Consolas" pitchFamily="34" charset="-120"/>
              </a:rPr>
              <a:t>BASISTARIEF_CENTEN = 12_000</a:t>
            </a:r>
            <a:endParaRPr lang="en-US" sz="1050" dirty="0"/>
          </a:p>
          <a:p>
            <a:pPr indent="0" marL="0">
              <a:buNone/>
            </a:pPr>
            <a:r>
              <a:rPr lang="en-US" sz="1050" dirty="0">
                <a:solidFill>
                  <a:srgbClr val="E8ECF8"/>
                </a:solidFill>
                <a:latin typeface="Consolas" pitchFamily="34" charset="0"/>
                <a:ea typeface="Consolas" pitchFamily="34" charset="-122"/>
                <a:cs typeface="Consolas" pitchFamily="34" charset="-120"/>
              </a:rPr>
              <a:t>JEUGDTARIEF_CENTEN = 9_000</a:t>
            </a:r>
            <a:endParaRPr lang="en-US" sz="1050" dirty="0"/>
          </a:p>
          <a:p>
            <a:pPr indent="0" marL="0">
              <a:buNone/>
            </a:pPr>
            <a:r>
              <a:rPr lang="en-US" sz="1050" dirty="0">
                <a:solidFill>
                  <a:srgbClr val="E8ECF8"/>
                </a:solidFill>
                <a:latin typeface="Consolas" pitchFamily="34" charset="0"/>
                <a:ea typeface="Consolas" pitchFamily="34" charset="-122"/>
                <a:cs typeface="Consolas" pitchFamily="34" charset="-120"/>
              </a:rPr>
              <a:t>JEUGD_TOT_EN_MET = 17</a:t>
            </a:r>
            <a:endParaRPr lang="en-US" sz="1050" dirty="0"/>
          </a:p>
          <a:p>
            <a:pPr indent="0" marL="0">
              <a:buNone/>
            </a:pPr>
            <a:r>
              <a:rPr lang="en-US" sz="1050" dirty="0">
                <a:solidFill>
                  <a:srgbClr val="E8ECF8"/>
                </a:solidFill>
                <a:latin typeface="Consolas" pitchFamily="34" charset="0"/>
                <a:ea typeface="Consolas" pitchFamily="34" charset="-122"/>
                <a:cs typeface="Consolas" pitchFamily="34" charset="-120"/>
              </a:rPr>
              <a:t>GEZINSKORTING_CENTEN = 1_500</a:t>
            </a:r>
            <a:endParaRPr lang="en-US" sz="1050" dirty="0"/>
          </a:p>
          <a:p>
            <a:pPr indent="0" marL="0">
              <a:buNone/>
            </a:pPr>
            <a:r>
              <a:rPr lang="en-US" sz="1050" dirty="0">
                <a:solidFill>
                  <a:srgbClr val="E8ECF8"/>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8ECF8"/>
                </a:solidFill>
                <a:latin typeface="Consolas" pitchFamily="34" charset="0"/>
                <a:ea typeface="Consolas" pitchFamily="34" charset="-122"/>
                <a:cs typeface="Consolas" pitchFamily="34" charset="-120"/>
              </a:rPr>
              <a:t>class Lid:</a:t>
            </a:r>
            <a:endParaRPr lang="en-US" sz="1050" dirty="0"/>
          </a:p>
          <a:p>
            <a:pPr indent="0" marL="0">
              <a:buNone/>
            </a:pPr>
            <a:r>
              <a:rPr lang="en-US" sz="1050" dirty="0">
                <a:solidFill>
                  <a:srgbClr val="E8ECF8"/>
                </a:solidFill>
                <a:latin typeface="Consolas" pitchFamily="34" charset="0"/>
                <a:ea typeface="Consolas" pitchFamily="34" charset="-122"/>
                <a:cs typeface="Consolas" pitchFamily="34" charset="-120"/>
              </a:rPr>
              <a:t>    """Eén lid van de turnclub."""</a:t>
            </a:r>
            <a:endParaRPr lang="en-US" sz="1050" dirty="0"/>
          </a:p>
          <a:p>
            <a:pPr indent="0" marL="0">
              <a:buNone/>
            </a:pPr>
            <a:r>
              <a:rPr lang="en-US" sz="1050" dirty="0">
                <a:solidFill>
                  <a:srgbClr val="E8ECF8"/>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8A93B8"/>
                </a:solidFill>
                <a:latin typeface="Consolas" pitchFamily="34" charset="0"/>
                <a:ea typeface="Consolas" pitchFamily="34" charset="-122"/>
                <a:cs typeface="Consolas" pitchFamily="34" charset="-120"/>
              </a:rPr>
              <a:t>    # gezin_id en rang_in_gezin hebben een standaardwaarde</a:t>
            </a:r>
            <a:endParaRPr lang="en-US" sz="1050" dirty="0"/>
          </a:p>
          <a:p>
            <a:pPr indent="0" marL="0">
              <a:buNone/>
            </a:pPr>
            <a:r>
              <a:rPr lang="en-US" sz="1050" dirty="0">
                <a:solidFill>
                  <a:srgbClr val="E8ECF8"/>
                </a:solidFill>
                <a:latin typeface="Consolas" pitchFamily="34" charset="0"/>
                <a:ea typeface="Consolas" pitchFamily="34" charset="-122"/>
                <a:cs typeface="Consolas" pitchFamily="34" charset="-120"/>
              </a:rPr>
              <a:t>    def __init__(self, nummer, naam, geboortejaar, groep_id,</a:t>
            </a:r>
            <a:endParaRPr lang="en-US" sz="1050" dirty="0"/>
          </a:p>
          <a:p>
            <a:pPr indent="0" marL="0">
              <a:buNone/>
            </a:pPr>
            <a:r>
              <a:rPr lang="en-US" sz="1050" dirty="0">
                <a:solidFill>
                  <a:srgbClr val="E8ECF8"/>
                </a:solidFill>
                <a:latin typeface="Consolas" pitchFamily="34" charset="0"/>
                <a:ea typeface="Consolas" pitchFamily="34" charset="-122"/>
                <a:cs typeface="Consolas" pitchFamily="34" charset="-120"/>
              </a:rPr>
              <a:t>                 gezin_id=None, rang_in_gezin=1):</a:t>
            </a:r>
            <a:endParaRPr lang="en-US" sz="1050" dirty="0"/>
          </a:p>
          <a:p>
            <a:pPr indent="0" marL="0">
              <a:buNone/>
            </a:pPr>
            <a:r>
              <a:rPr lang="en-US" sz="1050" dirty="0">
                <a:solidFill>
                  <a:srgbClr val="8A93B8"/>
                </a:solidFill>
                <a:latin typeface="Consolas" pitchFamily="34" charset="0"/>
                <a:ea typeface="Consolas" pitchFamily="34" charset="-122"/>
                <a:cs typeface="Consolas" pitchFamily="34" charset="-120"/>
              </a:rPr>
              <a:t>        # assert vangt een programmeerfout, geen foute invoer</a:t>
            </a:r>
            <a:endParaRPr lang="en-US" sz="1050" dirty="0"/>
          </a:p>
          <a:p>
            <a:pPr indent="0" marL="0">
              <a:buNone/>
            </a:pPr>
            <a:r>
              <a:rPr lang="en-US" sz="1050" dirty="0">
                <a:solidFill>
                  <a:srgbClr val="E8ECF8"/>
                </a:solidFill>
                <a:latin typeface="Consolas" pitchFamily="34" charset="0"/>
                <a:ea typeface="Consolas" pitchFamily="34" charset="-122"/>
                <a:cs typeface="Consolas" pitchFamily="34" charset="-120"/>
              </a:rPr>
              <a:t>        assert naam.strip(), "een lid moet een naam hebben"</a:t>
            </a:r>
            <a:endParaRPr lang="en-US" sz="1050" dirty="0"/>
          </a:p>
          <a:p>
            <a:pPr indent="0" marL="0">
              <a:buNone/>
            </a:pPr>
            <a:r>
              <a:rPr lang="en-US" sz="1050" dirty="0">
                <a:solidFill>
                  <a:srgbClr val="E8ECF8"/>
                </a:solidFill>
                <a:latin typeface="Consolas" pitchFamily="34" charset="0"/>
                <a:ea typeface="Consolas" pitchFamily="34" charset="-122"/>
                <a:cs typeface="Consolas" pitchFamily="34" charset="-120"/>
              </a:rPr>
              <a:t>        self.nummer = nummer</a:t>
            </a:r>
            <a:endParaRPr lang="en-US" sz="1050" dirty="0"/>
          </a:p>
          <a:p>
            <a:pPr indent="0" marL="0">
              <a:buNone/>
            </a:pPr>
            <a:r>
              <a:rPr lang="en-US" sz="1050" dirty="0">
                <a:solidFill>
                  <a:srgbClr val="E8ECF8"/>
                </a:solidFill>
                <a:latin typeface="Consolas" pitchFamily="34" charset="0"/>
                <a:ea typeface="Consolas" pitchFamily="34" charset="-122"/>
                <a:cs typeface="Consolas" pitchFamily="34" charset="-120"/>
              </a:rPr>
              <a:t>        self.naam = naam.strip()</a:t>
            </a:r>
            <a:endParaRPr lang="en-US" sz="1050" dirty="0"/>
          </a:p>
          <a:p>
            <a:pPr indent="0" marL="0">
              <a:buNone/>
            </a:pPr>
            <a:r>
              <a:rPr lang="en-US" sz="1050" dirty="0">
                <a:solidFill>
                  <a:srgbClr val="E8ECF8"/>
                </a:solidFill>
                <a:latin typeface="Consolas" pitchFamily="34" charset="0"/>
                <a:ea typeface="Consolas" pitchFamily="34" charset="-122"/>
                <a:cs typeface="Consolas" pitchFamily="34" charset="-120"/>
              </a:rPr>
              <a:t>        self.geboortejaar = geboortejaar</a:t>
            </a:r>
            <a:endParaRPr lang="en-US" sz="1050" dirty="0"/>
          </a:p>
          <a:p>
            <a:pPr indent="0" marL="0">
              <a:buNone/>
            </a:pPr>
            <a:r>
              <a:rPr lang="en-US" sz="1050" dirty="0">
                <a:solidFill>
                  <a:srgbClr val="E8ECF8"/>
                </a:solidFill>
                <a:latin typeface="Consolas" pitchFamily="34" charset="0"/>
                <a:ea typeface="Consolas" pitchFamily="34" charset="-122"/>
                <a:cs typeface="Consolas" pitchFamily="34" charset="-120"/>
              </a:rPr>
              <a:t>        self.groep_id = groep_id</a:t>
            </a:r>
            <a:endParaRPr lang="en-US" sz="1050" dirty="0"/>
          </a:p>
          <a:p>
            <a:pPr indent="0" marL="0">
              <a:buNone/>
            </a:pPr>
            <a:r>
              <a:rPr lang="en-US" sz="1050" dirty="0">
                <a:solidFill>
                  <a:srgbClr val="E8ECF8"/>
                </a:solidFill>
                <a:latin typeface="Consolas" pitchFamily="34" charset="0"/>
                <a:ea typeface="Consolas" pitchFamily="34" charset="-122"/>
                <a:cs typeface="Consolas" pitchFamily="34" charset="-120"/>
              </a:rPr>
              <a:t>        self.gezin_id = gezin_id</a:t>
            </a:r>
            <a:endParaRPr lang="en-US" sz="1050" dirty="0"/>
          </a:p>
          <a:p>
            <a:pPr indent="0" marL="0">
              <a:buNone/>
            </a:pPr>
            <a:r>
              <a:rPr lang="en-US" sz="1050" dirty="0">
                <a:solidFill>
                  <a:srgbClr val="E8ECF8"/>
                </a:solidFill>
                <a:latin typeface="Consolas" pitchFamily="34" charset="0"/>
                <a:ea typeface="Consolas" pitchFamily="34" charset="-122"/>
                <a:cs typeface="Consolas" pitchFamily="34" charset="-120"/>
              </a:rPr>
              <a:t>        self.rang_in_gezin = rang_in_gezin</a:t>
            </a:r>
            <a:endParaRPr lang="en-US" sz="1050" dirty="0"/>
          </a:p>
          <a:p>
            <a:pPr indent="0" marL="0">
              <a:buNone/>
            </a:pPr>
            <a:r>
              <a:rPr lang="en-US" sz="1050" dirty="0">
                <a:solidFill>
                  <a:srgbClr val="8A93B8"/>
                </a:solidFill>
                <a:latin typeface="Consolas" pitchFamily="34" charset="0"/>
                <a:ea typeface="Consolas" pitchFamily="34" charset="-122"/>
                <a:cs typeface="Consolas" pitchFamily="34" charset="-120"/>
              </a:rPr>
              <a:t>        # een nieuw lid heeft nog niets betaald</a:t>
            </a:r>
            <a:endParaRPr lang="en-US" sz="1050" dirty="0"/>
          </a:p>
          <a:p>
            <a:pPr indent="0" marL="0">
              <a:buNone/>
            </a:pPr>
            <a:r>
              <a:rPr lang="en-US" sz="1050" dirty="0">
                <a:solidFill>
                  <a:srgbClr val="E8ECF8"/>
                </a:solidFill>
                <a:latin typeface="Consolas" pitchFamily="34" charset="0"/>
                <a:ea typeface="Consolas" pitchFamily="34" charset="-122"/>
                <a:cs typeface="Consolas" pitchFamily="34" charset="-120"/>
              </a:rPr>
              <a:t>        self.betaald_centen = 0</a:t>
            </a:r>
            <a:endParaRPr lang="en-US" sz="1050" dirty="0"/>
          </a:p>
        </p:txBody>
      </p:sp>
      <p:sp>
        <p:nvSpPr>
          <p:cNvPr id="6" name="kaart"/>
          <p:cNvSpPr/>
          <p:nvPr/>
        </p:nvSpPr>
        <p:spPr>
          <a:xfrm>
            <a:off x="7772400" y="1325880"/>
            <a:ext cx="3840480" cy="1417320"/>
          </a:xfrm>
          <a:prstGeom prst="roundRect">
            <a:avLst>
              <a:gd name="adj" fmla="val 7742"/>
            </a:avLst>
          </a:prstGeom>
          <a:solidFill>
            <a:schemeClr val="bg2"/>
          </a:solidFill>
          <a:ln w="12700">
            <a:solidFill>
              <a:schemeClr val="bg2"/>
            </a:solidFill>
            <a:prstDash val="solid"/>
          </a:ln>
        </p:spPr>
      </p:sp>
      <p:sp>
        <p:nvSpPr>
          <p:cNvPr id="7" name="streep"/>
          <p:cNvSpPr/>
          <p:nvPr/>
        </p:nvSpPr>
        <p:spPr>
          <a:xfrm>
            <a:off x="7772400" y="1325880"/>
            <a:ext cx="91440" cy="1417320"/>
          </a:xfrm>
          <a:prstGeom prst="rect">
            <a:avLst/>
          </a:prstGeom>
          <a:solidFill>
            <a:schemeClr val="accent1"/>
          </a:solidFill>
          <a:ln w="12700">
            <a:solidFill>
              <a:schemeClr val="accent1"/>
            </a:solidFill>
            <a:prstDash val="solid"/>
          </a:ln>
        </p:spPr>
      </p:sp>
      <p:sp>
        <p:nvSpPr>
          <p:cNvPr id="8" name="Text 6"/>
          <p:cNvSpPr txBox="1"/>
          <p:nvPr/>
        </p:nvSpPr>
        <p:spPr>
          <a:xfrm>
            <a:off x="8046720" y="1435608"/>
            <a:ext cx="3429000" cy="320040"/>
          </a:xfrm>
          <a:prstGeom prst="rect">
            <a:avLst/>
          </a:prstGeom>
          <a:noFill/>
          <a:ln/>
        </p:spPr>
        <p:txBody>
          <a:bodyPr wrap="square" lIns="0" tIns="0" rIns="0" bIns="0" rtlCol="0" anchor="t"/>
          <a:lstStyle/>
          <a:p>
            <a:pPr indent="0" marL="0">
              <a:buNone/>
            </a:pPr>
            <a:r>
              <a:rPr lang="en-US" sz="1500" b="1" dirty="0">
                <a:solidFill>
                  <a:schemeClr val="tx1"/>
                </a:solidFill>
              </a:rPr>
              <a:t>Constanten bovenaan</a:t>
            </a:r>
            <a:endParaRPr lang="en-US" sz="1500" dirty="0"/>
          </a:p>
        </p:txBody>
      </p:sp>
      <p:sp>
        <p:nvSpPr>
          <p:cNvPr id="9" name="Text 7"/>
          <p:cNvSpPr txBox="1"/>
          <p:nvPr/>
        </p:nvSpPr>
        <p:spPr>
          <a:xfrm>
            <a:off x="8046720" y="1783080"/>
            <a:ext cx="3429000" cy="868680"/>
          </a:xfrm>
          <a:prstGeom prst="rect">
            <a:avLst/>
          </a:prstGeom>
          <a:noFill/>
          <a:ln/>
        </p:spPr>
        <p:txBody>
          <a:bodyPr wrap="square" lIns="0" tIns="0" rIns="0" bIns="0" rtlCol="0" anchor="t"/>
          <a:lstStyle/>
          <a:p>
            <a:pPr indent="0" marL="0">
              <a:buNone/>
            </a:pPr>
            <a:r>
              <a:rPr lang="en-US" sz="1250" dirty="0">
                <a:solidFill>
                  <a:schemeClr val="tx2"/>
                </a:solidFill>
              </a:rPr>
              <a:t>Vaste waarden in HOOFDLETTERS. 12_000 is gewoon 12000: het streepje is voor de leesbaarheid.</a:t>
            </a:r>
            <a:endParaRPr lang="en-US" sz="1250" dirty="0"/>
          </a:p>
        </p:txBody>
      </p:sp>
      <p:sp>
        <p:nvSpPr>
          <p:cNvPr id="10" name="kaart"/>
          <p:cNvSpPr/>
          <p:nvPr/>
        </p:nvSpPr>
        <p:spPr>
          <a:xfrm>
            <a:off x="7772400" y="2898648"/>
            <a:ext cx="3840480" cy="1417320"/>
          </a:xfrm>
          <a:prstGeom prst="roundRect">
            <a:avLst>
              <a:gd name="adj" fmla="val 7742"/>
            </a:avLst>
          </a:prstGeom>
          <a:solidFill>
            <a:schemeClr val="bg2"/>
          </a:solidFill>
          <a:ln w="12700">
            <a:solidFill>
              <a:schemeClr val="bg2"/>
            </a:solidFill>
            <a:prstDash val="solid"/>
          </a:ln>
        </p:spPr>
      </p:sp>
      <p:sp>
        <p:nvSpPr>
          <p:cNvPr id="11" name="streep"/>
          <p:cNvSpPr/>
          <p:nvPr/>
        </p:nvSpPr>
        <p:spPr>
          <a:xfrm>
            <a:off x="7772400" y="2898648"/>
            <a:ext cx="91440" cy="1417320"/>
          </a:xfrm>
          <a:prstGeom prst="rect">
            <a:avLst/>
          </a:prstGeom>
          <a:solidFill>
            <a:schemeClr val="accent2"/>
          </a:solidFill>
          <a:ln w="12700">
            <a:solidFill>
              <a:schemeClr val="accent2"/>
            </a:solidFill>
            <a:prstDash val="solid"/>
          </a:ln>
        </p:spPr>
      </p:sp>
      <p:sp>
        <p:nvSpPr>
          <p:cNvPr id="12" name="Text 10"/>
          <p:cNvSpPr txBox="1"/>
          <p:nvPr/>
        </p:nvSpPr>
        <p:spPr>
          <a:xfrm>
            <a:off x="8046720" y="3008376"/>
            <a:ext cx="3429000" cy="320040"/>
          </a:xfrm>
          <a:prstGeom prst="rect">
            <a:avLst/>
          </a:prstGeom>
          <a:noFill/>
          <a:ln/>
        </p:spPr>
        <p:txBody>
          <a:bodyPr wrap="square" lIns="0" tIns="0" rIns="0" bIns="0" rtlCol="0" anchor="t"/>
          <a:lstStyle/>
          <a:p>
            <a:pPr indent="0" marL="0">
              <a:buNone/>
            </a:pPr>
            <a:r>
              <a:rPr lang="en-US" sz="1500" b="1" dirty="0">
                <a:solidFill>
                  <a:schemeClr val="tx1"/>
                </a:solidFill>
              </a:rPr>
              <a:t>Standaardwaarden</a:t>
            </a:r>
            <a:endParaRPr lang="en-US" sz="1500" dirty="0"/>
          </a:p>
        </p:txBody>
      </p:sp>
      <p:sp>
        <p:nvSpPr>
          <p:cNvPr id="13" name="Text 11"/>
          <p:cNvSpPr txBox="1"/>
          <p:nvPr/>
        </p:nvSpPr>
        <p:spPr>
          <a:xfrm>
            <a:off x="8046720" y="3355848"/>
            <a:ext cx="3429000" cy="868680"/>
          </a:xfrm>
          <a:prstGeom prst="rect">
            <a:avLst/>
          </a:prstGeom>
          <a:noFill/>
          <a:ln/>
        </p:spPr>
        <p:txBody>
          <a:bodyPr wrap="square" lIns="0" tIns="0" rIns="0" bIns="0" rtlCol="0" anchor="t"/>
          <a:lstStyle/>
          <a:p>
            <a:pPr indent="0" marL="0">
              <a:buNone/>
            </a:pPr>
            <a:r>
              <a:rPr lang="en-US" sz="1250" dirty="0">
                <a:solidFill>
                  <a:schemeClr val="tx2"/>
                </a:solidFill>
              </a:rPr>
              <a:t>Laat je gezin_id weg, dan hoort het lid bij geen gezin. rang_in_gezin=1 is het eerste gezinslid.</a:t>
            </a:r>
            <a:endParaRPr lang="en-US" sz="1250" dirty="0"/>
          </a:p>
        </p:txBody>
      </p:sp>
      <p:sp>
        <p:nvSpPr>
          <p:cNvPr id="14" name="kaart"/>
          <p:cNvSpPr/>
          <p:nvPr/>
        </p:nvSpPr>
        <p:spPr>
          <a:xfrm>
            <a:off x="7772400" y="4471416"/>
            <a:ext cx="3840480" cy="1417320"/>
          </a:xfrm>
          <a:prstGeom prst="roundRect">
            <a:avLst>
              <a:gd name="adj" fmla="val 7742"/>
            </a:avLst>
          </a:prstGeom>
          <a:solidFill>
            <a:schemeClr val="bg2"/>
          </a:solidFill>
          <a:ln w="12700">
            <a:solidFill>
              <a:schemeClr val="bg2"/>
            </a:solidFill>
            <a:prstDash val="solid"/>
          </a:ln>
        </p:spPr>
      </p:sp>
      <p:sp>
        <p:nvSpPr>
          <p:cNvPr id="15" name="streep"/>
          <p:cNvSpPr/>
          <p:nvPr/>
        </p:nvSpPr>
        <p:spPr>
          <a:xfrm>
            <a:off x="7772400" y="4471416"/>
            <a:ext cx="91440" cy="1417320"/>
          </a:xfrm>
          <a:prstGeom prst="rect">
            <a:avLst/>
          </a:prstGeom>
          <a:solidFill>
            <a:schemeClr val="accent3"/>
          </a:solidFill>
          <a:ln w="12700">
            <a:solidFill>
              <a:schemeClr val="accent3"/>
            </a:solidFill>
            <a:prstDash val="solid"/>
          </a:ln>
        </p:spPr>
      </p:sp>
      <p:sp>
        <p:nvSpPr>
          <p:cNvPr id="16" name="Text 14"/>
          <p:cNvSpPr txBox="1"/>
          <p:nvPr/>
        </p:nvSpPr>
        <p:spPr>
          <a:xfrm>
            <a:off x="8046720" y="4581144"/>
            <a:ext cx="3429000" cy="320040"/>
          </a:xfrm>
          <a:prstGeom prst="rect">
            <a:avLst/>
          </a:prstGeom>
          <a:noFill/>
          <a:ln/>
        </p:spPr>
        <p:txBody>
          <a:bodyPr wrap="square" lIns="0" tIns="0" rIns="0" bIns="0" rtlCol="0" anchor="t"/>
          <a:lstStyle/>
          <a:p>
            <a:pPr indent="0" marL="0">
              <a:buNone/>
            </a:pPr>
            <a:r>
              <a:rPr lang="en-US" sz="1500" b="1" dirty="0">
                <a:solidFill>
                  <a:schemeClr val="tx1"/>
                </a:solidFill>
              </a:rPr>
              <a:t>assert is geen invoercontrole</a:t>
            </a:r>
            <a:endParaRPr lang="en-US" sz="1500" dirty="0"/>
          </a:p>
        </p:txBody>
      </p:sp>
      <p:sp>
        <p:nvSpPr>
          <p:cNvPr id="17" name="Text 15"/>
          <p:cNvSpPr txBox="1"/>
          <p:nvPr/>
        </p:nvSpPr>
        <p:spPr>
          <a:xfrm>
            <a:off x="8046720" y="4928616"/>
            <a:ext cx="3429000" cy="868680"/>
          </a:xfrm>
          <a:prstGeom prst="rect">
            <a:avLst/>
          </a:prstGeom>
          <a:noFill/>
          <a:ln/>
        </p:spPr>
        <p:txBody>
          <a:bodyPr wrap="square" lIns="0" tIns="0" rIns="0" bIns="0" rtlCol="0" anchor="t"/>
          <a:lstStyle/>
          <a:p>
            <a:pPr indent="0" marL="0">
              <a:buNone/>
            </a:pPr>
            <a:r>
              <a:rPr lang="en-US" sz="1250" dirty="0">
                <a:solidFill>
                  <a:schemeClr val="tx2"/>
                </a:solidFill>
              </a:rPr>
              <a:t>Een assert vangt programmeerfouten. Namen uit het menu controleer je straks met een gewone if (eis 5).</a:t>
            </a:r>
            <a:endParaRPr lang="en-US" sz="125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De kern (2): de methodes van Lid, en in_euro</a:t>
            </a:r>
            <a:endParaRPr lang="en-US" sz="3400" dirty="0"/>
          </a:p>
        </p:txBody>
      </p:sp>
      <p:sp>
        <p:nvSpPr>
          <p:cNvPr id="3" name="codevak"/>
          <p:cNvSpPr/>
          <p:nvPr/>
        </p:nvSpPr>
        <p:spPr>
          <a:xfrm>
            <a:off x="548640" y="1325880"/>
            <a:ext cx="7223760" cy="4709160"/>
          </a:xfrm>
          <a:prstGeom prst="roundRect">
            <a:avLst>
              <a:gd name="adj" fmla="val 1942"/>
            </a:avLst>
          </a:prstGeom>
          <a:solidFill>
            <a:srgbClr val="161A33"/>
          </a:solidFill>
          <a:ln w="12700">
            <a:solidFill>
              <a:srgbClr val="161A33"/>
            </a:solidFill>
            <a:prstDash val="solid"/>
          </a:ln>
        </p:spPr>
      </p:sp>
      <p:sp>
        <p:nvSpPr>
          <p:cNvPr id="4" name="Text 2"/>
          <p:cNvSpPr txBox="1"/>
          <p:nvPr/>
        </p:nvSpPr>
        <p:spPr>
          <a:xfrm>
            <a:off x="777240" y="1435608"/>
            <a:ext cx="676656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PYTHON · UITWERKING-A.PY</a:t>
            </a:r>
            <a:endParaRPr lang="en-US" sz="1100" dirty="0"/>
          </a:p>
        </p:txBody>
      </p:sp>
      <p:sp>
        <p:nvSpPr>
          <p:cNvPr id="5" name="code"/>
          <p:cNvSpPr txBox="1"/>
          <p:nvPr/>
        </p:nvSpPr>
        <p:spPr>
          <a:xfrm>
            <a:off x="777240" y="1783080"/>
            <a:ext cx="6766560" cy="4114800"/>
          </a:xfrm>
          <a:prstGeom prst="rect">
            <a:avLst/>
          </a:prstGeom>
          <a:noFill/>
          <a:ln/>
        </p:spPr>
        <p:txBody>
          <a:bodyPr wrap="square" lIns="0" tIns="0" rIns="0" bIns="0" rtlCol="0" anchor="t"/>
          <a:lstStyle/>
          <a:p>
            <a:pPr indent="0" marL="0">
              <a:buNone/>
            </a:pPr>
            <a:r>
              <a:rPr lang="en-US" sz="1100" dirty="0">
                <a:solidFill>
                  <a:srgbClr val="8A93B8"/>
                </a:solidFill>
                <a:latin typeface="Consolas" pitchFamily="34" charset="0"/>
                <a:ea typeface="Consolas" pitchFamily="34" charset="-122"/>
                <a:cs typeface="Consolas" pitchFamily="34" charset="-120"/>
              </a:rPr>
              <a:t>    # (vervolg van class Lid)</a:t>
            </a:r>
            <a:endParaRPr lang="en-US" sz="1100" dirty="0"/>
          </a:p>
          <a:p>
            <a:pPr indent="0" marL="0">
              <a:buNone/>
            </a:pPr>
            <a:r>
              <a:rPr lang="en-US" sz="1100" dirty="0">
                <a:solidFill>
                  <a:srgbClr val="8A93B8"/>
                </a:solidFill>
                <a:latin typeface="Consolas" pitchFamily="34" charset="0"/>
                <a:ea typeface="Consolas" pitchFamily="34" charset="-122"/>
                <a:cs typeface="Consolas" pitchFamily="34" charset="-120"/>
              </a:rPr>
              <a:t>    # de leeftijd wordt berekend, niet bewaard</a:t>
            </a:r>
            <a:endParaRPr lang="en-US" sz="1100" dirty="0"/>
          </a:p>
          <a:p>
            <a:pPr indent="0" marL="0">
              <a:buNone/>
            </a:pPr>
            <a:r>
              <a:rPr lang="en-US" sz="1100" dirty="0">
                <a:solidFill>
                  <a:srgbClr val="E8ECF8"/>
                </a:solidFill>
                <a:latin typeface="Consolas" pitchFamily="34" charset="0"/>
                <a:ea typeface="Consolas" pitchFamily="34" charset="-122"/>
                <a:cs typeface="Consolas" pitchFamily="34" charset="-120"/>
              </a:rPr>
              <a:t>    def leeftijd(self, in_jaar=HUIDIG_JAAR):</a:t>
            </a:r>
            <a:endParaRPr lang="en-US" sz="1100" dirty="0"/>
          </a:p>
          <a:p>
            <a:pPr indent="0" marL="0">
              <a:buNone/>
            </a:pPr>
            <a:r>
              <a:rPr lang="en-US" sz="1100" dirty="0">
                <a:solidFill>
                  <a:srgbClr val="E8ECF8"/>
                </a:solidFill>
                <a:latin typeface="Consolas" pitchFamily="34" charset="0"/>
                <a:ea typeface="Consolas" pitchFamily="34" charset="-122"/>
                <a:cs typeface="Consolas" pitchFamily="34" charset="-120"/>
              </a:rPr>
              <a:t>        """De leeftijd die het lid dit jaar bereikt."""</a:t>
            </a:r>
            <a:endParaRPr lang="en-US" sz="1100" dirty="0"/>
          </a:p>
          <a:p>
            <a:pPr indent="0" marL="0">
              <a:buNone/>
            </a:pPr>
            <a:r>
              <a:rPr lang="en-US" sz="1100" dirty="0">
                <a:solidFill>
                  <a:srgbClr val="E8ECF8"/>
                </a:solidFill>
                <a:latin typeface="Consolas" pitchFamily="34" charset="0"/>
                <a:ea typeface="Consolas" pitchFamily="34" charset="-122"/>
                <a:cs typeface="Consolas" pitchFamily="34" charset="-120"/>
              </a:rPr>
              <a:t>        return in_jaar - self.geboortejaar</a:t>
            </a:r>
            <a:endParaRPr lang="en-US" sz="1100" dirty="0"/>
          </a:p>
          <a:p>
            <a:pPr indent="0" marL="0">
              <a:buNone/>
            </a:pPr>
            <a:r>
              <a:rPr lang="en-US" sz="1100" dirty="0">
                <a:solidFill>
                  <a:srgbClr val="E8ECF8"/>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8A93B8"/>
                </a:solidFill>
                <a:latin typeface="Consolas" pitchFamily="34" charset="0"/>
                <a:ea typeface="Consolas" pitchFamily="34" charset="-122"/>
                <a:cs typeface="Consolas" pitchFamily="34" charset="-120"/>
              </a:rPr>
              <a:t>    # max(0, ...): nooit onder nul, ook als iemand te veel betaalde</a:t>
            </a:r>
            <a:endParaRPr lang="en-US" sz="1100" dirty="0"/>
          </a:p>
          <a:p>
            <a:pPr indent="0" marL="0">
              <a:buNone/>
            </a:pPr>
            <a:r>
              <a:rPr lang="en-US" sz="1100" dirty="0">
                <a:solidFill>
                  <a:srgbClr val="E8ECF8"/>
                </a:solidFill>
                <a:latin typeface="Consolas" pitchFamily="34" charset="0"/>
                <a:ea typeface="Consolas" pitchFamily="34" charset="-122"/>
                <a:cs typeface="Consolas" pitchFamily="34" charset="-120"/>
              </a:rPr>
              <a:t>    def openstaand_centen(self):</a:t>
            </a:r>
            <a:endParaRPr lang="en-US" sz="1100" dirty="0"/>
          </a:p>
          <a:p>
            <a:pPr indent="0" marL="0">
              <a:buNone/>
            </a:pPr>
            <a:r>
              <a:rPr lang="en-US" sz="1100" dirty="0">
                <a:solidFill>
                  <a:srgbClr val="E8ECF8"/>
                </a:solidFill>
                <a:latin typeface="Consolas" pitchFamily="34" charset="0"/>
                <a:ea typeface="Consolas" pitchFamily="34" charset="-122"/>
                <a:cs typeface="Consolas" pitchFamily="34" charset="-120"/>
              </a:rPr>
              <a:t>        """Wat er nog betaald moet worden; nooit negatief."""</a:t>
            </a:r>
            <a:endParaRPr lang="en-US" sz="1100" dirty="0"/>
          </a:p>
          <a:p>
            <a:pPr indent="0" marL="0">
              <a:buNone/>
            </a:pPr>
            <a:r>
              <a:rPr lang="en-US" sz="1100" dirty="0">
                <a:solidFill>
                  <a:srgbClr val="E8ECF8"/>
                </a:solidFill>
                <a:latin typeface="Consolas" pitchFamily="34" charset="0"/>
                <a:ea typeface="Consolas" pitchFamily="34" charset="-122"/>
                <a:cs typeface="Consolas" pitchFamily="34" charset="-120"/>
              </a:rPr>
              <a:t>        return max(0, lidgeld_centen(self.geboortejaar,</a:t>
            </a:r>
            <a:endParaRPr lang="en-US" sz="1100" dirty="0"/>
          </a:p>
          <a:p>
            <a:pPr indent="0" marL="0">
              <a:buNone/>
            </a:pPr>
            <a:r>
              <a:rPr lang="en-US" sz="1100" dirty="0">
                <a:solidFill>
                  <a:srgbClr val="E8ECF8"/>
                </a:solidFill>
                <a:latin typeface="Consolas" pitchFamily="34" charset="0"/>
                <a:ea typeface="Consolas" pitchFamily="34" charset="-122"/>
                <a:cs typeface="Consolas" pitchFamily="34" charset="-120"/>
              </a:rPr>
              <a:t>                                     self.rang_in_gezin) - self.betaald_centen)</a:t>
            </a:r>
            <a:endParaRPr lang="en-US" sz="1100" dirty="0"/>
          </a:p>
          <a:p>
            <a:pPr indent="0" marL="0">
              <a:buNone/>
            </a:pPr>
            <a:r>
              <a:rPr lang="en-US" sz="1100" dirty="0">
                <a:solidFill>
                  <a:srgbClr val="E8ECF8"/>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8A93B8"/>
                </a:solidFill>
                <a:latin typeface="Consolas" pitchFamily="34" charset="0"/>
                <a:ea typeface="Consolas" pitchFamily="34" charset="-122"/>
                <a:cs typeface="Consolas" pitchFamily="34" charset="-120"/>
              </a:rPr>
              <a:t>    # zo ziet een Lid eruit in een lijst of in de shell</a:t>
            </a:r>
            <a:endParaRPr lang="en-US" sz="1100" dirty="0"/>
          </a:p>
          <a:p>
            <a:pPr indent="0" marL="0">
              <a:buNone/>
            </a:pPr>
            <a:r>
              <a:rPr lang="en-US" sz="1100" dirty="0">
                <a:solidFill>
                  <a:srgbClr val="E8ECF8"/>
                </a:solidFill>
                <a:latin typeface="Consolas" pitchFamily="34" charset="0"/>
                <a:ea typeface="Consolas" pitchFamily="34" charset="-122"/>
                <a:cs typeface="Consolas" pitchFamily="34" charset="-120"/>
              </a:rPr>
              <a:t>    def __repr__(self):</a:t>
            </a:r>
            <a:endParaRPr lang="en-US" sz="1100" dirty="0"/>
          </a:p>
          <a:p>
            <a:pPr indent="0" marL="0">
              <a:buNone/>
            </a:pPr>
            <a:r>
              <a:rPr lang="en-US" sz="1100" dirty="0">
                <a:solidFill>
                  <a:srgbClr val="E8ECF8"/>
                </a:solidFill>
                <a:latin typeface="Consolas" pitchFamily="34" charset="0"/>
                <a:ea typeface="Consolas" pitchFamily="34" charset="-122"/>
                <a:cs typeface="Consolas" pitchFamily="34" charset="-120"/>
              </a:rPr>
              <a:t>        return f"Lid({self.nummer}, {self.naam!r}, {self.geboortejaar})"</a:t>
            </a:r>
            <a:endParaRPr lang="en-US" sz="1100" dirty="0"/>
          </a:p>
          <a:p>
            <a:pPr indent="0" marL="0">
              <a:buNone/>
            </a:pPr>
            <a:r>
              <a:rPr lang="en-US" sz="1100" dirty="0">
                <a:solidFill>
                  <a:srgbClr val="E8ECF8"/>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8ECF8"/>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8A93B8"/>
                </a:solidFill>
                <a:latin typeface="Consolas" pitchFamily="34" charset="0"/>
                <a:ea typeface="Consolas" pitchFamily="34" charset="-122"/>
                <a:cs typeface="Consolas" pitchFamily="34" charset="-120"/>
              </a:rPr>
              <a:t># centen pas omzetten naar tekst op het moment dat je ze toont</a:t>
            </a:r>
            <a:endParaRPr lang="en-US" sz="1100" dirty="0"/>
          </a:p>
          <a:p>
            <a:pPr indent="0" marL="0">
              <a:buNone/>
            </a:pPr>
            <a:r>
              <a:rPr lang="en-US" sz="1100" dirty="0">
                <a:solidFill>
                  <a:srgbClr val="E8ECF8"/>
                </a:solidFill>
                <a:latin typeface="Consolas" pitchFamily="34" charset="0"/>
                <a:ea typeface="Consolas" pitchFamily="34" charset="-122"/>
                <a:cs typeface="Consolas" pitchFamily="34" charset="-120"/>
              </a:rPr>
              <a:t>def in_euro(centen):</a:t>
            </a:r>
            <a:endParaRPr lang="en-US" sz="1100" dirty="0"/>
          </a:p>
          <a:p>
            <a:pPr indent="0" marL="0">
              <a:buNone/>
            </a:pPr>
            <a:r>
              <a:rPr lang="en-US" sz="1100" dirty="0">
                <a:solidFill>
                  <a:srgbClr val="E8ECF8"/>
                </a:solidFill>
                <a:latin typeface="Consolas" pitchFamily="34" charset="0"/>
                <a:ea typeface="Consolas" pitchFamily="34" charset="-122"/>
                <a:cs typeface="Consolas" pitchFamily="34" charset="-120"/>
              </a:rPr>
              <a:t>    """Centen als leesbaar bedrag."""</a:t>
            </a:r>
            <a:endParaRPr lang="en-US" sz="1100" dirty="0"/>
          </a:p>
          <a:p>
            <a:pPr indent="0" marL="0">
              <a:buNone/>
            </a:pPr>
            <a:r>
              <a:rPr lang="en-US" sz="1100" dirty="0">
                <a:solidFill>
                  <a:srgbClr val="E8ECF8"/>
                </a:solidFill>
                <a:latin typeface="Consolas" pitchFamily="34" charset="0"/>
                <a:ea typeface="Consolas" pitchFamily="34" charset="-122"/>
                <a:cs typeface="Consolas" pitchFamily="34" charset="-120"/>
              </a:rPr>
              <a:t>    return f"{centen // 100},{centen % 100:02d} euro"</a:t>
            </a:r>
            <a:endParaRPr lang="en-US" sz="1100" dirty="0"/>
          </a:p>
        </p:txBody>
      </p:sp>
      <p:sp>
        <p:nvSpPr>
          <p:cNvPr id="6" name="kaart"/>
          <p:cNvSpPr/>
          <p:nvPr/>
        </p:nvSpPr>
        <p:spPr>
          <a:xfrm>
            <a:off x="8046720" y="1325880"/>
            <a:ext cx="3566160" cy="1051560"/>
          </a:xfrm>
          <a:prstGeom prst="roundRect">
            <a:avLst>
              <a:gd name="adj" fmla="val 10435"/>
            </a:avLst>
          </a:prstGeom>
          <a:solidFill>
            <a:schemeClr val="bg2"/>
          </a:solidFill>
          <a:ln w="12700">
            <a:solidFill>
              <a:schemeClr val="bg2"/>
            </a:solidFill>
            <a:prstDash val="solid"/>
          </a:ln>
        </p:spPr>
      </p:sp>
      <p:sp>
        <p:nvSpPr>
          <p:cNvPr id="7" name="Text 5"/>
          <p:cNvSpPr txBox="1"/>
          <p:nvPr/>
        </p:nvSpPr>
        <p:spPr>
          <a:xfrm>
            <a:off x="8183880" y="1417320"/>
            <a:ext cx="3337560" cy="274320"/>
          </a:xfrm>
          <a:prstGeom prst="rect">
            <a:avLst/>
          </a:prstGeom>
          <a:noFill/>
          <a:ln/>
        </p:spPr>
        <p:txBody>
          <a:bodyPr wrap="square" lIns="0" tIns="0" rIns="0" bIns="0" rtlCol="0" anchor="t"/>
          <a:lstStyle/>
          <a:p>
            <a:pPr indent="0" marL="0">
              <a:buNone/>
            </a:pPr>
            <a:r>
              <a:rPr lang="en-US" sz="1200" b="1" dirty="0">
                <a:solidFill>
                  <a:schemeClr val="accent2"/>
                </a:solidFill>
                <a:latin typeface="Consolas" pitchFamily="34" charset="0"/>
                <a:ea typeface="Consolas" pitchFamily="34" charset="-122"/>
                <a:cs typeface="Consolas" pitchFamily="34" charset="-120"/>
              </a:rPr>
              <a:t>in_jaar=HUIDIG_JAAR</a:t>
            </a:r>
            <a:endParaRPr lang="en-US" sz="1200" dirty="0"/>
          </a:p>
        </p:txBody>
      </p:sp>
      <p:sp>
        <p:nvSpPr>
          <p:cNvPr id="8" name="Text 6"/>
          <p:cNvSpPr txBox="1"/>
          <p:nvPr/>
        </p:nvSpPr>
        <p:spPr>
          <a:xfrm>
            <a:off x="8183880" y="1709928"/>
            <a:ext cx="3337560" cy="621792"/>
          </a:xfrm>
          <a:prstGeom prst="rect">
            <a:avLst/>
          </a:prstGeom>
          <a:noFill/>
          <a:ln/>
        </p:spPr>
        <p:txBody>
          <a:bodyPr wrap="square" lIns="0" tIns="0" rIns="0" bIns="0" rtlCol="0" anchor="t"/>
          <a:lstStyle/>
          <a:p>
            <a:pPr indent="0" marL="0">
              <a:buNone/>
            </a:pPr>
            <a:r>
              <a:rPr lang="en-US" sz="1250" dirty="0">
                <a:solidFill>
                  <a:schemeClr val="tx1"/>
                </a:solidFill>
              </a:rPr>
              <a:t>Een standaardwaarde: in een test kun je een ander jaar meegeven.</a:t>
            </a:r>
            <a:endParaRPr lang="en-US" sz="1250" dirty="0"/>
          </a:p>
        </p:txBody>
      </p:sp>
      <p:sp>
        <p:nvSpPr>
          <p:cNvPr id="9" name="kaart"/>
          <p:cNvSpPr/>
          <p:nvPr/>
        </p:nvSpPr>
        <p:spPr>
          <a:xfrm>
            <a:off x="8046720" y="2514600"/>
            <a:ext cx="3566160" cy="1051560"/>
          </a:xfrm>
          <a:prstGeom prst="roundRect">
            <a:avLst>
              <a:gd name="adj" fmla="val 10435"/>
            </a:avLst>
          </a:prstGeom>
          <a:solidFill>
            <a:schemeClr val="bg2"/>
          </a:solidFill>
          <a:ln w="12700">
            <a:solidFill>
              <a:schemeClr val="bg2"/>
            </a:solidFill>
            <a:prstDash val="solid"/>
          </a:ln>
        </p:spPr>
      </p:sp>
      <p:sp>
        <p:nvSpPr>
          <p:cNvPr id="10" name="Text 8"/>
          <p:cNvSpPr txBox="1"/>
          <p:nvPr/>
        </p:nvSpPr>
        <p:spPr>
          <a:xfrm>
            <a:off x="8183880" y="2606040"/>
            <a:ext cx="3337560" cy="274320"/>
          </a:xfrm>
          <a:prstGeom prst="rect">
            <a:avLst/>
          </a:prstGeom>
          <a:noFill/>
          <a:ln/>
        </p:spPr>
        <p:txBody>
          <a:bodyPr wrap="square" lIns="0" tIns="0" rIns="0" bIns="0" rtlCol="0" anchor="t"/>
          <a:lstStyle/>
          <a:p>
            <a:pPr indent="0" marL="0">
              <a:buNone/>
            </a:pPr>
            <a:r>
              <a:rPr lang="en-US" sz="1200" b="1" dirty="0">
                <a:solidFill>
                  <a:schemeClr val="accent2"/>
                </a:solidFill>
                <a:latin typeface="Consolas" pitchFamily="34" charset="0"/>
                <a:ea typeface="Consolas" pitchFamily="34" charset="-122"/>
                <a:cs typeface="Consolas" pitchFamily="34" charset="-120"/>
              </a:rPr>
              <a:t>lidgeld_centen(...)</a:t>
            </a:r>
            <a:endParaRPr lang="en-US" sz="1200" dirty="0"/>
          </a:p>
        </p:txBody>
      </p:sp>
      <p:sp>
        <p:nvSpPr>
          <p:cNvPr id="11" name="Text 9"/>
          <p:cNvSpPr txBox="1"/>
          <p:nvPr/>
        </p:nvSpPr>
        <p:spPr>
          <a:xfrm>
            <a:off x="8183880" y="2898648"/>
            <a:ext cx="3337560" cy="621792"/>
          </a:xfrm>
          <a:prstGeom prst="rect">
            <a:avLst/>
          </a:prstGeom>
          <a:noFill/>
          <a:ln/>
        </p:spPr>
        <p:txBody>
          <a:bodyPr wrap="square" lIns="0" tIns="0" rIns="0" bIns="0" rtlCol="0" anchor="t"/>
          <a:lstStyle/>
          <a:p>
            <a:pPr indent="0" marL="0">
              <a:buNone/>
            </a:pPr>
            <a:r>
              <a:rPr lang="en-US" sz="1250" dirty="0">
                <a:solidFill>
                  <a:schemeClr val="tx1"/>
                </a:solidFill>
              </a:rPr>
              <a:t>Staat pas verderop in het bestand. Dat werkt: de methode loopt pas als alles gelezen is.</a:t>
            </a:r>
            <a:endParaRPr lang="en-US" sz="1250" dirty="0"/>
          </a:p>
        </p:txBody>
      </p:sp>
      <p:sp>
        <p:nvSpPr>
          <p:cNvPr id="12" name="kaart"/>
          <p:cNvSpPr/>
          <p:nvPr/>
        </p:nvSpPr>
        <p:spPr>
          <a:xfrm>
            <a:off x="8046720" y="3703320"/>
            <a:ext cx="3566160" cy="1051560"/>
          </a:xfrm>
          <a:prstGeom prst="roundRect">
            <a:avLst>
              <a:gd name="adj" fmla="val 10435"/>
            </a:avLst>
          </a:prstGeom>
          <a:solidFill>
            <a:schemeClr val="bg2"/>
          </a:solidFill>
          <a:ln w="12700">
            <a:solidFill>
              <a:schemeClr val="bg2"/>
            </a:solidFill>
            <a:prstDash val="solid"/>
          </a:ln>
        </p:spPr>
      </p:sp>
      <p:sp>
        <p:nvSpPr>
          <p:cNvPr id="13" name="Text 11"/>
          <p:cNvSpPr txBox="1"/>
          <p:nvPr/>
        </p:nvSpPr>
        <p:spPr>
          <a:xfrm>
            <a:off x="8183880" y="3794760"/>
            <a:ext cx="3337560" cy="274320"/>
          </a:xfrm>
          <a:prstGeom prst="rect">
            <a:avLst/>
          </a:prstGeom>
          <a:noFill/>
          <a:ln/>
        </p:spPr>
        <p:txBody>
          <a:bodyPr wrap="square" lIns="0" tIns="0" rIns="0" bIns="0" rtlCol="0" anchor="t"/>
          <a:lstStyle/>
          <a:p>
            <a:pPr indent="0" marL="0">
              <a:buNone/>
            </a:pPr>
            <a:r>
              <a:rPr lang="en-US" sz="1200" b="1" dirty="0">
                <a:solidFill>
                  <a:schemeClr val="accent2"/>
                </a:solidFill>
                <a:latin typeface="Consolas" pitchFamily="34" charset="0"/>
                <a:ea typeface="Consolas" pitchFamily="34" charset="-122"/>
                <a:cs typeface="Consolas" pitchFamily="34" charset="-120"/>
              </a:rPr>
              <a:t>centen // 100</a:t>
            </a:r>
            <a:endParaRPr lang="en-US" sz="1200" dirty="0"/>
          </a:p>
        </p:txBody>
      </p:sp>
      <p:sp>
        <p:nvSpPr>
          <p:cNvPr id="14" name="Text 12"/>
          <p:cNvSpPr txBox="1"/>
          <p:nvPr/>
        </p:nvSpPr>
        <p:spPr>
          <a:xfrm>
            <a:off x="8183880" y="4087368"/>
            <a:ext cx="3337560" cy="621792"/>
          </a:xfrm>
          <a:prstGeom prst="rect">
            <a:avLst/>
          </a:prstGeom>
          <a:noFill/>
          <a:ln/>
        </p:spPr>
        <p:txBody>
          <a:bodyPr wrap="square" lIns="0" tIns="0" rIns="0" bIns="0" rtlCol="0" anchor="t"/>
          <a:lstStyle/>
          <a:p>
            <a:pPr indent="0" marL="0">
              <a:buNone/>
            </a:pPr>
            <a:r>
              <a:rPr lang="en-US" sz="1250" dirty="0">
                <a:solidFill>
                  <a:schemeClr val="tx1"/>
                </a:solidFill>
              </a:rPr>
              <a:t>Gehele deling: de hele euro's. 7500 // 100 is 75.</a:t>
            </a:r>
            <a:endParaRPr lang="en-US" sz="1250" dirty="0"/>
          </a:p>
        </p:txBody>
      </p:sp>
      <p:sp>
        <p:nvSpPr>
          <p:cNvPr id="15" name="kaart"/>
          <p:cNvSpPr/>
          <p:nvPr/>
        </p:nvSpPr>
        <p:spPr>
          <a:xfrm>
            <a:off x="8046720" y="4892040"/>
            <a:ext cx="3566160" cy="1051560"/>
          </a:xfrm>
          <a:prstGeom prst="roundRect">
            <a:avLst>
              <a:gd name="adj" fmla="val 10435"/>
            </a:avLst>
          </a:prstGeom>
          <a:solidFill>
            <a:schemeClr val="bg2"/>
          </a:solidFill>
          <a:ln w="12700">
            <a:solidFill>
              <a:schemeClr val="bg2"/>
            </a:solidFill>
            <a:prstDash val="solid"/>
          </a:ln>
        </p:spPr>
      </p:sp>
      <p:sp>
        <p:nvSpPr>
          <p:cNvPr id="16" name="Text 14"/>
          <p:cNvSpPr txBox="1"/>
          <p:nvPr/>
        </p:nvSpPr>
        <p:spPr>
          <a:xfrm>
            <a:off x="8183880" y="4983480"/>
            <a:ext cx="3337560" cy="274320"/>
          </a:xfrm>
          <a:prstGeom prst="rect">
            <a:avLst/>
          </a:prstGeom>
          <a:noFill/>
          <a:ln/>
        </p:spPr>
        <p:txBody>
          <a:bodyPr wrap="square" lIns="0" tIns="0" rIns="0" bIns="0" rtlCol="0" anchor="t"/>
          <a:lstStyle/>
          <a:p>
            <a:pPr indent="0" marL="0">
              <a:buNone/>
            </a:pPr>
            <a:r>
              <a:rPr lang="en-US" sz="1200" b="1" dirty="0">
                <a:solidFill>
                  <a:schemeClr val="accent2"/>
                </a:solidFill>
                <a:latin typeface="Consolas" pitchFamily="34" charset="0"/>
                <a:ea typeface="Consolas" pitchFamily="34" charset="-122"/>
                <a:cs typeface="Consolas" pitchFamily="34" charset="-120"/>
              </a:rPr>
              <a:t>centen % 100:02d</a:t>
            </a:r>
            <a:endParaRPr lang="en-US" sz="1200" dirty="0"/>
          </a:p>
        </p:txBody>
      </p:sp>
      <p:sp>
        <p:nvSpPr>
          <p:cNvPr id="17" name="Text 15"/>
          <p:cNvSpPr txBox="1"/>
          <p:nvPr/>
        </p:nvSpPr>
        <p:spPr>
          <a:xfrm>
            <a:off x="8183880" y="5276088"/>
            <a:ext cx="3337560" cy="621792"/>
          </a:xfrm>
          <a:prstGeom prst="rect">
            <a:avLst/>
          </a:prstGeom>
          <a:noFill/>
          <a:ln/>
        </p:spPr>
        <p:txBody>
          <a:bodyPr wrap="square" lIns="0" tIns="0" rIns="0" bIns="0" rtlCol="0" anchor="t"/>
          <a:lstStyle/>
          <a:p>
            <a:pPr indent="0" marL="0">
              <a:buNone/>
            </a:pPr>
            <a:r>
              <a:rPr lang="en-US" sz="1250" dirty="0">
                <a:solidFill>
                  <a:schemeClr val="tx1"/>
                </a:solidFill>
              </a:rPr>
              <a:t>De rest, in minstens twee cijfers: 5 wordt 05.</a:t>
            </a:r>
            <a:endParaRPr lang="en-US" sz="125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De kern (3): de rekenregel lidgeld_centen</a:t>
            </a:r>
            <a:endParaRPr lang="en-US" sz="3400" dirty="0"/>
          </a:p>
        </p:txBody>
      </p:sp>
      <p:sp>
        <p:nvSpPr>
          <p:cNvPr id="3" name="codevak"/>
          <p:cNvSpPr/>
          <p:nvPr/>
        </p:nvSpPr>
        <p:spPr>
          <a:xfrm>
            <a:off x="548640" y="1325880"/>
            <a:ext cx="7315200" cy="4709160"/>
          </a:xfrm>
          <a:prstGeom prst="roundRect">
            <a:avLst>
              <a:gd name="adj" fmla="val 1942"/>
            </a:avLst>
          </a:prstGeom>
          <a:solidFill>
            <a:srgbClr val="161A33"/>
          </a:solidFill>
          <a:ln w="12700">
            <a:solidFill>
              <a:srgbClr val="161A33"/>
            </a:solidFill>
            <a:prstDash val="solid"/>
          </a:ln>
        </p:spPr>
      </p:sp>
      <p:sp>
        <p:nvSpPr>
          <p:cNvPr id="4" name="Text 2"/>
          <p:cNvSpPr txBox="1"/>
          <p:nvPr/>
        </p:nvSpPr>
        <p:spPr>
          <a:xfrm>
            <a:off x="777240" y="1435608"/>
            <a:ext cx="68580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PYTHON · UITWERKING-A.PY</a:t>
            </a:r>
            <a:endParaRPr lang="en-US" sz="1100" dirty="0"/>
          </a:p>
        </p:txBody>
      </p:sp>
      <p:sp>
        <p:nvSpPr>
          <p:cNvPr id="5" name="code"/>
          <p:cNvSpPr txBox="1"/>
          <p:nvPr/>
        </p:nvSpPr>
        <p:spPr>
          <a:xfrm>
            <a:off x="777240" y="1783080"/>
            <a:ext cx="6858000" cy="4114800"/>
          </a:xfrm>
          <a:prstGeom prst="rect">
            <a:avLst/>
          </a:prstGeom>
          <a:noFill/>
          <a:ln/>
        </p:spPr>
        <p:txBody>
          <a:bodyPr wrap="square" lIns="0" tIns="0" rIns="0" bIns="0" rtlCol="0" anchor="t"/>
          <a:lstStyle/>
          <a:p>
            <a:pPr indent="0" marL="0">
              <a:buNone/>
            </a:pPr>
            <a:r>
              <a:rPr lang="en-US" sz="1000" dirty="0">
                <a:solidFill>
                  <a:srgbClr val="E8ECF8"/>
                </a:solidFill>
                <a:latin typeface="Consolas" pitchFamily="34" charset="0"/>
                <a:ea typeface="Consolas" pitchFamily="34" charset="-122"/>
                <a:cs typeface="Consolas" pitchFamily="34" charset="-120"/>
              </a:rPr>
              <a:t>def lidgeld_centen(geboortejaar, rang_in_gezin=1, in_jaar=HUIDIG_JAAR):</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"""Het lidgeld in hele centen.</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Preconditie : 1900 &lt;= geboortejaar &lt;= in_jaar, rang_in_gezin &gt;= 1.</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Postconditie: 0 &lt;= resultaat &lt;= BASISTARIEF_CENTEN.</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8A93B8"/>
                </a:solidFill>
                <a:latin typeface="Consolas" pitchFamily="34" charset="0"/>
                <a:ea typeface="Consolas" pitchFamily="34" charset="-122"/>
                <a:cs typeface="Consolas" pitchFamily="34" charset="-120"/>
              </a:rPr>
              <a:t>    # precondities nagaan; True is ook een int, dus bool apart uitsluiten</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if not isinstance(geboortejaar, int) or isinstance(geboortejaar, bool):</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raise TypeError("geboortejaar moet een geheel getal zijn")</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if not 1900 &lt;= geboortejaar &lt;= in_jaar:</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raise ValueError(f"geboortejaar {geboortejaar} is onmogelijk")</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if rang_in_gezin &lt; 1:</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raise ValueError("de rang in het gezin begint bij 1")</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8A93B8"/>
                </a:solidFill>
                <a:latin typeface="Consolas" pitchFamily="34" charset="0"/>
                <a:ea typeface="Consolas" pitchFamily="34" charset="-122"/>
                <a:cs typeface="Consolas" pitchFamily="34" charset="-120"/>
              </a:rPr>
              <a:t>    # "&lt;=" omdat de regel "tot en met 17" zegt</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leeftijd = in_jaar - geboortejaar</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bedrag = (JEUGDTARIEF_CENTEN if leeftijd &lt;= JEUGD_TOT_EN_MET</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else BASISTARIEF_CENTEN)</a:t>
            </a:r>
            <a:endParaRPr lang="en-US" sz="1000" dirty="0"/>
          </a:p>
          <a:p>
            <a:pPr indent="0" marL="0">
              <a:buNone/>
            </a:pPr>
            <a:r>
              <a:rPr lang="en-US" sz="1000" dirty="0">
                <a:solidFill>
                  <a:srgbClr val="8A93B8"/>
                </a:solidFill>
                <a:latin typeface="Consolas" pitchFamily="34" charset="0"/>
                <a:ea typeface="Consolas" pitchFamily="34" charset="-122"/>
                <a:cs typeface="Consolas" pitchFamily="34" charset="-120"/>
              </a:rPr>
              <a:t>    # vaste korting vanaf het tweede gezinslid, niet per rang</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if rang_in_gezin &gt;= 2:</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bedrag -= GEZINSKORTING_CENTEN</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bedrag = max(0, bedrag)</a:t>
            </a:r>
            <a:endParaRPr lang="en-US" sz="1000" dirty="0"/>
          </a:p>
          <a:p>
            <a:pPr indent="0" marL="0">
              <a:buNone/>
            </a:pPr>
            <a:r>
              <a:rPr lang="en-US" sz="1000" dirty="0">
                <a:solidFill>
                  <a:srgbClr val="8A93B8"/>
                </a:solidFill>
                <a:latin typeface="Consolas" pitchFamily="34" charset="0"/>
                <a:ea typeface="Consolas" pitchFamily="34" charset="-122"/>
                <a:cs typeface="Consolas" pitchFamily="34" charset="-120"/>
              </a:rPr>
              <a:t>    # postconditie: de functie controleert haar eigen belofte</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assert 0 &lt;= bedrag &lt;= BASISTARIEF_CENTEN</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return bedrag</a:t>
            </a:r>
            <a:endParaRPr lang="en-US" sz="1000" dirty="0"/>
          </a:p>
        </p:txBody>
      </p:sp>
      <p:sp>
        <p:nvSpPr>
          <p:cNvPr id="6" name="kaart"/>
          <p:cNvSpPr/>
          <p:nvPr/>
        </p:nvSpPr>
        <p:spPr>
          <a:xfrm>
            <a:off x="8138160" y="1325880"/>
            <a:ext cx="3474720" cy="1051560"/>
          </a:xfrm>
          <a:prstGeom prst="roundRect">
            <a:avLst>
              <a:gd name="adj" fmla="val 10435"/>
            </a:avLst>
          </a:prstGeom>
          <a:solidFill>
            <a:schemeClr val="bg2"/>
          </a:solidFill>
          <a:ln w="12700">
            <a:solidFill>
              <a:schemeClr val="bg2"/>
            </a:solidFill>
            <a:prstDash val="solid"/>
          </a:ln>
        </p:spPr>
      </p:sp>
      <p:sp>
        <p:nvSpPr>
          <p:cNvPr id="7" name="streep"/>
          <p:cNvSpPr/>
          <p:nvPr/>
        </p:nvSpPr>
        <p:spPr>
          <a:xfrm>
            <a:off x="8138160" y="1325880"/>
            <a:ext cx="91440" cy="1051560"/>
          </a:xfrm>
          <a:prstGeom prst="rect">
            <a:avLst/>
          </a:prstGeom>
          <a:solidFill>
            <a:schemeClr val="accent5"/>
          </a:solidFill>
          <a:ln w="12700">
            <a:solidFill>
              <a:schemeClr val="accent5"/>
            </a:solidFill>
            <a:prstDash val="solid"/>
          </a:ln>
        </p:spPr>
      </p:sp>
      <p:sp>
        <p:nvSpPr>
          <p:cNvPr id="8" name="Text 6"/>
          <p:cNvSpPr txBox="1"/>
          <p:nvPr/>
        </p:nvSpPr>
        <p:spPr>
          <a:xfrm>
            <a:off x="8366760" y="1417320"/>
            <a:ext cx="3154680" cy="292608"/>
          </a:xfrm>
          <a:prstGeom prst="rect">
            <a:avLst/>
          </a:prstGeom>
          <a:noFill/>
          <a:ln/>
        </p:spPr>
        <p:txBody>
          <a:bodyPr wrap="square" lIns="0" tIns="0" rIns="0" bIns="0" rtlCol="0" anchor="t"/>
          <a:lstStyle/>
          <a:p>
            <a:pPr indent="0" marL="0">
              <a:buNone/>
            </a:pPr>
            <a:r>
              <a:rPr lang="en-US" sz="1400" b="1" dirty="0">
                <a:solidFill>
                  <a:schemeClr val="tx1"/>
                </a:solidFill>
              </a:rPr>
              <a:t>Contract in de docstring</a:t>
            </a:r>
            <a:endParaRPr lang="en-US" sz="1400" dirty="0"/>
          </a:p>
        </p:txBody>
      </p:sp>
      <p:sp>
        <p:nvSpPr>
          <p:cNvPr id="9" name="Text 7"/>
          <p:cNvSpPr txBox="1"/>
          <p:nvPr/>
        </p:nvSpPr>
        <p:spPr>
          <a:xfrm>
            <a:off x="8366760" y="1728216"/>
            <a:ext cx="3154680" cy="603504"/>
          </a:xfrm>
          <a:prstGeom prst="rect">
            <a:avLst/>
          </a:prstGeom>
          <a:noFill/>
          <a:ln/>
        </p:spPr>
        <p:txBody>
          <a:bodyPr wrap="square" lIns="0" tIns="0" rIns="0" bIns="0" rtlCol="0" anchor="t"/>
          <a:lstStyle/>
          <a:p>
            <a:pPr indent="0" marL="0">
              <a:buNone/>
            </a:pPr>
            <a:r>
              <a:rPr lang="en-US" sz="1200" dirty="0">
                <a:solidFill>
                  <a:schemeClr val="tx2"/>
                </a:solidFill>
              </a:rPr>
              <a:t>Pre- en postconditie uit 29.8, letterlijk boven de code.</a:t>
            </a:r>
            <a:endParaRPr lang="en-US" sz="1200" dirty="0"/>
          </a:p>
        </p:txBody>
      </p:sp>
      <p:sp>
        <p:nvSpPr>
          <p:cNvPr id="10" name="kaart"/>
          <p:cNvSpPr/>
          <p:nvPr/>
        </p:nvSpPr>
        <p:spPr>
          <a:xfrm>
            <a:off x="8138160" y="2514600"/>
            <a:ext cx="3474720" cy="1051560"/>
          </a:xfrm>
          <a:prstGeom prst="roundRect">
            <a:avLst>
              <a:gd name="adj" fmla="val 10435"/>
            </a:avLst>
          </a:prstGeom>
          <a:solidFill>
            <a:schemeClr val="bg2"/>
          </a:solidFill>
          <a:ln w="12700">
            <a:solidFill>
              <a:schemeClr val="bg2"/>
            </a:solidFill>
            <a:prstDash val="solid"/>
          </a:ln>
        </p:spPr>
      </p:sp>
      <p:sp>
        <p:nvSpPr>
          <p:cNvPr id="11" name="streep"/>
          <p:cNvSpPr/>
          <p:nvPr/>
        </p:nvSpPr>
        <p:spPr>
          <a:xfrm>
            <a:off x="8138160" y="2514600"/>
            <a:ext cx="91440" cy="1051560"/>
          </a:xfrm>
          <a:prstGeom prst="rect">
            <a:avLst/>
          </a:prstGeom>
          <a:solidFill>
            <a:schemeClr val="accent3"/>
          </a:solidFill>
          <a:ln w="12700">
            <a:solidFill>
              <a:schemeClr val="accent3"/>
            </a:solidFill>
            <a:prstDash val="solid"/>
          </a:ln>
        </p:spPr>
      </p:sp>
      <p:sp>
        <p:nvSpPr>
          <p:cNvPr id="12" name="Text 10"/>
          <p:cNvSpPr txBox="1"/>
          <p:nvPr/>
        </p:nvSpPr>
        <p:spPr>
          <a:xfrm>
            <a:off x="8366760" y="2606040"/>
            <a:ext cx="3154680" cy="292608"/>
          </a:xfrm>
          <a:prstGeom prst="rect">
            <a:avLst/>
          </a:prstGeom>
          <a:noFill/>
          <a:ln/>
        </p:spPr>
        <p:txBody>
          <a:bodyPr wrap="square" lIns="0" tIns="0" rIns="0" bIns="0" rtlCol="0" anchor="t"/>
          <a:lstStyle/>
          <a:p>
            <a:pPr indent="0" marL="0">
              <a:buNone/>
            </a:pPr>
            <a:r>
              <a:rPr lang="en-US" sz="1400" b="1" dirty="0">
                <a:solidFill>
                  <a:schemeClr val="tx1"/>
                </a:solidFill>
              </a:rPr>
              <a:t>Eerst de precondities</a:t>
            </a:r>
            <a:endParaRPr lang="en-US" sz="1400" dirty="0"/>
          </a:p>
        </p:txBody>
      </p:sp>
      <p:sp>
        <p:nvSpPr>
          <p:cNvPr id="13" name="Text 11"/>
          <p:cNvSpPr txBox="1"/>
          <p:nvPr/>
        </p:nvSpPr>
        <p:spPr>
          <a:xfrm>
            <a:off x="8366760" y="2916936"/>
            <a:ext cx="3154680" cy="603504"/>
          </a:xfrm>
          <a:prstGeom prst="rect">
            <a:avLst/>
          </a:prstGeom>
          <a:noFill/>
          <a:ln/>
        </p:spPr>
        <p:txBody>
          <a:bodyPr wrap="square" lIns="0" tIns="0" rIns="0" bIns="0" rtlCol="0" anchor="t"/>
          <a:lstStyle/>
          <a:p>
            <a:pPr indent="0" marL="0">
              <a:buNone/>
            </a:pPr>
            <a:r>
              <a:rPr lang="en-US" sz="1200" dirty="0">
                <a:solidFill>
                  <a:schemeClr val="tx2"/>
                </a:solidFill>
              </a:rPr>
              <a:t>Klopt de invoer niet, dan een fout opgooien in plaats van een verkeerd bedrag.</a:t>
            </a:r>
            <a:endParaRPr lang="en-US" sz="1200" dirty="0"/>
          </a:p>
        </p:txBody>
      </p:sp>
      <p:sp>
        <p:nvSpPr>
          <p:cNvPr id="14" name="kaart"/>
          <p:cNvSpPr/>
          <p:nvPr/>
        </p:nvSpPr>
        <p:spPr>
          <a:xfrm>
            <a:off x="8138160" y="3703320"/>
            <a:ext cx="3474720" cy="1051560"/>
          </a:xfrm>
          <a:prstGeom prst="roundRect">
            <a:avLst>
              <a:gd name="adj" fmla="val 10435"/>
            </a:avLst>
          </a:prstGeom>
          <a:solidFill>
            <a:schemeClr val="bg2"/>
          </a:solidFill>
          <a:ln w="12700">
            <a:solidFill>
              <a:schemeClr val="bg2"/>
            </a:solidFill>
            <a:prstDash val="solid"/>
          </a:ln>
        </p:spPr>
      </p:sp>
      <p:sp>
        <p:nvSpPr>
          <p:cNvPr id="15" name="streep"/>
          <p:cNvSpPr/>
          <p:nvPr/>
        </p:nvSpPr>
        <p:spPr>
          <a:xfrm>
            <a:off x="8138160" y="3703320"/>
            <a:ext cx="91440" cy="1051560"/>
          </a:xfrm>
          <a:prstGeom prst="rect">
            <a:avLst/>
          </a:prstGeom>
          <a:solidFill>
            <a:schemeClr val="accent1"/>
          </a:solidFill>
          <a:ln w="12700">
            <a:solidFill>
              <a:schemeClr val="accent1"/>
            </a:solidFill>
            <a:prstDash val="solid"/>
          </a:ln>
        </p:spPr>
      </p:sp>
      <p:sp>
        <p:nvSpPr>
          <p:cNvPr id="16" name="Text 14"/>
          <p:cNvSpPr txBox="1"/>
          <p:nvPr/>
        </p:nvSpPr>
        <p:spPr>
          <a:xfrm>
            <a:off x="8366760" y="3794760"/>
            <a:ext cx="3154680" cy="292608"/>
          </a:xfrm>
          <a:prstGeom prst="rect">
            <a:avLst/>
          </a:prstGeom>
          <a:noFill/>
          <a:ln/>
        </p:spPr>
        <p:txBody>
          <a:bodyPr wrap="square" lIns="0" tIns="0" rIns="0" bIns="0" rtlCol="0" anchor="t"/>
          <a:lstStyle/>
          <a:p>
            <a:pPr indent="0" marL="0">
              <a:buNone/>
            </a:pPr>
            <a:r>
              <a:rPr lang="en-US" sz="1400" b="1" dirty="0">
                <a:solidFill>
                  <a:schemeClr val="tx1"/>
                </a:solidFill>
              </a:rPr>
              <a:t>Tot en met 17</a:t>
            </a:r>
            <a:endParaRPr lang="en-US" sz="1400" dirty="0"/>
          </a:p>
        </p:txBody>
      </p:sp>
      <p:sp>
        <p:nvSpPr>
          <p:cNvPr id="17" name="Text 15"/>
          <p:cNvSpPr txBox="1"/>
          <p:nvPr/>
        </p:nvSpPr>
        <p:spPr>
          <a:xfrm>
            <a:off x="8366760" y="4105656"/>
            <a:ext cx="3154680" cy="603504"/>
          </a:xfrm>
          <a:prstGeom prst="rect">
            <a:avLst/>
          </a:prstGeom>
          <a:noFill/>
          <a:ln/>
        </p:spPr>
        <p:txBody>
          <a:bodyPr wrap="square" lIns="0" tIns="0" rIns="0" bIns="0" rtlCol="0" anchor="t"/>
          <a:lstStyle/>
          <a:p>
            <a:pPr indent="0" marL="0">
              <a:buNone/>
            </a:pPr>
            <a:r>
              <a:rPr lang="en-US" sz="1200" dirty="0">
                <a:solidFill>
                  <a:schemeClr val="tx2"/>
                </a:solidFill>
              </a:rPr>
              <a:t>Daarom &lt;= en niet &lt;: 17 jaar is nog jeugd.</a:t>
            </a:r>
            <a:endParaRPr lang="en-US" sz="1200" dirty="0"/>
          </a:p>
        </p:txBody>
      </p:sp>
      <p:sp>
        <p:nvSpPr>
          <p:cNvPr id="18" name="kaart"/>
          <p:cNvSpPr/>
          <p:nvPr/>
        </p:nvSpPr>
        <p:spPr>
          <a:xfrm>
            <a:off x="8138160" y="4892040"/>
            <a:ext cx="3474720" cy="1051560"/>
          </a:xfrm>
          <a:prstGeom prst="roundRect">
            <a:avLst>
              <a:gd name="adj" fmla="val 10435"/>
            </a:avLst>
          </a:prstGeom>
          <a:solidFill>
            <a:schemeClr val="bg2"/>
          </a:solidFill>
          <a:ln w="12700">
            <a:solidFill>
              <a:schemeClr val="bg2"/>
            </a:solidFill>
            <a:prstDash val="solid"/>
          </a:ln>
        </p:spPr>
      </p:sp>
      <p:sp>
        <p:nvSpPr>
          <p:cNvPr id="19" name="streep"/>
          <p:cNvSpPr/>
          <p:nvPr/>
        </p:nvSpPr>
        <p:spPr>
          <a:xfrm>
            <a:off x="8138160" y="4892040"/>
            <a:ext cx="91440" cy="1051560"/>
          </a:xfrm>
          <a:prstGeom prst="rect">
            <a:avLst/>
          </a:prstGeom>
          <a:solidFill>
            <a:schemeClr val="accent2"/>
          </a:solidFill>
          <a:ln w="12700">
            <a:solidFill>
              <a:schemeClr val="accent2"/>
            </a:solidFill>
            <a:prstDash val="solid"/>
          </a:ln>
        </p:spPr>
      </p:sp>
      <p:sp>
        <p:nvSpPr>
          <p:cNvPr id="20" name="Text 18"/>
          <p:cNvSpPr txBox="1"/>
          <p:nvPr/>
        </p:nvSpPr>
        <p:spPr>
          <a:xfrm>
            <a:off x="8366760" y="4983480"/>
            <a:ext cx="3154680" cy="292608"/>
          </a:xfrm>
          <a:prstGeom prst="rect">
            <a:avLst/>
          </a:prstGeom>
          <a:noFill/>
          <a:ln/>
        </p:spPr>
        <p:txBody>
          <a:bodyPr wrap="square" lIns="0" tIns="0" rIns="0" bIns="0" rtlCol="0" anchor="t"/>
          <a:lstStyle/>
          <a:p>
            <a:pPr indent="0" marL="0">
              <a:buNone/>
            </a:pPr>
            <a:r>
              <a:rPr lang="en-US" sz="1400" b="1" dirty="0">
                <a:solidFill>
                  <a:schemeClr val="tx1"/>
                </a:solidFill>
              </a:rPr>
              <a:t>Nooit onder nul</a:t>
            </a:r>
            <a:endParaRPr lang="en-US" sz="1400" dirty="0"/>
          </a:p>
        </p:txBody>
      </p:sp>
      <p:sp>
        <p:nvSpPr>
          <p:cNvPr id="21" name="Text 19"/>
          <p:cNvSpPr txBox="1"/>
          <p:nvPr/>
        </p:nvSpPr>
        <p:spPr>
          <a:xfrm>
            <a:off x="8366760" y="5294376"/>
            <a:ext cx="3154680" cy="603504"/>
          </a:xfrm>
          <a:prstGeom prst="rect">
            <a:avLst/>
          </a:prstGeom>
          <a:noFill/>
          <a:ln/>
        </p:spPr>
        <p:txBody>
          <a:bodyPr wrap="square" lIns="0" tIns="0" rIns="0" bIns="0" rtlCol="0" anchor="t"/>
          <a:lstStyle/>
          <a:p>
            <a:pPr indent="0" marL="0">
              <a:buNone/>
            </a:pPr>
            <a:r>
              <a:rPr lang="en-US" sz="1200" dirty="0">
                <a:solidFill>
                  <a:schemeClr val="tx2"/>
                </a:solidFill>
              </a:rPr>
              <a:t>Kan nu niet, maar blijft gelden als iemand later de korting verandert.</a:t>
            </a:r>
            <a:endParaRPr lang="en-US" sz="1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De kern (4): vier proefleden en een overzicht</a:t>
            </a:r>
            <a:endParaRPr lang="en-US" sz="3400" dirty="0"/>
          </a:p>
        </p:txBody>
      </p:sp>
      <p:sp>
        <p:nvSpPr>
          <p:cNvPr id="3" name="codevak"/>
          <p:cNvSpPr/>
          <p:nvPr/>
        </p:nvSpPr>
        <p:spPr>
          <a:xfrm>
            <a:off x="548640" y="1325880"/>
            <a:ext cx="7589520" cy="4709160"/>
          </a:xfrm>
          <a:prstGeom prst="roundRect">
            <a:avLst>
              <a:gd name="adj" fmla="val 1942"/>
            </a:avLst>
          </a:prstGeom>
          <a:solidFill>
            <a:srgbClr val="161A33"/>
          </a:solidFill>
          <a:ln w="12700">
            <a:solidFill>
              <a:srgbClr val="161A33"/>
            </a:solidFill>
            <a:prstDash val="solid"/>
          </a:ln>
        </p:spPr>
      </p:sp>
      <p:sp>
        <p:nvSpPr>
          <p:cNvPr id="4" name="Text 2"/>
          <p:cNvSpPr txBox="1"/>
          <p:nvPr/>
        </p:nvSpPr>
        <p:spPr>
          <a:xfrm>
            <a:off x="777240" y="1435608"/>
            <a:ext cx="71323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PYTHON · UITWERKING-A.PY</a:t>
            </a:r>
            <a:endParaRPr lang="en-US" sz="1100" dirty="0"/>
          </a:p>
        </p:txBody>
      </p:sp>
      <p:sp>
        <p:nvSpPr>
          <p:cNvPr id="5" name="code"/>
          <p:cNvSpPr txBox="1"/>
          <p:nvPr/>
        </p:nvSpPr>
        <p:spPr>
          <a:xfrm>
            <a:off x="777240" y="1783080"/>
            <a:ext cx="7132320" cy="4114800"/>
          </a:xfrm>
          <a:prstGeom prst="rect">
            <a:avLst/>
          </a:prstGeom>
          <a:noFill/>
          <a:ln/>
        </p:spPr>
        <p:txBody>
          <a:bodyPr wrap="square" lIns="0" tIns="0" rIns="0" bIns="0" rtlCol="0" anchor="t"/>
          <a:lstStyle/>
          <a:p>
            <a:pPr indent="0" marL="0">
              <a:buNone/>
            </a:pPr>
            <a:r>
              <a:rPr lang="en-US" sz="1000" dirty="0">
                <a:solidFill>
                  <a:srgbClr val="8A93B8"/>
                </a:solidFill>
                <a:latin typeface="Consolas" pitchFamily="34" charset="0"/>
                <a:ea typeface="Consolas" pitchFamily="34" charset="-122"/>
                <a:cs typeface="Consolas" pitchFamily="34" charset="-120"/>
              </a:rPr>
              <a:t># vier proefleden, elk een ander geval</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LEDEN = [</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Lid(1, "Anke Peeters", 1990, groep_id=2),</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Lid(2, "Bram Janssens", 2012, groep_id=1, gezin_id=7, rang_in_gezin=1),</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Lid(3, "Cato Janssens", 2015, groep_id=1, gezin_id=7, rang_in_gezin=2),</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Lid(4, "Dirk Willems", 1978, groep_id=3),</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a:t>
            </a:r>
            <a:endParaRPr lang="en-US" sz="1000" dirty="0"/>
          </a:p>
          <a:p>
            <a:pPr indent="0" marL="0">
              <a:buNone/>
            </a:pPr>
            <a:r>
              <a:rPr lang="en-US" sz="1000" dirty="0">
                <a:solidFill>
                  <a:srgbClr val="8A93B8"/>
                </a:solidFill>
                <a:latin typeface="Consolas" pitchFamily="34" charset="0"/>
                <a:ea typeface="Consolas" pitchFamily="34" charset="-122"/>
                <a:cs typeface="Consolas" pitchFamily="34" charset="-120"/>
              </a:rPr>
              <a:t># betalingen: LEDEN[0] is het eerste lid</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LEDEN[0].betaald_centen = 12_000</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LEDEN[1].betaald_centen = 5_000</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8A93B8"/>
                </a:solidFill>
                <a:latin typeface="Consolas" pitchFamily="34" charset="0"/>
                <a:ea typeface="Consolas" pitchFamily="34" charset="-122"/>
                <a:cs typeface="Consolas" pitchFamily="34" charset="-120"/>
              </a:rPr>
              <a:t># :&lt;16 links uitlijnen over 16 tekens, :&gt;9 rechts over 9</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print(f"{'Lid':&lt;16}{'Leeftijd':&gt;9}{'Lidgeld':&gt;12}{'Openstaand':&gt;13}")</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print("-" * 50)</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for lid in LEDEN:</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print(f"{lid.naam:&lt;16}{lid.leeftijd():&gt;9}"</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f"{in_euro(lidgeld_centen(lid.geboortejaar, lid.rang_in_gezin)):&gt;12}"</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f"{in_euro(lid.openstaand_centen()):&gt;13}")</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8A93B8"/>
                </a:solidFill>
                <a:latin typeface="Consolas" pitchFamily="34" charset="0"/>
                <a:ea typeface="Consolas" pitchFamily="34" charset="-122"/>
                <a:cs typeface="Consolas" pitchFamily="34" charset="-120"/>
              </a:rPr>
              <a:t># filter met een list comprehension: wie moet nog betalen?</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wanbetalers = [lid for lid in LEDEN if lid.openstaand_centen() &gt; 0]</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print()</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print("Nog te betalen door:", ", ".join(lid.naam for lid in wanbetalers))</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print("Totaal openstaand  :",</a:t>
            </a:r>
            <a:endParaRPr lang="en-US" sz="1000" dirty="0"/>
          </a:p>
          <a:p>
            <a:pPr indent="0" marL="0">
              <a:buNone/>
            </a:pPr>
            <a:r>
              <a:rPr lang="en-US" sz="1000" dirty="0">
                <a:solidFill>
                  <a:srgbClr val="E8ECF8"/>
                </a:solidFill>
                <a:latin typeface="Consolas" pitchFamily="34" charset="0"/>
                <a:ea typeface="Consolas" pitchFamily="34" charset="-122"/>
                <a:cs typeface="Consolas" pitchFamily="34" charset="-120"/>
              </a:rPr>
              <a:t>      in_euro(sum(lid.openstaand_centen() for lid in LEDEN)))</a:t>
            </a:r>
            <a:endParaRPr lang="en-US" sz="1000" dirty="0"/>
          </a:p>
        </p:txBody>
      </p:sp>
      <p:sp>
        <p:nvSpPr>
          <p:cNvPr id="6" name="kaart"/>
          <p:cNvSpPr/>
          <p:nvPr/>
        </p:nvSpPr>
        <p:spPr>
          <a:xfrm>
            <a:off x="8412480" y="1325880"/>
            <a:ext cx="3200400" cy="804672"/>
          </a:xfrm>
          <a:prstGeom prst="roundRect">
            <a:avLst>
              <a:gd name="adj" fmla="val 13636"/>
            </a:avLst>
          </a:prstGeom>
          <a:solidFill>
            <a:schemeClr val="bg2"/>
          </a:solidFill>
          <a:ln w="12700">
            <a:solidFill>
              <a:schemeClr val="bg2"/>
            </a:solidFill>
            <a:prstDash val="solid"/>
          </a:ln>
        </p:spPr>
      </p:sp>
      <p:sp>
        <p:nvSpPr>
          <p:cNvPr id="7" name="nummercirkel"/>
          <p:cNvSpPr/>
          <p:nvPr/>
        </p:nvSpPr>
        <p:spPr>
          <a:xfrm>
            <a:off x="8549640" y="1481328"/>
            <a:ext cx="493776" cy="493776"/>
          </a:xfrm>
          <a:prstGeom prst="ellipse">
            <a:avLst/>
          </a:prstGeom>
          <a:solidFill>
            <a:schemeClr val="accent2"/>
          </a:solidFill>
          <a:ln w="12700">
            <a:solidFill>
              <a:schemeClr val="accent2"/>
            </a:solidFill>
            <a:prstDash val="solid"/>
          </a:ln>
        </p:spPr>
      </p:sp>
      <p:sp>
        <p:nvSpPr>
          <p:cNvPr id="8" name="Text 6"/>
          <p:cNvSpPr txBox="1"/>
          <p:nvPr/>
        </p:nvSpPr>
        <p:spPr>
          <a:xfrm>
            <a:off x="8549640" y="1481328"/>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A</a:t>
            </a:r>
            <a:endParaRPr lang="en-US" sz="1600" dirty="0"/>
          </a:p>
        </p:txBody>
      </p:sp>
      <p:sp>
        <p:nvSpPr>
          <p:cNvPr id="9" name="Text 7"/>
          <p:cNvSpPr txBox="1"/>
          <p:nvPr/>
        </p:nvSpPr>
        <p:spPr>
          <a:xfrm>
            <a:off x="9189720" y="1380744"/>
            <a:ext cx="2331720" cy="274320"/>
          </a:xfrm>
          <a:prstGeom prst="rect">
            <a:avLst/>
          </a:prstGeom>
          <a:noFill/>
          <a:ln/>
        </p:spPr>
        <p:txBody>
          <a:bodyPr wrap="square" lIns="0" tIns="0" rIns="0" bIns="0" rtlCol="0" anchor="t"/>
          <a:lstStyle/>
          <a:p>
            <a:pPr indent="0" marL="0">
              <a:buNone/>
            </a:pPr>
            <a:r>
              <a:rPr lang="en-US" sz="1400" b="1" dirty="0">
                <a:solidFill>
                  <a:schemeClr val="tx1"/>
                </a:solidFill>
              </a:rPr>
              <a:t>Anke</a:t>
            </a:r>
            <a:endParaRPr lang="en-US" sz="1400" dirty="0"/>
          </a:p>
        </p:txBody>
      </p:sp>
      <p:sp>
        <p:nvSpPr>
          <p:cNvPr id="10" name="Text 8"/>
          <p:cNvSpPr txBox="1"/>
          <p:nvPr/>
        </p:nvSpPr>
        <p:spPr>
          <a:xfrm>
            <a:off x="9189720" y="1655064"/>
            <a:ext cx="2331720" cy="457200"/>
          </a:xfrm>
          <a:prstGeom prst="rect">
            <a:avLst/>
          </a:prstGeom>
          <a:noFill/>
          <a:ln/>
        </p:spPr>
        <p:txBody>
          <a:bodyPr wrap="square" lIns="0" tIns="0" rIns="0" bIns="0" rtlCol="0" anchor="t"/>
          <a:lstStyle/>
          <a:p>
            <a:pPr indent="0" marL="0">
              <a:buNone/>
            </a:pPr>
            <a:r>
              <a:rPr lang="en-US" sz="1150" dirty="0">
                <a:solidFill>
                  <a:schemeClr val="tx2"/>
                </a:solidFill>
              </a:rPr>
              <a:t>volwassen, alles betaald</a:t>
            </a:r>
            <a:endParaRPr lang="en-US" sz="1150" dirty="0"/>
          </a:p>
        </p:txBody>
      </p:sp>
      <p:sp>
        <p:nvSpPr>
          <p:cNvPr id="11" name="kaart"/>
          <p:cNvSpPr/>
          <p:nvPr/>
        </p:nvSpPr>
        <p:spPr>
          <a:xfrm>
            <a:off x="8412480" y="2240280"/>
            <a:ext cx="3200400" cy="804672"/>
          </a:xfrm>
          <a:prstGeom prst="roundRect">
            <a:avLst>
              <a:gd name="adj" fmla="val 13636"/>
            </a:avLst>
          </a:prstGeom>
          <a:solidFill>
            <a:schemeClr val="bg2"/>
          </a:solidFill>
          <a:ln w="12700">
            <a:solidFill>
              <a:schemeClr val="bg2"/>
            </a:solidFill>
            <a:prstDash val="solid"/>
          </a:ln>
        </p:spPr>
      </p:sp>
      <p:sp>
        <p:nvSpPr>
          <p:cNvPr id="12" name="nummercirkel"/>
          <p:cNvSpPr/>
          <p:nvPr/>
        </p:nvSpPr>
        <p:spPr>
          <a:xfrm>
            <a:off x="8549640" y="2395728"/>
            <a:ext cx="493776" cy="493776"/>
          </a:xfrm>
          <a:prstGeom prst="ellipse">
            <a:avLst/>
          </a:prstGeom>
          <a:solidFill>
            <a:schemeClr val="accent1"/>
          </a:solidFill>
          <a:ln w="12700">
            <a:solidFill>
              <a:schemeClr val="accent1"/>
            </a:solidFill>
            <a:prstDash val="solid"/>
          </a:ln>
        </p:spPr>
      </p:sp>
      <p:sp>
        <p:nvSpPr>
          <p:cNvPr id="13" name="Text 11"/>
          <p:cNvSpPr txBox="1"/>
          <p:nvPr/>
        </p:nvSpPr>
        <p:spPr>
          <a:xfrm>
            <a:off x="8549640" y="2395728"/>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B</a:t>
            </a:r>
            <a:endParaRPr lang="en-US" sz="1600" dirty="0"/>
          </a:p>
        </p:txBody>
      </p:sp>
      <p:sp>
        <p:nvSpPr>
          <p:cNvPr id="14" name="Text 12"/>
          <p:cNvSpPr txBox="1"/>
          <p:nvPr/>
        </p:nvSpPr>
        <p:spPr>
          <a:xfrm>
            <a:off x="9189720" y="2295144"/>
            <a:ext cx="2331720" cy="274320"/>
          </a:xfrm>
          <a:prstGeom prst="rect">
            <a:avLst/>
          </a:prstGeom>
          <a:noFill/>
          <a:ln/>
        </p:spPr>
        <p:txBody>
          <a:bodyPr wrap="square" lIns="0" tIns="0" rIns="0" bIns="0" rtlCol="0" anchor="t"/>
          <a:lstStyle/>
          <a:p>
            <a:pPr indent="0" marL="0">
              <a:buNone/>
            </a:pPr>
            <a:r>
              <a:rPr lang="en-US" sz="1400" b="1" dirty="0">
                <a:solidFill>
                  <a:schemeClr val="tx1"/>
                </a:solidFill>
              </a:rPr>
              <a:t>Bram</a:t>
            </a:r>
            <a:endParaRPr lang="en-US" sz="1400" dirty="0"/>
          </a:p>
        </p:txBody>
      </p:sp>
      <p:sp>
        <p:nvSpPr>
          <p:cNvPr id="15" name="Text 13"/>
          <p:cNvSpPr txBox="1"/>
          <p:nvPr/>
        </p:nvSpPr>
        <p:spPr>
          <a:xfrm>
            <a:off x="9189720" y="2569464"/>
            <a:ext cx="2331720" cy="457200"/>
          </a:xfrm>
          <a:prstGeom prst="rect">
            <a:avLst/>
          </a:prstGeom>
          <a:noFill/>
          <a:ln/>
        </p:spPr>
        <p:txBody>
          <a:bodyPr wrap="square" lIns="0" tIns="0" rIns="0" bIns="0" rtlCol="0" anchor="t"/>
          <a:lstStyle/>
          <a:p>
            <a:pPr indent="0" marL="0">
              <a:buNone/>
            </a:pPr>
            <a:r>
              <a:rPr lang="en-US" sz="1150" dirty="0">
                <a:solidFill>
                  <a:schemeClr val="tx2"/>
                </a:solidFill>
              </a:rPr>
              <a:t>jeugd, eerste gezinslid, deels betaald</a:t>
            </a:r>
            <a:endParaRPr lang="en-US" sz="1150" dirty="0"/>
          </a:p>
        </p:txBody>
      </p:sp>
      <p:sp>
        <p:nvSpPr>
          <p:cNvPr id="16" name="kaart"/>
          <p:cNvSpPr/>
          <p:nvPr/>
        </p:nvSpPr>
        <p:spPr>
          <a:xfrm>
            <a:off x="8412480" y="3154680"/>
            <a:ext cx="3200400" cy="804672"/>
          </a:xfrm>
          <a:prstGeom prst="roundRect">
            <a:avLst>
              <a:gd name="adj" fmla="val 13636"/>
            </a:avLst>
          </a:prstGeom>
          <a:solidFill>
            <a:schemeClr val="bg2"/>
          </a:solidFill>
          <a:ln w="12700">
            <a:solidFill>
              <a:schemeClr val="bg2"/>
            </a:solidFill>
            <a:prstDash val="solid"/>
          </a:ln>
        </p:spPr>
      </p:sp>
      <p:sp>
        <p:nvSpPr>
          <p:cNvPr id="17" name="nummercirkel"/>
          <p:cNvSpPr/>
          <p:nvPr/>
        </p:nvSpPr>
        <p:spPr>
          <a:xfrm>
            <a:off x="8549640" y="3310128"/>
            <a:ext cx="493776" cy="493776"/>
          </a:xfrm>
          <a:prstGeom prst="ellipse">
            <a:avLst/>
          </a:prstGeom>
          <a:solidFill>
            <a:schemeClr val="accent3"/>
          </a:solidFill>
          <a:ln w="12700">
            <a:solidFill>
              <a:schemeClr val="accent3"/>
            </a:solidFill>
            <a:prstDash val="solid"/>
          </a:ln>
        </p:spPr>
      </p:sp>
      <p:sp>
        <p:nvSpPr>
          <p:cNvPr id="18" name="Text 16"/>
          <p:cNvSpPr txBox="1"/>
          <p:nvPr/>
        </p:nvSpPr>
        <p:spPr>
          <a:xfrm>
            <a:off x="8549640" y="3310128"/>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C</a:t>
            </a:r>
            <a:endParaRPr lang="en-US" sz="1600" dirty="0"/>
          </a:p>
        </p:txBody>
      </p:sp>
      <p:sp>
        <p:nvSpPr>
          <p:cNvPr id="19" name="Text 17"/>
          <p:cNvSpPr txBox="1"/>
          <p:nvPr/>
        </p:nvSpPr>
        <p:spPr>
          <a:xfrm>
            <a:off x="9189720" y="3209544"/>
            <a:ext cx="2331720" cy="274320"/>
          </a:xfrm>
          <a:prstGeom prst="rect">
            <a:avLst/>
          </a:prstGeom>
          <a:noFill/>
          <a:ln/>
        </p:spPr>
        <p:txBody>
          <a:bodyPr wrap="square" lIns="0" tIns="0" rIns="0" bIns="0" rtlCol="0" anchor="t"/>
          <a:lstStyle/>
          <a:p>
            <a:pPr indent="0" marL="0">
              <a:buNone/>
            </a:pPr>
            <a:r>
              <a:rPr lang="en-US" sz="1400" b="1" dirty="0">
                <a:solidFill>
                  <a:schemeClr val="tx1"/>
                </a:solidFill>
              </a:rPr>
              <a:t>Cato</a:t>
            </a:r>
            <a:endParaRPr lang="en-US" sz="1400" dirty="0"/>
          </a:p>
        </p:txBody>
      </p:sp>
      <p:sp>
        <p:nvSpPr>
          <p:cNvPr id="20" name="Text 18"/>
          <p:cNvSpPr txBox="1"/>
          <p:nvPr/>
        </p:nvSpPr>
        <p:spPr>
          <a:xfrm>
            <a:off x="9189720" y="3483864"/>
            <a:ext cx="2331720" cy="457200"/>
          </a:xfrm>
          <a:prstGeom prst="rect">
            <a:avLst/>
          </a:prstGeom>
          <a:noFill/>
          <a:ln/>
        </p:spPr>
        <p:txBody>
          <a:bodyPr wrap="square" lIns="0" tIns="0" rIns="0" bIns="0" rtlCol="0" anchor="t"/>
          <a:lstStyle/>
          <a:p>
            <a:pPr indent="0" marL="0">
              <a:buNone/>
            </a:pPr>
            <a:r>
              <a:rPr lang="en-US" sz="1150" dirty="0">
                <a:solidFill>
                  <a:schemeClr val="tx2"/>
                </a:solidFill>
              </a:rPr>
              <a:t>jeugd, tweede gezinslid: krijgt de gezinskorting</a:t>
            </a:r>
            <a:endParaRPr lang="en-US" sz="1150" dirty="0"/>
          </a:p>
        </p:txBody>
      </p:sp>
      <p:sp>
        <p:nvSpPr>
          <p:cNvPr id="21" name="kaart"/>
          <p:cNvSpPr/>
          <p:nvPr/>
        </p:nvSpPr>
        <p:spPr>
          <a:xfrm>
            <a:off x="8412480" y="4069080"/>
            <a:ext cx="3200400" cy="804672"/>
          </a:xfrm>
          <a:prstGeom prst="roundRect">
            <a:avLst>
              <a:gd name="adj" fmla="val 13636"/>
            </a:avLst>
          </a:prstGeom>
          <a:solidFill>
            <a:schemeClr val="bg2"/>
          </a:solidFill>
          <a:ln w="12700">
            <a:solidFill>
              <a:schemeClr val="bg2"/>
            </a:solidFill>
            <a:prstDash val="solid"/>
          </a:ln>
        </p:spPr>
      </p:sp>
      <p:sp>
        <p:nvSpPr>
          <p:cNvPr id="22" name="nummercirkel"/>
          <p:cNvSpPr/>
          <p:nvPr/>
        </p:nvSpPr>
        <p:spPr>
          <a:xfrm>
            <a:off x="8549640" y="4224528"/>
            <a:ext cx="493776" cy="493776"/>
          </a:xfrm>
          <a:prstGeom prst="ellipse">
            <a:avLst/>
          </a:prstGeom>
          <a:solidFill>
            <a:schemeClr val="accent5"/>
          </a:solidFill>
          <a:ln w="12700">
            <a:solidFill>
              <a:schemeClr val="accent5"/>
            </a:solidFill>
            <a:prstDash val="solid"/>
          </a:ln>
        </p:spPr>
      </p:sp>
      <p:sp>
        <p:nvSpPr>
          <p:cNvPr id="23" name="Text 21"/>
          <p:cNvSpPr txBox="1"/>
          <p:nvPr/>
        </p:nvSpPr>
        <p:spPr>
          <a:xfrm>
            <a:off x="8549640" y="4224528"/>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D</a:t>
            </a:r>
            <a:endParaRPr lang="en-US" sz="1600" dirty="0"/>
          </a:p>
        </p:txBody>
      </p:sp>
      <p:sp>
        <p:nvSpPr>
          <p:cNvPr id="24" name="Text 22"/>
          <p:cNvSpPr txBox="1"/>
          <p:nvPr/>
        </p:nvSpPr>
        <p:spPr>
          <a:xfrm>
            <a:off x="9189720" y="4123944"/>
            <a:ext cx="2331720" cy="274320"/>
          </a:xfrm>
          <a:prstGeom prst="rect">
            <a:avLst/>
          </a:prstGeom>
          <a:noFill/>
          <a:ln/>
        </p:spPr>
        <p:txBody>
          <a:bodyPr wrap="square" lIns="0" tIns="0" rIns="0" bIns="0" rtlCol="0" anchor="t"/>
          <a:lstStyle/>
          <a:p>
            <a:pPr indent="0" marL="0">
              <a:buNone/>
            </a:pPr>
            <a:r>
              <a:rPr lang="en-US" sz="1400" b="1" dirty="0">
                <a:solidFill>
                  <a:schemeClr val="tx1"/>
                </a:solidFill>
              </a:rPr>
              <a:t>Dirk</a:t>
            </a:r>
            <a:endParaRPr lang="en-US" sz="1400" dirty="0"/>
          </a:p>
        </p:txBody>
      </p:sp>
      <p:sp>
        <p:nvSpPr>
          <p:cNvPr id="25" name="Text 23"/>
          <p:cNvSpPr txBox="1"/>
          <p:nvPr/>
        </p:nvSpPr>
        <p:spPr>
          <a:xfrm>
            <a:off x="9189720" y="4398264"/>
            <a:ext cx="2331720" cy="457200"/>
          </a:xfrm>
          <a:prstGeom prst="rect">
            <a:avLst/>
          </a:prstGeom>
          <a:noFill/>
          <a:ln/>
        </p:spPr>
        <p:txBody>
          <a:bodyPr wrap="square" lIns="0" tIns="0" rIns="0" bIns="0" rtlCol="0" anchor="t"/>
          <a:lstStyle/>
          <a:p>
            <a:pPr indent="0" marL="0">
              <a:buNone/>
            </a:pPr>
            <a:r>
              <a:rPr lang="en-US" sz="1150" dirty="0">
                <a:solidFill>
                  <a:schemeClr val="tx2"/>
                </a:solidFill>
              </a:rPr>
              <a:t>volwassen, nog niets betaald</a:t>
            </a:r>
            <a:endParaRPr lang="en-US" sz="1150" dirty="0"/>
          </a:p>
        </p:txBody>
      </p:sp>
      <p:sp>
        <p:nvSpPr>
          <p:cNvPr id="26" name="Text 24"/>
          <p:cNvSpPr txBox="1"/>
          <p:nvPr/>
        </p:nvSpPr>
        <p:spPr>
          <a:xfrm>
            <a:off x="8412480" y="5029200"/>
            <a:ext cx="3200400" cy="960120"/>
          </a:xfrm>
          <a:prstGeom prst="rect">
            <a:avLst/>
          </a:prstGeom>
          <a:noFill/>
          <a:ln/>
        </p:spPr>
        <p:txBody>
          <a:bodyPr wrap="square" lIns="0" tIns="0" rIns="0" bIns="0" rtlCol="0" anchor="t"/>
          <a:lstStyle/>
          <a:p>
            <a:pPr indent="0" marL="0">
              <a:buNone/>
            </a:pPr>
            <a:r>
              <a:rPr lang="en-US" sz="1300" i="1" dirty="0">
                <a:solidFill>
                  <a:schemeClr val="tx2"/>
                </a:solidFill>
              </a:rPr>
              <a:t>Bram en Cato hebben hetzelfde gezin_id (7): zo weet het programma dat ze bij hetzelfde gezin horen.</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De kern werkt, zonder één keer iets te typen</a:t>
            </a:r>
            <a:endParaRPr lang="en-US" sz="3400" dirty="0"/>
          </a:p>
        </p:txBody>
      </p:sp>
      <p:sp>
        <p:nvSpPr>
          <p:cNvPr id="3" name="uitvoervak"/>
          <p:cNvSpPr/>
          <p:nvPr/>
        </p:nvSpPr>
        <p:spPr>
          <a:xfrm>
            <a:off x="548640" y="1325880"/>
            <a:ext cx="7223760" cy="3291840"/>
          </a:xfrm>
          <a:prstGeom prst="roundRect">
            <a:avLst>
              <a:gd name="adj" fmla="val 2778"/>
            </a:avLst>
          </a:prstGeom>
          <a:solidFill>
            <a:schemeClr val="bg2"/>
          </a:solidFill>
          <a:ln w="12700">
            <a:solidFill>
              <a:schemeClr val="bg2"/>
            </a:solidFill>
            <a:prstDash val="solid"/>
          </a:ln>
        </p:spPr>
      </p:sp>
      <p:sp>
        <p:nvSpPr>
          <p:cNvPr id="4" name="Text 2"/>
          <p:cNvSpPr txBox="1"/>
          <p:nvPr/>
        </p:nvSpPr>
        <p:spPr>
          <a:xfrm>
            <a:off x="777240" y="1435608"/>
            <a:ext cx="182880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UITVOER</a:t>
            </a:r>
            <a:endParaRPr lang="en-US" sz="1100" dirty="0"/>
          </a:p>
        </p:txBody>
      </p:sp>
      <p:sp>
        <p:nvSpPr>
          <p:cNvPr id="5" name="uitvoer"/>
          <p:cNvSpPr txBox="1"/>
          <p:nvPr/>
        </p:nvSpPr>
        <p:spPr>
          <a:xfrm>
            <a:off x="777240" y="1783080"/>
            <a:ext cx="6766560" cy="2697480"/>
          </a:xfrm>
          <a:prstGeom prst="rect">
            <a:avLst/>
          </a:prstGeom>
          <a:noFill/>
          <a:ln/>
        </p:spPr>
        <p:txBody>
          <a:bodyPr wrap="square" lIns="0" tIns="0" rIns="0" bIns="0" rtlCol="0" anchor="t"/>
          <a:lstStyle/>
          <a:p>
            <a:pPr indent="0" marL="0">
              <a:buNone/>
            </a:pPr>
            <a:r>
              <a:rPr lang="en-US" sz="1400" dirty="0">
                <a:solidFill>
                  <a:schemeClr val="tx1"/>
                </a:solidFill>
                <a:latin typeface="Consolas" pitchFamily="34" charset="0"/>
                <a:ea typeface="Consolas" pitchFamily="34" charset="-122"/>
                <a:cs typeface="Consolas" pitchFamily="34" charset="-120"/>
              </a:rPr>
              <a:t>Lid              Leeftijd     Lidgeld   Openstaand</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Anke Peeters           36 120,00 euro    0,00 euro</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Bram Janssens          14  90,00 euro   40,00 euro</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Cato Janssens          11  75,00 euro   75,00 euro</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Dirk Willems           48 120,00 euro  120,00 euro</a:t>
            </a:r>
            <a:endParaRPr lang="en-US" sz="1400" dirty="0"/>
          </a:p>
          <a:p>
            <a:pPr indent="0" marL="0">
              <a:buNone/>
            </a:pP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Nog te betalen door: Bram Janssens, Cato Janssens, Dirk Willems</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Totaal openstaand  : 235,00 euro</a:t>
            </a:r>
            <a:endParaRPr lang="en-US" sz="1400" dirty="0"/>
          </a:p>
        </p:txBody>
      </p:sp>
      <p:sp>
        <p:nvSpPr>
          <p:cNvPr id="6" name="kaart"/>
          <p:cNvSpPr/>
          <p:nvPr/>
        </p:nvSpPr>
        <p:spPr>
          <a:xfrm>
            <a:off x="8046720" y="1325880"/>
            <a:ext cx="3566160" cy="987552"/>
          </a:xfrm>
          <a:prstGeom prst="roundRect">
            <a:avLst>
              <a:gd name="adj" fmla="val 11111"/>
            </a:avLst>
          </a:prstGeom>
          <a:solidFill>
            <a:schemeClr val="bg2"/>
          </a:solidFill>
          <a:ln w="12700">
            <a:solidFill>
              <a:schemeClr val="bg2"/>
            </a:solidFill>
            <a:prstDash val="solid"/>
          </a:ln>
        </p:spPr>
      </p:sp>
      <p:sp>
        <p:nvSpPr>
          <p:cNvPr id="7" name="Text 5"/>
          <p:cNvSpPr txBox="1"/>
          <p:nvPr/>
        </p:nvSpPr>
        <p:spPr>
          <a:xfrm>
            <a:off x="8229600" y="1417320"/>
            <a:ext cx="3200400" cy="292608"/>
          </a:xfrm>
          <a:prstGeom prst="rect">
            <a:avLst/>
          </a:prstGeom>
          <a:noFill/>
          <a:ln/>
        </p:spPr>
        <p:txBody>
          <a:bodyPr wrap="square" lIns="0" tIns="0" rIns="0" bIns="0" rtlCol="0" anchor="t"/>
          <a:lstStyle/>
          <a:p>
            <a:pPr indent="0" marL="0">
              <a:buNone/>
            </a:pPr>
            <a:r>
              <a:rPr lang="en-US" sz="1500" b="1" dirty="0">
                <a:solidFill>
                  <a:schemeClr val="accent2"/>
                </a:solidFill>
              </a:rPr>
              <a:t>Bram</a:t>
            </a:r>
            <a:endParaRPr lang="en-US" sz="1500" dirty="0"/>
          </a:p>
        </p:txBody>
      </p:sp>
      <p:sp>
        <p:nvSpPr>
          <p:cNvPr id="8" name="Text 6"/>
          <p:cNvSpPr txBox="1"/>
          <p:nvPr/>
        </p:nvSpPr>
        <p:spPr>
          <a:xfrm>
            <a:off x="8229600" y="1737360"/>
            <a:ext cx="3200400" cy="502920"/>
          </a:xfrm>
          <a:prstGeom prst="rect">
            <a:avLst/>
          </a:prstGeom>
          <a:noFill/>
          <a:ln/>
        </p:spPr>
        <p:txBody>
          <a:bodyPr wrap="square" lIns="0" tIns="0" rIns="0" bIns="0" rtlCol="0" anchor="t"/>
          <a:lstStyle/>
          <a:p>
            <a:pPr indent="0" marL="0">
              <a:buNone/>
            </a:pPr>
            <a:r>
              <a:rPr lang="en-US" sz="1300" dirty="0">
                <a:solidFill>
                  <a:schemeClr val="tx1"/>
                </a:solidFill>
              </a:rPr>
              <a:t>jeugdtarief 90,00 − betaald 50,00 = 40,00 open</a:t>
            </a:r>
            <a:endParaRPr lang="en-US" sz="1300" dirty="0"/>
          </a:p>
        </p:txBody>
      </p:sp>
      <p:sp>
        <p:nvSpPr>
          <p:cNvPr id="9" name="kaart"/>
          <p:cNvSpPr/>
          <p:nvPr/>
        </p:nvSpPr>
        <p:spPr>
          <a:xfrm>
            <a:off x="8046720" y="2441448"/>
            <a:ext cx="3566160" cy="987552"/>
          </a:xfrm>
          <a:prstGeom prst="roundRect">
            <a:avLst>
              <a:gd name="adj" fmla="val 11111"/>
            </a:avLst>
          </a:prstGeom>
          <a:solidFill>
            <a:schemeClr val="bg2"/>
          </a:solidFill>
          <a:ln w="12700">
            <a:solidFill>
              <a:schemeClr val="bg2"/>
            </a:solidFill>
            <a:prstDash val="solid"/>
          </a:ln>
        </p:spPr>
      </p:sp>
      <p:sp>
        <p:nvSpPr>
          <p:cNvPr id="10" name="Text 8"/>
          <p:cNvSpPr txBox="1"/>
          <p:nvPr/>
        </p:nvSpPr>
        <p:spPr>
          <a:xfrm>
            <a:off x="8229600" y="2532888"/>
            <a:ext cx="3200400" cy="292608"/>
          </a:xfrm>
          <a:prstGeom prst="rect">
            <a:avLst/>
          </a:prstGeom>
          <a:noFill/>
          <a:ln/>
        </p:spPr>
        <p:txBody>
          <a:bodyPr wrap="square" lIns="0" tIns="0" rIns="0" bIns="0" rtlCol="0" anchor="t"/>
          <a:lstStyle/>
          <a:p>
            <a:pPr indent="0" marL="0">
              <a:buNone/>
            </a:pPr>
            <a:r>
              <a:rPr lang="en-US" sz="1500" b="1" dirty="0">
                <a:solidFill>
                  <a:schemeClr val="accent2"/>
                </a:solidFill>
              </a:rPr>
              <a:t>Cato</a:t>
            </a:r>
            <a:endParaRPr lang="en-US" sz="1500" dirty="0"/>
          </a:p>
        </p:txBody>
      </p:sp>
      <p:sp>
        <p:nvSpPr>
          <p:cNvPr id="11" name="Text 9"/>
          <p:cNvSpPr txBox="1"/>
          <p:nvPr/>
        </p:nvSpPr>
        <p:spPr>
          <a:xfrm>
            <a:off x="8229600" y="2852928"/>
            <a:ext cx="3200400" cy="502920"/>
          </a:xfrm>
          <a:prstGeom prst="rect">
            <a:avLst/>
          </a:prstGeom>
          <a:noFill/>
          <a:ln/>
        </p:spPr>
        <p:txBody>
          <a:bodyPr wrap="square" lIns="0" tIns="0" rIns="0" bIns="0" rtlCol="0" anchor="t"/>
          <a:lstStyle/>
          <a:p>
            <a:pPr indent="0" marL="0">
              <a:buNone/>
            </a:pPr>
            <a:r>
              <a:rPr lang="en-US" sz="1300" dirty="0">
                <a:solidFill>
                  <a:schemeClr val="tx1"/>
                </a:solidFill>
              </a:rPr>
              <a:t>jeugdtarief 90,00 − gezinskorting 15,00 = 75,00</a:t>
            </a:r>
            <a:endParaRPr lang="en-US" sz="1300" dirty="0"/>
          </a:p>
        </p:txBody>
      </p:sp>
      <p:sp>
        <p:nvSpPr>
          <p:cNvPr id="12" name="kaart"/>
          <p:cNvSpPr/>
          <p:nvPr/>
        </p:nvSpPr>
        <p:spPr>
          <a:xfrm>
            <a:off x="8046720" y="3557016"/>
            <a:ext cx="3566160" cy="987552"/>
          </a:xfrm>
          <a:prstGeom prst="roundRect">
            <a:avLst>
              <a:gd name="adj" fmla="val 11111"/>
            </a:avLst>
          </a:prstGeom>
          <a:solidFill>
            <a:schemeClr val="bg2"/>
          </a:solidFill>
          <a:ln w="12700">
            <a:solidFill>
              <a:schemeClr val="bg2"/>
            </a:solidFill>
            <a:prstDash val="solid"/>
          </a:ln>
        </p:spPr>
      </p:sp>
      <p:sp>
        <p:nvSpPr>
          <p:cNvPr id="13" name="Text 11"/>
          <p:cNvSpPr txBox="1"/>
          <p:nvPr/>
        </p:nvSpPr>
        <p:spPr>
          <a:xfrm>
            <a:off x="8229600" y="3648456"/>
            <a:ext cx="3200400" cy="292608"/>
          </a:xfrm>
          <a:prstGeom prst="rect">
            <a:avLst/>
          </a:prstGeom>
          <a:noFill/>
          <a:ln/>
        </p:spPr>
        <p:txBody>
          <a:bodyPr wrap="square" lIns="0" tIns="0" rIns="0" bIns="0" rtlCol="0" anchor="t"/>
          <a:lstStyle/>
          <a:p>
            <a:pPr indent="0" marL="0">
              <a:buNone/>
            </a:pPr>
            <a:r>
              <a:rPr lang="en-US" sz="1500" b="1" dirty="0">
                <a:solidFill>
                  <a:schemeClr val="accent2"/>
                </a:solidFill>
              </a:rPr>
              <a:t>Totaal</a:t>
            </a:r>
            <a:endParaRPr lang="en-US" sz="1500" dirty="0"/>
          </a:p>
        </p:txBody>
      </p:sp>
      <p:sp>
        <p:nvSpPr>
          <p:cNvPr id="14" name="Text 12"/>
          <p:cNvSpPr txBox="1"/>
          <p:nvPr/>
        </p:nvSpPr>
        <p:spPr>
          <a:xfrm>
            <a:off x="8229600" y="3968496"/>
            <a:ext cx="3200400" cy="502920"/>
          </a:xfrm>
          <a:prstGeom prst="rect">
            <a:avLst/>
          </a:prstGeom>
          <a:noFill/>
          <a:ln/>
        </p:spPr>
        <p:txBody>
          <a:bodyPr wrap="square" lIns="0" tIns="0" rIns="0" bIns="0" rtlCol="0" anchor="t"/>
          <a:lstStyle/>
          <a:p>
            <a:pPr indent="0" marL="0">
              <a:buNone/>
            </a:pPr>
            <a:r>
              <a:rPr lang="en-US" sz="1300" dirty="0">
                <a:solidFill>
                  <a:schemeClr val="tx1"/>
                </a:solidFill>
              </a:rPr>
              <a:t>40,00 + 75,00 + 120,00 = 235,00 euro</a:t>
            </a:r>
            <a:endParaRPr lang="en-US" sz="1300" dirty="0"/>
          </a:p>
        </p:txBody>
      </p:sp>
      <p:sp>
        <p:nvSpPr>
          <p:cNvPr id="15" name="kaart"/>
          <p:cNvSpPr/>
          <p:nvPr/>
        </p:nvSpPr>
        <p:spPr>
          <a:xfrm>
            <a:off x="548640" y="4846320"/>
            <a:ext cx="11064240" cy="1143000"/>
          </a:xfrm>
          <a:prstGeom prst="roundRect">
            <a:avLst>
              <a:gd name="adj" fmla="val 9600"/>
            </a:avLst>
          </a:prstGeom>
          <a:solidFill>
            <a:schemeClr val="tx1"/>
          </a:solidFill>
          <a:ln w="12700">
            <a:solidFill>
              <a:schemeClr val="tx1"/>
            </a:solidFill>
            <a:prstDash val="solid"/>
          </a:ln>
        </p:spPr>
      </p:sp>
      <p:sp>
        <p:nvSpPr>
          <p:cNvPr id="16" name="icooncirkel"/>
          <p:cNvSpPr/>
          <p:nvPr/>
        </p:nvSpPr>
        <p:spPr>
          <a:xfrm>
            <a:off x="822960" y="5029200"/>
            <a:ext cx="777240" cy="777240"/>
          </a:xfrm>
          <a:prstGeom prst="ellipse">
            <a:avLst/>
          </a:prstGeom>
          <a:solidFill>
            <a:schemeClr val="accent2"/>
          </a:solidFill>
          <a:ln w="12700">
            <a:solidFill>
              <a:schemeClr val="accent2"/>
            </a:solidFill>
            <a:prstDash val="solid"/>
          </a:ln>
        </p:spPr>
      </p:sp>
      <p:pic>
        <p:nvPicPr>
          <p:cNvPr id="17" name="icoon" descr="preencoded.png">    </p:cNvPr>
          <p:cNvPicPr>
            <a:picLocks noChangeAspect="1"/>
          </p:cNvPicPr>
          <p:nvPr/>
        </p:nvPicPr>
        <p:blipFill>
          <a:blip r:embed="rId1"/>
          <a:stretch>
            <a:fillRect/>
          </a:stretch>
        </p:blipFill>
        <p:spPr>
          <a:xfrm>
            <a:off x="1017270" y="5223510"/>
            <a:ext cx="388620" cy="388620"/>
          </a:xfrm>
          <a:prstGeom prst="rect">
            <a:avLst/>
          </a:prstGeom>
        </p:spPr>
      </p:pic>
      <p:sp>
        <p:nvSpPr>
          <p:cNvPr id="18" name="Text 15"/>
          <p:cNvSpPr txBox="1"/>
          <p:nvPr/>
        </p:nvSpPr>
        <p:spPr>
          <a:xfrm>
            <a:off x="1828800" y="4846320"/>
            <a:ext cx="9509760" cy="1143000"/>
          </a:xfrm>
          <a:prstGeom prst="rect">
            <a:avLst/>
          </a:prstGeom>
          <a:noFill/>
          <a:ln/>
        </p:spPr>
        <p:txBody>
          <a:bodyPr wrap="square" lIns="0" tIns="0" rIns="0" bIns="0" rtlCol="0" anchor="ctr"/>
          <a:lstStyle/>
          <a:p>
            <a:pPr indent="0" marL="0">
              <a:buNone/>
            </a:pPr>
            <a:r>
              <a:rPr lang="en-US" sz="1700" b="1" dirty="0">
                <a:solidFill>
                  <a:schemeClr val="accent1"/>
                </a:solidFill>
              </a:rPr>
              <a:t>Opdracht 4 van de oefening, gehaald.  </a:t>
            </a:r>
            <a:pPr indent="0" marL="0">
              <a:buNone/>
            </a:pPr>
            <a:r>
              <a:rPr lang="en-US" sz="1700" dirty="0">
                <a:solidFill>
                  <a:schemeClr val="bg1"/>
                </a:solidFill>
              </a:rPr>
              <a:t>Er staat nergens een input() in. Alles wat je ziet, is te controleren met een testprogramma.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De tests (1): gekozen gevallen, geen bedachte</a:t>
            </a:r>
            <a:endParaRPr lang="en-US" sz="3400" dirty="0"/>
          </a:p>
        </p:txBody>
      </p:sp>
      <p:sp>
        <p:nvSpPr>
          <p:cNvPr id="3" name="codevak"/>
          <p:cNvSpPr/>
          <p:nvPr/>
        </p:nvSpPr>
        <p:spPr>
          <a:xfrm>
            <a:off x="548640" y="1325880"/>
            <a:ext cx="6949440" cy="4709160"/>
          </a:xfrm>
          <a:prstGeom prst="roundRect">
            <a:avLst>
              <a:gd name="adj" fmla="val 1942"/>
            </a:avLst>
          </a:prstGeom>
          <a:solidFill>
            <a:srgbClr val="161A33"/>
          </a:solidFill>
          <a:ln w="12700">
            <a:solidFill>
              <a:srgbClr val="161A33"/>
            </a:solidFill>
            <a:prstDash val="solid"/>
          </a:ln>
        </p:spPr>
      </p:sp>
      <p:sp>
        <p:nvSpPr>
          <p:cNvPr id="4" name="Text 2"/>
          <p:cNvSpPr txBox="1"/>
          <p:nvPr/>
        </p:nvSpPr>
        <p:spPr>
          <a:xfrm>
            <a:off x="777240" y="1435608"/>
            <a:ext cx="649224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PYTHON · UITWERKING-B</a:t>
            </a:r>
            <a:endParaRPr lang="en-US" sz="1100" dirty="0"/>
          </a:p>
        </p:txBody>
      </p:sp>
      <p:sp>
        <p:nvSpPr>
          <p:cNvPr id="5" name="code"/>
          <p:cNvSpPr txBox="1"/>
          <p:nvPr/>
        </p:nvSpPr>
        <p:spPr>
          <a:xfrm>
            <a:off x="777240" y="1783080"/>
            <a:ext cx="6492240" cy="4114800"/>
          </a:xfrm>
          <a:prstGeom prst="rect">
            <a:avLst/>
          </a:prstGeom>
          <a:noFill/>
          <a:ln/>
        </p:spPr>
        <p:txBody>
          <a:bodyPr wrap="square" lIns="0" tIns="0" rIns="0" bIns="0" rtlCol="0" anchor="t"/>
          <a:lstStyle/>
          <a:p>
            <a:pPr indent="0" marL="0">
              <a:buNone/>
            </a:pPr>
            <a:r>
              <a:rPr lang="en-US" sz="1150" dirty="0">
                <a:solidFill>
                  <a:srgbClr val="8A93B8"/>
                </a:solidFill>
                <a:latin typeface="Consolas" pitchFamily="34" charset="0"/>
                <a:ea typeface="Consolas" pitchFamily="34" charset="-122"/>
                <a:cs typeface="Consolas" pitchFamily="34" charset="-120"/>
              </a:rPr>
              <a:t># positief: (geboortejaar, rang, verwacht in centen)</a:t>
            </a:r>
            <a:endParaRPr lang="en-US" sz="1150" dirty="0"/>
          </a:p>
          <a:p>
            <a:pPr indent="0" marL="0">
              <a:buNone/>
            </a:pPr>
            <a:r>
              <a:rPr lang="en-US" sz="1150" dirty="0">
                <a:solidFill>
                  <a:srgbClr val="8A93B8"/>
                </a:solidFill>
                <a:latin typeface="Consolas" pitchFamily="34" charset="0"/>
                <a:ea typeface="Consolas" pitchFamily="34" charset="-122"/>
                <a:cs typeface="Consolas" pitchFamily="34" charset="-120"/>
              </a:rPr>
              <a:t># equivalentieklassen en grenswaarden rond de leeftijdsgrens van 17</a:t>
            </a:r>
            <a:endParaRPr lang="en-US" sz="1150" dirty="0"/>
          </a:p>
          <a:p>
            <a:pPr indent="0" marL="0">
              <a:buNone/>
            </a:pPr>
            <a:r>
              <a:rPr lang="en-US" sz="1150" dirty="0">
                <a:solidFill>
                  <a:srgbClr val="E8ECF8"/>
                </a:solidFill>
                <a:latin typeface="Consolas" pitchFamily="34" charset="0"/>
                <a:ea typeface="Consolas" pitchFamily="34" charset="-122"/>
                <a:cs typeface="Consolas" pitchFamily="34" charset="-120"/>
              </a:rPr>
              <a:t>GELDIG = [</a:t>
            </a:r>
            <a:endParaRPr lang="en-US" sz="1150" dirty="0"/>
          </a:p>
          <a:p>
            <a:pPr indent="0" marL="0">
              <a:buNone/>
            </a:pPr>
            <a:r>
              <a:rPr lang="en-US" sz="1150" dirty="0">
                <a:solidFill>
                  <a:srgbClr val="E8ECF8"/>
                </a:solidFill>
                <a:latin typeface="Consolas" pitchFamily="34" charset="0"/>
                <a:ea typeface="Consolas" pitchFamily="34" charset="-122"/>
                <a:cs typeface="Consolas" pitchFamily="34" charset="-120"/>
              </a:rPr>
              <a:t>    (2026, 1, 9_000),      # pasgeboren: onderste grens</a:t>
            </a:r>
            <a:endParaRPr lang="en-US" sz="1150" dirty="0"/>
          </a:p>
          <a:p>
            <a:pPr indent="0" marL="0">
              <a:buNone/>
            </a:pPr>
            <a:r>
              <a:rPr lang="en-US" sz="1150" dirty="0">
                <a:solidFill>
                  <a:srgbClr val="E8ECF8"/>
                </a:solidFill>
                <a:latin typeface="Consolas" pitchFamily="34" charset="0"/>
                <a:ea typeface="Consolas" pitchFamily="34" charset="-122"/>
                <a:cs typeface="Consolas" pitchFamily="34" charset="-120"/>
              </a:rPr>
              <a:t>    (2010, 1, 9_000),      # 16 jaar: binnen de jeugdklasse</a:t>
            </a:r>
            <a:endParaRPr lang="en-US" sz="1150" dirty="0"/>
          </a:p>
          <a:p>
            <a:pPr indent="0" marL="0">
              <a:buNone/>
            </a:pPr>
            <a:r>
              <a:rPr lang="en-US" sz="1150" dirty="0">
                <a:solidFill>
                  <a:srgbClr val="E8ECF8"/>
                </a:solidFill>
                <a:latin typeface="Consolas" pitchFamily="34" charset="0"/>
                <a:ea typeface="Consolas" pitchFamily="34" charset="-122"/>
                <a:cs typeface="Consolas" pitchFamily="34" charset="-120"/>
              </a:rPr>
              <a:t>    (2009, 1, 9_000),      # 17 jaar: precies op de grens</a:t>
            </a:r>
            <a:endParaRPr lang="en-US" sz="1150" dirty="0"/>
          </a:p>
          <a:p>
            <a:pPr indent="0" marL="0">
              <a:buNone/>
            </a:pPr>
            <a:r>
              <a:rPr lang="en-US" sz="1150" dirty="0">
                <a:solidFill>
                  <a:srgbClr val="E8ECF8"/>
                </a:solidFill>
                <a:latin typeface="Consolas" pitchFamily="34" charset="0"/>
                <a:ea typeface="Consolas" pitchFamily="34" charset="-122"/>
                <a:cs typeface="Consolas" pitchFamily="34" charset="-120"/>
              </a:rPr>
              <a:t>    (2008, 1, 12_000),     # 18 jaar: net erboven</a:t>
            </a:r>
            <a:endParaRPr lang="en-US" sz="1150" dirty="0"/>
          </a:p>
          <a:p>
            <a:pPr indent="0" marL="0">
              <a:buNone/>
            </a:pPr>
            <a:r>
              <a:rPr lang="en-US" sz="1150" dirty="0">
                <a:solidFill>
                  <a:srgbClr val="E8ECF8"/>
                </a:solidFill>
                <a:latin typeface="Consolas" pitchFamily="34" charset="0"/>
                <a:ea typeface="Consolas" pitchFamily="34" charset="-122"/>
                <a:cs typeface="Consolas" pitchFamily="34" charset="-120"/>
              </a:rPr>
              <a:t>    (1990, 1, 12_000),     # volwassen: midden in de klasse</a:t>
            </a:r>
            <a:endParaRPr lang="en-US" sz="1150" dirty="0"/>
          </a:p>
          <a:p>
            <a:pPr indent="0" marL="0">
              <a:buNone/>
            </a:pPr>
            <a:r>
              <a:rPr lang="en-US" sz="1150" dirty="0">
                <a:solidFill>
                  <a:srgbClr val="E8ECF8"/>
                </a:solidFill>
                <a:latin typeface="Consolas" pitchFamily="34" charset="0"/>
                <a:ea typeface="Consolas" pitchFamily="34" charset="-122"/>
                <a:cs typeface="Consolas" pitchFamily="34" charset="-120"/>
              </a:rPr>
              <a:t>    (1900, 1, 12_000),     # oudste toegelaten jaar</a:t>
            </a:r>
            <a:endParaRPr lang="en-US" sz="1150" dirty="0"/>
          </a:p>
          <a:p>
            <a:pPr indent="0" marL="0">
              <a:buNone/>
            </a:pPr>
            <a:r>
              <a:rPr lang="en-US" sz="1150" dirty="0">
                <a:solidFill>
                  <a:srgbClr val="E8ECF8"/>
                </a:solidFill>
                <a:latin typeface="Consolas" pitchFamily="34" charset="0"/>
                <a:ea typeface="Consolas" pitchFamily="34" charset="-122"/>
                <a:cs typeface="Consolas" pitchFamily="34" charset="-120"/>
              </a:rPr>
              <a:t>    (2009, 2, 7_500),      # jeugd met gezinskorting</a:t>
            </a:r>
            <a:endParaRPr lang="en-US" sz="1150" dirty="0"/>
          </a:p>
          <a:p>
            <a:pPr indent="0" marL="0">
              <a:buNone/>
            </a:pPr>
            <a:r>
              <a:rPr lang="en-US" sz="1150" dirty="0">
                <a:solidFill>
                  <a:srgbClr val="E8ECF8"/>
                </a:solidFill>
                <a:latin typeface="Consolas" pitchFamily="34" charset="0"/>
                <a:ea typeface="Consolas" pitchFamily="34" charset="-122"/>
                <a:cs typeface="Consolas" pitchFamily="34" charset="-120"/>
              </a:rPr>
              <a:t>    (1990, 2, 10_500),     # volwassen met gezinskorting</a:t>
            </a:r>
            <a:endParaRPr lang="en-US" sz="1150" dirty="0"/>
          </a:p>
          <a:p>
            <a:pPr indent="0" marL="0">
              <a:buNone/>
            </a:pPr>
            <a:r>
              <a:rPr lang="en-US" sz="1150" dirty="0">
                <a:solidFill>
                  <a:srgbClr val="E8ECF8"/>
                </a:solidFill>
                <a:latin typeface="Consolas" pitchFamily="34" charset="0"/>
                <a:ea typeface="Consolas" pitchFamily="34" charset="-122"/>
                <a:cs typeface="Consolas" pitchFamily="34" charset="-120"/>
              </a:rPr>
              <a:t>    (1990, 5, 10_500),     # korting geldt vanaf de tweede, niet per rang</a:t>
            </a:r>
            <a:endParaRPr lang="en-US" sz="1150" dirty="0"/>
          </a:p>
          <a:p>
            <a:pPr indent="0" marL="0">
              <a:buNone/>
            </a:pPr>
            <a:r>
              <a:rPr lang="en-US" sz="1150" dirty="0">
                <a:solidFill>
                  <a:srgbClr val="E8ECF8"/>
                </a:solidFill>
                <a:latin typeface="Consolas" pitchFamily="34" charset="0"/>
                <a:ea typeface="Consolas" pitchFamily="34" charset="-122"/>
                <a:cs typeface="Consolas" pitchFamily="34" charset="-120"/>
              </a:rPr>
              <a:t>]</a:t>
            </a:r>
            <a:endParaRPr lang="en-US" sz="1150" dirty="0"/>
          </a:p>
          <a:p>
            <a:pPr indent="0" marL="0">
              <a:buNone/>
            </a:pPr>
            <a:r>
              <a:rPr lang="en-US" sz="1150" dirty="0">
                <a:solidFill>
                  <a:srgbClr val="8A93B8"/>
                </a:solidFill>
                <a:latin typeface="Consolas" pitchFamily="34" charset="0"/>
                <a:ea typeface="Consolas" pitchFamily="34" charset="-122"/>
                <a:cs typeface="Consolas" pitchFamily="34" charset="-120"/>
              </a:rPr>
              <a:t># negatief: ongeldige invoer en de fout die je verwacht</a:t>
            </a:r>
            <a:endParaRPr lang="en-US" sz="1150" dirty="0"/>
          </a:p>
          <a:p>
            <a:pPr indent="0" marL="0">
              <a:buNone/>
            </a:pPr>
            <a:r>
              <a:rPr lang="en-US" sz="1150" dirty="0">
                <a:solidFill>
                  <a:srgbClr val="E8ECF8"/>
                </a:solidFill>
                <a:latin typeface="Consolas" pitchFamily="34" charset="0"/>
                <a:ea typeface="Consolas" pitchFamily="34" charset="-122"/>
                <a:cs typeface="Consolas" pitchFamily="34" charset="-120"/>
              </a:rPr>
              <a:t>ONGELDIG = [</a:t>
            </a:r>
            <a:endParaRPr lang="en-US" sz="1150" dirty="0"/>
          </a:p>
          <a:p>
            <a:pPr indent="0" marL="0">
              <a:buNone/>
            </a:pPr>
            <a:r>
              <a:rPr lang="en-US" sz="1150" dirty="0">
                <a:solidFill>
                  <a:srgbClr val="E8ECF8"/>
                </a:solidFill>
                <a:latin typeface="Consolas" pitchFamily="34" charset="0"/>
                <a:ea typeface="Consolas" pitchFamily="34" charset="-122"/>
                <a:cs typeface="Consolas" pitchFamily="34" charset="-120"/>
              </a:rPr>
              <a:t>    (1899, 1, ValueError),     # net onder het oudste jaar</a:t>
            </a:r>
            <a:endParaRPr lang="en-US" sz="1150" dirty="0"/>
          </a:p>
          <a:p>
            <a:pPr indent="0" marL="0">
              <a:buNone/>
            </a:pPr>
            <a:r>
              <a:rPr lang="en-US" sz="1150" dirty="0">
                <a:solidFill>
                  <a:srgbClr val="E8ECF8"/>
                </a:solidFill>
                <a:latin typeface="Consolas" pitchFamily="34" charset="0"/>
                <a:ea typeface="Consolas" pitchFamily="34" charset="-122"/>
                <a:cs typeface="Consolas" pitchFamily="34" charset="-120"/>
              </a:rPr>
              <a:t>    (2027, 1, ValueError),     # geboren in de toekomst</a:t>
            </a:r>
            <a:endParaRPr lang="en-US" sz="1150" dirty="0"/>
          </a:p>
          <a:p>
            <a:pPr indent="0" marL="0">
              <a:buNone/>
            </a:pPr>
            <a:r>
              <a:rPr lang="en-US" sz="1150" dirty="0">
                <a:solidFill>
                  <a:srgbClr val="E8ECF8"/>
                </a:solidFill>
                <a:latin typeface="Consolas" pitchFamily="34" charset="0"/>
                <a:ea typeface="Consolas" pitchFamily="34" charset="-122"/>
                <a:cs typeface="Consolas" pitchFamily="34" charset="-120"/>
              </a:rPr>
              <a:t>    (1990, 0, ValueError),     # rang begint bij 1</a:t>
            </a:r>
            <a:endParaRPr lang="en-US" sz="1150" dirty="0"/>
          </a:p>
          <a:p>
            <a:pPr indent="0" marL="0">
              <a:buNone/>
            </a:pPr>
            <a:r>
              <a:rPr lang="en-US" sz="1150" dirty="0">
                <a:solidFill>
                  <a:srgbClr val="E8ECF8"/>
                </a:solidFill>
                <a:latin typeface="Consolas" pitchFamily="34" charset="0"/>
                <a:ea typeface="Consolas" pitchFamily="34" charset="-122"/>
                <a:cs typeface="Consolas" pitchFamily="34" charset="-120"/>
              </a:rPr>
              <a:t>    ("1990", 1, TypeError),    # tekst, zoals input() geeft</a:t>
            </a:r>
            <a:endParaRPr lang="en-US" sz="1150" dirty="0"/>
          </a:p>
          <a:p>
            <a:pPr indent="0" marL="0">
              <a:buNone/>
            </a:pPr>
            <a:r>
              <a:rPr lang="en-US" sz="1150" dirty="0">
                <a:solidFill>
                  <a:srgbClr val="E8ECF8"/>
                </a:solidFill>
                <a:latin typeface="Consolas" pitchFamily="34" charset="0"/>
                <a:ea typeface="Consolas" pitchFamily="34" charset="-122"/>
                <a:cs typeface="Consolas" pitchFamily="34" charset="-120"/>
              </a:rPr>
              <a:t>    (True, 1, TypeError),      # de bool-valkuil</a:t>
            </a:r>
            <a:endParaRPr lang="en-US" sz="1150" dirty="0"/>
          </a:p>
          <a:p>
            <a:pPr indent="0" marL="0">
              <a:buNone/>
            </a:pPr>
            <a:r>
              <a:rPr lang="en-US" sz="1150" dirty="0">
                <a:solidFill>
                  <a:srgbClr val="E8ECF8"/>
                </a:solidFill>
                <a:latin typeface="Consolas" pitchFamily="34" charset="0"/>
                <a:ea typeface="Consolas" pitchFamily="34" charset="-122"/>
                <a:cs typeface="Consolas" pitchFamily="34" charset="-120"/>
              </a:rPr>
              <a:t>    (1990.5, 1, TypeError),    # een kommagetal</a:t>
            </a:r>
            <a:endParaRPr lang="en-US" sz="1150" dirty="0"/>
          </a:p>
          <a:p>
            <a:pPr indent="0" marL="0">
              <a:buNone/>
            </a:pPr>
            <a:r>
              <a:rPr lang="en-US" sz="1150" dirty="0">
                <a:solidFill>
                  <a:srgbClr val="E8ECF8"/>
                </a:solidFill>
                <a:latin typeface="Consolas" pitchFamily="34" charset="0"/>
                <a:ea typeface="Consolas" pitchFamily="34" charset="-122"/>
                <a:cs typeface="Consolas" pitchFamily="34" charset="-120"/>
              </a:rPr>
              <a:t>]</a:t>
            </a:r>
            <a:endParaRPr lang="en-US" sz="1150" dirty="0"/>
          </a:p>
        </p:txBody>
      </p:sp>
      <p:sp>
        <p:nvSpPr>
          <p:cNvPr id="6" name="Text 4"/>
          <p:cNvSpPr txBox="1"/>
          <p:nvPr/>
        </p:nvSpPr>
        <p:spPr>
          <a:xfrm>
            <a:off x="7772400" y="1325880"/>
            <a:ext cx="384048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GRENSWAARDEN ROND 17 (IN 2026)</a:t>
            </a:r>
            <a:endParaRPr lang="en-US" sz="1200" dirty="0"/>
          </a:p>
        </p:txBody>
      </p:sp>
      <p:sp>
        <p:nvSpPr>
          <p:cNvPr id="7" name="getallenlijn"/>
          <p:cNvSpPr/>
          <p:nvPr/>
        </p:nvSpPr>
        <p:spPr>
          <a:xfrm>
            <a:off x="7863840" y="2423160"/>
            <a:ext cx="3657600" cy="0"/>
          </a:xfrm>
          <a:prstGeom prst="line">
            <a:avLst/>
          </a:prstGeom>
          <a:noFill/>
          <a:ln w="25400">
            <a:solidFill>
              <a:schemeClr val="tx2"/>
            </a:solidFill>
            <a:prstDash val="solid"/>
          </a:ln>
        </p:spPr>
      </p:sp>
      <p:sp>
        <p:nvSpPr>
          <p:cNvPr id="8" name="klasse"/>
          <p:cNvSpPr/>
          <p:nvPr/>
        </p:nvSpPr>
        <p:spPr>
          <a:xfrm>
            <a:off x="7863840" y="1828800"/>
            <a:ext cx="2286000" cy="292608"/>
          </a:xfrm>
          <a:prstGeom prst="rect">
            <a:avLst/>
          </a:prstGeom>
          <a:solidFill>
            <a:schemeClr val="accent2"/>
          </a:solidFill>
          <a:ln w="12700">
            <a:solidFill>
              <a:schemeClr val="accent2"/>
            </a:solidFill>
            <a:prstDash val="solid"/>
          </a:ln>
        </p:spPr>
      </p:sp>
      <p:sp>
        <p:nvSpPr>
          <p:cNvPr id="9" name="Text 7"/>
          <p:cNvSpPr txBox="1"/>
          <p:nvPr/>
        </p:nvSpPr>
        <p:spPr>
          <a:xfrm>
            <a:off x="7863840" y="1828800"/>
            <a:ext cx="2286000" cy="292608"/>
          </a:xfrm>
          <a:prstGeom prst="rect">
            <a:avLst/>
          </a:prstGeom>
          <a:noFill/>
          <a:ln/>
        </p:spPr>
        <p:txBody>
          <a:bodyPr wrap="square" lIns="0" tIns="0" rIns="0" bIns="0" rtlCol="0" anchor="ctr"/>
          <a:lstStyle/>
          <a:p>
            <a:pPr algn="ctr" indent="0" marL="0">
              <a:buNone/>
            </a:pPr>
            <a:r>
              <a:rPr lang="en-US" sz="1200" b="1" dirty="0">
                <a:solidFill>
                  <a:schemeClr val="bg1"/>
                </a:solidFill>
              </a:rPr>
              <a:t>jeugd: 90 euro</a:t>
            </a:r>
            <a:endParaRPr lang="en-US" sz="1200" dirty="0"/>
          </a:p>
        </p:txBody>
      </p:sp>
      <p:sp>
        <p:nvSpPr>
          <p:cNvPr id="10" name="klasse"/>
          <p:cNvSpPr/>
          <p:nvPr/>
        </p:nvSpPr>
        <p:spPr>
          <a:xfrm>
            <a:off x="10149840" y="1828800"/>
            <a:ext cx="1371600" cy="292608"/>
          </a:xfrm>
          <a:prstGeom prst="rect">
            <a:avLst/>
          </a:prstGeom>
          <a:solidFill>
            <a:schemeClr val="accent1"/>
          </a:solidFill>
          <a:ln w="12700">
            <a:solidFill>
              <a:schemeClr val="accent1"/>
            </a:solidFill>
            <a:prstDash val="solid"/>
          </a:ln>
        </p:spPr>
      </p:sp>
      <p:sp>
        <p:nvSpPr>
          <p:cNvPr id="11" name="Text 9"/>
          <p:cNvSpPr txBox="1"/>
          <p:nvPr/>
        </p:nvSpPr>
        <p:spPr>
          <a:xfrm>
            <a:off x="10149840" y="1828800"/>
            <a:ext cx="1371600" cy="292608"/>
          </a:xfrm>
          <a:prstGeom prst="rect">
            <a:avLst/>
          </a:prstGeom>
          <a:noFill/>
          <a:ln/>
        </p:spPr>
        <p:txBody>
          <a:bodyPr wrap="square" lIns="0" tIns="0" rIns="0" bIns="0" rtlCol="0" anchor="ctr"/>
          <a:lstStyle/>
          <a:p>
            <a:pPr algn="ctr" indent="0" marL="0">
              <a:buNone/>
            </a:pPr>
            <a:r>
              <a:rPr lang="en-US" sz="1200" b="1" dirty="0">
                <a:solidFill>
                  <a:schemeClr val="bg1"/>
                </a:solidFill>
              </a:rPr>
              <a:t>120 euro</a:t>
            </a:r>
            <a:endParaRPr lang="en-US" sz="1200" dirty="0"/>
          </a:p>
        </p:txBody>
      </p:sp>
      <p:sp>
        <p:nvSpPr>
          <p:cNvPr id="12" name="grenspunt"/>
          <p:cNvSpPr/>
          <p:nvPr/>
        </p:nvSpPr>
        <p:spPr>
          <a:xfrm>
            <a:off x="8759952" y="2313432"/>
            <a:ext cx="219456" cy="219456"/>
          </a:xfrm>
          <a:prstGeom prst="ellipse">
            <a:avLst/>
          </a:prstGeom>
          <a:solidFill>
            <a:schemeClr val="accent3"/>
          </a:solidFill>
          <a:ln w="19050">
            <a:solidFill>
              <a:schemeClr val="bg1"/>
            </a:solidFill>
            <a:prstDash val="solid"/>
          </a:ln>
        </p:spPr>
      </p:sp>
      <p:sp>
        <p:nvSpPr>
          <p:cNvPr id="13" name="Text 11"/>
          <p:cNvSpPr txBox="1"/>
          <p:nvPr/>
        </p:nvSpPr>
        <p:spPr>
          <a:xfrm>
            <a:off x="8503920" y="2606040"/>
            <a:ext cx="731520" cy="274320"/>
          </a:xfrm>
          <a:prstGeom prst="rect">
            <a:avLst/>
          </a:prstGeom>
          <a:noFill/>
          <a:ln/>
        </p:spPr>
        <p:txBody>
          <a:bodyPr wrap="square" lIns="0" tIns="0" rIns="0" bIns="0" rtlCol="0" anchor="t"/>
          <a:lstStyle/>
          <a:p>
            <a:pPr algn="ctr" indent="0" marL="0">
              <a:buNone/>
            </a:pPr>
            <a:r>
              <a:rPr lang="en-US" sz="1400" b="1" dirty="0">
                <a:solidFill>
                  <a:schemeClr val="tx1"/>
                </a:solidFill>
              </a:rPr>
              <a:t>16</a:t>
            </a:r>
            <a:endParaRPr lang="en-US" sz="1400" dirty="0"/>
          </a:p>
        </p:txBody>
      </p:sp>
      <p:sp>
        <p:nvSpPr>
          <p:cNvPr id="14" name="Text 12"/>
          <p:cNvSpPr txBox="1"/>
          <p:nvPr/>
        </p:nvSpPr>
        <p:spPr>
          <a:xfrm>
            <a:off x="8503920" y="2880360"/>
            <a:ext cx="731520" cy="274320"/>
          </a:xfrm>
          <a:prstGeom prst="rect">
            <a:avLst/>
          </a:prstGeom>
          <a:noFill/>
          <a:ln/>
        </p:spPr>
        <p:txBody>
          <a:bodyPr wrap="square" lIns="0" tIns="0" rIns="0" bIns="0" rtlCol="0" anchor="t"/>
          <a:lstStyle/>
          <a:p>
            <a:pPr algn="ctr" indent="0" marL="0">
              <a:buNone/>
            </a:pPr>
            <a:r>
              <a:rPr lang="en-US" sz="1100" dirty="0">
                <a:solidFill>
                  <a:schemeClr val="tx2"/>
                </a:solidFill>
                <a:latin typeface="Consolas" pitchFamily="34" charset="0"/>
                <a:ea typeface="Consolas" pitchFamily="34" charset="-122"/>
                <a:cs typeface="Consolas" pitchFamily="34" charset="-120"/>
              </a:rPr>
              <a:t>2010</a:t>
            </a:r>
            <a:endParaRPr lang="en-US" sz="1100" dirty="0"/>
          </a:p>
        </p:txBody>
      </p:sp>
      <p:sp>
        <p:nvSpPr>
          <p:cNvPr id="15" name="grenspunt"/>
          <p:cNvSpPr/>
          <p:nvPr/>
        </p:nvSpPr>
        <p:spPr>
          <a:xfrm>
            <a:off x="9582912" y="2313432"/>
            <a:ext cx="219456" cy="219456"/>
          </a:xfrm>
          <a:prstGeom prst="ellipse">
            <a:avLst/>
          </a:prstGeom>
          <a:solidFill>
            <a:schemeClr val="accent3"/>
          </a:solidFill>
          <a:ln w="19050">
            <a:solidFill>
              <a:schemeClr val="bg1"/>
            </a:solidFill>
            <a:prstDash val="solid"/>
          </a:ln>
        </p:spPr>
      </p:sp>
      <p:sp>
        <p:nvSpPr>
          <p:cNvPr id="16" name="Text 14"/>
          <p:cNvSpPr txBox="1"/>
          <p:nvPr/>
        </p:nvSpPr>
        <p:spPr>
          <a:xfrm>
            <a:off x="9326880" y="2606040"/>
            <a:ext cx="731520" cy="274320"/>
          </a:xfrm>
          <a:prstGeom prst="rect">
            <a:avLst/>
          </a:prstGeom>
          <a:noFill/>
          <a:ln/>
        </p:spPr>
        <p:txBody>
          <a:bodyPr wrap="square" lIns="0" tIns="0" rIns="0" bIns="0" rtlCol="0" anchor="t"/>
          <a:lstStyle/>
          <a:p>
            <a:pPr algn="ctr" indent="0" marL="0">
              <a:buNone/>
            </a:pPr>
            <a:r>
              <a:rPr lang="en-US" sz="1400" b="1" dirty="0">
                <a:solidFill>
                  <a:schemeClr val="tx1"/>
                </a:solidFill>
              </a:rPr>
              <a:t>17</a:t>
            </a:r>
            <a:endParaRPr lang="en-US" sz="1400" dirty="0"/>
          </a:p>
        </p:txBody>
      </p:sp>
      <p:sp>
        <p:nvSpPr>
          <p:cNvPr id="17" name="Text 15"/>
          <p:cNvSpPr txBox="1"/>
          <p:nvPr/>
        </p:nvSpPr>
        <p:spPr>
          <a:xfrm>
            <a:off x="9326880" y="2880360"/>
            <a:ext cx="731520" cy="274320"/>
          </a:xfrm>
          <a:prstGeom prst="rect">
            <a:avLst/>
          </a:prstGeom>
          <a:noFill/>
          <a:ln/>
        </p:spPr>
        <p:txBody>
          <a:bodyPr wrap="square" lIns="0" tIns="0" rIns="0" bIns="0" rtlCol="0" anchor="t"/>
          <a:lstStyle/>
          <a:p>
            <a:pPr algn="ctr" indent="0" marL="0">
              <a:buNone/>
            </a:pPr>
            <a:r>
              <a:rPr lang="en-US" sz="1100" dirty="0">
                <a:solidFill>
                  <a:schemeClr val="tx2"/>
                </a:solidFill>
                <a:latin typeface="Consolas" pitchFamily="34" charset="0"/>
                <a:ea typeface="Consolas" pitchFamily="34" charset="-122"/>
                <a:cs typeface="Consolas" pitchFamily="34" charset="-120"/>
              </a:rPr>
              <a:t>2009</a:t>
            </a:r>
            <a:endParaRPr lang="en-US" sz="1100" dirty="0"/>
          </a:p>
        </p:txBody>
      </p:sp>
      <p:sp>
        <p:nvSpPr>
          <p:cNvPr id="18" name="grenspunt"/>
          <p:cNvSpPr/>
          <p:nvPr/>
        </p:nvSpPr>
        <p:spPr>
          <a:xfrm>
            <a:off x="10405872" y="2313432"/>
            <a:ext cx="219456" cy="219456"/>
          </a:xfrm>
          <a:prstGeom prst="ellipse">
            <a:avLst/>
          </a:prstGeom>
          <a:solidFill>
            <a:schemeClr val="accent3"/>
          </a:solidFill>
          <a:ln w="19050">
            <a:solidFill>
              <a:schemeClr val="bg1"/>
            </a:solidFill>
            <a:prstDash val="solid"/>
          </a:ln>
        </p:spPr>
      </p:sp>
      <p:sp>
        <p:nvSpPr>
          <p:cNvPr id="19" name="Text 17"/>
          <p:cNvSpPr txBox="1"/>
          <p:nvPr/>
        </p:nvSpPr>
        <p:spPr>
          <a:xfrm>
            <a:off x="10149840" y="2606040"/>
            <a:ext cx="731520" cy="274320"/>
          </a:xfrm>
          <a:prstGeom prst="rect">
            <a:avLst/>
          </a:prstGeom>
          <a:noFill/>
          <a:ln/>
        </p:spPr>
        <p:txBody>
          <a:bodyPr wrap="square" lIns="0" tIns="0" rIns="0" bIns="0" rtlCol="0" anchor="t"/>
          <a:lstStyle/>
          <a:p>
            <a:pPr algn="ctr" indent="0" marL="0">
              <a:buNone/>
            </a:pPr>
            <a:r>
              <a:rPr lang="en-US" sz="1400" b="1" dirty="0">
                <a:solidFill>
                  <a:schemeClr val="tx1"/>
                </a:solidFill>
              </a:rPr>
              <a:t>18</a:t>
            </a:r>
            <a:endParaRPr lang="en-US" sz="1400" dirty="0"/>
          </a:p>
        </p:txBody>
      </p:sp>
      <p:sp>
        <p:nvSpPr>
          <p:cNvPr id="20" name="Text 18"/>
          <p:cNvSpPr txBox="1"/>
          <p:nvPr/>
        </p:nvSpPr>
        <p:spPr>
          <a:xfrm>
            <a:off x="10149840" y="2880360"/>
            <a:ext cx="731520" cy="274320"/>
          </a:xfrm>
          <a:prstGeom prst="rect">
            <a:avLst/>
          </a:prstGeom>
          <a:noFill/>
          <a:ln/>
        </p:spPr>
        <p:txBody>
          <a:bodyPr wrap="square" lIns="0" tIns="0" rIns="0" bIns="0" rtlCol="0" anchor="t"/>
          <a:lstStyle/>
          <a:p>
            <a:pPr algn="ctr" indent="0" marL="0">
              <a:buNone/>
            </a:pPr>
            <a:r>
              <a:rPr lang="en-US" sz="1100" dirty="0">
                <a:solidFill>
                  <a:schemeClr val="tx2"/>
                </a:solidFill>
                <a:latin typeface="Consolas" pitchFamily="34" charset="0"/>
                <a:ea typeface="Consolas" pitchFamily="34" charset="-122"/>
                <a:cs typeface="Consolas" pitchFamily="34" charset="-120"/>
              </a:rPr>
              <a:t>2008</a:t>
            </a:r>
            <a:endParaRPr lang="en-US" sz="1100" dirty="0"/>
          </a:p>
        </p:txBody>
      </p:sp>
      <p:sp>
        <p:nvSpPr>
          <p:cNvPr id="21" name="Text 19"/>
          <p:cNvSpPr txBox="1"/>
          <p:nvPr/>
        </p:nvSpPr>
        <p:spPr>
          <a:xfrm>
            <a:off x="7772400" y="3291840"/>
            <a:ext cx="3840480" cy="731520"/>
          </a:xfrm>
          <a:prstGeom prst="rect">
            <a:avLst/>
          </a:prstGeom>
          <a:noFill/>
          <a:ln/>
        </p:spPr>
        <p:txBody>
          <a:bodyPr wrap="square" lIns="0" tIns="0" rIns="0" bIns="0" rtlCol="0" anchor="t"/>
          <a:lstStyle/>
          <a:p>
            <a:pPr indent="0" marL="0">
              <a:buNone/>
            </a:pPr>
            <a:r>
              <a:rPr lang="en-US" sz="1300" dirty="0">
                <a:solidFill>
                  <a:schemeClr val="tx2"/>
                </a:solidFill>
              </a:rPr>
              <a:t>Eronder, erop, erboven. Wie &lt; 17 schreef in plaats van &lt;= 17, faalt op 2009.</a:t>
            </a:r>
            <a:endParaRPr lang="en-US" sz="1300" dirty="0"/>
          </a:p>
        </p:txBody>
      </p:sp>
      <p:sp>
        <p:nvSpPr>
          <p:cNvPr id="22" name="kaart"/>
          <p:cNvSpPr/>
          <p:nvPr/>
        </p:nvSpPr>
        <p:spPr>
          <a:xfrm>
            <a:off x="7772400" y="4160520"/>
            <a:ext cx="3840480" cy="1874520"/>
          </a:xfrm>
          <a:prstGeom prst="roundRect">
            <a:avLst>
              <a:gd name="adj" fmla="val 5854"/>
            </a:avLst>
          </a:prstGeom>
          <a:solidFill>
            <a:schemeClr val="tx1"/>
          </a:solidFill>
          <a:ln w="12700">
            <a:solidFill>
              <a:schemeClr val="tx1"/>
            </a:solidFill>
            <a:prstDash val="solid"/>
          </a:ln>
        </p:spPr>
      </p:sp>
      <p:sp>
        <p:nvSpPr>
          <p:cNvPr id="23" name="Text 21"/>
          <p:cNvSpPr txBox="1"/>
          <p:nvPr/>
        </p:nvSpPr>
        <p:spPr>
          <a:xfrm>
            <a:off x="8046720" y="4297680"/>
            <a:ext cx="3383280" cy="640080"/>
          </a:xfrm>
          <a:prstGeom prst="rect">
            <a:avLst/>
          </a:prstGeom>
          <a:noFill/>
          <a:ln/>
        </p:spPr>
        <p:txBody>
          <a:bodyPr wrap="square" lIns="0" tIns="0" rIns="0" bIns="0" rtlCol="0" anchor="ctr"/>
          <a:lstStyle/>
          <a:p>
            <a:pPr indent="0" marL="0">
              <a:buNone/>
            </a:pPr>
            <a:r>
              <a:rPr lang="en-US" sz="3000" b="1" dirty="0">
                <a:solidFill>
                  <a:schemeClr val="accent1"/>
                </a:solidFill>
              </a:rPr>
              <a:t>9</a:t>
            </a:r>
            <a:pPr indent="0" marL="0">
              <a:buNone/>
            </a:pPr>
            <a:r>
              <a:rPr lang="en-US" sz="1600" dirty="0">
                <a:solidFill>
                  <a:schemeClr val="bg1"/>
                </a:solidFill>
              </a:rPr>
              <a:t> geldig  +  </a:t>
            </a:r>
            <a:pPr indent="0" marL="0">
              <a:buNone/>
            </a:pPr>
            <a:r>
              <a:rPr lang="en-US" sz="3000" b="1" dirty="0">
                <a:solidFill>
                  <a:schemeClr val="accent1"/>
                </a:solidFill>
              </a:rPr>
              <a:t>6</a:t>
            </a:r>
            <a:pPr indent="0" marL="0">
              <a:buNone/>
            </a:pPr>
            <a:r>
              <a:rPr lang="en-US" sz="1600" dirty="0">
                <a:solidFill>
                  <a:schemeClr val="bg1"/>
                </a:solidFill>
              </a:rPr>
              <a:t> ongeldig</a:t>
            </a:r>
            <a:endParaRPr lang="en-US" sz="1600" dirty="0"/>
          </a:p>
        </p:txBody>
      </p:sp>
      <p:sp>
        <p:nvSpPr>
          <p:cNvPr id="24" name="Text 22"/>
          <p:cNvSpPr txBox="1"/>
          <p:nvPr/>
        </p:nvSpPr>
        <p:spPr>
          <a:xfrm>
            <a:off x="8046720" y="4983480"/>
            <a:ext cx="3383280" cy="868680"/>
          </a:xfrm>
          <a:prstGeom prst="rect">
            <a:avLst/>
          </a:prstGeom>
          <a:noFill/>
          <a:ln/>
        </p:spPr>
        <p:txBody>
          <a:bodyPr wrap="square" lIns="0" tIns="0" rIns="0" bIns="0" rtlCol="0" anchor="t"/>
          <a:lstStyle/>
          <a:p>
            <a:pPr indent="0" marL="0">
              <a:buNone/>
            </a:pPr>
            <a:r>
              <a:rPr lang="en-US" sz="1400" dirty="0">
                <a:solidFill>
                  <a:schemeClr val="bg2"/>
                </a:solidFill>
              </a:rPr>
              <a:t>= 15 controles: precies wat eis 9 minstens vraagt.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De tests (2): de testloper</a:t>
            </a:r>
            <a:endParaRPr lang="en-US" sz="3400" dirty="0"/>
          </a:p>
        </p:txBody>
      </p:sp>
      <p:sp>
        <p:nvSpPr>
          <p:cNvPr id="3" name="codevak"/>
          <p:cNvSpPr/>
          <p:nvPr/>
        </p:nvSpPr>
        <p:spPr>
          <a:xfrm>
            <a:off x="548640" y="1325880"/>
            <a:ext cx="6949440" cy="4709160"/>
          </a:xfrm>
          <a:prstGeom prst="roundRect">
            <a:avLst>
              <a:gd name="adj" fmla="val 1942"/>
            </a:avLst>
          </a:prstGeom>
          <a:solidFill>
            <a:srgbClr val="161A33"/>
          </a:solidFill>
          <a:ln w="12700">
            <a:solidFill>
              <a:srgbClr val="161A33"/>
            </a:solidFill>
            <a:prstDash val="solid"/>
          </a:ln>
        </p:spPr>
      </p:sp>
      <p:sp>
        <p:nvSpPr>
          <p:cNvPr id="4" name="Text 2"/>
          <p:cNvSpPr txBox="1"/>
          <p:nvPr/>
        </p:nvSpPr>
        <p:spPr>
          <a:xfrm>
            <a:off x="777240" y="1435608"/>
            <a:ext cx="649224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PYTHON · UITWERKING-B, INGEKORT</a:t>
            </a:r>
            <a:endParaRPr lang="en-US" sz="1100" dirty="0"/>
          </a:p>
        </p:txBody>
      </p:sp>
      <p:sp>
        <p:nvSpPr>
          <p:cNvPr id="5" name="code"/>
          <p:cNvSpPr txBox="1"/>
          <p:nvPr/>
        </p:nvSpPr>
        <p:spPr>
          <a:xfrm>
            <a:off x="777240" y="1783080"/>
            <a:ext cx="6492240" cy="4114800"/>
          </a:xfrm>
          <a:prstGeom prst="rect">
            <a:avLst/>
          </a:prstGeom>
          <a:noFill/>
          <a:ln/>
        </p:spPr>
        <p:txBody>
          <a:bodyPr wrap="square" lIns="0" tIns="0" rIns="0" bIns="0" rtlCol="0" anchor="t"/>
          <a:lstStyle/>
          <a:p>
            <a:pPr indent="0" marL="0">
              <a:buNone/>
            </a:pPr>
            <a:r>
              <a:rPr lang="en-US" sz="950" dirty="0">
                <a:solidFill>
                  <a:srgbClr val="E8ECF8"/>
                </a:solidFill>
                <a:latin typeface="Consolas" pitchFamily="34" charset="0"/>
                <a:ea typeface="Consolas" pitchFamily="34" charset="-122"/>
                <a:cs typeface="Consolas" pitchFamily="34" charset="-120"/>
              </a:rPr>
              <a:t>def draai():</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"""Draait alle gevallen en meldt elk verschil."""</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gefaald = []</a:t>
            </a:r>
            <a:endParaRPr lang="en-US" sz="950" dirty="0"/>
          </a:p>
          <a:p>
            <a:pPr indent="0" marL="0">
              <a:buNone/>
            </a:pPr>
            <a:r>
              <a:rPr lang="en-US" sz="950" dirty="0">
                <a:solidFill>
                  <a:srgbClr val="8A93B8"/>
                </a:solidFill>
                <a:latin typeface="Consolas" pitchFamily="34" charset="0"/>
                <a:ea typeface="Consolas" pitchFamily="34" charset="-122"/>
                <a:cs typeface="Consolas" pitchFamily="34" charset="-120"/>
              </a:rPr>
              <a:t>    # 1. positieve tests: werkelijk tegenover verwacht</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for jaar, rang, verwacht in GELDIG:</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werkelijk = lidgeld_centen(jaar, rang)</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if werkelijk != verwacht:</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gefaald.append(...)</a:t>
            </a:r>
            <a:endParaRPr lang="en-US" sz="950" dirty="0"/>
          </a:p>
          <a:p>
            <a:pPr indent="0" marL="0">
              <a:buNone/>
            </a:pPr>
            <a:r>
              <a:rPr lang="en-US" sz="950" dirty="0">
                <a:solidFill>
                  <a:srgbClr val="8A93B8"/>
                </a:solidFill>
                <a:latin typeface="Consolas" pitchFamily="34" charset="0"/>
                <a:ea typeface="Consolas" pitchFamily="34" charset="-122"/>
                <a:cs typeface="Consolas" pitchFamily="34" charset="-120"/>
              </a:rPr>
              <a:t>    # 2. negatieve tests: juiste fout, andere fout of geen fout</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for jaar, rang, soort in ONGELDIG:</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try:</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lidgeld_centen(jaar, rang)</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except soort:</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continue</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except Exception as fout:</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gefaald.append(...)</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continue</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gefaald.append(...)</a:t>
            </a:r>
            <a:endParaRPr lang="en-US" sz="950" dirty="0"/>
          </a:p>
          <a:p>
            <a:pPr indent="0" marL="0">
              <a:buNone/>
            </a:pPr>
            <a:r>
              <a:rPr lang="en-US" sz="950" dirty="0">
                <a:solidFill>
                  <a:srgbClr val="8A93B8"/>
                </a:solidFill>
                <a:latin typeface="Consolas" pitchFamily="34" charset="0"/>
                <a:ea typeface="Consolas" pitchFamily="34" charset="-122"/>
                <a:cs typeface="Consolas" pitchFamily="34" charset="-120"/>
              </a:rPr>
              <a:t>    # 3. postconditie over het hele bereik: 1900 tot en met 2026</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for jaar in range(1900, HUIDIG_JAAR + 1):</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for rang in (1, 2):</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bedrag = lidgeld_centen(jaar, rang)</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if not 0 &lt;= bedrag &lt;= BASISTARIEF_CENTEN:</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gefaald.append(...)</a:t>
            </a:r>
            <a:endParaRPr lang="en-US" sz="950" dirty="0"/>
          </a:p>
          <a:p>
            <a:pPr indent="0" marL="0">
              <a:buNone/>
            </a:pPr>
            <a:r>
              <a:rPr lang="en-US" sz="950" dirty="0">
                <a:solidFill>
                  <a:srgbClr val="8A93B8"/>
                </a:solidFill>
                <a:latin typeface="Consolas" pitchFamily="34" charset="0"/>
                <a:ea typeface="Consolas" pitchFamily="34" charset="-122"/>
                <a:cs typeface="Consolas" pitchFamily="34" charset="-120"/>
              </a:rPr>
              <a:t>    # ... verslag afdrukken, zie de codemap</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return not gefaald</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E8ECF8"/>
                </a:solidFill>
                <a:latin typeface="Consolas" pitchFamily="34" charset="0"/>
                <a:ea typeface="Consolas" pitchFamily="34" charset="-122"/>
                <a:cs typeface="Consolas" pitchFamily="34" charset="-120"/>
              </a:rPr>
              <a:t>print("Groen:", draai())</a:t>
            </a:r>
            <a:endParaRPr lang="en-US" sz="950" dirty="0"/>
          </a:p>
        </p:txBody>
      </p:sp>
      <p:sp>
        <p:nvSpPr>
          <p:cNvPr id="6" name="uitvoervak"/>
          <p:cNvSpPr/>
          <p:nvPr/>
        </p:nvSpPr>
        <p:spPr>
          <a:xfrm>
            <a:off x="7772400" y="1325880"/>
            <a:ext cx="3840480" cy="1463040"/>
          </a:xfrm>
          <a:prstGeom prst="roundRect">
            <a:avLst>
              <a:gd name="adj" fmla="val 6250"/>
            </a:avLst>
          </a:prstGeom>
          <a:solidFill>
            <a:schemeClr val="bg2"/>
          </a:solidFill>
          <a:ln w="12700">
            <a:solidFill>
              <a:schemeClr val="bg2"/>
            </a:solidFill>
            <a:prstDash val="solid"/>
          </a:ln>
        </p:spPr>
      </p:sp>
      <p:sp>
        <p:nvSpPr>
          <p:cNvPr id="7" name="Text 5"/>
          <p:cNvSpPr txBox="1"/>
          <p:nvPr/>
        </p:nvSpPr>
        <p:spPr>
          <a:xfrm>
            <a:off x="8001000" y="1435608"/>
            <a:ext cx="182880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UITVOER</a:t>
            </a:r>
            <a:endParaRPr lang="en-US" sz="1100" dirty="0"/>
          </a:p>
        </p:txBody>
      </p:sp>
      <p:sp>
        <p:nvSpPr>
          <p:cNvPr id="8" name="uitvoer"/>
          <p:cNvSpPr txBox="1"/>
          <p:nvPr/>
        </p:nvSpPr>
        <p:spPr>
          <a:xfrm>
            <a:off x="8001000" y="1783080"/>
            <a:ext cx="3383280" cy="868680"/>
          </a:xfrm>
          <a:prstGeom prst="rect">
            <a:avLst/>
          </a:prstGeom>
          <a:noFill/>
          <a:ln/>
        </p:spPr>
        <p:txBody>
          <a:bodyPr wrap="square" lIns="0" tIns="0" rIns="0" bIns="0" rtlCol="0" anchor="t"/>
          <a:lstStyle/>
          <a:p>
            <a:pPr indent="0" marL="0">
              <a:buNone/>
            </a:pPr>
            <a:r>
              <a:rPr lang="en-US" sz="1100" dirty="0">
                <a:solidFill>
                  <a:schemeClr val="tx1"/>
                </a:solidFill>
                <a:latin typeface="Consolas" pitchFamily="34" charset="0"/>
                <a:ea typeface="Consolas" pitchFamily="34" charset="-122"/>
                <a:cs typeface="Consolas" pitchFamily="34" charset="-120"/>
              </a:rPr>
              <a:t>15 van de 15 gevallen geslaagd</a:t>
            </a:r>
            <a:endParaRPr lang="en-US" sz="1100" dirty="0"/>
          </a:p>
          <a:p>
            <a:pPr indent="0" marL="0">
              <a:buNone/>
            </a:pPr>
            <a:r>
              <a:rPr lang="en-US" sz="1100" dirty="0">
                <a:solidFill>
                  <a:schemeClr val="tx1"/>
                </a:solidFill>
                <a:latin typeface="Consolas" pitchFamily="34" charset="0"/>
                <a:ea typeface="Consolas" pitchFamily="34" charset="-122"/>
                <a:cs typeface="Consolas" pitchFamily="34" charset="-120"/>
              </a:rPr>
              <a:t>postconditie nagegaan voor 254 combinaties</a:t>
            </a:r>
            <a:endParaRPr lang="en-US" sz="1100" dirty="0"/>
          </a:p>
          <a:p>
            <a:pPr indent="0" marL="0">
              <a:buNone/>
            </a:pPr>
            <a:r>
              <a:rPr lang="en-US" sz="1100" dirty="0">
                <a:solidFill>
                  <a:schemeClr val="tx1"/>
                </a:solidFill>
                <a:latin typeface="Consolas" pitchFamily="34" charset="0"/>
                <a:ea typeface="Consolas" pitchFamily="34" charset="-122"/>
                <a:cs typeface="Consolas" pitchFamily="34" charset="-120"/>
              </a:rPr>
              <a:t>Groen: True</a:t>
            </a:r>
            <a:endParaRPr lang="en-US" sz="1100" dirty="0"/>
          </a:p>
        </p:txBody>
      </p:sp>
      <p:sp>
        <p:nvSpPr>
          <p:cNvPr id="9" name="kaart"/>
          <p:cNvSpPr/>
          <p:nvPr/>
        </p:nvSpPr>
        <p:spPr>
          <a:xfrm>
            <a:off x="7772400" y="3017520"/>
            <a:ext cx="3840480" cy="914400"/>
          </a:xfrm>
          <a:prstGeom prst="roundRect">
            <a:avLst>
              <a:gd name="adj" fmla="val 12000"/>
            </a:avLst>
          </a:prstGeom>
          <a:solidFill>
            <a:schemeClr val="bg2"/>
          </a:solidFill>
          <a:ln w="12700">
            <a:solidFill>
              <a:schemeClr val="bg2"/>
            </a:solidFill>
            <a:prstDash val="solid"/>
          </a:ln>
        </p:spPr>
      </p:sp>
      <p:sp>
        <p:nvSpPr>
          <p:cNvPr id="10" name="Text 8"/>
          <p:cNvSpPr txBox="1"/>
          <p:nvPr/>
        </p:nvSpPr>
        <p:spPr>
          <a:xfrm>
            <a:off x="7955280" y="3090672"/>
            <a:ext cx="3520440" cy="274320"/>
          </a:xfrm>
          <a:prstGeom prst="rect">
            <a:avLst/>
          </a:prstGeom>
          <a:noFill/>
          <a:ln/>
        </p:spPr>
        <p:txBody>
          <a:bodyPr wrap="square" lIns="0" tIns="0" rIns="0" bIns="0" rtlCol="0" anchor="t"/>
          <a:lstStyle/>
          <a:p>
            <a:pPr indent="0" marL="0">
              <a:buNone/>
            </a:pPr>
            <a:r>
              <a:rPr lang="en-US" sz="1300" b="1" dirty="0">
                <a:solidFill>
                  <a:schemeClr val="accent2"/>
                </a:solidFill>
              </a:rPr>
              <a:t>Drie uitkomsten</a:t>
            </a:r>
            <a:endParaRPr lang="en-US" sz="1300" dirty="0"/>
          </a:p>
        </p:txBody>
      </p:sp>
      <p:sp>
        <p:nvSpPr>
          <p:cNvPr id="11" name="Text 9"/>
          <p:cNvSpPr txBox="1"/>
          <p:nvPr/>
        </p:nvSpPr>
        <p:spPr>
          <a:xfrm>
            <a:off x="7955280" y="3364992"/>
            <a:ext cx="3520440" cy="548640"/>
          </a:xfrm>
          <a:prstGeom prst="rect">
            <a:avLst/>
          </a:prstGeom>
          <a:noFill/>
          <a:ln/>
        </p:spPr>
        <p:txBody>
          <a:bodyPr wrap="square" lIns="0" tIns="0" rIns="0" bIns="0" rtlCol="0" anchor="t"/>
          <a:lstStyle/>
          <a:p>
            <a:pPr indent="0" marL="0">
              <a:buNone/>
            </a:pPr>
            <a:r>
              <a:rPr lang="en-US" sz="1150" dirty="0">
                <a:solidFill>
                  <a:schemeClr val="tx1"/>
                </a:solidFill>
              </a:rPr>
              <a:t>Bij ongeldige invoer: de verwachte fout is goed, een andere fout of geen fout wordt genoteerd.</a:t>
            </a:r>
            <a:endParaRPr lang="en-US" sz="1150" dirty="0"/>
          </a:p>
        </p:txBody>
      </p:sp>
      <p:sp>
        <p:nvSpPr>
          <p:cNvPr id="12" name="kaart"/>
          <p:cNvSpPr/>
          <p:nvPr/>
        </p:nvSpPr>
        <p:spPr>
          <a:xfrm>
            <a:off x="7772400" y="4041648"/>
            <a:ext cx="3840480" cy="914400"/>
          </a:xfrm>
          <a:prstGeom prst="roundRect">
            <a:avLst>
              <a:gd name="adj" fmla="val 12000"/>
            </a:avLst>
          </a:prstGeom>
          <a:solidFill>
            <a:schemeClr val="bg2"/>
          </a:solidFill>
          <a:ln w="12700">
            <a:solidFill>
              <a:schemeClr val="bg2"/>
            </a:solidFill>
            <a:prstDash val="solid"/>
          </a:ln>
        </p:spPr>
      </p:sp>
      <p:sp>
        <p:nvSpPr>
          <p:cNvPr id="13" name="Text 11"/>
          <p:cNvSpPr txBox="1"/>
          <p:nvPr/>
        </p:nvSpPr>
        <p:spPr>
          <a:xfrm>
            <a:off x="7955280" y="4114800"/>
            <a:ext cx="3520440" cy="274320"/>
          </a:xfrm>
          <a:prstGeom prst="rect">
            <a:avLst/>
          </a:prstGeom>
          <a:noFill/>
          <a:ln/>
        </p:spPr>
        <p:txBody>
          <a:bodyPr wrap="square" lIns="0" tIns="0" rIns="0" bIns="0" rtlCol="0" anchor="t"/>
          <a:lstStyle/>
          <a:p>
            <a:pPr indent="0" marL="0">
              <a:buNone/>
            </a:pPr>
            <a:r>
              <a:rPr lang="en-US" sz="1300" b="1" dirty="0">
                <a:solidFill>
                  <a:schemeClr val="accent2"/>
                </a:solidFill>
              </a:rPr>
              <a:t>254 combinaties</a:t>
            </a:r>
            <a:endParaRPr lang="en-US" sz="1300" dirty="0"/>
          </a:p>
        </p:txBody>
      </p:sp>
      <p:sp>
        <p:nvSpPr>
          <p:cNvPr id="14" name="Text 12"/>
          <p:cNvSpPr txBox="1"/>
          <p:nvPr/>
        </p:nvSpPr>
        <p:spPr>
          <a:xfrm>
            <a:off x="7955280" y="4389120"/>
            <a:ext cx="3520440" cy="548640"/>
          </a:xfrm>
          <a:prstGeom prst="rect">
            <a:avLst/>
          </a:prstGeom>
          <a:noFill/>
          <a:ln/>
        </p:spPr>
        <p:txBody>
          <a:bodyPr wrap="square" lIns="0" tIns="0" rIns="0" bIns="0" rtlCol="0" anchor="t"/>
          <a:lstStyle/>
          <a:p>
            <a:pPr indent="0" marL="0">
              <a:buNone/>
            </a:pPr>
            <a:r>
              <a:rPr lang="en-US" sz="1150" dirty="0">
                <a:solidFill>
                  <a:schemeClr val="tx1"/>
                </a:solidFill>
              </a:rPr>
              <a:t>127 jaren maal 2 rangen. Uitputtend testen kan hier, omdat het bereik klein is.</a:t>
            </a:r>
            <a:endParaRPr lang="en-US" sz="1150" dirty="0"/>
          </a:p>
        </p:txBody>
      </p:sp>
      <p:sp>
        <p:nvSpPr>
          <p:cNvPr id="15" name="kaart"/>
          <p:cNvSpPr/>
          <p:nvPr/>
        </p:nvSpPr>
        <p:spPr>
          <a:xfrm>
            <a:off x="7772400" y="5065776"/>
            <a:ext cx="3840480" cy="914400"/>
          </a:xfrm>
          <a:prstGeom prst="roundRect">
            <a:avLst>
              <a:gd name="adj" fmla="val 12000"/>
            </a:avLst>
          </a:prstGeom>
          <a:solidFill>
            <a:schemeClr val="bg2"/>
          </a:solidFill>
          <a:ln w="12700">
            <a:solidFill>
              <a:schemeClr val="bg2"/>
            </a:solidFill>
            <a:prstDash val="solid"/>
          </a:ln>
        </p:spPr>
      </p:sp>
      <p:sp>
        <p:nvSpPr>
          <p:cNvPr id="16" name="Text 14"/>
          <p:cNvSpPr txBox="1"/>
          <p:nvPr/>
        </p:nvSpPr>
        <p:spPr>
          <a:xfrm>
            <a:off x="7955280" y="5138928"/>
            <a:ext cx="3520440" cy="274320"/>
          </a:xfrm>
          <a:prstGeom prst="rect">
            <a:avLst/>
          </a:prstGeom>
          <a:noFill/>
          <a:ln/>
        </p:spPr>
        <p:txBody>
          <a:bodyPr wrap="square" lIns="0" tIns="0" rIns="0" bIns="0" rtlCol="0" anchor="t"/>
          <a:lstStyle/>
          <a:p>
            <a:pPr indent="0" marL="0">
              <a:buNone/>
            </a:pPr>
            <a:r>
              <a:rPr lang="en-US" sz="1300" b="1" dirty="0">
                <a:solidFill>
                  <a:schemeClr val="accent2"/>
                </a:solidFill>
              </a:rPr>
              <a:t>return not gefaald</a:t>
            </a:r>
            <a:endParaRPr lang="en-US" sz="1300" dirty="0"/>
          </a:p>
        </p:txBody>
      </p:sp>
      <p:sp>
        <p:nvSpPr>
          <p:cNvPr id="17" name="Text 15"/>
          <p:cNvSpPr txBox="1"/>
          <p:nvPr/>
        </p:nvSpPr>
        <p:spPr>
          <a:xfrm>
            <a:off x="7955280" y="5413248"/>
            <a:ext cx="3520440" cy="548640"/>
          </a:xfrm>
          <a:prstGeom prst="rect">
            <a:avLst/>
          </a:prstGeom>
          <a:noFill/>
          <a:ln/>
        </p:spPr>
        <p:txBody>
          <a:bodyPr wrap="square" lIns="0" tIns="0" rIns="0" bIns="0" rtlCol="0" anchor="t"/>
          <a:lstStyle/>
          <a:p>
            <a:pPr indent="0" marL="0">
              <a:buNone/>
            </a:pPr>
            <a:r>
              <a:rPr lang="en-US" sz="1150" dirty="0">
                <a:solidFill>
                  <a:schemeClr val="tx1"/>
                </a:solidFill>
              </a:rPr>
              <a:t>True als de lijst leeg is: groen.</a:t>
            </a:r>
            <a:endParaRPr lang="en-US" sz="115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Wat deze uitwerking laat zien</a:t>
            </a:r>
            <a:endParaRPr lang="en-US" sz="3400" dirty="0"/>
          </a:p>
        </p:txBody>
      </p:sp>
      <p:sp>
        <p:nvSpPr>
          <p:cNvPr id="3" name="tabelkop"/>
          <p:cNvSpPr/>
          <p:nvPr/>
        </p:nvSpPr>
        <p:spPr>
          <a:xfrm>
            <a:off x="548640" y="1280160"/>
            <a:ext cx="11064240" cy="457200"/>
          </a:xfrm>
          <a:prstGeom prst="rect">
            <a:avLst/>
          </a:prstGeom>
          <a:solidFill>
            <a:schemeClr val="tx1"/>
          </a:solidFill>
          <a:ln w="12700">
            <a:solidFill>
              <a:schemeClr val="tx1"/>
            </a:solidFill>
            <a:prstDash val="solid"/>
          </a:ln>
        </p:spPr>
      </p:sp>
      <p:sp>
        <p:nvSpPr>
          <p:cNvPr id="4" name="Text 2"/>
          <p:cNvSpPr txBox="1"/>
          <p:nvPr/>
        </p:nvSpPr>
        <p:spPr>
          <a:xfrm>
            <a:off x="685800" y="1280160"/>
            <a:ext cx="5486400" cy="457200"/>
          </a:xfrm>
          <a:prstGeom prst="rect">
            <a:avLst/>
          </a:prstGeom>
          <a:noFill/>
          <a:ln/>
        </p:spPr>
        <p:txBody>
          <a:bodyPr wrap="square" lIns="0" tIns="0" rIns="0" bIns="0" rtlCol="0" anchor="ctr"/>
          <a:lstStyle/>
          <a:p>
            <a:pPr indent="0" marL="0">
              <a:buNone/>
            </a:pPr>
            <a:r>
              <a:rPr lang="en-US" sz="1300" b="1" dirty="0">
                <a:solidFill>
                  <a:schemeClr val="bg1"/>
                </a:solidFill>
              </a:rPr>
              <a:t>Punt</a:t>
            </a:r>
            <a:endParaRPr lang="en-US" sz="1300" dirty="0"/>
          </a:p>
        </p:txBody>
      </p:sp>
      <p:sp>
        <p:nvSpPr>
          <p:cNvPr id="5" name="Text 3"/>
          <p:cNvSpPr txBox="1"/>
          <p:nvPr/>
        </p:nvSpPr>
        <p:spPr>
          <a:xfrm>
            <a:off x="6446520" y="1280160"/>
            <a:ext cx="5029200" cy="457200"/>
          </a:xfrm>
          <a:prstGeom prst="rect">
            <a:avLst/>
          </a:prstGeom>
          <a:noFill/>
          <a:ln/>
        </p:spPr>
        <p:txBody>
          <a:bodyPr wrap="square" lIns="0" tIns="0" rIns="0" bIns="0" rtlCol="0" anchor="ctr"/>
          <a:lstStyle/>
          <a:p>
            <a:pPr indent="0" marL="0">
              <a:buNone/>
            </a:pPr>
            <a:r>
              <a:rPr lang="en-US" sz="1300" b="1" dirty="0">
                <a:solidFill>
                  <a:schemeClr val="bg1"/>
                </a:solidFill>
              </a:rPr>
              <a:t>Waar het vandaan komt</a:t>
            </a:r>
            <a:endParaRPr lang="en-US" sz="1300" dirty="0"/>
          </a:p>
        </p:txBody>
      </p:sp>
      <p:sp>
        <p:nvSpPr>
          <p:cNvPr id="6" name="tabelrij"/>
          <p:cNvSpPr/>
          <p:nvPr/>
        </p:nvSpPr>
        <p:spPr>
          <a:xfrm>
            <a:off x="548640" y="1737360"/>
            <a:ext cx="11064240" cy="475488"/>
          </a:xfrm>
          <a:prstGeom prst="rect">
            <a:avLst/>
          </a:prstGeom>
          <a:solidFill>
            <a:schemeClr val="bg2"/>
          </a:solidFill>
          <a:ln w="9525">
            <a:solidFill>
              <a:schemeClr val="bg2"/>
            </a:solidFill>
            <a:prstDash val="solid"/>
          </a:ln>
        </p:spPr>
      </p:sp>
      <p:sp>
        <p:nvSpPr>
          <p:cNvPr id="7" name="Text 5"/>
          <p:cNvSpPr txBox="1"/>
          <p:nvPr/>
        </p:nvSpPr>
        <p:spPr>
          <a:xfrm>
            <a:off x="685800" y="1737360"/>
            <a:ext cx="5486400" cy="475488"/>
          </a:xfrm>
          <a:prstGeom prst="rect">
            <a:avLst/>
          </a:prstGeom>
          <a:noFill/>
          <a:ln/>
        </p:spPr>
        <p:txBody>
          <a:bodyPr wrap="square" lIns="0" tIns="0" rIns="0" bIns="0" rtlCol="0" anchor="ctr"/>
          <a:lstStyle/>
          <a:p>
            <a:pPr indent="0" marL="0">
              <a:buNone/>
            </a:pPr>
            <a:r>
              <a:rPr lang="en-US" sz="1400" b="1" dirty="0">
                <a:solidFill>
                  <a:schemeClr val="tx1"/>
                </a:solidFill>
              </a:rPr>
              <a:t>Geen enkele input() in de kern</a:t>
            </a:r>
            <a:endParaRPr lang="en-US" sz="1400" dirty="0"/>
          </a:p>
        </p:txBody>
      </p:sp>
      <p:sp>
        <p:nvSpPr>
          <p:cNvPr id="8" name="Text 6"/>
          <p:cNvSpPr txBox="1"/>
          <p:nvPr/>
        </p:nvSpPr>
        <p:spPr>
          <a:xfrm>
            <a:off x="6446520" y="1737360"/>
            <a:ext cx="5029200" cy="475488"/>
          </a:xfrm>
          <a:prstGeom prst="rect">
            <a:avLst/>
          </a:prstGeom>
          <a:noFill/>
          <a:ln/>
        </p:spPr>
        <p:txBody>
          <a:bodyPr wrap="square" lIns="0" tIns="0" rIns="0" bIns="0" rtlCol="0" anchor="ctr"/>
          <a:lstStyle/>
          <a:p>
            <a:pPr indent="0" marL="0">
              <a:buNone/>
            </a:pPr>
            <a:r>
              <a:rPr lang="en-US" sz="1400" dirty="0">
                <a:solidFill>
                  <a:schemeClr val="tx2"/>
                </a:solidFill>
              </a:rPr>
              <a:t>Het werkplan uit 29.5</a:t>
            </a:r>
            <a:endParaRPr lang="en-US" sz="1400" dirty="0"/>
          </a:p>
        </p:txBody>
      </p:sp>
      <p:sp>
        <p:nvSpPr>
          <p:cNvPr id="9" name="tabelrij"/>
          <p:cNvSpPr/>
          <p:nvPr/>
        </p:nvSpPr>
        <p:spPr>
          <a:xfrm>
            <a:off x="548640" y="2212848"/>
            <a:ext cx="11064240" cy="475488"/>
          </a:xfrm>
          <a:prstGeom prst="rect">
            <a:avLst/>
          </a:prstGeom>
          <a:solidFill>
            <a:schemeClr val="bg1"/>
          </a:solidFill>
          <a:ln w="9525">
            <a:solidFill>
              <a:schemeClr val="bg2"/>
            </a:solidFill>
            <a:prstDash val="solid"/>
          </a:ln>
        </p:spPr>
      </p:sp>
      <p:sp>
        <p:nvSpPr>
          <p:cNvPr id="10" name="Text 8"/>
          <p:cNvSpPr txBox="1"/>
          <p:nvPr/>
        </p:nvSpPr>
        <p:spPr>
          <a:xfrm>
            <a:off x="685800" y="2212848"/>
            <a:ext cx="5486400" cy="475488"/>
          </a:xfrm>
          <a:prstGeom prst="rect">
            <a:avLst/>
          </a:prstGeom>
          <a:noFill/>
          <a:ln/>
        </p:spPr>
        <p:txBody>
          <a:bodyPr wrap="square" lIns="0" tIns="0" rIns="0" bIns="0" rtlCol="0" anchor="ctr"/>
          <a:lstStyle/>
          <a:p>
            <a:pPr indent="0" marL="0">
              <a:buNone/>
            </a:pPr>
            <a:r>
              <a:rPr lang="en-US" sz="1400" b="1" dirty="0">
                <a:solidFill>
                  <a:schemeClr val="tx1"/>
                </a:solidFill>
              </a:rPr>
              <a:t>Bedragen in centen als int</a:t>
            </a:r>
            <a:endParaRPr lang="en-US" sz="1400" dirty="0"/>
          </a:p>
        </p:txBody>
      </p:sp>
      <p:sp>
        <p:nvSpPr>
          <p:cNvPr id="11" name="Text 9"/>
          <p:cNvSpPr txBox="1"/>
          <p:nvPr/>
        </p:nvSpPr>
        <p:spPr>
          <a:xfrm>
            <a:off x="6446520" y="2212848"/>
            <a:ext cx="5029200" cy="475488"/>
          </a:xfrm>
          <a:prstGeom prst="rect">
            <a:avLst/>
          </a:prstGeom>
          <a:noFill/>
          <a:ln/>
        </p:spPr>
        <p:txBody>
          <a:bodyPr wrap="square" lIns="0" tIns="0" rIns="0" bIns="0" rtlCol="0" anchor="ctr"/>
          <a:lstStyle/>
          <a:p>
            <a:pPr indent="0" marL="0">
              <a:buNone/>
            </a:pPr>
            <a:r>
              <a:rPr lang="en-US" sz="1400" dirty="0">
                <a:solidFill>
                  <a:schemeClr val="tx2"/>
                </a:solidFill>
              </a:rPr>
              <a:t>De drijvendekommaval uit hoofdstuk 6</a:t>
            </a:r>
            <a:endParaRPr lang="en-US" sz="1400" dirty="0"/>
          </a:p>
        </p:txBody>
      </p:sp>
      <p:sp>
        <p:nvSpPr>
          <p:cNvPr id="12" name="tabelrij"/>
          <p:cNvSpPr/>
          <p:nvPr/>
        </p:nvSpPr>
        <p:spPr>
          <a:xfrm>
            <a:off x="548640" y="2688336"/>
            <a:ext cx="11064240" cy="475488"/>
          </a:xfrm>
          <a:prstGeom prst="rect">
            <a:avLst/>
          </a:prstGeom>
          <a:solidFill>
            <a:schemeClr val="bg2"/>
          </a:solidFill>
          <a:ln w="9525">
            <a:solidFill>
              <a:schemeClr val="bg2"/>
            </a:solidFill>
            <a:prstDash val="solid"/>
          </a:ln>
        </p:spPr>
      </p:sp>
      <p:sp>
        <p:nvSpPr>
          <p:cNvPr id="13" name="Text 11"/>
          <p:cNvSpPr txBox="1"/>
          <p:nvPr/>
        </p:nvSpPr>
        <p:spPr>
          <a:xfrm>
            <a:off x="685800" y="2688336"/>
            <a:ext cx="5486400" cy="475488"/>
          </a:xfrm>
          <a:prstGeom prst="rect">
            <a:avLst/>
          </a:prstGeom>
          <a:noFill/>
          <a:ln/>
        </p:spPr>
        <p:txBody>
          <a:bodyPr wrap="square" lIns="0" tIns="0" rIns="0" bIns="0" rtlCol="0" anchor="ctr"/>
          <a:lstStyle/>
          <a:p>
            <a:pPr indent="0" marL="0">
              <a:buNone/>
            </a:pPr>
            <a:r>
              <a:rPr lang="en-US" sz="1400" b="1" dirty="0">
                <a:solidFill>
                  <a:schemeClr val="tx1"/>
                </a:solidFill>
              </a:rPr>
              <a:t>isinstance(x, bool) apart uitgesloten</a:t>
            </a:r>
            <a:endParaRPr lang="en-US" sz="1400" dirty="0"/>
          </a:p>
        </p:txBody>
      </p:sp>
      <p:sp>
        <p:nvSpPr>
          <p:cNvPr id="14" name="Text 12"/>
          <p:cNvSpPr txBox="1"/>
          <p:nvPr/>
        </p:nvSpPr>
        <p:spPr>
          <a:xfrm>
            <a:off x="6446520" y="2688336"/>
            <a:ext cx="5029200" cy="475488"/>
          </a:xfrm>
          <a:prstGeom prst="rect">
            <a:avLst/>
          </a:prstGeom>
          <a:noFill/>
          <a:ln/>
        </p:spPr>
        <p:txBody>
          <a:bodyPr wrap="square" lIns="0" tIns="0" rIns="0" bIns="0" rtlCol="0" anchor="ctr"/>
          <a:lstStyle/>
          <a:p>
            <a:pPr indent="0" marL="0">
              <a:buNone/>
            </a:pPr>
            <a:r>
              <a:rPr lang="en-US" sz="1400" dirty="0">
                <a:solidFill>
                  <a:schemeClr val="tx2"/>
                </a:solidFill>
              </a:rPr>
              <a:t>De valkuil uit hoofdstuk 28</a:t>
            </a:r>
            <a:endParaRPr lang="en-US" sz="1400" dirty="0"/>
          </a:p>
        </p:txBody>
      </p:sp>
      <p:sp>
        <p:nvSpPr>
          <p:cNvPr id="15" name="tabelrij"/>
          <p:cNvSpPr/>
          <p:nvPr/>
        </p:nvSpPr>
        <p:spPr>
          <a:xfrm>
            <a:off x="548640" y="3163824"/>
            <a:ext cx="11064240" cy="475488"/>
          </a:xfrm>
          <a:prstGeom prst="rect">
            <a:avLst/>
          </a:prstGeom>
          <a:solidFill>
            <a:schemeClr val="bg1"/>
          </a:solidFill>
          <a:ln w="9525">
            <a:solidFill>
              <a:schemeClr val="bg2"/>
            </a:solidFill>
            <a:prstDash val="solid"/>
          </a:ln>
        </p:spPr>
      </p:sp>
      <p:sp>
        <p:nvSpPr>
          <p:cNvPr id="16" name="Text 14"/>
          <p:cNvSpPr txBox="1"/>
          <p:nvPr/>
        </p:nvSpPr>
        <p:spPr>
          <a:xfrm>
            <a:off x="685800" y="3163824"/>
            <a:ext cx="5486400" cy="475488"/>
          </a:xfrm>
          <a:prstGeom prst="rect">
            <a:avLst/>
          </a:prstGeom>
          <a:noFill/>
          <a:ln/>
        </p:spPr>
        <p:txBody>
          <a:bodyPr wrap="square" lIns="0" tIns="0" rIns="0" bIns="0" rtlCol="0" anchor="ctr"/>
          <a:lstStyle/>
          <a:p>
            <a:pPr indent="0" marL="0">
              <a:buNone/>
            </a:pPr>
            <a:r>
              <a:rPr lang="en-US" sz="1400" b="1" dirty="0">
                <a:solidFill>
                  <a:schemeClr val="tx1"/>
                </a:solidFill>
              </a:rPr>
              <a:t>Testwaarden rond 17 en 18 jaar</a:t>
            </a:r>
            <a:endParaRPr lang="en-US" sz="1400" dirty="0"/>
          </a:p>
        </p:txBody>
      </p:sp>
      <p:sp>
        <p:nvSpPr>
          <p:cNvPr id="17" name="Text 15"/>
          <p:cNvSpPr txBox="1"/>
          <p:nvPr/>
        </p:nvSpPr>
        <p:spPr>
          <a:xfrm>
            <a:off x="6446520" y="3163824"/>
            <a:ext cx="5029200" cy="475488"/>
          </a:xfrm>
          <a:prstGeom prst="rect">
            <a:avLst/>
          </a:prstGeom>
          <a:noFill/>
          <a:ln/>
        </p:spPr>
        <p:txBody>
          <a:bodyPr wrap="square" lIns="0" tIns="0" rIns="0" bIns="0" rtlCol="0" anchor="ctr"/>
          <a:lstStyle/>
          <a:p>
            <a:pPr indent="0" marL="0">
              <a:buNone/>
            </a:pPr>
            <a:r>
              <a:rPr lang="en-US" sz="1400" dirty="0">
                <a:solidFill>
                  <a:schemeClr val="tx2"/>
                </a:solidFill>
              </a:rPr>
              <a:t>Grenswaardenanalyse uit 28.4</a:t>
            </a:r>
            <a:endParaRPr lang="en-US" sz="1400" dirty="0"/>
          </a:p>
        </p:txBody>
      </p:sp>
      <p:sp>
        <p:nvSpPr>
          <p:cNvPr id="18" name="tabelrij"/>
          <p:cNvSpPr/>
          <p:nvPr/>
        </p:nvSpPr>
        <p:spPr>
          <a:xfrm>
            <a:off x="548640" y="3639312"/>
            <a:ext cx="11064240" cy="475488"/>
          </a:xfrm>
          <a:prstGeom prst="rect">
            <a:avLst/>
          </a:prstGeom>
          <a:solidFill>
            <a:schemeClr val="bg2"/>
          </a:solidFill>
          <a:ln w="9525">
            <a:solidFill>
              <a:schemeClr val="bg2"/>
            </a:solidFill>
            <a:prstDash val="solid"/>
          </a:ln>
        </p:spPr>
      </p:sp>
      <p:sp>
        <p:nvSpPr>
          <p:cNvPr id="19" name="Text 17"/>
          <p:cNvSpPr txBox="1"/>
          <p:nvPr/>
        </p:nvSpPr>
        <p:spPr>
          <a:xfrm>
            <a:off x="685800" y="3639312"/>
            <a:ext cx="5486400" cy="475488"/>
          </a:xfrm>
          <a:prstGeom prst="rect">
            <a:avLst/>
          </a:prstGeom>
          <a:noFill/>
          <a:ln/>
        </p:spPr>
        <p:txBody>
          <a:bodyPr wrap="square" lIns="0" tIns="0" rIns="0" bIns="0" rtlCol="0" anchor="ctr"/>
          <a:lstStyle/>
          <a:p>
            <a:pPr indent="0" marL="0">
              <a:buNone/>
            </a:pPr>
            <a:r>
              <a:rPr lang="en-US" sz="1400" b="1" dirty="0">
                <a:solidFill>
                  <a:schemeClr val="tx1"/>
                </a:solidFill>
              </a:rPr>
              <a:t>Een lus over het hele bereik voor de postconditie</a:t>
            </a:r>
            <a:endParaRPr lang="en-US" sz="1400" dirty="0"/>
          </a:p>
        </p:txBody>
      </p:sp>
      <p:sp>
        <p:nvSpPr>
          <p:cNvPr id="20" name="Text 18"/>
          <p:cNvSpPr txBox="1"/>
          <p:nvPr/>
        </p:nvSpPr>
        <p:spPr>
          <a:xfrm>
            <a:off x="6446520" y="3639312"/>
            <a:ext cx="5029200" cy="475488"/>
          </a:xfrm>
          <a:prstGeom prst="rect">
            <a:avLst/>
          </a:prstGeom>
          <a:noFill/>
          <a:ln/>
        </p:spPr>
        <p:txBody>
          <a:bodyPr wrap="square" lIns="0" tIns="0" rIns="0" bIns="0" rtlCol="0" anchor="ctr"/>
          <a:lstStyle/>
          <a:p>
            <a:pPr indent="0" marL="0">
              <a:buNone/>
            </a:pPr>
            <a:r>
              <a:rPr lang="en-US" sz="1400" dirty="0">
                <a:solidFill>
                  <a:schemeClr val="tx2"/>
                </a:solidFill>
              </a:rPr>
              <a:t>Contracten uit hoofdstuk 25</a:t>
            </a:r>
            <a:endParaRPr lang="en-US" sz="1400" dirty="0"/>
          </a:p>
        </p:txBody>
      </p:sp>
      <p:sp>
        <p:nvSpPr>
          <p:cNvPr id="21" name="tabelrij"/>
          <p:cNvSpPr/>
          <p:nvPr/>
        </p:nvSpPr>
        <p:spPr>
          <a:xfrm>
            <a:off x="548640" y="4114800"/>
            <a:ext cx="11064240" cy="475488"/>
          </a:xfrm>
          <a:prstGeom prst="rect">
            <a:avLst/>
          </a:prstGeom>
          <a:solidFill>
            <a:srgbClr val="F4A259"/>
          </a:solidFill>
          <a:ln w="9525">
            <a:solidFill>
              <a:schemeClr val="bg2"/>
            </a:solidFill>
            <a:prstDash val="solid"/>
          </a:ln>
        </p:spPr>
      </p:sp>
      <p:sp>
        <p:nvSpPr>
          <p:cNvPr id="22" name="Text 20"/>
          <p:cNvSpPr txBox="1"/>
          <p:nvPr/>
        </p:nvSpPr>
        <p:spPr>
          <a:xfrm>
            <a:off x="685800" y="4114800"/>
            <a:ext cx="5486400" cy="475488"/>
          </a:xfrm>
          <a:prstGeom prst="rect">
            <a:avLst/>
          </a:prstGeom>
          <a:noFill/>
          <a:ln/>
        </p:spPr>
        <p:txBody>
          <a:bodyPr wrap="square" lIns="0" tIns="0" rIns="0" bIns="0" rtlCol="0" anchor="ctr"/>
          <a:lstStyle/>
          <a:p>
            <a:pPr indent="0" marL="0">
              <a:buNone/>
            </a:pPr>
            <a:r>
              <a:rPr lang="en-US" sz="1400" b="1" dirty="0">
                <a:solidFill>
                  <a:schemeClr val="tx1"/>
                </a:solidFill>
              </a:rPr>
              <a:t>rang_in_gezin van 5 geeft dezelfde korting als 2</a:t>
            </a:r>
            <a:endParaRPr lang="en-US" sz="1400" dirty="0"/>
          </a:p>
        </p:txBody>
      </p:sp>
      <p:sp>
        <p:nvSpPr>
          <p:cNvPr id="23" name="Text 21"/>
          <p:cNvSpPr txBox="1"/>
          <p:nvPr/>
        </p:nvSpPr>
        <p:spPr>
          <a:xfrm>
            <a:off x="6446520" y="4114800"/>
            <a:ext cx="5029200" cy="475488"/>
          </a:xfrm>
          <a:prstGeom prst="rect">
            <a:avLst/>
          </a:prstGeom>
          <a:noFill/>
          <a:ln/>
        </p:spPr>
        <p:txBody>
          <a:bodyPr wrap="square" lIns="0" tIns="0" rIns="0" bIns="0" rtlCol="0" anchor="ctr"/>
          <a:lstStyle/>
          <a:p>
            <a:pPr indent="0" marL="0">
              <a:buNone/>
            </a:pPr>
            <a:r>
              <a:rPr lang="en-US" sz="1400" dirty="0">
                <a:solidFill>
                  <a:schemeClr val="tx2"/>
                </a:solidFill>
              </a:rPr>
              <a:t>De regel is „vanaf het tweede”, en dat wordt getest</a:t>
            </a:r>
            <a:endParaRPr lang="en-US" sz="1400" dirty="0"/>
          </a:p>
        </p:txBody>
      </p:sp>
      <p:sp>
        <p:nvSpPr>
          <p:cNvPr id="24" name="kaart"/>
          <p:cNvSpPr/>
          <p:nvPr/>
        </p:nvSpPr>
        <p:spPr>
          <a:xfrm>
            <a:off x="548640" y="4846320"/>
            <a:ext cx="11064240" cy="1188720"/>
          </a:xfrm>
          <a:prstGeom prst="roundRect">
            <a:avLst>
              <a:gd name="adj" fmla="val 9231"/>
            </a:avLst>
          </a:prstGeom>
          <a:solidFill>
            <a:schemeClr val="tx1"/>
          </a:solidFill>
          <a:ln w="12700">
            <a:solidFill>
              <a:schemeClr val="tx1"/>
            </a:solidFill>
            <a:prstDash val="solid"/>
          </a:ln>
        </p:spPr>
      </p:sp>
      <p:sp>
        <p:nvSpPr>
          <p:cNvPr id="25" name="icooncirkel"/>
          <p:cNvSpPr/>
          <p:nvPr/>
        </p:nvSpPr>
        <p:spPr>
          <a:xfrm>
            <a:off x="822960" y="5047488"/>
            <a:ext cx="777240" cy="777240"/>
          </a:xfrm>
          <a:prstGeom prst="ellipse">
            <a:avLst/>
          </a:prstGeom>
          <a:solidFill>
            <a:schemeClr val="accent1"/>
          </a:solidFill>
          <a:ln w="12700">
            <a:solidFill>
              <a:schemeClr val="accent1"/>
            </a:solidFill>
            <a:prstDash val="solid"/>
          </a:ln>
        </p:spPr>
      </p:sp>
      <p:pic>
        <p:nvPicPr>
          <p:cNvPr id="26" name="icoon" descr="preencoded.png">    </p:cNvPr>
          <p:cNvPicPr>
            <a:picLocks noChangeAspect="1"/>
          </p:cNvPicPr>
          <p:nvPr/>
        </p:nvPicPr>
        <p:blipFill>
          <a:blip r:embed="rId1"/>
          <a:stretch>
            <a:fillRect/>
          </a:stretch>
        </p:blipFill>
        <p:spPr>
          <a:xfrm>
            <a:off x="1017270" y="5241798"/>
            <a:ext cx="388620" cy="388620"/>
          </a:xfrm>
          <a:prstGeom prst="rect">
            <a:avLst/>
          </a:prstGeom>
        </p:spPr>
      </p:pic>
      <p:sp>
        <p:nvSpPr>
          <p:cNvPr id="27" name="Text 24"/>
          <p:cNvSpPr txBox="1"/>
          <p:nvPr/>
        </p:nvSpPr>
        <p:spPr>
          <a:xfrm>
            <a:off x="1828800" y="4846320"/>
            <a:ext cx="9509760" cy="1188720"/>
          </a:xfrm>
          <a:prstGeom prst="rect">
            <a:avLst/>
          </a:prstGeom>
          <a:noFill/>
          <a:ln/>
        </p:spPr>
        <p:txBody>
          <a:bodyPr wrap="square" lIns="0" tIns="0" rIns="0" bIns="0" rtlCol="0" anchor="ctr"/>
          <a:lstStyle/>
          <a:p>
            <a:pPr indent="0" marL="0">
              <a:buNone/>
            </a:pPr>
            <a:r>
              <a:rPr lang="en-US" sz="1600" b="1" dirty="0">
                <a:solidFill>
                  <a:schemeClr val="accent1"/>
                </a:solidFill>
              </a:rPr>
              <a:t>De laatste rij is de interessantste. </a:t>
            </a:r>
            <a:pPr indent="0" marL="0">
              <a:buNone/>
            </a:pPr>
            <a:r>
              <a:rPr lang="en-US" sz="1600" dirty="0">
                <a:solidFill>
                  <a:schemeClr val="bg1"/>
                </a:solidFill>
              </a:rPr>
              <a:t>De regel zegt „vanaf het tweede lid”, en de verleiding is om rang * korting te schrijven. Eén testgeval met rang 5 legt dat verschil bloot.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Wat er nu nog moet gebeuren</a:t>
            </a:r>
            <a:endParaRPr lang="en-US" sz="3400" dirty="0"/>
          </a:p>
        </p:txBody>
      </p:sp>
      <p:sp>
        <p:nvSpPr>
          <p:cNvPr id="3" name="stap"/>
          <p:cNvSpPr/>
          <p:nvPr/>
        </p:nvSpPr>
        <p:spPr>
          <a:xfrm>
            <a:off x="749808" y="1600200"/>
            <a:ext cx="685800" cy="685800"/>
          </a:xfrm>
          <a:prstGeom prst="ellipse">
            <a:avLst/>
          </a:prstGeom>
          <a:solidFill>
            <a:schemeClr val="accent2"/>
          </a:solidFill>
          <a:ln w="31750">
            <a:solidFill>
              <a:schemeClr val="accent2"/>
            </a:solidFill>
            <a:prstDash val="solid"/>
          </a:ln>
        </p:spPr>
      </p:sp>
      <p:pic>
        <p:nvPicPr>
          <p:cNvPr id="4" name="vink" descr="preencoded.png">    </p:cNvPr>
          <p:cNvPicPr>
            <a:picLocks noChangeAspect="1"/>
          </p:cNvPicPr>
          <p:nvPr/>
        </p:nvPicPr>
        <p:blipFill>
          <a:blip r:embed="rId1"/>
          <a:stretch>
            <a:fillRect/>
          </a:stretch>
        </p:blipFill>
        <p:spPr>
          <a:xfrm>
            <a:off x="932688" y="1783080"/>
            <a:ext cx="320040" cy="320040"/>
          </a:xfrm>
          <a:prstGeom prst="rect">
            <a:avLst/>
          </a:prstGeom>
        </p:spPr>
      </p:pic>
      <p:sp>
        <p:nvSpPr>
          <p:cNvPr id="5" name="Text 2"/>
          <p:cNvSpPr txBox="1"/>
          <p:nvPr/>
        </p:nvSpPr>
        <p:spPr>
          <a:xfrm>
            <a:off x="548640" y="2377440"/>
            <a:ext cx="1097280" cy="548640"/>
          </a:xfrm>
          <a:prstGeom prst="rect">
            <a:avLst/>
          </a:prstGeom>
          <a:noFill/>
          <a:ln/>
        </p:spPr>
        <p:txBody>
          <a:bodyPr wrap="square" lIns="0" tIns="0" rIns="0" bIns="0" rtlCol="0" anchor="t"/>
          <a:lstStyle/>
          <a:p>
            <a:pPr algn="ctr" indent="0" marL="0">
              <a:buNone/>
            </a:pPr>
            <a:r>
              <a:rPr lang="en-US" sz="1200" b="1" dirty="0">
                <a:solidFill>
                  <a:schemeClr val="accent2"/>
                </a:solidFill>
              </a:rPr>
              <a:t>Situatie</a:t>
            </a:r>
            <a:endParaRPr lang="en-US" sz="1200" dirty="0"/>
          </a:p>
        </p:txBody>
      </p:sp>
      <p:sp>
        <p:nvSpPr>
          <p:cNvPr id="6" name="stap"/>
          <p:cNvSpPr/>
          <p:nvPr/>
        </p:nvSpPr>
        <p:spPr>
          <a:xfrm>
            <a:off x="1879092" y="1600200"/>
            <a:ext cx="685800" cy="685800"/>
          </a:xfrm>
          <a:prstGeom prst="ellipse">
            <a:avLst/>
          </a:prstGeom>
          <a:solidFill>
            <a:schemeClr val="accent2"/>
          </a:solidFill>
          <a:ln w="31750">
            <a:solidFill>
              <a:schemeClr val="accent2"/>
            </a:solidFill>
            <a:prstDash val="solid"/>
          </a:ln>
        </p:spPr>
      </p:sp>
      <p:pic>
        <p:nvPicPr>
          <p:cNvPr id="7" name="vink" descr="preencoded.png">    </p:cNvPr>
          <p:cNvPicPr>
            <a:picLocks noChangeAspect="1"/>
          </p:cNvPicPr>
          <p:nvPr/>
        </p:nvPicPr>
        <p:blipFill>
          <a:blip r:embed="rId2"/>
          <a:stretch>
            <a:fillRect/>
          </a:stretch>
        </p:blipFill>
        <p:spPr>
          <a:xfrm>
            <a:off x="2061972" y="1783080"/>
            <a:ext cx="320040" cy="320040"/>
          </a:xfrm>
          <a:prstGeom prst="rect">
            <a:avLst/>
          </a:prstGeom>
        </p:spPr>
      </p:pic>
      <p:sp>
        <p:nvSpPr>
          <p:cNvPr id="8" name="Text 4"/>
          <p:cNvSpPr txBox="1"/>
          <p:nvPr/>
        </p:nvSpPr>
        <p:spPr>
          <a:xfrm>
            <a:off x="1677924" y="2377440"/>
            <a:ext cx="1097280" cy="548640"/>
          </a:xfrm>
          <a:prstGeom prst="rect">
            <a:avLst/>
          </a:prstGeom>
          <a:noFill/>
          <a:ln/>
        </p:spPr>
        <p:txBody>
          <a:bodyPr wrap="square" lIns="0" tIns="0" rIns="0" bIns="0" rtlCol="0" anchor="t"/>
          <a:lstStyle/>
          <a:p>
            <a:pPr algn="ctr" indent="0" marL="0">
              <a:buNone/>
            </a:pPr>
            <a:r>
              <a:rPr lang="en-US" sz="1200" b="1" dirty="0">
                <a:solidFill>
                  <a:schemeClr val="accent2"/>
                </a:solidFill>
              </a:rPr>
              <a:t>Gegevens</a:t>
            </a:r>
            <a:endParaRPr lang="en-US" sz="1200" dirty="0"/>
          </a:p>
        </p:txBody>
      </p:sp>
      <p:sp>
        <p:nvSpPr>
          <p:cNvPr id="9" name="stap"/>
          <p:cNvSpPr/>
          <p:nvPr/>
        </p:nvSpPr>
        <p:spPr>
          <a:xfrm>
            <a:off x="3008376" y="1600200"/>
            <a:ext cx="685800" cy="685800"/>
          </a:xfrm>
          <a:prstGeom prst="ellipse">
            <a:avLst/>
          </a:prstGeom>
          <a:solidFill>
            <a:schemeClr val="accent2"/>
          </a:solidFill>
          <a:ln w="31750">
            <a:solidFill>
              <a:schemeClr val="accent2"/>
            </a:solidFill>
            <a:prstDash val="solid"/>
          </a:ln>
        </p:spPr>
      </p:sp>
      <p:pic>
        <p:nvPicPr>
          <p:cNvPr id="10" name="vink" descr="preencoded.png">    </p:cNvPr>
          <p:cNvPicPr>
            <a:picLocks noChangeAspect="1"/>
          </p:cNvPicPr>
          <p:nvPr/>
        </p:nvPicPr>
        <p:blipFill>
          <a:blip r:embed="rId3"/>
          <a:stretch>
            <a:fillRect/>
          </a:stretch>
        </p:blipFill>
        <p:spPr>
          <a:xfrm>
            <a:off x="3191256" y="1783080"/>
            <a:ext cx="320040" cy="320040"/>
          </a:xfrm>
          <a:prstGeom prst="rect">
            <a:avLst/>
          </a:prstGeom>
        </p:spPr>
      </p:pic>
      <p:sp>
        <p:nvSpPr>
          <p:cNvPr id="11" name="Text 6"/>
          <p:cNvSpPr txBox="1"/>
          <p:nvPr/>
        </p:nvSpPr>
        <p:spPr>
          <a:xfrm>
            <a:off x="2807208" y="2377440"/>
            <a:ext cx="1097280" cy="548640"/>
          </a:xfrm>
          <a:prstGeom prst="rect">
            <a:avLst/>
          </a:prstGeom>
          <a:noFill/>
          <a:ln/>
        </p:spPr>
        <p:txBody>
          <a:bodyPr wrap="square" lIns="0" tIns="0" rIns="0" bIns="0" rtlCol="0" anchor="t"/>
          <a:lstStyle/>
          <a:p>
            <a:pPr algn="ctr" indent="0" marL="0">
              <a:buNone/>
            </a:pPr>
            <a:r>
              <a:rPr lang="en-US" sz="1200" b="1" dirty="0">
                <a:solidFill>
                  <a:schemeClr val="accent2"/>
                </a:solidFill>
              </a:rPr>
              <a:t>Contracten</a:t>
            </a:r>
            <a:endParaRPr lang="en-US" sz="1200" dirty="0"/>
          </a:p>
        </p:txBody>
      </p:sp>
      <p:sp>
        <p:nvSpPr>
          <p:cNvPr id="12" name="stap"/>
          <p:cNvSpPr/>
          <p:nvPr/>
        </p:nvSpPr>
        <p:spPr>
          <a:xfrm>
            <a:off x="4137660" y="1600200"/>
            <a:ext cx="685800" cy="685800"/>
          </a:xfrm>
          <a:prstGeom prst="ellipse">
            <a:avLst/>
          </a:prstGeom>
          <a:solidFill>
            <a:schemeClr val="accent2"/>
          </a:solidFill>
          <a:ln w="31750">
            <a:solidFill>
              <a:schemeClr val="accent2"/>
            </a:solidFill>
            <a:prstDash val="solid"/>
          </a:ln>
        </p:spPr>
      </p:sp>
      <p:pic>
        <p:nvPicPr>
          <p:cNvPr id="13" name="vink" descr="preencoded.png">    </p:cNvPr>
          <p:cNvPicPr>
            <a:picLocks noChangeAspect="1"/>
          </p:cNvPicPr>
          <p:nvPr/>
        </p:nvPicPr>
        <p:blipFill>
          <a:blip r:embed="rId4"/>
          <a:stretch>
            <a:fillRect/>
          </a:stretch>
        </p:blipFill>
        <p:spPr>
          <a:xfrm>
            <a:off x="4320540" y="1783080"/>
            <a:ext cx="320040" cy="320040"/>
          </a:xfrm>
          <a:prstGeom prst="rect">
            <a:avLst/>
          </a:prstGeom>
        </p:spPr>
      </p:pic>
      <p:sp>
        <p:nvSpPr>
          <p:cNvPr id="14" name="Text 8"/>
          <p:cNvSpPr txBox="1"/>
          <p:nvPr/>
        </p:nvSpPr>
        <p:spPr>
          <a:xfrm>
            <a:off x="3936492" y="2377440"/>
            <a:ext cx="1097280" cy="548640"/>
          </a:xfrm>
          <a:prstGeom prst="rect">
            <a:avLst/>
          </a:prstGeom>
          <a:noFill/>
          <a:ln/>
        </p:spPr>
        <p:txBody>
          <a:bodyPr wrap="square" lIns="0" tIns="0" rIns="0" bIns="0" rtlCol="0" anchor="t"/>
          <a:lstStyle/>
          <a:p>
            <a:pPr algn="ctr" indent="0" marL="0">
              <a:buNone/>
            </a:pPr>
            <a:r>
              <a:rPr lang="en-US" sz="1200" b="1" dirty="0">
                <a:solidFill>
                  <a:schemeClr val="accent2"/>
                </a:solidFill>
              </a:rPr>
              <a:t>Kern</a:t>
            </a:r>
            <a:endParaRPr lang="en-US" sz="1200" dirty="0"/>
          </a:p>
        </p:txBody>
      </p:sp>
      <p:sp>
        <p:nvSpPr>
          <p:cNvPr id="15" name="stap"/>
          <p:cNvSpPr/>
          <p:nvPr/>
        </p:nvSpPr>
        <p:spPr>
          <a:xfrm>
            <a:off x="5266944" y="1600200"/>
            <a:ext cx="685800" cy="685800"/>
          </a:xfrm>
          <a:prstGeom prst="ellipse">
            <a:avLst/>
          </a:prstGeom>
          <a:solidFill>
            <a:schemeClr val="accent2"/>
          </a:solidFill>
          <a:ln w="31750">
            <a:solidFill>
              <a:schemeClr val="accent2"/>
            </a:solidFill>
            <a:prstDash val="solid"/>
          </a:ln>
        </p:spPr>
      </p:sp>
      <p:pic>
        <p:nvPicPr>
          <p:cNvPr id="16" name="vink" descr="preencoded.png">    </p:cNvPr>
          <p:cNvPicPr>
            <a:picLocks noChangeAspect="1"/>
          </p:cNvPicPr>
          <p:nvPr/>
        </p:nvPicPr>
        <p:blipFill>
          <a:blip r:embed="rId5"/>
          <a:stretch>
            <a:fillRect/>
          </a:stretch>
        </p:blipFill>
        <p:spPr>
          <a:xfrm>
            <a:off x="5449824" y="1783080"/>
            <a:ext cx="320040" cy="320040"/>
          </a:xfrm>
          <a:prstGeom prst="rect">
            <a:avLst/>
          </a:prstGeom>
        </p:spPr>
      </p:pic>
      <p:sp>
        <p:nvSpPr>
          <p:cNvPr id="17" name="Text 10"/>
          <p:cNvSpPr txBox="1"/>
          <p:nvPr/>
        </p:nvSpPr>
        <p:spPr>
          <a:xfrm>
            <a:off x="5065776" y="2377440"/>
            <a:ext cx="1097280" cy="548640"/>
          </a:xfrm>
          <a:prstGeom prst="rect">
            <a:avLst/>
          </a:prstGeom>
          <a:noFill/>
          <a:ln/>
        </p:spPr>
        <p:txBody>
          <a:bodyPr wrap="square" lIns="0" tIns="0" rIns="0" bIns="0" rtlCol="0" anchor="t"/>
          <a:lstStyle/>
          <a:p>
            <a:pPr algn="ctr" indent="0" marL="0">
              <a:buNone/>
            </a:pPr>
            <a:r>
              <a:rPr lang="en-US" sz="1200" b="1" dirty="0">
                <a:solidFill>
                  <a:schemeClr val="accent2"/>
                </a:solidFill>
              </a:rPr>
              <a:t>Tests</a:t>
            </a:r>
            <a:endParaRPr lang="en-US" sz="1200" dirty="0"/>
          </a:p>
        </p:txBody>
      </p:sp>
      <p:sp>
        <p:nvSpPr>
          <p:cNvPr id="18" name="stap"/>
          <p:cNvSpPr/>
          <p:nvPr/>
        </p:nvSpPr>
        <p:spPr>
          <a:xfrm>
            <a:off x="6396228" y="1600200"/>
            <a:ext cx="685800" cy="685800"/>
          </a:xfrm>
          <a:prstGeom prst="ellipse">
            <a:avLst/>
          </a:prstGeom>
          <a:solidFill>
            <a:schemeClr val="bg1"/>
          </a:solidFill>
          <a:ln w="31750">
            <a:solidFill>
              <a:schemeClr val="accent1"/>
            </a:solidFill>
            <a:prstDash val="solid"/>
          </a:ln>
        </p:spPr>
      </p:sp>
      <p:sp>
        <p:nvSpPr>
          <p:cNvPr id="19" name="Text 12"/>
          <p:cNvSpPr txBox="1"/>
          <p:nvPr/>
        </p:nvSpPr>
        <p:spPr>
          <a:xfrm>
            <a:off x="6396228" y="1600200"/>
            <a:ext cx="685800" cy="685800"/>
          </a:xfrm>
          <a:prstGeom prst="rect">
            <a:avLst/>
          </a:prstGeom>
          <a:noFill/>
          <a:ln/>
        </p:spPr>
        <p:txBody>
          <a:bodyPr wrap="square" lIns="0" tIns="0" rIns="0" bIns="0" rtlCol="0" anchor="ctr"/>
          <a:lstStyle/>
          <a:p>
            <a:pPr algn="ctr" indent="0" marL="0">
              <a:buNone/>
            </a:pPr>
            <a:r>
              <a:rPr lang="en-US" sz="1800" b="1" dirty="0">
                <a:solidFill>
                  <a:schemeClr val="accent1"/>
                </a:solidFill>
                <a:latin typeface="Cambria" pitchFamily="34" charset="0"/>
                <a:ea typeface="Cambria" pitchFamily="34" charset="-122"/>
                <a:cs typeface="Cambria" pitchFamily="34" charset="-120"/>
              </a:rPr>
              <a:t>6</a:t>
            </a:r>
            <a:endParaRPr lang="en-US" sz="1800" dirty="0"/>
          </a:p>
        </p:txBody>
      </p:sp>
      <p:sp>
        <p:nvSpPr>
          <p:cNvPr id="20" name="Text 13"/>
          <p:cNvSpPr txBox="1"/>
          <p:nvPr/>
        </p:nvSpPr>
        <p:spPr>
          <a:xfrm>
            <a:off x="6195060" y="2377440"/>
            <a:ext cx="1097280" cy="548640"/>
          </a:xfrm>
          <a:prstGeom prst="rect">
            <a:avLst/>
          </a:prstGeom>
          <a:noFill/>
          <a:ln/>
        </p:spPr>
        <p:txBody>
          <a:bodyPr wrap="square" lIns="0" tIns="0" rIns="0" bIns="0" rtlCol="0" anchor="t"/>
          <a:lstStyle/>
          <a:p>
            <a:pPr algn="ctr" indent="0" marL="0">
              <a:buNone/>
            </a:pPr>
            <a:r>
              <a:rPr lang="en-US" sz="1200" b="1" dirty="0">
                <a:solidFill>
                  <a:schemeClr val="tx1"/>
                </a:solidFill>
              </a:rPr>
              <a:t>Opslag</a:t>
            </a:r>
            <a:endParaRPr lang="en-US" sz="1200" dirty="0"/>
          </a:p>
        </p:txBody>
      </p:sp>
      <p:sp>
        <p:nvSpPr>
          <p:cNvPr id="21" name="stap"/>
          <p:cNvSpPr/>
          <p:nvPr/>
        </p:nvSpPr>
        <p:spPr>
          <a:xfrm>
            <a:off x="7525512" y="1600200"/>
            <a:ext cx="685800" cy="685800"/>
          </a:xfrm>
          <a:prstGeom prst="ellipse">
            <a:avLst/>
          </a:prstGeom>
          <a:solidFill>
            <a:schemeClr val="bg1"/>
          </a:solidFill>
          <a:ln w="31750">
            <a:solidFill>
              <a:schemeClr val="accent1"/>
            </a:solidFill>
            <a:prstDash val="solid"/>
          </a:ln>
        </p:spPr>
      </p:sp>
      <p:sp>
        <p:nvSpPr>
          <p:cNvPr id="22" name="Text 15"/>
          <p:cNvSpPr txBox="1"/>
          <p:nvPr/>
        </p:nvSpPr>
        <p:spPr>
          <a:xfrm>
            <a:off x="7525512" y="1600200"/>
            <a:ext cx="685800" cy="685800"/>
          </a:xfrm>
          <a:prstGeom prst="rect">
            <a:avLst/>
          </a:prstGeom>
          <a:noFill/>
          <a:ln/>
        </p:spPr>
        <p:txBody>
          <a:bodyPr wrap="square" lIns="0" tIns="0" rIns="0" bIns="0" rtlCol="0" anchor="ctr"/>
          <a:lstStyle/>
          <a:p>
            <a:pPr algn="ctr" indent="0" marL="0">
              <a:buNone/>
            </a:pPr>
            <a:r>
              <a:rPr lang="en-US" sz="1800" b="1" dirty="0">
                <a:solidFill>
                  <a:schemeClr val="accent1"/>
                </a:solidFill>
                <a:latin typeface="Cambria" pitchFamily="34" charset="0"/>
                <a:ea typeface="Cambria" pitchFamily="34" charset="-122"/>
                <a:cs typeface="Cambria" pitchFamily="34" charset="-120"/>
              </a:rPr>
              <a:t>7</a:t>
            </a:r>
            <a:endParaRPr lang="en-US" sz="1800" dirty="0"/>
          </a:p>
        </p:txBody>
      </p:sp>
      <p:sp>
        <p:nvSpPr>
          <p:cNvPr id="23" name="Text 16"/>
          <p:cNvSpPr txBox="1"/>
          <p:nvPr/>
        </p:nvSpPr>
        <p:spPr>
          <a:xfrm>
            <a:off x="7324344" y="2377440"/>
            <a:ext cx="1097280" cy="548640"/>
          </a:xfrm>
          <a:prstGeom prst="rect">
            <a:avLst/>
          </a:prstGeom>
          <a:noFill/>
          <a:ln/>
        </p:spPr>
        <p:txBody>
          <a:bodyPr wrap="square" lIns="0" tIns="0" rIns="0" bIns="0" rtlCol="0" anchor="t"/>
          <a:lstStyle/>
          <a:p>
            <a:pPr algn="ctr" indent="0" marL="0">
              <a:buNone/>
            </a:pPr>
            <a:r>
              <a:rPr lang="en-US" sz="1200" b="1" dirty="0">
                <a:solidFill>
                  <a:schemeClr val="tx1"/>
                </a:solidFill>
              </a:rPr>
              <a:t>Menu</a:t>
            </a:r>
            <a:endParaRPr lang="en-US" sz="1200" dirty="0"/>
          </a:p>
        </p:txBody>
      </p:sp>
      <p:sp>
        <p:nvSpPr>
          <p:cNvPr id="24" name="stap"/>
          <p:cNvSpPr/>
          <p:nvPr/>
        </p:nvSpPr>
        <p:spPr>
          <a:xfrm>
            <a:off x="8654796" y="1600200"/>
            <a:ext cx="685800" cy="685800"/>
          </a:xfrm>
          <a:prstGeom prst="ellipse">
            <a:avLst/>
          </a:prstGeom>
          <a:solidFill>
            <a:schemeClr val="bg1"/>
          </a:solidFill>
          <a:ln w="31750">
            <a:solidFill>
              <a:schemeClr val="accent1"/>
            </a:solidFill>
            <a:prstDash val="solid"/>
          </a:ln>
        </p:spPr>
      </p:sp>
      <p:sp>
        <p:nvSpPr>
          <p:cNvPr id="25" name="Text 18"/>
          <p:cNvSpPr txBox="1"/>
          <p:nvPr/>
        </p:nvSpPr>
        <p:spPr>
          <a:xfrm>
            <a:off x="8654796" y="1600200"/>
            <a:ext cx="685800" cy="685800"/>
          </a:xfrm>
          <a:prstGeom prst="rect">
            <a:avLst/>
          </a:prstGeom>
          <a:noFill/>
          <a:ln/>
        </p:spPr>
        <p:txBody>
          <a:bodyPr wrap="square" lIns="0" tIns="0" rIns="0" bIns="0" rtlCol="0" anchor="ctr"/>
          <a:lstStyle/>
          <a:p>
            <a:pPr algn="ctr" indent="0" marL="0">
              <a:buNone/>
            </a:pPr>
            <a:r>
              <a:rPr lang="en-US" sz="1800" b="1" dirty="0">
                <a:solidFill>
                  <a:schemeClr val="accent1"/>
                </a:solidFill>
                <a:latin typeface="Cambria" pitchFamily="34" charset="0"/>
                <a:ea typeface="Cambria" pitchFamily="34" charset="-122"/>
                <a:cs typeface="Cambria" pitchFamily="34" charset="-120"/>
              </a:rPr>
              <a:t>8</a:t>
            </a:r>
            <a:endParaRPr lang="en-US" sz="1800" dirty="0"/>
          </a:p>
        </p:txBody>
      </p:sp>
      <p:sp>
        <p:nvSpPr>
          <p:cNvPr id="26" name="Text 19"/>
          <p:cNvSpPr txBox="1"/>
          <p:nvPr/>
        </p:nvSpPr>
        <p:spPr>
          <a:xfrm>
            <a:off x="8453628" y="2377440"/>
            <a:ext cx="1097280" cy="548640"/>
          </a:xfrm>
          <a:prstGeom prst="rect">
            <a:avLst/>
          </a:prstGeom>
          <a:noFill/>
          <a:ln/>
        </p:spPr>
        <p:txBody>
          <a:bodyPr wrap="square" lIns="0" tIns="0" rIns="0" bIns="0" rtlCol="0" anchor="t"/>
          <a:lstStyle/>
          <a:p>
            <a:pPr algn="ctr" indent="0" marL="0">
              <a:buNone/>
            </a:pPr>
            <a:r>
              <a:rPr lang="en-US" sz="1200" b="1" dirty="0">
                <a:solidFill>
                  <a:schemeClr val="tx1"/>
                </a:solidFill>
              </a:rPr>
              <a:t>Fout­afhandeling</a:t>
            </a:r>
            <a:endParaRPr lang="en-US" sz="1200" dirty="0"/>
          </a:p>
        </p:txBody>
      </p:sp>
      <p:sp>
        <p:nvSpPr>
          <p:cNvPr id="27" name="stap"/>
          <p:cNvSpPr/>
          <p:nvPr/>
        </p:nvSpPr>
        <p:spPr>
          <a:xfrm>
            <a:off x="9784080" y="1600200"/>
            <a:ext cx="685800" cy="685800"/>
          </a:xfrm>
          <a:prstGeom prst="ellipse">
            <a:avLst/>
          </a:prstGeom>
          <a:solidFill>
            <a:schemeClr val="bg1"/>
          </a:solidFill>
          <a:ln w="31750">
            <a:solidFill>
              <a:schemeClr val="accent1"/>
            </a:solidFill>
            <a:prstDash val="solid"/>
          </a:ln>
        </p:spPr>
      </p:sp>
      <p:sp>
        <p:nvSpPr>
          <p:cNvPr id="28" name="Text 21"/>
          <p:cNvSpPr txBox="1"/>
          <p:nvPr/>
        </p:nvSpPr>
        <p:spPr>
          <a:xfrm>
            <a:off x="9784080" y="1600200"/>
            <a:ext cx="685800" cy="685800"/>
          </a:xfrm>
          <a:prstGeom prst="rect">
            <a:avLst/>
          </a:prstGeom>
          <a:noFill/>
          <a:ln/>
        </p:spPr>
        <p:txBody>
          <a:bodyPr wrap="square" lIns="0" tIns="0" rIns="0" bIns="0" rtlCol="0" anchor="ctr"/>
          <a:lstStyle/>
          <a:p>
            <a:pPr algn="ctr" indent="0" marL="0">
              <a:buNone/>
            </a:pPr>
            <a:r>
              <a:rPr lang="en-US" sz="1800" b="1" dirty="0">
                <a:solidFill>
                  <a:schemeClr val="accent1"/>
                </a:solidFill>
                <a:latin typeface="Cambria" pitchFamily="34" charset="0"/>
                <a:ea typeface="Cambria" pitchFamily="34" charset="-122"/>
                <a:cs typeface="Cambria" pitchFamily="34" charset="-120"/>
              </a:rPr>
              <a:t>9</a:t>
            </a:r>
            <a:endParaRPr lang="en-US" sz="1800" dirty="0"/>
          </a:p>
        </p:txBody>
      </p:sp>
      <p:sp>
        <p:nvSpPr>
          <p:cNvPr id="29" name="Text 22"/>
          <p:cNvSpPr txBox="1"/>
          <p:nvPr/>
        </p:nvSpPr>
        <p:spPr>
          <a:xfrm>
            <a:off x="9582912" y="2377440"/>
            <a:ext cx="1097280" cy="548640"/>
          </a:xfrm>
          <a:prstGeom prst="rect">
            <a:avLst/>
          </a:prstGeom>
          <a:noFill/>
          <a:ln/>
        </p:spPr>
        <p:txBody>
          <a:bodyPr wrap="square" lIns="0" tIns="0" rIns="0" bIns="0" rtlCol="0" anchor="t"/>
          <a:lstStyle/>
          <a:p>
            <a:pPr algn="ctr" indent="0" marL="0">
              <a:buNone/>
            </a:pPr>
            <a:r>
              <a:rPr lang="en-US" sz="1200" b="1" dirty="0">
                <a:solidFill>
                  <a:schemeClr val="tx1"/>
                </a:solidFill>
              </a:rPr>
              <a:t>Ruff en opruimen</a:t>
            </a:r>
            <a:endParaRPr lang="en-US" sz="1200" dirty="0"/>
          </a:p>
        </p:txBody>
      </p:sp>
      <p:sp>
        <p:nvSpPr>
          <p:cNvPr id="30" name="stap"/>
          <p:cNvSpPr/>
          <p:nvPr/>
        </p:nvSpPr>
        <p:spPr>
          <a:xfrm>
            <a:off x="10913364" y="1600200"/>
            <a:ext cx="685800" cy="685800"/>
          </a:xfrm>
          <a:prstGeom prst="ellipse">
            <a:avLst/>
          </a:prstGeom>
          <a:solidFill>
            <a:schemeClr val="bg1"/>
          </a:solidFill>
          <a:ln w="31750">
            <a:solidFill>
              <a:schemeClr val="accent1"/>
            </a:solidFill>
            <a:prstDash val="solid"/>
          </a:ln>
        </p:spPr>
      </p:sp>
      <p:sp>
        <p:nvSpPr>
          <p:cNvPr id="31" name="Text 24"/>
          <p:cNvSpPr txBox="1"/>
          <p:nvPr/>
        </p:nvSpPr>
        <p:spPr>
          <a:xfrm>
            <a:off x="10913364" y="1600200"/>
            <a:ext cx="685800" cy="685800"/>
          </a:xfrm>
          <a:prstGeom prst="rect">
            <a:avLst/>
          </a:prstGeom>
          <a:noFill/>
          <a:ln/>
        </p:spPr>
        <p:txBody>
          <a:bodyPr wrap="square" lIns="0" tIns="0" rIns="0" bIns="0" rtlCol="0" anchor="ctr"/>
          <a:lstStyle/>
          <a:p>
            <a:pPr algn="ctr" indent="0" marL="0">
              <a:buNone/>
            </a:pPr>
            <a:r>
              <a:rPr lang="en-US" sz="1800" b="1" dirty="0">
                <a:solidFill>
                  <a:schemeClr val="accent1"/>
                </a:solidFill>
                <a:latin typeface="Cambria" pitchFamily="34" charset="0"/>
                <a:ea typeface="Cambria" pitchFamily="34" charset="-122"/>
                <a:cs typeface="Cambria" pitchFamily="34" charset="-120"/>
              </a:rPr>
              <a:t>10</a:t>
            </a:r>
            <a:endParaRPr lang="en-US" sz="1800" dirty="0"/>
          </a:p>
        </p:txBody>
      </p:sp>
      <p:sp>
        <p:nvSpPr>
          <p:cNvPr id="32" name="Text 25"/>
          <p:cNvSpPr txBox="1"/>
          <p:nvPr/>
        </p:nvSpPr>
        <p:spPr>
          <a:xfrm>
            <a:off x="10712196" y="2377440"/>
            <a:ext cx="1097280" cy="548640"/>
          </a:xfrm>
          <a:prstGeom prst="rect">
            <a:avLst/>
          </a:prstGeom>
          <a:noFill/>
          <a:ln/>
        </p:spPr>
        <p:txBody>
          <a:bodyPr wrap="square" lIns="0" tIns="0" rIns="0" bIns="0" rtlCol="0" anchor="t"/>
          <a:lstStyle/>
          <a:p>
            <a:pPr algn="ctr" indent="0" marL="0">
              <a:buNone/>
            </a:pPr>
            <a:r>
              <a:rPr lang="en-US" sz="1200" b="1" dirty="0">
                <a:solidFill>
                  <a:schemeClr val="tx1"/>
                </a:solidFill>
              </a:rPr>
              <a:t>README en commit</a:t>
            </a:r>
            <a:endParaRPr lang="en-US" sz="1200" dirty="0"/>
          </a:p>
        </p:txBody>
      </p:sp>
      <p:sp>
        <p:nvSpPr>
          <p:cNvPr id="33" name="klaar"/>
          <p:cNvSpPr/>
          <p:nvPr/>
        </p:nvSpPr>
        <p:spPr>
          <a:xfrm>
            <a:off x="548640" y="3154680"/>
            <a:ext cx="5486400" cy="0"/>
          </a:xfrm>
          <a:prstGeom prst="line">
            <a:avLst/>
          </a:prstGeom>
          <a:noFill/>
          <a:ln w="38100">
            <a:solidFill>
              <a:schemeClr val="accent2"/>
            </a:solidFill>
            <a:prstDash val="solid"/>
          </a:ln>
        </p:spPr>
      </p:sp>
      <p:sp>
        <p:nvSpPr>
          <p:cNvPr id="34" name="Text 27"/>
          <p:cNvSpPr txBox="1"/>
          <p:nvPr/>
        </p:nvSpPr>
        <p:spPr>
          <a:xfrm>
            <a:off x="548640" y="3246120"/>
            <a:ext cx="5486400" cy="274320"/>
          </a:xfrm>
          <a:prstGeom prst="rect">
            <a:avLst/>
          </a:prstGeom>
          <a:noFill/>
          <a:ln/>
        </p:spPr>
        <p:txBody>
          <a:bodyPr wrap="square" lIns="0" tIns="0" rIns="0" bIns="0" rtlCol="0" anchor="t"/>
          <a:lstStyle/>
          <a:p>
            <a:pPr algn="ctr" indent="0" marL="0">
              <a:buNone/>
            </a:pPr>
            <a:r>
              <a:rPr lang="en-US" sz="1200" b="1" spc="100" kern="0" dirty="0">
                <a:solidFill>
                  <a:schemeClr val="accent2"/>
                </a:solidFill>
              </a:rPr>
              <a:t>STAP 1 TOT 5: SAMEN GEDAAN</a:t>
            </a:r>
            <a:endParaRPr lang="en-US" sz="1200" dirty="0"/>
          </a:p>
        </p:txBody>
      </p:sp>
      <p:sp>
        <p:nvSpPr>
          <p:cNvPr id="35" name="nogte"/>
          <p:cNvSpPr/>
          <p:nvPr/>
        </p:nvSpPr>
        <p:spPr>
          <a:xfrm>
            <a:off x="6217920" y="3154680"/>
            <a:ext cx="5394960" cy="0"/>
          </a:xfrm>
          <a:prstGeom prst="line">
            <a:avLst/>
          </a:prstGeom>
          <a:noFill/>
          <a:ln w="38100">
            <a:solidFill>
              <a:schemeClr val="accent1"/>
            </a:solidFill>
            <a:prstDash val="dash"/>
          </a:ln>
        </p:spPr>
      </p:sp>
      <p:sp>
        <p:nvSpPr>
          <p:cNvPr id="36" name="Text 29"/>
          <p:cNvSpPr txBox="1"/>
          <p:nvPr/>
        </p:nvSpPr>
        <p:spPr>
          <a:xfrm>
            <a:off x="6217920" y="3246120"/>
            <a:ext cx="5394960" cy="274320"/>
          </a:xfrm>
          <a:prstGeom prst="rect">
            <a:avLst/>
          </a:prstGeom>
          <a:noFill/>
          <a:ln/>
        </p:spPr>
        <p:txBody>
          <a:bodyPr wrap="square" lIns="0" tIns="0" rIns="0" bIns="0" rtlCol="0" anchor="t"/>
          <a:lstStyle/>
          <a:p>
            <a:pPr algn="ctr" indent="0" marL="0">
              <a:buNone/>
            </a:pPr>
            <a:r>
              <a:rPr lang="en-US" sz="1200" b="1" spc="100" kern="0" dirty="0">
                <a:solidFill>
                  <a:schemeClr val="accent1"/>
                </a:solidFill>
              </a:rPr>
              <a:t>STAP 6 TOT 10: ZELFSTANDIG</a:t>
            </a:r>
            <a:endParaRPr lang="en-US" sz="1200" dirty="0"/>
          </a:p>
        </p:txBody>
      </p:sp>
      <p:sp>
        <p:nvSpPr>
          <p:cNvPr id="37" name="kaart"/>
          <p:cNvSpPr/>
          <p:nvPr/>
        </p:nvSpPr>
        <p:spPr>
          <a:xfrm>
            <a:off x="548640" y="3931920"/>
            <a:ext cx="11064240" cy="1737360"/>
          </a:xfrm>
          <a:prstGeom prst="roundRect">
            <a:avLst>
              <a:gd name="adj" fmla="val 6316"/>
            </a:avLst>
          </a:prstGeom>
          <a:solidFill>
            <a:schemeClr val="tx1"/>
          </a:solidFill>
          <a:ln w="12700">
            <a:solidFill>
              <a:schemeClr val="tx1"/>
            </a:solidFill>
            <a:prstDash val="solid"/>
          </a:ln>
        </p:spPr>
      </p:sp>
      <p:sp>
        <p:nvSpPr>
          <p:cNvPr id="38" name="icooncirkel"/>
          <p:cNvSpPr/>
          <p:nvPr/>
        </p:nvSpPr>
        <p:spPr>
          <a:xfrm>
            <a:off x="868680" y="4389120"/>
            <a:ext cx="822960" cy="822960"/>
          </a:xfrm>
          <a:prstGeom prst="ellipse">
            <a:avLst/>
          </a:prstGeom>
          <a:solidFill>
            <a:schemeClr val="accent1"/>
          </a:solidFill>
          <a:ln w="12700">
            <a:solidFill>
              <a:schemeClr val="accent1"/>
            </a:solidFill>
            <a:prstDash val="solid"/>
          </a:ln>
        </p:spPr>
      </p:sp>
      <p:pic>
        <p:nvPicPr>
          <p:cNvPr id="39" name="icoon" descr="preencoded.png">    </p:cNvPr>
          <p:cNvPicPr>
            <a:picLocks noChangeAspect="1"/>
          </p:cNvPicPr>
          <p:nvPr/>
        </p:nvPicPr>
        <p:blipFill>
          <a:blip r:embed="rId6"/>
          <a:stretch>
            <a:fillRect/>
          </a:stretch>
        </p:blipFill>
        <p:spPr>
          <a:xfrm>
            <a:off x="1074420" y="4594860"/>
            <a:ext cx="411480" cy="411480"/>
          </a:xfrm>
          <a:prstGeom prst="rect">
            <a:avLst/>
          </a:prstGeom>
        </p:spPr>
      </p:pic>
      <p:sp>
        <p:nvSpPr>
          <p:cNvPr id="40" name="Text 32"/>
          <p:cNvSpPr txBox="1"/>
          <p:nvPr/>
        </p:nvSpPr>
        <p:spPr>
          <a:xfrm>
            <a:off x="1965960" y="4160520"/>
            <a:ext cx="9418320" cy="64008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Opslag, menu, foutafhandeling, opruimen, documenteren.</a:t>
            </a:r>
            <a:endParaRPr lang="en-US" sz="2200" dirty="0"/>
          </a:p>
        </p:txBody>
      </p:sp>
      <p:sp>
        <p:nvSpPr>
          <p:cNvPr id="41" name="Text 33"/>
          <p:cNvSpPr txBox="1"/>
          <p:nvPr/>
        </p:nvSpPr>
        <p:spPr>
          <a:xfrm>
            <a:off x="1965960" y="4846320"/>
            <a:ext cx="9418320" cy="640080"/>
          </a:xfrm>
          <a:prstGeom prst="rect">
            <a:avLst/>
          </a:prstGeom>
          <a:noFill/>
          <a:ln/>
        </p:spPr>
        <p:txBody>
          <a:bodyPr wrap="square" lIns="0" tIns="0" rIns="0" bIns="0" rtlCol="0" anchor="t"/>
          <a:lstStyle/>
          <a:p>
            <a:pPr indent="0" marL="0">
              <a:buNone/>
            </a:pPr>
            <a:r>
              <a:rPr lang="en-US" sz="1700" dirty="0">
                <a:solidFill>
                  <a:schemeClr val="bg2"/>
                </a:solidFill>
              </a:rPr>
              <a:t>Dat is de zelfstandige helft van de opdracht. De kern waarop je verderbouwt, is nu getest.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731520" y="3017520"/>
            <a:ext cx="10698480" cy="1097280"/>
          </a:xfrm>
          <a:prstGeom prst="rect">
            <a:avLst/>
          </a:prstGeom>
          <a:noFill/>
          <a:ln/>
        </p:spPr>
        <p:txBody>
          <a:bodyPr wrap="square" lIns="0" tIns="0" rIns="0" bIns="0" rtlCol="0" anchor="t"/>
          <a:lstStyle/>
          <a:p>
            <a:pPr algn="l" indent="0" marL="0">
              <a:buNone/>
            </a:pPr>
            <a:r>
              <a:rPr lang="en-US" sz="4400" b="1" dirty="0">
                <a:solidFill>
                  <a:schemeClr val="bg1"/>
                </a:solidFill>
              </a:rPr>
              <a:t>Wat je nu kunt, en hoe het verdergaat</a:t>
            </a:r>
            <a:endParaRPr lang="en-US" sz="4400" dirty="0"/>
          </a:p>
        </p:txBody>
      </p:sp>
      <p:sp>
        <p:nvSpPr>
          <p:cNvPr id="3" name="Text 0"/>
          <p:cNvSpPr/>
          <p:nvPr>
            <p:ph idx="100" type="body" hasCustomPrompt="1"/>
          </p:nvPr>
        </p:nvSpPr>
        <p:spPr>
          <a:xfrm>
            <a:off x="731520" y="1463040"/>
            <a:ext cx="3657600" cy="1463040"/>
          </a:xfrm>
          <a:prstGeom prst="rect">
            <a:avLst/>
          </a:prstGeom>
          <a:noFill/>
          <a:ln/>
        </p:spPr>
        <p:txBody>
          <a:bodyPr wrap="square" lIns="0" tIns="0" rIns="0" bIns="0" rtlCol="0" anchor="b"/>
          <a:lstStyle/>
          <a:p>
            <a:pPr indent="0" marL="0">
              <a:buNone/>
            </a:pPr>
            <a:r>
              <a:rPr lang="en-US" sz="9600" b="1" dirty="0">
                <a:solidFill>
                  <a:schemeClr val="accent1"/>
                </a:solidFill>
                <a:latin typeface="Cambria" pitchFamily="34" charset="0"/>
                <a:ea typeface="Cambria" pitchFamily="34" charset="-122"/>
                <a:cs typeface="Cambria" pitchFamily="34" charset="-120"/>
              </a:rPr>
              <a:t>29.10</a:t>
            </a:r>
            <a:endParaRPr lang="en-US" sz="9600" dirty="0"/>
          </a:p>
        </p:txBody>
      </p:sp>
      <p:sp>
        <p:nvSpPr>
          <p:cNvPr id="4" name="Text 0"/>
          <p:cNvSpPr/>
          <p:nvPr>
            <p:ph idx="102" type="body" hasCustomPrompt="1"/>
          </p:nvPr>
        </p:nvSpPr>
        <p:spPr>
          <a:xfrm>
            <a:off x="731520" y="4206240"/>
            <a:ext cx="9601200" cy="1097280"/>
          </a:xfrm>
          <a:prstGeom prst="rect">
            <a:avLst/>
          </a:prstGeom>
          <a:noFill/>
          <a:ln/>
        </p:spPr>
        <p:txBody>
          <a:bodyPr wrap="square" lIns="0" tIns="0" rIns="0" bIns="0" rtlCol="0" anchor="t"/>
          <a:lstStyle/>
          <a:p>
            <a:pPr indent="0" marL="0">
              <a:buNone/>
            </a:pPr>
            <a:r>
              <a:rPr lang="en-US" sz="2000" dirty="0">
                <a:solidFill>
                  <a:schemeClr val="bg2"/>
                </a:solidFill>
              </a:rPr>
              <a:t>Dit is de lijst van de hele cursus. Als je hem kunt afvinken, ben je klaar voor de eindopdracht en voor de volgende module.</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Wat je nu kunt (1 tot 13): Python</a:t>
            </a:r>
            <a:endParaRPr lang="en-US" sz="3400" dirty="0"/>
          </a:p>
        </p:txBody>
      </p:sp>
      <p:sp>
        <p:nvSpPr>
          <p:cNvPr id="3" name="Text 1"/>
          <p:cNvSpPr txBox="1"/>
          <p:nvPr/>
        </p:nvSpPr>
        <p:spPr>
          <a:xfrm>
            <a:off x="548640" y="1188720"/>
            <a:ext cx="11064240" cy="320040"/>
          </a:xfrm>
          <a:prstGeom prst="rect">
            <a:avLst/>
          </a:prstGeom>
          <a:noFill/>
          <a:ln/>
        </p:spPr>
        <p:txBody>
          <a:bodyPr wrap="square" lIns="0" tIns="0" rIns="0" bIns="0" rtlCol="0" anchor="t"/>
          <a:lstStyle/>
          <a:p>
            <a:pPr indent="0" marL="0">
              <a:buNone/>
            </a:pPr>
            <a:r>
              <a:rPr lang="en-US" sz="1500" i="1" dirty="0">
                <a:solidFill>
                  <a:schemeClr val="tx2"/>
                </a:solidFill>
              </a:rPr>
              <a:t>Na deze cursus kun je …</a:t>
            </a:r>
            <a:endParaRPr lang="en-US" sz="1500" dirty="0"/>
          </a:p>
        </p:txBody>
      </p:sp>
      <p:sp>
        <p:nvSpPr>
          <p:cNvPr id="4" name="kaart"/>
          <p:cNvSpPr/>
          <p:nvPr/>
        </p:nvSpPr>
        <p:spPr>
          <a:xfrm>
            <a:off x="548640" y="1600200"/>
            <a:ext cx="5440680" cy="576072"/>
          </a:xfrm>
          <a:prstGeom prst="roundRect">
            <a:avLst>
              <a:gd name="adj" fmla="val 19048"/>
            </a:avLst>
          </a:prstGeom>
          <a:solidFill>
            <a:schemeClr val="bg2"/>
          </a:solidFill>
          <a:ln w="12700">
            <a:solidFill>
              <a:schemeClr val="bg2"/>
            </a:solidFill>
            <a:prstDash val="solid"/>
          </a:ln>
        </p:spPr>
      </p:sp>
      <p:sp>
        <p:nvSpPr>
          <p:cNvPr id="5" name="nummercirkel"/>
          <p:cNvSpPr/>
          <p:nvPr/>
        </p:nvSpPr>
        <p:spPr>
          <a:xfrm>
            <a:off x="685800" y="1691640"/>
            <a:ext cx="393192" cy="393192"/>
          </a:xfrm>
          <a:prstGeom prst="ellipse">
            <a:avLst/>
          </a:prstGeom>
          <a:solidFill>
            <a:schemeClr val="accent2"/>
          </a:solidFill>
          <a:ln w="12700">
            <a:solidFill>
              <a:schemeClr val="accent2"/>
            </a:solidFill>
            <a:prstDash val="solid"/>
          </a:ln>
        </p:spPr>
      </p:sp>
      <p:sp>
        <p:nvSpPr>
          <p:cNvPr id="6" name="Text 4"/>
          <p:cNvSpPr txBox="1"/>
          <p:nvPr/>
        </p:nvSpPr>
        <p:spPr>
          <a:xfrm>
            <a:off x="685800" y="1691640"/>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234440" y="1600200"/>
            <a:ext cx="4663440" cy="576072"/>
          </a:xfrm>
          <a:prstGeom prst="rect">
            <a:avLst/>
          </a:prstGeom>
          <a:noFill/>
          <a:ln/>
        </p:spPr>
        <p:txBody>
          <a:bodyPr wrap="square" lIns="0" tIns="0" rIns="0" bIns="0" rtlCol="0" anchor="ctr"/>
          <a:lstStyle/>
          <a:p>
            <a:pPr indent="0" marL="0">
              <a:buNone/>
            </a:pPr>
            <a:r>
              <a:rPr lang="en-US" sz="1300" dirty="0">
                <a:solidFill>
                  <a:schemeClr val="tx1"/>
                </a:solidFill>
              </a:rPr>
              <a:t>een professionele Python-werkplek opzetten, met virtuele omgeving, linter en debugger</a:t>
            </a:r>
            <a:endParaRPr lang="en-US" sz="1300" dirty="0"/>
          </a:p>
        </p:txBody>
      </p:sp>
      <p:sp>
        <p:nvSpPr>
          <p:cNvPr id="8" name="kaart"/>
          <p:cNvSpPr/>
          <p:nvPr/>
        </p:nvSpPr>
        <p:spPr>
          <a:xfrm>
            <a:off x="6172200" y="1600200"/>
            <a:ext cx="5440680" cy="576072"/>
          </a:xfrm>
          <a:prstGeom prst="roundRect">
            <a:avLst>
              <a:gd name="adj" fmla="val 19048"/>
            </a:avLst>
          </a:prstGeom>
          <a:solidFill>
            <a:schemeClr val="bg2"/>
          </a:solidFill>
          <a:ln w="12700">
            <a:solidFill>
              <a:schemeClr val="bg2"/>
            </a:solidFill>
            <a:prstDash val="solid"/>
          </a:ln>
        </p:spPr>
      </p:sp>
      <p:sp>
        <p:nvSpPr>
          <p:cNvPr id="9" name="nummercirkel"/>
          <p:cNvSpPr/>
          <p:nvPr/>
        </p:nvSpPr>
        <p:spPr>
          <a:xfrm>
            <a:off x="6309360" y="1691640"/>
            <a:ext cx="393192" cy="393192"/>
          </a:xfrm>
          <a:prstGeom prst="ellipse">
            <a:avLst/>
          </a:prstGeom>
          <a:solidFill>
            <a:schemeClr val="accent2"/>
          </a:solidFill>
          <a:ln w="12700">
            <a:solidFill>
              <a:schemeClr val="accent2"/>
            </a:solidFill>
            <a:prstDash val="solid"/>
          </a:ln>
        </p:spPr>
      </p:sp>
      <p:sp>
        <p:nvSpPr>
          <p:cNvPr id="10" name="Text 8"/>
          <p:cNvSpPr txBox="1"/>
          <p:nvPr/>
        </p:nvSpPr>
        <p:spPr>
          <a:xfrm>
            <a:off x="6309360" y="1691640"/>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6858000" y="1600200"/>
            <a:ext cx="4663440" cy="576072"/>
          </a:xfrm>
          <a:prstGeom prst="rect">
            <a:avLst/>
          </a:prstGeom>
          <a:noFill/>
          <a:ln/>
        </p:spPr>
        <p:txBody>
          <a:bodyPr wrap="square" lIns="0" tIns="0" rIns="0" bIns="0" rtlCol="0" anchor="ctr"/>
          <a:lstStyle/>
          <a:p>
            <a:pPr indent="0" marL="0">
              <a:buNone/>
            </a:pPr>
            <a:r>
              <a:rPr lang="en-US" sz="1300" dirty="0">
                <a:solidFill>
                  <a:schemeClr val="tx1"/>
                </a:solidFill>
              </a:rPr>
              <a:t>je werk vastleggen in Git en delen via GitHub</a:t>
            </a:r>
            <a:endParaRPr lang="en-US" sz="1300" dirty="0"/>
          </a:p>
        </p:txBody>
      </p:sp>
      <p:sp>
        <p:nvSpPr>
          <p:cNvPr id="12" name="kaart"/>
          <p:cNvSpPr/>
          <p:nvPr/>
        </p:nvSpPr>
        <p:spPr>
          <a:xfrm>
            <a:off x="548640" y="2267712"/>
            <a:ext cx="5440680" cy="576072"/>
          </a:xfrm>
          <a:prstGeom prst="roundRect">
            <a:avLst>
              <a:gd name="adj" fmla="val 19048"/>
            </a:avLst>
          </a:prstGeom>
          <a:solidFill>
            <a:schemeClr val="bg2"/>
          </a:solidFill>
          <a:ln w="12700">
            <a:solidFill>
              <a:schemeClr val="bg2"/>
            </a:solidFill>
            <a:prstDash val="solid"/>
          </a:ln>
        </p:spPr>
      </p:sp>
      <p:sp>
        <p:nvSpPr>
          <p:cNvPr id="13" name="nummercirkel"/>
          <p:cNvSpPr/>
          <p:nvPr/>
        </p:nvSpPr>
        <p:spPr>
          <a:xfrm>
            <a:off x="685800" y="2359152"/>
            <a:ext cx="393192" cy="393192"/>
          </a:xfrm>
          <a:prstGeom prst="ellipse">
            <a:avLst/>
          </a:prstGeom>
          <a:solidFill>
            <a:schemeClr val="accent2"/>
          </a:solidFill>
          <a:ln w="12700">
            <a:solidFill>
              <a:schemeClr val="accent2"/>
            </a:solidFill>
            <a:prstDash val="solid"/>
          </a:ln>
        </p:spPr>
      </p:sp>
      <p:sp>
        <p:nvSpPr>
          <p:cNvPr id="14" name="Text 12"/>
          <p:cNvSpPr txBox="1"/>
          <p:nvPr/>
        </p:nvSpPr>
        <p:spPr>
          <a:xfrm>
            <a:off x="685800" y="2359152"/>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15" name="Text 13"/>
          <p:cNvSpPr txBox="1"/>
          <p:nvPr/>
        </p:nvSpPr>
        <p:spPr>
          <a:xfrm>
            <a:off x="1234440" y="2267712"/>
            <a:ext cx="4663440" cy="576072"/>
          </a:xfrm>
          <a:prstGeom prst="rect">
            <a:avLst/>
          </a:prstGeom>
          <a:noFill/>
          <a:ln/>
        </p:spPr>
        <p:txBody>
          <a:bodyPr wrap="square" lIns="0" tIns="0" rIns="0" bIns="0" rtlCol="0" anchor="ctr"/>
          <a:lstStyle/>
          <a:p>
            <a:pPr indent="0" marL="0">
              <a:buNone/>
            </a:pPr>
            <a:r>
              <a:rPr lang="en-US" sz="1300" dirty="0">
                <a:solidFill>
                  <a:schemeClr val="tx1"/>
                </a:solidFill>
              </a:rPr>
              <a:t>een probleem opdelen en uitschrijven in pseudocode en een stroomdiagram</a:t>
            </a:r>
            <a:endParaRPr lang="en-US" sz="1300" dirty="0"/>
          </a:p>
        </p:txBody>
      </p:sp>
      <p:sp>
        <p:nvSpPr>
          <p:cNvPr id="16" name="kaart"/>
          <p:cNvSpPr/>
          <p:nvPr/>
        </p:nvSpPr>
        <p:spPr>
          <a:xfrm>
            <a:off x="6172200" y="2267712"/>
            <a:ext cx="5440680" cy="576072"/>
          </a:xfrm>
          <a:prstGeom prst="roundRect">
            <a:avLst>
              <a:gd name="adj" fmla="val 19048"/>
            </a:avLst>
          </a:prstGeom>
          <a:solidFill>
            <a:schemeClr val="bg2"/>
          </a:solidFill>
          <a:ln w="12700">
            <a:solidFill>
              <a:schemeClr val="bg2"/>
            </a:solidFill>
            <a:prstDash val="solid"/>
          </a:ln>
        </p:spPr>
      </p:sp>
      <p:sp>
        <p:nvSpPr>
          <p:cNvPr id="17" name="nummercirkel"/>
          <p:cNvSpPr/>
          <p:nvPr/>
        </p:nvSpPr>
        <p:spPr>
          <a:xfrm>
            <a:off x="6309360" y="2359152"/>
            <a:ext cx="393192" cy="393192"/>
          </a:xfrm>
          <a:prstGeom prst="ellipse">
            <a:avLst/>
          </a:prstGeom>
          <a:solidFill>
            <a:schemeClr val="accent2"/>
          </a:solidFill>
          <a:ln w="12700">
            <a:solidFill>
              <a:schemeClr val="accent2"/>
            </a:solidFill>
            <a:prstDash val="solid"/>
          </a:ln>
        </p:spPr>
      </p:sp>
      <p:sp>
        <p:nvSpPr>
          <p:cNvPr id="18" name="Text 16"/>
          <p:cNvSpPr txBox="1"/>
          <p:nvPr/>
        </p:nvSpPr>
        <p:spPr>
          <a:xfrm>
            <a:off x="6309360" y="2359152"/>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19" name="Text 17"/>
          <p:cNvSpPr txBox="1"/>
          <p:nvPr/>
        </p:nvSpPr>
        <p:spPr>
          <a:xfrm>
            <a:off x="6858000" y="2267712"/>
            <a:ext cx="4663440" cy="576072"/>
          </a:xfrm>
          <a:prstGeom prst="rect">
            <a:avLst/>
          </a:prstGeom>
          <a:noFill/>
          <a:ln/>
        </p:spPr>
        <p:txBody>
          <a:bodyPr wrap="square" lIns="0" tIns="0" rIns="0" bIns="0" rtlCol="0" anchor="ctr"/>
          <a:lstStyle/>
          <a:p>
            <a:pPr indent="0" marL="0">
              <a:buNone/>
            </a:pPr>
            <a:r>
              <a:rPr lang="en-US" sz="1300" dirty="0">
                <a:solidFill>
                  <a:schemeClr val="tx1"/>
                </a:solidFill>
              </a:rPr>
              <a:t>de vijf basistypes gebruiken en de valkuilen van casting vermijden</a:t>
            </a:r>
            <a:endParaRPr lang="en-US" sz="1300" dirty="0"/>
          </a:p>
        </p:txBody>
      </p:sp>
      <p:sp>
        <p:nvSpPr>
          <p:cNvPr id="20" name="kaart"/>
          <p:cNvSpPr/>
          <p:nvPr/>
        </p:nvSpPr>
        <p:spPr>
          <a:xfrm>
            <a:off x="548640" y="2935224"/>
            <a:ext cx="5440680" cy="576072"/>
          </a:xfrm>
          <a:prstGeom prst="roundRect">
            <a:avLst>
              <a:gd name="adj" fmla="val 19048"/>
            </a:avLst>
          </a:prstGeom>
          <a:solidFill>
            <a:schemeClr val="bg2"/>
          </a:solidFill>
          <a:ln w="12700">
            <a:solidFill>
              <a:schemeClr val="bg2"/>
            </a:solidFill>
            <a:prstDash val="solid"/>
          </a:ln>
        </p:spPr>
      </p:sp>
      <p:sp>
        <p:nvSpPr>
          <p:cNvPr id="21" name="nummercirkel"/>
          <p:cNvSpPr/>
          <p:nvPr/>
        </p:nvSpPr>
        <p:spPr>
          <a:xfrm>
            <a:off x="685800" y="3026664"/>
            <a:ext cx="393192" cy="393192"/>
          </a:xfrm>
          <a:prstGeom prst="ellipse">
            <a:avLst/>
          </a:prstGeom>
          <a:solidFill>
            <a:schemeClr val="accent2"/>
          </a:solidFill>
          <a:ln w="12700">
            <a:solidFill>
              <a:schemeClr val="accent2"/>
            </a:solidFill>
            <a:prstDash val="solid"/>
          </a:ln>
        </p:spPr>
      </p:sp>
      <p:sp>
        <p:nvSpPr>
          <p:cNvPr id="22" name="Text 20"/>
          <p:cNvSpPr txBox="1"/>
          <p:nvPr/>
        </p:nvSpPr>
        <p:spPr>
          <a:xfrm>
            <a:off x="685800" y="3026664"/>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5</a:t>
            </a:r>
            <a:endParaRPr lang="en-US" sz="1600" dirty="0"/>
          </a:p>
        </p:txBody>
      </p:sp>
      <p:sp>
        <p:nvSpPr>
          <p:cNvPr id="23" name="Text 21"/>
          <p:cNvSpPr txBox="1"/>
          <p:nvPr/>
        </p:nvSpPr>
        <p:spPr>
          <a:xfrm>
            <a:off x="1234440" y="2935224"/>
            <a:ext cx="4663440" cy="576072"/>
          </a:xfrm>
          <a:prstGeom prst="rect">
            <a:avLst/>
          </a:prstGeom>
          <a:noFill/>
          <a:ln/>
        </p:spPr>
        <p:txBody>
          <a:bodyPr wrap="square" lIns="0" tIns="0" rIns="0" bIns="0" rtlCol="0" anchor="ctr"/>
          <a:lstStyle/>
          <a:p>
            <a:pPr indent="0" marL="0">
              <a:buNone/>
            </a:pPr>
            <a:r>
              <a:rPr lang="en-US" sz="1300" dirty="0">
                <a:solidFill>
                  <a:schemeClr val="tx1"/>
                </a:solidFill>
              </a:rPr>
              <a:t>met alle operatoren rekenen en booleaanse voorwaarden opstellen</a:t>
            </a:r>
            <a:endParaRPr lang="en-US" sz="1300" dirty="0"/>
          </a:p>
        </p:txBody>
      </p:sp>
      <p:sp>
        <p:nvSpPr>
          <p:cNvPr id="24" name="kaart"/>
          <p:cNvSpPr/>
          <p:nvPr/>
        </p:nvSpPr>
        <p:spPr>
          <a:xfrm>
            <a:off x="6172200" y="2935224"/>
            <a:ext cx="5440680" cy="576072"/>
          </a:xfrm>
          <a:prstGeom prst="roundRect">
            <a:avLst>
              <a:gd name="adj" fmla="val 19048"/>
            </a:avLst>
          </a:prstGeom>
          <a:solidFill>
            <a:schemeClr val="bg2"/>
          </a:solidFill>
          <a:ln w="12700">
            <a:solidFill>
              <a:schemeClr val="bg2"/>
            </a:solidFill>
            <a:prstDash val="solid"/>
          </a:ln>
        </p:spPr>
      </p:sp>
      <p:sp>
        <p:nvSpPr>
          <p:cNvPr id="25" name="nummercirkel"/>
          <p:cNvSpPr/>
          <p:nvPr/>
        </p:nvSpPr>
        <p:spPr>
          <a:xfrm>
            <a:off x="6309360" y="3026664"/>
            <a:ext cx="393192" cy="393192"/>
          </a:xfrm>
          <a:prstGeom prst="ellipse">
            <a:avLst/>
          </a:prstGeom>
          <a:solidFill>
            <a:schemeClr val="accent2"/>
          </a:solidFill>
          <a:ln w="12700">
            <a:solidFill>
              <a:schemeClr val="accent2"/>
            </a:solidFill>
            <a:prstDash val="solid"/>
          </a:ln>
        </p:spPr>
      </p:sp>
      <p:sp>
        <p:nvSpPr>
          <p:cNvPr id="26" name="Text 24"/>
          <p:cNvSpPr txBox="1"/>
          <p:nvPr/>
        </p:nvSpPr>
        <p:spPr>
          <a:xfrm>
            <a:off x="6309360" y="3026664"/>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6</a:t>
            </a:r>
            <a:endParaRPr lang="en-US" sz="1600" dirty="0"/>
          </a:p>
        </p:txBody>
      </p:sp>
      <p:sp>
        <p:nvSpPr>
          <p:cNvPr id="27" name="Text 25"/>
          <p:cNvSpPr txBox="1"/>
          <p:nvPr/>
        </p:nvSpPr>
        <p:spPr>
          <a:xfrm>
            <a:off x="6858000" y="2935224"/>
            <a:ext cx="4663440" cy="576072"/>
          </a:xfrm>
          <a:prstGeom prst="rect">
            <a:avLst/>
          </a:prstGeom>
          <a:noFill/>
          <a:ln/>
        </p:spPr>
        <p:txBody>
          <a:bodyPr wrap="square" lIns="0" tIns="0" rIns="0" bIns="0" rtlCol="0" anchor="ctr"/>
          <a:lstStyle/>
          <a:p>
            <a:pPr indent="0" marL="0">
              <a:buNone/>
            </a:pPr>
            <a:r>
              <a:rPr lang="en-US" sz="1300" dirty="0">
                <a:solidFill>
                  <a:schemeClr val="tx1"/>
                </a:solidFill>
              </a:rPr>
              <a:t>tekst bewerken met stringmethodes en f-strings</a:t>
            </a:r>
            <a:endParaRPr lang="en-US" sz="1300" dirty="0"/>
          </a:p>
        </p:txBody>
      </p:sp>
      <p:sp>
        <p:nvSpPr>
          <p:cNvPr id="28" name="kaart"/>
          <p:cNvSpPr/>
          <p:nvPr/>
        </p:nvSpPr>
        <p:spPr>
          <a:xfrm>
            <a:off x="548640" y="3602736"/>
            <a:ext cx="5440680" cy="576072"/>
          </a:xfrm>
          <a:prstGeom prst="roundRect">
            <a:avLst>
              <a:gd name="adj" fmla="val 19048"/>
            </a:avLst>
          </a:prstGeom>
          <a:solidFill>
            <a:schemeClr val="bg2"/>
          </a:solidFill>
          <a:ln w="12700">
            <a:solidFill>
              <a:schemeClr val="bg2"/>
            </a:solidFill>
            <a:prstDash val="solid"/>
          </a:ln>
        </p:spPr>
      </p:sp>
      <p:sp>
        <p:nvSpPr>
          <p:cNvPr id="29" name="nummercirkel"/>
          <p:cNvSpPr/>
          <p:nvPr/>
        </p:nvSpPr>
        <p:spPr>
          <a:xfrm>
            <a:off x="685800" y="3694176"/>
            <a:ext cx="393192" cy="393192"/>
          </a:xfrm>
          <a:prstGeom prst="ellipse">
            <a:avLst/>
          </a:prstGeom>
          <a:solidFill>
            <a:schemeClr val="accent2"/>
          </a:solidFill>
          <a:ln w="12700">
            <a:solidFill>
              <a:schemeClr val="accent2"/>
            </a:solidFill>
            <a:prstDash val="solid"/>
          </a:ln>
        </p:spPr>
      </p:sp>
      <p:sp>
        <p:nvSpPr>
          <p:cNvPr id="30" name="Text 28"/>
          <p:cNvSpPr txBox="1"/>
          <p:nvPr/>
        </p:nvSpPr>
        <p:spPr>
          <a:xfrm>
            <a:off x="685800" y="3694176"/>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7</a:t>
            </a:r>
            <a:endParaRPr lang="en-US" sz="1600" dirty="0"/>
          </a:p>
        </p:txBody>
      </p:sp>
      <p:sp>
        <p:nvSpPr>
          <p:cNvPr id="31" name="Text 29"/>
          <p:cNvSpPr txBox="1"/>
          <p:nvPr/>
        </p:nvSpPr>
        <p:spPr>
          <a:xfrm>
            <a:off x="1234440" y="3602736"/>
            <a:ext cx="4663440" cy="576072"/>
          </a:xfrm>
          <a:prstGeom prst="rect">
            <a:avLst/>
          </a:prstGeom>
          <a:noFill/>
          <a:ln/>
        </p:spPr>
        <p:txBody>
          <a:bodyPr wrap="square" lIns="0" tIns="0" rIns="0" bIns="0" rtlCol="0" anchor="ctr"/>
          <a:lstStyle/>
          <a:p>
            <a:pPr indent="0" marL="0">
              <a:buNone/>
            </a:pPr>
            <a:r>
              <a:rPr lang="en-US" sz="1300" dirty="0">
                <a:solidFill>
                  <a:schemeClr val="tx1"/>
                </a:solidFill>
              </a:rPr>
              <a:t>keuzes maken met if, elif, else en match</a:t>
            </a:r>
            <a:endParaRPr lang="en-US" sz="1300" dirty="0"/>
          </a:p>
        </p:txBody>
      </p:sp>
      <p:sp>
        <p:nvSpPr>
          <p:cNvPr id="32" name="kaart"/>
          <p:cNvSpPr/>
          <p:nvPr/>
        </p:nvSpPr>
        <p:spPr>
          <a:xfrm>
            <a:off x="6172200" y="3602736"/>
            <a:ext cx="5440680" cy="576072"/>
          </a:xfrm>
          <a:prstGeom prst="roundRect">
            <a:avLst>
              <a:gd name="adj" fmla="val 19048"/>
            </a:avLst>
          </a:prstGeom>
          <a:solidFill>
            <a:schemeClr val="bg2"/>
          </a:solidFill>
          <a:ln w="12700">
            <a:solidFill>
              <a:schemeClr val="bg2"/>
            </a:solidFill>
            <a:prstDash val="solid"/>
          </a:ln>
        </p:spPr>
      </p:sp>
      <p:sp>
        <p:nvSpPr>
          <p:cNvPr id="33" name="nummercirkel"/>
          <p:cNvSpPr/>
          <p:nvPr/>
        </p:nvSpPr>
        <p:spPr>
          <a:xfrm>
            <a:off x="6309360" y="3694176"/>
            <a:ext cx="393192" cy="393192"/>
          </a:xfrm>
          <a:prstGeom prst="ellipse">
            <a:avLst/>
          </a:prstGeom>
          <a:solidFill>
            <a:schemeClr val="accent2"/>
          </a:solidFill>
          <a:ln w="12700">
            <a:solidFill>
              <a:schemeClr val="accent2"/>
            </a:solidFill>
            <a:prstDash val="solid"/>
          </a:ln>
        </p:spPr>
      </p:sp>
      <p:sp>
        <p:nvSpPr>
          <p:cNvPr id="34" name="Text 32"/>
          <p:cNvSpPr txBox="1"/>
          <p:nvPr/>
        </p:nvSpPr>
        <p:spPr>
          <a:xfrm>
            <a:off x="6309360" y="3694176"/>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8</a:t>
            </a:r>
            <a:endParaRPr lang="en-US" sz="1600" dirty="0"/>
          </a:p>
        </p:txBody>
      </p:sp>
      <p:sp>
        <p:nvSpPr>
          <p:cNvPr id="35" name="Text 33"/>
          <p:cNvSpPr txBox="1"/>
          <p:nvPr/>
        </p:nvSpPr>
        <p:spPr>
          <a:xfrm>
            <a:off x="6858000" y="3602736"/>
            <a:ext cx="4663440" cy="576072"/>
          </a:xfrm>
          <a:prstGeom prst="rect">
            <a:avLst/>
          </a:prstGeom>
          <a:noFill/>
          <a:ln/>
        </p:spPr>
        <p:txBody>
          <a:bodyPr wrap="square" lIns="0" tIns="0" rIns="0" bIns="0" rtlCol="0" anchor="ctr"/>
          <a:lstStyle/>
          <a:p>
            <a:pPr indent="0" marL="0">
              <a:buNone/>
            </a:pPr>
            <a:r>
              <a:rPr lang="en-US" sz="1300" dirty="0">
                <a:solidFill>
                  <a:schemeClr val="tx1"/>
                </a:solidFill>
              </a:rPr>
              <a:t>herhalen met while en for, en de lus sturen met break en continue</a:t>
            </a:r>
            <a:endParaRPr lang="en-US" sz="1300" dirty="0"/>
          </a:p>
        </p:txBody>
      </p:sp>
      <p:sp>
        <p:nvSpPr>
          <p:cNvPr id="36" name="kaart"/>
          <p:cNvSpPr/>
          <p:nvPr/>
        </p:nvSpPr>
        <p:spPr>
          <a:xfrm>
            <a:off x="548640" y="4270248"/>
            <a:ext cx="5440680" cy="576072"/>
          </a:xfrm>
          <a:prstGeom prst="roundRect">
            <a:avLst>
              <a:gd name="adj" fmla="val 19048"/>
            </a:avLst>
          </a:prstGeom>
          <a:solidFill>
            <a:schemeClr val="bg2"/>
          </a:solidFill>
          <a:ln w="12700">
            <a:solidFill>
              <a:schemeClr val="bg2"/>
            </a:solidFill>
            <a:prstDash val="solid"/>
          </a:ln>
        </p:spPr>
      </p:sp>
      <p:sp>
        <p:nvSpPr>
          <p:cNvPr id="37" name="nummercirkel"/>
          <p:cNvSpPr/>
          <p:nvPr/>
        </p:nvSpPr>
        <p:spPr>
          <a:xfrm>
            <a:off x="685800" y="4361688"/>
            <a:ext cx="393192" cy="393192"/>
          </a:xfrm>
          <a:prstGeom prst="ellipse">
            <a:avLst/>
          </a:prstGeom>
          <a:solidFill>
            <a:schemeClr val="accent2"/>
          </a:solidFill>
          <a:ln w="12700">
            <a:solidFill>
              <a:schemeClr val="accent2"/>
            </a:solidFill>
            <a:prstDash val="solid"/>
          </a:ln>
        </p:spPr>
      </p:sp>
      <p:sp>
        <p:nvSpPr>
          <p:cNvPr id="38" name="Text 36"/>
          <p:cNvSpPr txBox="1"/>
          <p:nvPr/>
        </p:nvSpPr>
        <p:spPr>
          <a:xfrm>
            <a:off x="685800" y="4361688"/>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9</a:t>
            </a:r>
            <a:endParaRPr lang="en-US" sz="1600" dirty="0"/>
          </a:p>
        </p:txBody>
      </p:sp>
      <p:sp>
        <p:nvSpPr>
          <p:cNvPr id="39" name="Text 37"/>
          <p:cNvSpPr txBox="1"/>
          <p:nvPr/>
        </p:nvSpPr>
        <p:spPr>
          <a:xfrm>
            <a:off x="1234440" y="4270248"/>
            <a:ext cx="4663440" cy="576072"/>
          </a:xfrm>
          <a:prstGeom prst="rect">
            <a:avLst/>
          </a:prstGeom>
          <a:noFill/>
          <a:ln/>
        </p:spPr>
        <p:txBody>
          <a:bodyPr wrap="square" lIns="0" tIns="0" rIns="0" bIns="0" rtlCol="0" anchor="ctr"/>
          <a:lstStyle/>
          <a:p>
            <a:pPr indent="0" marL="0">
              <a:buNone/>
            </a:pPr>
            <a:r>
              <a:rPr lang="en-US" sz="1300" dirty="0">
                <a:solidFill>
                  <a:schemeClr val="tx1"/>
                </a:solidFill>
              </a:rPr>
              <a:t>functies schrijven met parameters, return, bereik en docstrings</a:t>
            </a:r>
            <a:endParaRPr lang="en-US" sz="1300" dirty="0"/>
          </a:p>
        </p:txBody>
      </p:sp>
      <p:sp>
        <p:nvSpPr>
          <p:cNvPr id="40" name="kaart"/>
          <p:cNvSpPr/>
          <p:nvPr/>
        </p:nvSpPr>
        <p:spPr>
          <a:xfrm>
            <a:off x="6172200" y="4270248"/>
            <a:ext cx="5440680" cy="576072"/>
          </a:xfrm>
          <a:prstGeom prst="roundRect">
            <a:avLst>
              <a:gd name="adj" fmla="val 19048"/>
            </a:avLst>
          </a:prstGeom>
          <a:solidFill>
            <a:schemeClr val="bg2"/>
          </a:solidFill>
          <a:ln w="12700">
            <a:solidFill>
              <a:schemeClr val="bg2"/>
            </a:solidFill>
            <a:prstDash val="solid"/>
          </a:ln>
        </p:spPr>
      </p:sp>
      <p:sp>
        <p:nvSpPr>
          <p:cNvPr id="41" name="nummercirkel"/>
          <p:cNvSpPr/>
          <p:nvPr/>
        </p:nvSpPr>
        <p:spPr>
          <a:xfrm>
            <a:off x="6309360" y="4361688"/>
            <a:ext cx="393192" cy="393192"/>
          </a:xfrm>
          <a:prstGeom prst="ellipse">
            <a:avLst/>
          </a:prstGeom>
          <a:solidFill>
            <a:schemeClr val="accent2"/>
          </a:solidFill>
          <a:ln w="12700">
            <a:solidFill>
              <a:schemeClr val="accent2"/>
            </a:solidFill>
            <a:prstDash val="solid"/>
          </a:ln>
        </p:spPr>
      </p:sp>
      <p:sp>
        <p:nvSpPr>
          <p:cNvPr id="42" name="Text 40"/>
          <p:cNvSpPr txBox="1"/>
          <p:nvPr/>
        </p:nvSpPr>
        <p:spPr>
          <a:xfrm>
            <a:off x="6309360" y="4361688"/>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10</a:t>
            </a:r>
            <a:endParaRPr lang="en-US" sz="1600" dirty="0"/>
          </a:p>
        </p:txBody>
      </p:sp>
      <p:sp>
        <p:nvSpPr>
          <p:cNvPr id="43" name="Text 41"/>
          <p:cNvSpPr txBox="1"/>
          <p:nvPr/>
        </p:nvSpPr>
        <p:spPr>
          <a:xfrm>
            <a:off x="6858000" y="4270248"/>
            <a:ext cx="4663440" cy="576072"/>
          </a:xfrm>
          <a:prstGeom prst="rect">
            <a:avLst/>
          </a:prstGeom>
          <a:noFill/>
          <a:ln/>
        </p:spPr>
        <p:txBody>
          <a:bodyPr wrap="square" lIns="0" tIns="0" rIns="0" bIns="0" rtlCol="0" anchor="ctr"/>
          <a:lstStyle/>
          <a:p>
            <a:pPr indent="0" marL="0">
              <a:buNone/>
            </a:pPr>
            <a:r>
              <a:rPr lang="en-US" sz="1300" dirty="0">
                <a:solidFill>
                  <a:schemeClr val="tx1"/>
                </a:solidFill>
              </a:rPr>
              <a:t>de vier collectietypes kiezen en gebruiken</a:t>
            </a:r>
            <a:endParaRPr lang="en-US" sz="1300" dirty="0"/>
          </a:p>
        </p:txBody>
      </p:sp>
      <p:sp>
        <p:nvSpPr>
          <p:cNvPr id="44" name="kaart"/>
          <p:cNvSpPr/>
          <p:nvPr/>
        </p:nvSpPr>
        <p:spPr>
          <a:xfrm>
            <a:off x="548640" y="4937760"/>
            <a:ext cx="5440680" cy="576072"/>
          </a:xfrm>
          <a:prstGeom prst="roundRect">
            <a:avLst>
              <a:gd name="adj" fmla="val 19048"/>
            </a:avLst>
          </a:prstGeom>
          <a:solidFill>
            <a:schemeClr val="bg2"/>
          </a:solidFill>
          <a:ln w="12700">
            <a:solidFill>
              <a:schemeClr val="bg2"/>
            </a:solidFill>
            <a:prstDash val="solid"/>
          </a:ln>
        </p:spPr>
      </p:sp>
      <p:sp>
        <p:nvSpPr>
          <p:cNvPr id="45" name="nummercirkel"/>
          <p:cNvSpPr/>
          <p:nvPr/>
        </p:nvSpPr>
        <p:spPr>
          <a:xfrm>
            <a:off x="685800" y="5029200"/>
            <a:ext cx="393192" cy="393192"/>
          </a:xfrm>
          <a:prstGeom prst="ellipse">
            <a:avLst/>
          </a:prstGeom>
          <a:solidFill>
            <a:schemeClr val="accent2"/>
          </a:solidFill>
          <a:ln w="12700">
            <a:solidFill>
              <a:schemeClr val="accent2"/>
            </a:solidFill>
            <a:prstDash val="solid"/>
          </a:ln>
        </p:spPr>
      </p:sp>
      <p:sp>
        <p:nvSpPr>
          <p:cNvPr id="46" name="Text 44"/>
          <p:cNvSpPr txBox="1"/>
          <p:nvPr/>
        </p:nvSpPr>
        <p:spPr>
          <a:xfrm>
            <a:off x="685800" y="5029200"/>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11</a:t>
            </a:r>
            <a:endParaRPr lang="en-US" sz="1600" dirty="0"/>
          </a:p>
        </p:txBody>
      </p:sp>
      <p:sp>
        <p:nvSpPr>
          <p:cNvPr id="47" name="Text 45"/>
          <p:cNvSpPr txBox="1"/>
          <p:nvPr/>
        </p:nvSpPr>
        <p:spPr>
          <a:xfrm>
            <a:off x="1234440" y="4937760"/>
            <a:ext cx="4663440" cy="576072"/>
          </a:xfrm>
          <a:prstGeom prst="rect">
            <a:avLst/>
          </a:prstGeom>
          <a:noFill/>
          <a:ln/>
        </p:spPr>
        <p:txBody>
          <a:bodyPr wrap="square" lIns="0" tIns="0" rIns="0" bIns="0" rtlCol="0" anchor="ctr"/>
          <a:lstStyle/>
          <a:p>
            <a:pPr indent="0" marL="0">
              <a:buNone/>
            </a:pPr>
            <a:r>
              <a:rPr lang="en-US" sz="1300" dirty="0">
                <a:solidFill>
                  <a:schemeClr val="tx1"/>
                </a:solidFill>
              </a:rPr>
              <a:t>comprehensions schrijven en het verschil zien tussen kopie en verwijzing</a:t>
            </a:r>
            <a:endParaRPr lang="en-US" sz="1300" dirty="0"/>
          </a:p>
        </p:txBody>
      </p:sp>
      <p:sp>
        <p:nvSpPr>
          <p:cNvPr id="48" name="kaart"/>
          <p:cNvSpPr/>
          <p:nvPr/>
        </p:nvSpPr>
        <p:spPr>
          <a:xfrm>
            <a:off x="6172200" y="4937760"/>
            <a:ext cx="5440680" cy="576072"/>
          </a:xfrm>
          <a:prstGeom prst="roundRect">
            <a:avLst>
              <a:gd name="adj" fmla="val 19048"/>
            </a:avLst>
          </a:prstGeom>
          <a:solidFill>
            <a:schemeClr val="bg2"/>
          </a:solidFill>
          <a:ln w="12700">
            <a:solidFill>
              <a:schemeClr val="bg2"/>
            </a:solidFill>
            <a:prstDash val="solid"/>
          </a:ln>
        </p:spPr>
      </p:sp>
      <p:sp>
        <p:nvSpPr>
          <p:cNvPr id="49" name="nummercirkel"/>
          <p:cNvSpPr/>
          <p:nvPr/>
        </p:nvSpPr>
        <p:spPr>
          <a:xfrm>
            <a:off x="6309360" y="5029200"/>
            <a:ext cx="393192" cy="393192"/>
          </a:xfrm>
          <a:prstGeom prst="ellipse">
            <a:avLst/>
          </a:prstGeom>
          <a:solidFill>
            <a:schemeClr val="accent2"/>
          </a:solidFill>
          <a:ln w="12700">
            <a:solidFill>
              <a:schemeClr val="accent2"/>
            </a:solidFill>
            <a:prstDash val="solid"/>
          </a:ln>
        </p:spPr>
      </p:sp>
      <p:sp>
        <p:nvSpPr>
          <p:cNvPr id="50" name="Text 48"/>
          <p:cNvSpPr txBox="1"/>
          <p:nvPr/>
        </p:nvSpPr>
        <p:spPr>
          <a:xfrm>
            <a:off x="6309360" y="5029200"/>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12</a:t>
            </a:r>
            <a:endParaRPr lang="en-US" sz="1600" dirty="0"/>
          </a:p>
        </p:txBody>
      </p:sp>
      <p:sp>
        <p:nvSpPr>
          <p:cNvPr id="51" name="Text 49"/>
          <p:cNvSpPr txBox="1"/>
          <p:nvPr/>
        </p:nvSpPr>
        <p:spPr>
          <a:xfrm>
            <a:off x="6858000" y="4937760"/>
            <a:ext cx="4663440" cy="576072"/>
          </a:xfrm>
          <a:prstGeom prst="rect">
            <a:avLst/>
          </a:prstGeom>
          <a:noFill/>
          <a:ln/>
        </p:spPr>
        <p:txBody>
          <a:bodyPr wrap="square" lIns="0" tIns="0" rIns="0" bIns="0" rtlCol="0" anchor="ctr"/>
          <a:lstStyle/>
          <a:p>
            <a:pPr indent="0" marL="0">
              <a:buNone/>
            </a:pPr>
            <a:r>
              <a:rPr lang="en-US" sz="1300" dirty="0">
                <a:solidFill>
                  <a:schemeClr val="tx1"/>
                </a:solidFill>
              </a:rPr>
              <a:t>fouten opvangen met try en except, en zelf fouten opgooien</a:t>
            </a:r>
            <a:endParaRPr lang="en-US" sz="1300" dirty="0"/>
          </a:p>
        </p:txBody>
      </p:sp>
      <p:sp>
        <p:nvSpPr>
          <p:cNvPr id="52" name="kaart"/>
          <p:cNvSpPr/>
          <p:nvPr/>
        </p:nvSpPr>
        <p:spPr>
          <a:xfrm>
            <a:off x="548640" y="5605272"/>
            <a:ext cx="5440680" cy="576072"/>
          </a:xfrm>
          <a:prstGeom prst="roundRect">
            <a:avLst>
              <a:gd name="adj" fmla="val 19048"/>
            </a:avLst>
          </a:prstGeom>
          <a:solidFill>
            <a:schemeClr val="bg2"/>
          </a:solidFill>
          <a:ln w="12700">
            <a:solidFill>
              <a:schemeClr val="bg2"/>
            </a:solidFill>
            <a:prstDash val="solid"/>
          </a:ln>
        </p:spPr>
      </p:sp>
      <p:sp>
        <p:nvSpPr>
          <p:cNvPr id="53" name="nummercirkel"/>
          <p:cNvSpPr/>
          <p:nvPr/>
        </p:nvSpPr>
        <p:spPr>
          <a:xfrm>
            <a:off x="685800" y="5696712"/>
            <a:ext cx="393192" cy="393192"/>
          </a:xfrm>
          <a:prstGeom prst="ellipse">
            <a:avLst/>
          </a:prstGeom>
          <a:solidFill>
            <a:schemeClr val="accent2"/>
          </a:solidFill>
          <a:ln w="12700">
            <a:solidFill>
              <a:schemeClr val="accent2"/>
            </a:solidFill>
            <a:prstDash val="solid"/>
          </a:ln>
        </p:spPr>
      </p:sp>
      <p:sp>
        <p:nvSpPr>
          <p:cNvPr id="54" name="Text 52"/>
          <p:cNvSpPr txBox="1"/>
          <p:nvPr/>
        </p:nvSpPr>
        <p:spPr>
          <a:xfrm>
            <a:off x="685800" y="5696712"/>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13</a:t>
            </a:r>
            <a:endParaRPr lang="en-US" sz="1600" dirty="0"/>
          </a:p>
        </p:txBody>
      </p:sp>
      <p:sp>
        <p:nvSpPr>
          <p:cNvPr id="55" name="Text 53"/>
          <p:cNvSpPr txBox="1"/>
          <p:nvPr/>
        </p:nvSpPr>
        <p:spPr>
          <a:xfrm>
            <a:off x="1234440" y="5605272"/>
            <a:ext cx="4663440" cy="576072"/>
          </a:xfrm>
          <a:prstGeom prst="rect">
            <a:avLst/>
          </a:prstGeom>
          <a:noFill/>
          <a:ln/>
        </p:spPr>
        <p:txBody>
          <a:bodyPr wrap="square" lIns="0" tIns="0" rIns="0" bIns="0" rtlCol="0" anchor="ctr"/>
          <a:lstStyle/>
          <a:p>
            <a:pPr indent="0" marL="0">
              <a:buNone/>
            </a:pPr>
            <a:r>
              <a:rPr lang="en-US" sz="1300" dirty="0">
                <a:solidFill>
                  <a:schemeClr val="tx1"/>
                </a:solidFill>
              </a:rPr>
              <a:t>bestanden lezen en schrijven, ook CSV</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Wat je nu kunt (14 tot 26): verder dan Python</a:t>
            </a:r>
            <a:endParaRPr lang="en-US" sz="3400" dirty="0"/>
          </a:p>
        </p:txBody>
      </p:sp>
      <p:sp>
        <p:nvSpPr>
          <p:cNvPr id="3" name="Text 1"/>
          <p:cNvSpPr txBox="1"/>
          <p:nvPr/>
        </p:nvSpPr>
        <p:spPr>
          <a:xfrm>
            <a:off x="548640" y="1188720"/>
            <a:ext cx="11064240" cy="320040"/>
          </a:xfrm>
          <a:prstGeom prst="rect">
            <a:avLst/>
          </a:prstGeom>
          <a:noFill/>
          <a:ln/>
        </p:spPr>
        <p:txBody>
          <a:bodyPr wrap="square" lIns="0" tIns="0" rIns="0" bIns="0" rtlCol="0" anchor="t"/>
          <a:lstStyle/>
          <a:p>
            <a:pPr indent="0" marL="0">
              <a:buNone/>
            </a:pPr>
            <a:r>
              <a:rPr lang="en-US" sz="1500" i="1" dirty="0">
                <a:solidFill>
                  <a:schemeClr val="tx2"/>
                </a:solidFill>
              </a:rPr>
              <a:t>Na deze cursus kun je …</a:t>
            </a:r>
            <a:endParaRPr lang="en-US" sz="1500" dirty="0"/>
          </a:p>
        </p:txBody>
      </p:sp>
      <p:sp>
        <p:nvSpPr>
          <p:cNvPr id="4" name="kaart"/>
          <p:cNvSpPr/>
          <p:nvPr/>
        </p:nvSpPr>
        <p:spPr>
          <a:xfrm>
            <a:off x="548640" y="1600200"/>
            <a:ext cx="5440680" cy="576072"/>
          </a:xfrm>
          <a:prstGeom prst="roundRect">
            <a:avLst>
              <a:gd name="adj" fmla="val 19048"/>
            </a:avLst>
          </a:prstGeom>
          <a:solidFill>
            <a:schemeClr val="bg2"/>
          </a:solidFill>
          <a:ln w="12700">
            <a:solidFill>
              <a:schemeClr val="bg2"/>
            </a:solidFill>
            <a:prstDash val="solid"/>
          </a:ln>
        </p:spPr>
      </p:sp>
      <p:sp>
        <p:nvSpPr>
          <p:cNvPr id="5" name="nummercirkel"/>
          <p:cNvSpPr/>
          <p:nvPr/>
        </p:nvSpPr>
        <p:spPr>
          <a:xfrm>
            <a:off x="685800" y="1691640"/>
            <a:ext cx="393192" cy="393192"/>
          </a:xfrm>
          <a:prstGeom prst="ellipse">
            <a:avLst/>
          </a:prstGeom>
          <a:solidFill>
            <a:schemeClr val="accent2"/>
          </a:solidFill>
          <a:ln w="12700">
            <a:solidFill>
              <a:schemeClr val="accent2"/>
            </a:solidFill>
            <a:prstDash val="solid"/>
          </a:ln>
        </p:spPr>
      </p:sp>
      <p:sp>
        <p:nvSpPr>
          <p:cNvPr id="6" name="Text 4"/>
          <p:cNvSpPr txBox="1"/>
          <p:nvPr/>
        </p:nvSpPr>
        <p:spPr>
          <a:xfrm>
            <a:off x="685800" y="1691640"/>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14</a:t>
            </a:r>
            <a:endParaRPr lang="en-US" sz="1600" dirty="0"/>
          </a:p>
        </p:txBody>
      </p:sp>
      <p:sp>
        <p:nvSpPr>
          <p:cNvPr id="7" name="Text 5"/>
          <p:cNvSpPr txBox="1"/>
          <p:nvPr/>
        </p:nvSpPr>
        <p:spPr>
          <a:xfrm>
            <a:off x="1234440" y="1600200"/>
            <a:ext cx="4663440" cy="576072"/>
          </a:xfrm>
          <a:prstGeom prst="rect">
            <a:avLst/>
          </a:prstGeom>
          <a:noFill/>
          <a:ln/>
        </p:spPr>
        <p:txBody>
          <a:bodyPr wrap="square" lIns="0" tIns="0" rIns="0" bIns="0" rtlCol="0" anchor="ctr"/>
          <a:lstStyle/>
          <a:p>
            <a:pPr indent="0" marL="0">
              <a:buNone/>
            </a:pPr>
            <a:r>
              <a:rPr lang="en-US" sz="1300" dirty="0">
                <a:solidFill>
                  <a:schemeClr val="tx1"/>
                </a:solidFill>
              </a:rPr>
              <a:t>modules importeren, een eigen module maken en pakketten installeren</a:t>
            </a:r>
            <a:endParaRPr lang="en-US" sz="1300" dirty="0"/>
          </a:p>
        </p:txBody>
      </p:sp>
      <p:sp>
        <p:nvSpPr>
          <p:cNvPr id="8" name="kaart"/>
          <p:cNvSpPr/>
          <p:nvPr/>
        </p:nvSpPr>
        <p:spPr>
          <a:xfrm>
            <a:off x="6172200" y="1600200"/>
            <a:ext cx="5440680" cy="576072"/>
          </a:xfrm>
          <a:prstGeom prst="roundRect">
            <a:avLst>
              <a:gd name="adj" fmla="val 19048"/>
            </a:avLst>
          </a:prstGeom>
          <a:solidFill>
            <a:schemeClr val="bg2"/>
          </a:solidFill>
          <a:ln w="12700">
            <a:solidFill>
              <a:schemeClr val="bg2"/>
            </a:solidFill>
            <a:prstDash val="solid"/>
          </a:ln>
        </p:spPr>
      </p:sp>
      <p:sp>
        <p:nvSpPr>
          <p:cNvPr id="9" name="nummercirkel"/>
          <p:cNvSpPr/>
          <p:nvPr/>
        </p:nvSpPr>
        <p:spPr>
          <a:xfrm>
            <a:off x="6309360" y="1691640"/>
            <a:ext cx="393192" cy="393192"/>
          </a:xfrm>
          <a:prstGeom prst="ellipse">
            <a:avLst/>
          </a:prstGeom>
          <a:solidFill>
            <a:schemeClr val="accent2"/>
          </a:solidFill>
          <a:ln w="12700">
            <a:solidFill>
              <a:schemeClr val="accent2"/>
            </a:solidFill>
            <a:prstDash val="solid"/>
          </a:ln>
        </p:spPr>
      </p:sp>
      <p:sp>
        <p:nvSpPr>
          <p:cNvPr id="10" name="Text 8"/>
          <p:cNvSpPr txBox="1"/>
          <p:nvPr/>
        </p:nvSpPr>
        <p:spPr>
          <a:xfrm>
            <a:off x="6309360" y="1691640"/>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15</a:t>
            </a:r>
            <a:endParaRPr lang="en-US" sz="1600" dirty="0"/>
          </a:p>
        </p:txBody>
      </p:sp>
      <p:sp>
        <p:nvSpPr>
          <p:cNvPr id="11" name="Text 9"/>
          <p:cNvSpPr txBox="1"/>
          <p:nvPr/>
        </p:nvSpPr>
        <p:spPr>
          <a:xfrm>
            <a:off x="6858000" y="1600200"/>
            <a:ext cx="4663440" cy="576072"/>
          </a:xfrm>
          <a:prstGeom prst="rect">
            <a:avLst/>
          </a:prstGeom>
          <a:noFill/>
          <a:ln/>
        </p:spPr>
        <p:txBody>
          <a:bodyPr wrap="square" lIns="0" tIns="0" rIns="0" bIns="0" rtlCol="0" anchor="ctr"/>
          <a:lstStyle/>
          <a:p>
            <a:pPr indent="0" marL="0">
              <a:buNone/>
            </a:pPr>
            <a:r>
              <a:rPr lang="en-US" sz="1300" dirty="0">
                <a:solidFill>
                  <a:schemeClr val="tx1"/>
                </a:solidFill>
              </a:rPr>
              <a:t>een klasse schrijven met __init__, attributen en methodes</a:t>
            </a:r>
            <a:endParaRPr lang="en-US" sz="1300" dirty="0"/>
          </a:p>
        </p:txBody>
      </p:sp>
      <p:sp>
        <p:nvSpPr>
          <p:cNvPr id="12" name="kaart"/>
          <p:cNvSpPr/>
          <p:nvPr/>
        </p:nvSpPr>
        <p:spPr>
          <a:xfrm>
            <a:off x="548640" y="2267712"/>
            <a:ext cx="5440680" cy="576072"/>
          </a:xfrm>
          <a:prstGeom prst="roundRect">
            <a:avLst>
              <a:gd name="adj" fmla="val 19048"/>
            </a:avLst>
          </a:prstGeom>
          <a:solidFill>
            <a:schemeClr val="bg2"/>
          </a:solidFill>
          <a:ln w="12700">
            <a:solidFill>
              <a:schemeClr val="bg2"/>
            </a:solidFill>
            <a:prstDash val="solid"/>
          </a:ln>
        </p:spPr>
      </p:sp>
      <p:sp>
        <p:nvSpPr>
          <p:cNvPr id="13" name="nummercirkel"/>
          <p:cNvSpPr/>
          <p:nvPr/>
        </p:nvSpPr>
        <p:spPr>
          <a:xfrm>
            <a:off x="685800" y="2359152"/>
            <a:ext cx="393192" cy="393192"/>
          </a:xfrm>
          <a:prstGeom prst="ellipse">
            <a:avLst/>
          </a:prstGeom>
          <a:solidFill>
            <a:schemeClr val="accent2"/>
          </a:solidFill>
          <a:ln w="12700">
            <a:solidFill>
              <a:schemeClr val="accent2"/>
            </a:solidFill>
            <a:prstDash val="solid"/>
          </a:ln>
        </p:spPr>
      </p:sp>
      <p:sp>
        <p:nvSpPr>
          <p:cNvPr id="14" name="Text 12"/>
          <p:cNvSpPr txBox="1"/>
          <p:nvPr/>
        </p:nvSpPr>
        <p:spPr>
          <a:xfrm>
            <a:off x="685800" y="2359152"/>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16</a:t>
            </a:r>
            <a:endParaRPr lang="en-US" sz="1600" dirty="0"/>
          </a:p>
        </p:txBody>
      </p:sp>
      <p:sp>
        <p:nvSpPr>
          <p:cNvPr id="15" name="Text 13"/>
          <p:cNvSpPr txBox="1"/>
          <p:nvPr/>
        </p:nvSpPr>
        <p:spPr>
          <a:xfrm>
            <a:off x="1234440" y="2267712"/>
            <a:ext cx="4663440" cy="576072"/>
          </a:xfrm>
          <a:prstGeom prst="rect">
            <a:avLst/>
          </a:prstGeom>
          <a:noFill/>
          <a:ln/>
        </p:spPr>
        <p:txBody>
          <a:bodyPr wrap="square" lIns="0" tIns="0" rIns="0" bIns="0" rtlCol="0" anchor="ctr"/>
          <a:lstStyle/>
          <a:p>
            <a:pPr indent="0" marL="0">
              <a:buNone/>
            </a:pPr>
            <a:r>
              <a:rPr lang="en-US" sz="1300" dirty="0">
                <a:solidFill>
                  <a:schemeClr val="tx1"/>
                </a:solidFill>
              </a:rPr>
              <a:t>een programma met een venster bouwen met tkinter</a:t>
            </a:r>
            <a:endParaRPr lang="en-US" sz="1300" dirty="0"/>
          </a:p>
        </p:txBody>
      </p:sp>
      <p:sp>
        <p:nvSpPr>
          <p:cNvPr id="16" name="kaart"/>
          <p:cNvSpPr/>
          <p:nvPr/>
        </p:nvSpPr>
        <p:spPr>
          <a:xfrm>
            <a:off x="6172200" y="2267712"/>
            <a:ext cx="5440680" cy="576072"/>
          </a:xfrm>
          <a:prstGeom prst="roundRect">
            <a:avLst>
              <a:gd name="adj" fmla="val 19048"/>
            </a:avLst>
          </a:prstGeom>
          <a:solidFill>
            <a:schemeClr val="bg2"/>
          </a:solidFill>
          <a:ln w="12700">
            <a:solidFill>
              <a:schemeClr val="bg2"/>
            </a:solidFill>
            <a:prstDash val="solid"/>
          </a:ln>
        </p:spPr>
      </p:sp>
      <p:sp>
        <p:nvSpPr>
          <p:cNvPr id="17" name="nummercirkel"/>
          <p:cNvSpPr/>
          <p:nvPr/>
        </p:nvSpPr>
        <p:spPr>
          <a:xfrm>
            <a:off x="6309360" y="2359152"/>
            <a:ext cx="393192" cy="393192"/>
          </a:xfrm>
          <a:prstGeom prst="ellipse">
            <a:avLst/>
          </a:prstGeom>
          <a:solidFill>
            <a:schemeClr val="accent2"/>
          </a:solidFill>
          <a:ln w="12700">
            <a:solidFill>
              <a:schemeClr val="accent2"/>
            </a:solidFill>
            <a:prstDash val="solid"/>
          </a:ln>
        </p:spPr>
      </p:sp>
      <p:sp>
        <p:nvSpPr>
          <p:cNvPr id="18" name="Text 16"/>
          <p:cNvSpPr txBox="1"/>
          <p:nvPr/>
        </p:nvSpPr>
        <p:spPr>
          <a:xfrm>
            <a:off x="6309360" y="2359152"/>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17</a:t>
            </a:r>
            <a:endParaRPr lang="en-US" sz="1600" dirty="0"/>
          </a:p>
        </p:txBody>
      </p:sp>
      <p:sp>
        <p:nvSpPr>
          <p:cNvPr id="19" name="Text 17"/>
          <p:cNvSpPr txBox="1"/>
          <p:nvPr/>
        </p:nvSpPr>
        <p:spPr>
          <a:xfrm>
            <a:off x="6858000" y="2267712"/>
            <a:ext cx="4663440" cy="576072"/>
          </a:xfrm>
          <a:prstGeom prst="rect">
            <a:avLst/>
          </a:prstGeom>
          <a:noFill/>
          <a:ln/>
        </p:spPr>
        <p:txBody>
          <a:bodyPr wrap="square" lIns="0" tIns="0" rIns="0" bIns="0" rtlCol="0" anchor="ctr"/>
          <a:lstStyle/>
          <a:p>
            <a:pPr indent="0" marL="0">
              <a:buNone/>
            </a:pPr>
            <a:r>
              <a:rPr lang="en-US" sz="1300" dirty="0">
                <a:solidFill>
                  <a:schemeClr val="tx1"/>
                </a:solidFill>
              </a:rPr>
              <a:t>trends in het vak beoordelen met zes vragen</a:t>
            </a:r>
            <a:endParaRPr lang="en-US" sz="1300" dirty="0"/>
          </a:p>
        </p:txBody>
      </p:sp>
      <p:sp>
        <p:nvSpPr>
          <p:cNvPr id="20" name="kaart"/>
          <p:cNvSpPr/>
          <p:nvPr/>
        </p:nvSpPr>
        <p:spPr>
          <a:xfrm>
            <a:off x="548640" y="2935224"/>
            <a:ext cx="5440680" cy="576072"/>
          </a:xfrm>
          <a:prstGeom prst="roundRect">
            <a:avLst>
              <a:gd name="adj" fmla="val 19048"/>
            </a:avLst>
          </a:prstGeom>
          <a:solidFill>
            <a:schemeClr val="bg2"/>
          </a:solidFill>
          <a:ln w="12700">
            <a:solidFill>
              <a:schemeClr val="bg2"/>
            </a:solidFill>
            <a:prstDash val="solid"/>
          </a:ln>
        </p:spPr>
      </p:sp>
      <p:sp>
        <p:nvSpPr>
          <p:cNvPr id="21" name="nummercirkel"/>
          <p:cNvSpPr/>
          <p:nvPr/>
        </p:nvSpPr>
        <p:spPr>
          <a:xfrm>
            <a:off x="685800" y="3026664"/>
            <a:ext cx="393192" cy="393192"/>
          </a:xfrm>
          <a:prstGeom prst="ellipse">
            <a:avLst/>
          </a:prstGeom>
          <a:solidFill>
            <a:schemeClr val="accent2"/>
          </a:solidFill>
          <a:ln w="12700">
            <a:solidFill>
              <a:schemeClr val="accent2"/>
            </a:solidFill>
            <a:prstDash val="solid"/>
          </a:ln>
        </p:spPr>
      </p:sp>
      <p:sp>
        <p:nvSpPr>
          <p:cNvPr id="22" name="Text 20"/>
          <p:cNvSpPr txBox="1"/>
          <p:nvPr/>
        </p:nvSpPr>
        <p:spPr>
          <a:xfrm>
            <a:off x="685800" y="3026664"/>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18</a:t>
            </a:r>
            <a:endParaRPr lang="en-US" sz="1600" dirty="0"/>
          </a:p>
        </p:txBody>
      </p:sp>
      <p:sp>
        <p:nvSpPr>
          <p:cNvPr id="23" name="Text 21"/>
          <p:cNvSpPr txBox="1"/>
          <p:nvPr/>
        </p:nvSpPr>
        <p:spPr>
          <a:xfrm>
            <a:off x="1234440" y="2935224"/>
            <a:ext cx="4663440" cy="576072"/>
          </a:xfrm>
          <a:prstGeom prst="rect">
            <a:avLst/>
          </a:prstGeom>
          <a:noFill/>
          <a:ln/>
        </p:spPr>
        <p:txBody>
          <a:bodyPr wrap="square" lIns="0" tIns="0" rIns="0" bIns="0" rtlCol="0" anchor="ctr"/>
          <a:lstStyle/>
          <a:p>
            <a:pPr indent="0" marL="0">
              <a:buNone/>
            </a:pPr>
            <a:r>
              <a:rPr lang="en-US" sz="1300" dirty="0">
                <a:solidFill>
                  <a:schemeClr val="tx1"/>
                </a:solidFill>
              </a:rPr>
              <a:t>uitleggen wat DevOps is en een eenvoudige pijplijn lezen</a:t>
            </a:r>
            <a:endParaRPr lang="en-US" sz="1300" dirty="0"/>
          </a:p>
        </p:txBody>
      </p:sp>
      <p:sp>
        <p:nvSpPr>
          <p:cNvPr id="24" name="kaart"/>
          <p:cNvSpPr/>
          <p:nvPr/>
        </p:nvSpPr>
        <p:spPr>
          <a:xfrm>
            <a:off x="6172200" y="2935224"/>
            <a:ext cx="5440680" cy="576072"/>
          </a:xfrm>
          <a:prstGeom prst="roundRect">
            <a:avLst>
              <a:gd name="adj" fmla="val 19048"/>
            </a:avLst>
          </a:prstGeom>
          <a:solidFill>
            <a:schemeClr val="bg2"/>
          </a:solidFill>
          <a:ln w="12700">
            <a:solidFill>
              <a:schemeClr val="bg2"/>
            </a:solidFill>
            <a:prstDash val="solid"/>
          </a:ln>
        </p:spPr>
      </p:sp>
      <p:sp>
        <p:nvSpPr>
          <p:cNvPr id="25" name="nummercirkel"/>
          <p:cNvSpPr/>
          <p:nvPr/>
        </p:nvSpPr>
        <p:spPr>
          <a:xfrm>
            <a:off x="6309360" y="3026664"/>
            <a:ext cx="393192" cy="393192"/>
          </a:xfrm>
          <a:prstGeom prst="ellipse">
            <a:avLst/>
          </a:prstGeom>
          <a:solidFill>
            <a:schemeClr val="accent2"/>
          </a:solidFill>
          <a:ln w="12700">
            <a:solidFill>
              <a:schemeClr val="accent2"/>
            </a:solidFill>
            <a:prstDash val="solid"/>
          </a:ln>
        </p:spPr>
      </p:sp>
      <p:sp>
        <p:nvSpPr>
          <p:cNvPr id="26" name="Text 24"/>
          <p:cNvSpPr txBox="1"/>
          <p:nvPr/>
        </p:nvSpPr>
        <p:spPr>
          <a:xfrm>
            <a:off x="6309360" y="3026664"/>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19</a:t>
            </a:r>
            <a:endParaRPr lang="en-US" sz="1600" dirty="0"/>
          </a:p>
        </p:txBody>
      </p:sp>
      <p:sp>
        <p:nvSpPr>
          <p:cNvPr id="27" name="Text 25"/>
          <p:cNvSpPr txBox="1"/>
          <p:nvPr/>
        </p:nvSpPr>
        <p:spPr>
          <a:xfrm>
            <a:off x="6858000" y="2935224"/>
            <a:ext cx="4663440" cy="576072"/>
          </a:xfrm>
          <a:prstGeom prst="rect">
            <a:avLst/>
          </a:prstGeom>
          <a:noFill/>
          <a:ln/>
        </p:spPr>
        <p:txBody>
          <a:bodyPr wrap="square" lIns="0" tIns="0" rIns="0" bIns="0" rtlCol="0" anchor="ctr"/>
          <a:lstStyle/>
          <a:p>
            <a:pPr indent="0" marL="0">
              <a:buNone/>
            </a:pPr>
            <a:r>
              <a:rPr lang="en-US" sz="1300" dirty="0">
                <a:solidFill>
                  <a:schemeClr val="tx1"/>
                </a:solidFill>
              </a:rPr>
              <a:t>een argument in standaardvorm zetten en op geldigheid beoordelen</a:t>
            </a:r>
            <a:endParaRPr lang="en-US" sz="1300" dirty="0"/>
          </a:p>
        </p:txBody>
      </p:sp>
      <p:sp>
        <p:nvSpPr>
          <p:cNvPr id="28" name="kaart"/>
          <p:cNvSpPr/>
          <p:nvPr/>
        </p:nvSpPr>
        <p:spPr>
          <a:xfrm>
            <a:off x="548640" y="3602736"/>
            <a:ext cx="5440680" cy="576072"/>
          </a:xfrm>
          <a:prstGeom prst="roundRect">
            <a:avLst>
              <a:gd name="adj" fmla="val 19048"/>
            </a:avLst>
          </a:prstGeom>
          <a:solidFill>
            <a:schemeClr val="bg2"/>
          </a:solidFill>
          <a:ln w="12700">
            <a:solidFill>
              <a:schemeClr val="bg2"/>
            </a:solidFill>
            <a:prstDash val="solid"/>
          </a:ln>
        </p:spPr>
      </p:sp>
      <p:sp>
        <p:nvSpPr>
          <p:cNvPr id="29" name="nummercirkel"/>
          <p:cNvSpPr/>
          <p:nvPr/>
        </p:nvSpPr>
        <p:spPr>
          <a:xfrm>
            <a:off x="685800" y="3694176"/>
            <a:ext cx="393192" cy="393192"/>
          </a:xfrm>
          <a:prstGeom prst="ellipse">
            <a:avLst/>
          </a:prstGeom>
          <a:solidFill>
            <a:schemeClr val="accent2"/>
          </a:solidFill>
          <a:ln w="12700">
            <a:solidFill>
              <a:schemeClr val="accent2"/>
            </a:solidFill>
            <a:prstDash val="solid"/>
          </a:ln>
        </p:spPr>
      </p:sp>
      <p:sp>
        <p:nvSpPr>
          <p:cNvPr id="30" name="Text 28"/>
          <p:cNvSpPr txBox="1"/>
          <p:nvPr/>
        </p:nvSpPr>
        <p:spPr>
          <a:xfrm>
            <a:off x="685800" y="3694176"/>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20</a:t>
            </a:r>
            <a:endParaRPr lang="en-US" sz="1600" dirty="0"/>
          </a:p>
        </p:txBody>
      </p:sp>
      <p:sp>
        <p:nvSpPr>
          <p:cNvPr id="31" name="Text 29"/>
          <p:cNvSpPr txBox="1"/>
          <p:nvPr/>
        </p:nvSpPr>
        <p:spPr>
          <a:xfrm>
            <a:off x="1234440" y="3602736"/>
            <a:ext cx="4663440" cy="576072"/>
          </a:xfrm>
          <a:prstGeom prst="rect">
            <a:avLst/>
          </a:prstGeom>
          <a:noFill/>
          <a:ln/>
        </p:spPr>
        <p:txBody>
          <a:bodyPr wrap="square" lIns="0" tIns="0" rIns="0" bIns="0" rtlCol="0" anchor="ctr"/>
          <a:lstStyle/>
          <a:p>
            <a:pPr indent="0" marL="0">
              <a:buNone/>
            </a:pPr>
            <a:r>
              <a:rPr lang="en-US" sz="1300" dirty="0">
                <a:solidFill>
                  <a:schemeClr val="tx1"/>
                </a:solidFill>
              </a:rPr>
              <a:t>waarheidstabellen opstellen en er redeneringen mee toetsen</a:t>
            </a:r>
            <a:endParaRPr lang="en-US" sz="1300" dirty="0"/>
          </a:p>
        </p:txBody>
      </p:sp>
      <p:sp>
        <p:nvSpPr>
          <p:cNvPr id="32" name="kaart"/>
          <p:cNvSpPr/>
          <p:nvPr/>
        </p:nvSpPr>
        <p:spPr>
          <a:xfrm>
            <a:off x="6172200" y="3602736"/>
            <a:ext cx="5440680" cy="576072"/>
          </a:xfrm>
          <a:prstGeom prst="roundRect">
            <a:avLst>
              <a:gd name="adj" fmla="val 19048"/>
            </a:avLst>
          </a:prstGeom>
          <a:solidFill>
            <a:schemeClr val="bg2"/>
          </a:solidFill>
          <a:ln w="12700">
            <a:solidFill>
              <a:schemeClr val="bg2"/>
            </a:solidFill>
            <a:prstDash val="solid"/>
          </a:ln>
        </p:spPr>
      </p:sp>
      <p:sp>
        <p:nvSpPr>
          <p:cNvPr id="33" name="nummercirkel"/>
          <p:cNvSpPr/>
          <p:nvPr/>
        </p:nvSpPr>
        <p:spPr>
          <a:xfrm>
            <a:off x="6309360" y="3694176"/>
            <a:ext cx="393192" cy="393192"/>
          </a:xfrm>
          <a:prstGeom prst="ellipse">
            <a:avLst/>
          </a:prstGeom>
          <a:solidFill>
            <a:schemeClr val="accent2"/>
          </a:solidFill>
          <a:ln w="12700">
            <a:solidFill>
              <a:schemeClr val="accent2"/>
            </a:solidFill>
            <a:prstDash val="solid"/>
          </a:ln>
        </p:spPr>
      </p:sp>
      <p:sp>
        <p:nvSpPr>
          <p:cNvPr id="34" name="Text 32"/>
          <p:cNvSpPr txBox="1"/>
          <p:nvPr/>
        </p:nvSpPr>
        <p:spPr>
          <a:xfrm>
            <a:off x="6309360" y="3694176"/>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21</a:t>
            </a:r>
            <a:endParaRPr lang="en-US" sz="1600" dirty="0"/>
          </a:p>
        </p:txBody>
      </p:sp>
      <p:sp>
        <p:nvSpPr>
          <p:cNvPr id="35" name="Text 33"/>
          <p:cNvSpPr txBox="1"/>
          <p:nvPr/>
        </p:nvSpPr>
        <p:spPr>
          <a:xfrm>
            <a:off x="6858000" y="3602736"/>
            <a:ext cx="4663440" cy="576072"/>
          </a:xfrm>
          <a:prstGeom prst="rect">
            <a:avLst/>
          </a:prstGeom>
          <a:noFill/>
          <a:ln/>
        </p:spPr>
        <p:txBody>
          <a:bodyPr wrap="square" lIns="0" tIns="0" rIns="0" bIns="0" rtlCol="0" anchor="ctr"/>
          <a:lstStyle/>
          <a:p>
            <a:pPr indent="0" marL="0">
              <a:buNone/>
            </a:pPr>
            <a:r>
              <a:rPr lang="en-US" sz="1300" dirty="0">
                <a:solidFill>
                  <a:schemeClr val="tx1"/>
                </a:solidFill>
              </a:rPr>
              <a:t>de geldige argumentvormen en de twee drogredenen herkennen</a:t>
            </a:r>
            <a:endParaRPr lang="en-US" sz="1300" dirty="0"/>
          </a:p>
        </p:txBody>
      </p:sp>
      <p:sp>
        <p:nvSpPr>
          <p:cNvPr id="36" name="kaart"/>
          <p:cNvSpPr/>
          <p:nvPr/>
        </p:nvSpPr>
        <p:spPr>
          <a:xfrm>
            <a:off x="548640" y="4270248"/>
            <a:ext cx="5440680" cy="576072"/>
          </a:xfrm>
          <a:prstGeom prst="roundRect">
            <a:avLst>
              <a:gd name="adj" fmla="val 19048"/>
            </a:avLst>
          </a:prstGeom>
          <a:solidFill>
            <a:schemeClr val="bg2"/>
          </a:solidFill>
          <a:ln w="12700">
            <a:solidFill>
              <a:schemeClr val="bg2"/>
            </a:solidFill>
            <a:prstDash val="solid"/>
          </a:ln>
        </p:spPr>
      </p:sp>
      <p:sp>
        <p:nvSpPr>
          <p:cNvPr id="37" name="nummercirkel"/>
          <p:cNvSpPr/>
          <p:nvPr/>
        </p:nvSpPr>
        <p:spPr>
          <a:xfrm>
            <a:off x="685800" y="4361688"/>
            <a:ext cx="393192" cy="393192"/>
          </a:xfrm>
          <a:prstGeom prst="ellipse">
            <a:avLst/>
          </a:prstGeom>
          <a:solidFill>
            <a:schemeClr val="accent2"/>
          </a:solidFill>
          <a:ln w="12700">
            <a:solidFill>
              <a:schemeClr val="accent2"/>
            </a:solidFill>
            <a:prstDash val="solid"/>
          </a:ln>
        </p:spPr>
      </p:sp>
      <p:sp>
        <p:nvSpPr>
          <p:cNvPr id="38" name="Text 36"/>
          <p:cNvSpPr txBox="1"/>
          <p:nvPr/>
        </p:nvSpPr>
        <p:spPr>
          <a:xfrm>
            <a:off x="685800" y="4361688"/>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22</a:t>
            </a:r>
            <a:endParaRPr lang="en-US" sz="1600" dirty="0"/>
          </a:p>
        </p:txBody>
      </p:sp>
      <p:sp>
        <p:nvSpPr>
          <p:cNvPr id="39" name="Text 37"/>
          <p:cNvSpPr txBox="1"/>
          <p:nvPr/>
        </p:nvSpPr>
        <p:spPr>
          <a:xfrm>
            <a:off x="1234440" y="4270248"/>
            <a:ext cx="4663440" cy="576072"/>
          </a:xfrm>
          <a:prstGeom prst="rect">
            <a:avLst/>
          </a:prstGeom>
          <a:noFill/>
          <a:ln/>
        </p:spPr>
        <p:txBody>
          <a:bodyPr wrap="square" lIns="0" tIns="0" rIns="0" bIns="0" rtlCol="0" anchor="ctr"/>
          <a:lstStyle/>
          <a:p>
            <a:pPr indent="0" marL="0">
              <a:buNone/>
            </a:pPr>
            <a:r>
              <a:rPr lang="en-US" sz="1300" dirty="0">
                <a:solidFill>
                  <a:schemeClr val="tx1"/>
                </a:solidFill>
              </a:rPr>
              <a:t>pre- en postcondities en lusinvarianten schrijven</a:t>
            </a:r>
            <a:endParaRPr lang="en-US" sz="1300" dirty="0"/>
          </a:p>
        </p:txBody>
      </p:sp>
      <p:sp>
        <p:nvSpPr>
          <p:cNvPr id="40" name="kaart"/>
          <p:cNvSpPr/>
          <p:nvPr/>
        </p:nvSpPr>
        <p:spPr>
          <a:xfrm>
            <a:off x="6172200" y="4270248"/>
            <a:ext cx="5440680" cy="576072"/>
          </a:xfrm>
          <a:prstGeom prst="roundRect">
            <a:avLst>
              <a:gd name="adj" fmla="val 19048"/>
            </a:avLst>
          </a:prstGeom>
          <a:solidFill>
            <a:schemeClr val="bg2"/>
          </a:solidFill>
          <a:ln w="12700">
            <a:solidFill>
              <a:schemeClr val="bg2"/>
            </a:solidFill>
            <a:prstDash val="solid"/>
          </a:ln>
        </p:spPr>
      </p:sp>
      <p:sp>
        <p:nvSpPr>
          <p:cNvPr id="41" name="nummercirkel"/>
          <p:cNvSpPr/>
          <p:nvPr/>
        </p:nvSpPr>
        <p:spPr>
          <a:xfrm>
            <a:off x="6309360" y="4361688"/>
            <a:ext cx="393192" cy="393192"/>
          </a:xfrm>
          <a:prstGeom prst="ellipse">
            <a:avLst/>
          </a:prstGeom>
          <a:solidFill>
            <a:schemeClr val="accent2"/>
          </a:solidFill>
          <a:ln w="12700">
            <a:solidFill>
              <a:schemeClr val="accent2"/>
            </a:solidFill>
            <a:prstDash val="solid"/>
          </a:ln>
        </p:spPr>
      </p:sp>
      <p:sp>
        <p:nvSpPr>
          <p:cNvPr id="42" name="Text 40"/>
          <p:cNvSpPr txBox="1"/>
          <p:nvPr/>
        </p:nvSpPr>
        <p:spPr>
          <a:xfrm>
            <a:off x="6309360" y="4361688"/>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23</a:t>
            </a:r>
            <a:endParaRPr lang="en-US" sz="1600" dirty="0"/>
          </a:p>
        </p:txBody>
      </p:sp>
      <p:sp>
        <p:nvSpPr>
          <p:cNvPr id="43" name="Text 41"/>
          <p:cNvSpPr txBox="1"/>
          <p:nvPr/>
        </p:nvSpPr>
        <p:spPr>
          <a:xfrm>
            <a:off x="6858000" y="4270248"/>
            <a:ext cx="4663440" cy="576072"/>
          </a:xfrm>
          <a:prstGeom prst="rect">
            <a:avLst/>
          </a:prstGeom>
          <a:noFill/>
          <a:ln/>
        </p:spPr>
        <p:txBody>
          <a:bodyPr wrap="square" lIns="0" tIns="0" rIns="0" bIns="0" rtlCol="0" anchor="ctr"/>
          <a:lstStyle/>
          <a:p>
            <a:pPr indent="0" marL="0">
              <a:buNone/>
            </a:pPr>
            <a:r>
              <a:rPr lang="en-US" sz="1300" dirty="0">
                <a:solidFill>
                  <a:schemeClr val="tx1"/>
                </a:solidFill>
              </a:rPr>
              <a:t>met venndiagrammen over groepen redeneren</a:t>
            </a:r>
            <a:endParaRPr lang="en-US" sz="1300" dirty="0"/>
          </a:p>
        </p:txBody>
      </p:sp>
      <p:sp>
        <p:nvSpPr>
          <p:cNvPr id="44" name="kaart"/>
          <p:cNvSpPr/>
          <p:nvPr/>
        </p:nvSpPr>
        <p:spPr>
          <a:xfrm>
            <a:off x="548640" y="4937760"/>
            <a:ext cx="5440680" cy="576072"/>
          </a:xfrm>
          <a:prstGeom prst="roundRect">
            <a:avLst>
              <a:gd name="adj" fmla="val 19048"/>
            </a:avLst>
          </a:prstGeom>
          <a:solidFill>
            <a:schemeClr val="bg2"/>
          </a:solidFill>
          <a:ln w="12700">
            <a:solidFill>
              <a:schemeClr val="bg2"/>
            </a:solidFill>
            <a:prstDash val="solid"/>
          </a:ln>
        </p:spPr>
      </p:sp>
      <p:sp>
        <p:nvSpPr>
          <p:cNvPr id="45" name="nummercirkel"/>
          <p:cNvSpPr/>
          <p:nvPr/>
        </p:nvSpPr>
        <p:spPr>
          <a:xfrm>
            <a:off x="685800" y="5029200"/>
            <a:ext cx="393192" cy="393192"/>
          </a:xfrm>
          <a:prstGeom prst="ellipse">
            <a:avLst/>
          </a:prstGeom>
          <a:solidFill>
            <a:schemeClr val="accent2"/>
          </a:solidFill>
          <a:ln w="12700">
            <a:solidFill>
              <a:schemeClr val="accent2"/>
            </a:solidFill>
            <a:prstDash val="solid"/>
          </a:ln>
        </p:spPr>
      </p:sp>
      <p:sp>
        <p:nvSpPr>
          <p:cNvPr id="46" name="Text 44"/>
          <p:cNvSpPr txBox="1"/>
          <p:nvPr/>
        </p:nvSpPr>
        <p:spPr>
          <a:xfrm>
            <a:off x="685800" y="5029200"/>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24</a:t>
            </a:r>
            <a:endParaRPr lang="en-US" sz="1600" dirty="0"/>
          </a:p>
        </p:txBody>
      </p:sp>
      <p:sp>
        <p:nvSpPr>
          <p:cNvPr id="47" name="Text 45"/>
          <p:cNvSpPr txBox="1"/>
          <p:nvPr/>
        </p:nvSpPr>
        <p:spPr>
          <a:xfrm>
            <a:off x="1234440" y="4937760"/>
            <a:ext cx="4663440" cy="576072"/>
          </a:xfrm>
          <a:prstGeom prst="rect">
            <a:avLst/>
          </a:prstGeom>
          <a:noFill/>
          <a:ln/>
        </p:spPr>
        <p:txBody>
          <a:bodyPr wrap="square" lIns="0" tIns="0" rIns="0" bIns="0" rtlCol="0" anchor="ctr"/>
          <a:lstStyle/>
          <a:p>
            <a:pPr indent="0" marL="0">
              <a:buNone/>
            </a:pPr>
            <a:r>
              <a:rPr lang="en-US" sz="1300" dirty="0">
                <a:solidFill>
                  <a:schemeClr val="tx1"/>
                </a:solidFill>
              </a:rPr>
              <a:t>inductief redeneren, en weten hoe sterk je conclusie is</a:t>
            </a:r>
            <a:endParaRPr lang="en-US" sz="1300" dirty="0"/>
          </a:p>
        </p:txBody>
      </p:sp>
      <p:sp>
        <p:nvSpPr>
          <p:cNvPr id="48" name="kaart"/>
          <p:cNvSpPr/>
          <p:nvPr/>
        </p:nvSpPr>
        <p:spPr>
          <a:xfrm>
            <a:off x="6172200" y="4937760"/>
            <a:ext cx="5440680" cy="576072"/>
          </a:xfrm>
          <a:prstGeom prst="roundRect">
            <a:avLst>
              <a:gd name="adj" fmla="val 19048"/>
            </a:avLst>
          </a:prstGeom>
          <a:solidFill>
            <a:schemeClr val="bg2"/>
          </a:solidFill>
          <a:ln w="12700">
            <a:solidFill>
              <a:schemeClr val="bg2"/>
            </a:solidFill>
            <a:prstDash val="solid"/>
          </a:ln>
        </p:spPr>
      </p:sp>
      <p:sp>
        <p:nvSpPr>
          <p:cNvPr id="49" name="nummercirkel"/>
          <p:cNvSpPr/>
          <p:nvPr/>
        </p:nvSpPr>
        <p:spPr>
          <a:xfrm>
            <a:off x="6309360" y="5029200"/>
            <a:ext cx="393192" cy="393192"/>
          </a:xfrm>
          <a:prstGeom prst="ellipse">
            <a:avLst/>
          </a:prstGeom>
          <a:solidFill>
            <a:schemeClr val="accent2"/>
          </a:solidFill>
          <a:ln w="12700">
            <a:solidFill>
              <a:schemeClr val="accent2"/>
            </a:solidFill>
            <a:prstDash val="solid"/>
          </a:ln>
        </p:spPr>
      </p:sp>
      <p:sp>
        <p:nvSpPr>
          <p:cNvPr id="50" name="Text 48"/>
          <p:cNvSpPr txBox="1"/>
          <p:nvPr/>
        </p:nvSpPr>
        <p:spPr>
          <a:xfrm>
            <a:off x="6309360" y="5029200"/>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25</a:t>
            </a:r>
            <a:endParaRPr lang="en-US" sz="1600" dirty="0"/>
          </a:p>
        </p:txBody>
      </p:sp>
      <p:sp>
        <p:nvSpPr>
          <p:cNvPr id="51" name="Text 49"/>
          <p:cNvSpPr txBox="1"/>
          <p:nvPr/>
        </p:nvSpPr>
        <p:spPr>
          <a:xfrm>
            <a:off x="6858000" y="4937760"/>
            <a:ext cx="4663440" cy="576072"/>
          </a:xfrm>
          <a:prstGeom prst="rect">
            <a:avLst/>
          </a:prstGeom>
          <a:noFill/>
          <a:ln/>
        </p:spPr>
        <p:txBody>
          <a:bodyPr wrap="square" lIns="0" tIns="0" rIns="0" bIns="0" rtlCol="0" anchor="ctr"/>
          <a:lstStyle/>
          <a:p>
            <a:pPr indent="0" marL="0">
              <a:buNone/>
            </a:pPr>
            <a:r>
              <a:rPr lang="en-US" sz="1300" dirty="0">
                <a:solidFill>
                  <a:schemeClr val="tx1"/>
                </a:solidFill>
              </a:rPr>
              <a:t>testgevallen kiezen met klassen, grenzen en beslissingstabellen</a:t>
            </a:r>
            <a:endParaRPr lang="en-US" sz="1300" dirty="0"/>
          </a:p>
        </p:txBody>
      </p:sp>
      <p:sp>
        <p:nvSpPr>
          <p:cNvPr id="52" name="kaart"/>
          <p:cNvSpPr/>
          <p:nvPr/>
        </p:nvSpPr>
        <p:spPr>
          <a:xfrm>
            <a:off x="548640" y="5605272"/>
            <a:ext cx="5440680" cy="576072"/>
          </a:xfrm>
          <a:prstGeom prst="roundRect">
            <a:avLst>
              <a:gd name="adj" fmla="val 19048"/>
            </a:avLst>
          </a:prstGeom>
          <a:solidFill>
            <a:schemeClr val="accent1"/>
          </a:solidFill>
          <a:ln w="12700">
            <a:solidFill>
              <a:schemeClr val="accent1"/>
            </a:solidFill>
            <a:prstDash val="solid"/>
          </a:ln>
        </p:spPr>
      </p:sp>
      <p:sp>
        <p:nvSpPr>
          <p:cNvPr id="53" name="nummercirkel"/>
          <p:cNvSpPr/>
          <p:nvPr/>
        </p:nvSpPr>
        <p:spPr>
          <a:xfrm>
            <a:off x="685800" y="5696712"/>
            <a:ext cx="393192" cy="393192"/>
          </a:xfrm>
          <a:prstGeom prst="ellipse">
            <a:avLst/>
          </a:prstGeom>
          <a:solidFill>
            <a:schemeClr val="tx1"/>
          </a:solidFill>
          <a:ln w="12700">
            <a:solidFill>
              <a:schemeClr val="tx1"/>
            </a:solidFill>
            <a:prstDash val="solid"/>
          </a:ln>
        </p:spPr>
      </p:sp>
      <p:sp>
        <p:nvSpPr>
          <p:cNvPr id="54" name="Text 52"/>
          <p:cNvSpPr txBox="1"/>
          <p:nvPr/>
        </p:nvSpPr>
        <p:spPr>
          <a:xfrm>
            <a:off x="685800" y="5696712"/>
            <a:ext cx="393192" cy="393192"/>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26</a:t>
            </a:r>
            <a:endParaRPr lang="en-US" sz="1600" dirty="0"/>
          </a:p>
        </p:txBody>
      </p:sp>
      <p:sp>
        <p:nvSpPr>
          <p:cNvPr id="55" name="Text 53"/>
          <p:cNvSpPr txBox="1"/>
          <p:nvPr/>
        </p:nvSpPr>
        <p:spPr>
          <a:xfrm>
            <a:off x="1234440" y="5605272"/>
            <a:ext cx="4663440" cy="576072"/>
          </a:xfrm>
          <a:prstGeom prst="rect">
            <a:avLst/>
          </a:prstGeom>
          <a:noFill/>
          <a:ln/>
        </p:spPr>
        <p:txBody>
          <a:bodyPr wrap="square" lIns="0" tIns="0" rIns="0" bIns="0" rtlCol="0" anchor="ctr"/>
          <a:lstStyle/>
          <a:p>
            <a:pPr indent="0" marL="0">
              <a:buNone/>
            </a:pPr>
            <a:r>
              <a:rPr lang="en-US" sz="1300" b="1" dirty="0">
                <a:solidFill>
                  <a:schemeClr val="tx1"/>
                </a:solidFill>
              </a:rPr>
              <a:t>een programma van enkele honderden regels bouwen, testen en opleveren</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Hoe het verdergaat</a:t>
            </a:r>
            <a:endParaRPr lang="en-US" sz="3400" dirty="0"/>
          </a:p>
        </p:txBody>
      </p:sp>
      <p:sp>
        <p:nvSpPr>
          <p:cNvPr id="3" name="Text 1"/>
          <p:cNvSpPr txBox="1"/>
          <p:nvPr/>
        </p:nvSpPr>
        <p:spPr>
          <a:xfrm>
            <a:off x="548640" y="1280160"/>
            <a:ext cx="3291840" cy="274320"/>
          </a:xfrm>
          <a:prstGeom prst="rect">
            <a:avLst/>
          </a:prstGeom>
          <a:noFill/>
          <a:ln/>
        </p:spPr>
        <p:txBody>
          <a:bodyPr wrap="square" lIns="0" tIns="0" rIns="0" bIns="0" rtlCol="0" anchor="ctr"/>
          <a:lstStyle/>
          <a:p>
            <a:pPr indent="0" marL="0">
              <a:buNone/>
            </a:pPr>
            <a:r>
              <a:rPr lang="en-US" sz="1200" b="1" spc="100" kern="0" dirty="0">
                <a:solidFill>
                  <a:schemeClr val="tx2"/>
                </a:solidFill>
              </a:rPr>
              <a:t>WAAR JE NU STAAT</a:t>
            </a:r>
            <a:endParaRPr lang="en-US" sz="1200" dirty="0"/>
          </a:p>
        </p:txBody>
      </p:sp>
      <p:sp>
        <p:nvSpPr>
          <p:cNvPr id="4" name="Text 2"/>
          <p:cNvSpPr txBox="1"/>
          <p:nvPr/>
        </p:nvSpPr>
        <p:spPr>
          <a:xfrm>
            <a:off x="4206240" y="1280160"/>
            <a:ext cx="329184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DE LOGISCHE VOLGENDE STAP</a:t>
            </a:r>
            <a:endParaRPr lang="en-US" sz="1200" dirty="0"/>
          </a:p>
        </p:txBody>
      </p:sp>
      <p:sp>
        <p:nvSpPr>
          <p:cNvPr id="5" name="kaart"/>
          <p:cNvSpPr/>
          <p:nvPr/>
        </p:nvSpPr>
        <p:spPr>
          <a:xfrm>
            <a:off x="548640" y="1645920"/>
            <a:ext cx="3383280" cy="621792"/>
          </a:xfrm>
          <a:prstGeom prst="roundRect">
            <a:avLst>
              <a:gd name="adj" fmla="val 17647"/>
            </a:avLst>
          </a:prstGeom>
          <a:solidFill>
            <a:schemeClr val="bg2"/>
          </a:solidFill>
          <a:ln w="12700">
            <a:solidFill>
              <a:schemeClr val="bg2"/>
            </a:solidFill>
            <a:prstDash val="solid"/>
          </a:ln>
        </p:spPr>
      </p:sp>
      <p:sp>
        <p:nvSpPr>
          <p:cNvPr id="6" name="Text 4"/>
          <p:cNvSpPr txBox="1"/>
          <p:nvPr/>
        </p:nvSpPr>
        <p:spPr>
          <a:xfrm>
            <a:off x="731520" y="1645920"/>
            <a:ext cx="3108960" cy="621792"/>
          </a:xfrm>
          <a:prstGeom prst="rect">
            <a:avLst/>
          </a:prstGeom>
          <a:noFill/>
          <a:ln/>
        </p:spPr>
        <p:txBody>
          <a:bodyPr wrap="square" lIns="0" tIns="0" rIns="0" bIns="0" rtlCol="0" anchor="ctr"/>
          <a:lstStyle/>
          <a:p>
            <a:pPr indent="0" marL="0">
              <a:buNone/>
            </a:pPr>
            <a:r>
              <a:rPr lang="en-US" sz="1300" dirty="0">
                <a:solidFill>
                  <a:schemeClr val="tx1"/>
                </a:solidFill>
              </a:rPr>
              <a:t>Je kent de bouwstenen van elke taal</a:t>
            </a:r>
            <a:endParaRPr lang="en-US" sz="1300" dirty="0"/>
          </a:p>
        </p:txBody>
      </p:sp>
      <p:pic>
        <p:nvPicPr>
          <p:cNvPr id="7" name="pijl" descr="preencoded.png">    </p:cNvPr>
          <p:cNvPicPr>
            <a:picLocks noChangeAspect="1"/>
          </p:cNvPicPr>
          <p:nvPr/>
        </p:nvPicPr>
        <p:blipFill>
          <a:blip r:embed="rId1"/>
          <a:stretch>
            <a:fillRect/>
          </a:stretch>
        </p:blipFill>
        <p:spPr>
          <a:xfrm>
            <a:off x="3977640" y="1847088"/>
            <a:ext cx="201168" cy="201168"/>
          </a:xfrm>
          <a:prstGeom prst="rect">
            <a:avLst/>
          </a:prstGeom>
        </p:spPr>
      </p:pic>
      <p:sp>
        <p:nvSpPr>
          <p:cNvPr id="8" name="kaart"/>
          <p:cNvSpPr/>
          <p:nvPr/>
        </p:nvSpPr>
        <p:spPr>
          <a:xfrm>
            <a:off x="4206240" y="1645920"/>
            <a:ext cx="3429000" cy="621792"/>
          </a:xfrm>
          <a:prstGeom prst="roundRect">
            <a:avLst>
              <a:gd name="adj" fmla="val 17647"/>
            </a:avLst>
          </a:prstGeom>
          <a:solidFill>
            <a:schemeClr val="bg2"/>
          </a:solidFill>
          <a:ln w="12700">
            <a:solidFill>
              <a:schemeClr val="bg2"/>
            </a:solidFill>
            <a:prstDash val="solid"/>
          </a:ln>
        </p:spPr>
      </p:sp>
      <p:sp>
        <p:nvSpPr>
          <p:cNvPr id="9" name="Text 6"/>
          <p:cNvSpPr txBox="1"/>
          <p:nvPr/>
        </p:nvSpPr>
        <p:spPr>
          <a:xfrm>
            <a:off x="4389120" y="1645920"/>
            <a:ext cx="3154680" cy="621792"/>
          </a:xfrm>
          <a:prstGeom prst="rect">
            <a:avLst/>
          </a:prstGeom>
          <a:noFill/>
          <a:ln/>
        </p:spPr>
        <p:txBody>
          <a:bodyPr wrap="square" lIns="0" tIns="0" rIns="0" bIns="0" rtlCol="0" anchor="ctr"/>
          <a:lstStyle/>
          <a:p>
            <a:pPr indent="0" marL="0">
              <a:buNone/>
            </a:pPr>
            <a:r>
              <a:rPr lang="en-US" sz="1300" b="1" dirty="0">
                <a:solidFill>
                  <a:schemeClr val="tx1"/>
                </a:solidFill>
              </a:rPr>
              <a:t>Een tweede taal leren gaat nu tien keer sneller</a:t>
            </a:r>
            <a:endParaRPr lang="en-US" sz="1300" dirty="0"/>
          </a:p>
        </p:txBody>
      </p:sp>
      <p:sp>
        <p:nvSpPr>
          <p:cNvPr id="10" name="kaart"/>
          <p:cNvSpPr/>
          <p:nvPr/>
        </p:nvSpPr>
        <p:spPr>
          <a:xfrm>
            <a:off x="548640" y="2377440"/>
            <a:ext cx="3383280" cy="621792"/>
          </a:xfrm>
          <a:prstGeom prst="roundRect">
            <a:avLst>
              <a:gd name="adj" fmla="val 17647"/>
            </a:avLst>
          </a:prstGeom>
          <a:solidFill>
            <a:schemeClr val="bg2"/>
          </a:solidFill>
          <a:ln w="12700">
            <a:solidFill>
              <a:schemeClr val="bg2"/>
            </a:solidFill>
            <a:prstDash val="solid"/>
          </a:ln>
        </p:spPr>
      </p:sp>
      <p:sp>
        <p:nvSpPr>
          <p:cNvPr id="11" name="Text 8"/>
          <p:cNvSpPr txBox="1"/>
          <p:nvPr/>
        </p:nvSpPr>
        <p:spPr>
          <a:xfrm>
            <a:off x="731520" y="2377440"/>
            <a:ext cx="3108960" cy="621792"/>
          </a:xfrm>
          <a:prstGeom prst="rect">
            <a:avLst/>
          </a:prstGeom>
          <a:noFill/>
          <a:ln/>
        </p:spPr>
        <p:txBody>
          <a:bodyPr wrap="square" lIns="0" tIns="0" rIns="0" bIns="0" rtlCol="0" anchor="ctr"/>
          <a:lstStyle/>
          <a:p>
            <a:pPr indent="0" marL="0">
              <a:buNone/>
            </a:pPr>
            <a:r>
              <a:rPr lang="en-US" sz="1300" dirty="0">
                <a:solidFill>
                  <a:schemeClr val="tx1"/>
                </a:solidFill>
              </a:rPr>
              <a:t>Je kent klassen oppervlakkig</a:t>
            </a:r>
            <a:endParaRPr lang="en-US" sz="1300" dirty="0"/>
          </a:p>
        </p:txBody>
      </p:sp>
      <p:pic>
        <p:nvPicPr>
          <p:cNvPr id="12" name="pijl" descr="preencoded.png">    </p:cNvPr>
          <p:cNvPicPr>
            <a:picLocks noChangeAspect="1"/>
          </p:cNvPicPr>
          <p:nvPr/>
        </p:nvPicPr>
        <p:blipFill>
          <a:blip r:embed="rId2"/>
          <a:stretch>
            <a:fillRect/>
          </a:stretch>
        </p:blipFill>
        <p:spPr>
          <a:xfrm>
            <a:off x="3977640" y="2578608"/>
            <a:ext cx="201168" cy="201168"/>
          </a:xfrm>
          <a:prstGeom prst="rect">
            <a:avLst/>
          </a:prstGeom>
        </p:spPr>
      </p:pic>
      <p:sp>
        <p:nvSpPr>
          <p:cNvPr id="13" name="kaart"/>
          <p:cNvSpPr/>
          <p:nvPr/>
        </p:nvSpPr>
        <p:spPr>
          <a:xfrm>
            <a:off x="4206240" y="2377440"/>
            <a:ext cx="3429000" cy="621792"/>
          </a:xfrm>
          <a:prstGeom prst="roundRect">
            <a:avLst>
              <a:gd name="adj" fmla="val 17647"/>
            </a:avLst>
          </a:prstGeom>
          <a:solidFill>
            <a:schemeClr val="bg2"/>
          </a:solidFill>
          <a:ln w="12700">
            <a:solidFill>
              <a:schemeClr val="bg2"/>
            </a:solidFill>
            <a:prstDash val="solid"/>
          </a:ln>
        </p:spPr>
      </p:sp>
      <p:sp>
        <p:nvSpPr>
          <p:cNvPr id="14" name="Text 10"/>
          <p:cNvSpPr txBox="1"/>
          <p:nvPr/>
        </p:nvSpPr>
        <p:spPr>
          <a:xfrm>
            <a:off x="4389120" y="2377440"/>
            <a:ext cx="3154680" cy="621792"/>
          </a:xfrm>
          <a:prstGeom prst="rect">
            <a:avLst/>
          </a:prstGeom>
          <a:noFill/>
          <a:ln/>
        </p:spPr>
        <p:txBody>
          <a:bodyPr wrap="square" lIns="0" tIns="0" rIns="0" bIns="0" rtlCol="0" anchor="ctr"/>
          <a:lstStyle/>
          <a:p>
            <a:pPr indent="0" marL="0">
              <a:buNone/>
            </a:pPr>
            <a:r>
              <a:rPr lang="en-US" sz="1300" b="1" dirty="0">
                <a:solidFill>
                  <a:schemeClr val="tx1"/>
                </a:solidFill>
              </a:rPr>
              <a:t>Objectgeoriënteerd programmeren: overerving, encapsulatie</a:t>
            </a:r>
            <a:endParaRPr lang="en-US" sz="1300" dirty="0"/>
          </a:p>
        </p:txBody>
      </p:sp>
      <p:sp>
        <p:nvSpPr>
          <p:cNvPr id="15" name="kaart"/>
          <p:cNvSpPr/>
          <p:nvPr/>
        </p:nvSpPr>
        <p:spPr>
          <a:xfrm>
            <a:off x="548640" y="3108960"/>
            <a:ext cx="3383280" cy="621792"/>
          </a:xfrm>
          <a:prstGeom prst="roundRect">
            <a:avLst>
              <a:gd name="adj" fmla="val 17647"/>
            </a:avLst>
          </a:prstGeom>
          <a:solidFill>
            <a:schemeClr val="bg2"/>
          </a:solidFill>
          <a:ln w="12700">
            <a:solidFill>
              <a:schemeClr val="bg2"/>
            </a:solidFill>
            <a:prstDash val="solid"/>
          </a:ln>
        </p:spPr>
      </p:sp>
      <p:sp>
        <p:nvSpPr>
          <p:cNvPr id="16" name="Text 12"/>
          <p:cNvSpPr txBox="1"/>
          <p:nvPr/>
        </p:nvSpPr>
        <p:spPr>
          <a:xfrm>
            <a:off x="731520" y="3108960"/>
            <a:ext cx="3108960" cy="621792"/>
          </a:xfrm>
          <a:prstGeom prst="rect">
            <a:avLst/>
          </a:prstGeom>
          <a:noFill/>
          <a:ln/>
        </p:spPr>
        <p:txBody>
          <a:bodyPr wrap="square" lIns="0" tIns="0" rIns="0" bIns="0" rtlCol="0" anchor="ctr"/>
          <a:lstStyle/>
          <a:p>
            <a:pPr indent="0" marL="0">
              <a:buNone/>
            </a:pPr>
            <a:r>
              <a:rPr lang="en-US" sz="1300" dirty="0">
                <a:solidFill>
                  <a:schemeClr val="tx1"/>
                </a:solidFill>
              </a:rPr>
              <a:t>Je bewaart gegevens in bestanden</a:t>
            </a:r>
            <a:endParaRPr lang="en-US" sz="1300" dirty="0"/>
          </a:p>
        </p:txBody>
      </p:sp>
      <p:pic>
        <p:nvPicPr>
          <p:cNvPr id="17" name="pijl" descr="preencoded.png">    </p:cNvPr>
          <p:cNvPicPr>
            <a:picLocks noChangeAspect="1"/>
          </p:cNvPicPr>
          <p:nvPr/>
        </p:nvPicPr>
        <p:blipFill>
          <a:blip r:embed="rId3"/>
          <a:stretch>
            <a:fillRect/>
          </a:stretch>
        </p:blipFill>
        <p:spPr>
          <a:xfrm>
            <a:off x="3977640" y="3310128"/>
            <a:ext cx="201168" cy="201168"/>
          </a:xfrm>
          <a:prstGeom prst="rect">
            <a:avLst/>
          </a:prstGeom>
        </p:spPr>
      </p:pic>
      <p:sp>
        <p:nvSpPr>
          <p:cNvPr id="18" name="kaart"/>
          <p:cNvSpPr/>
          <p:nvPr/>
        </p:nvSpPr>
        <p:spPr>
          <a:xfrm>
            <a:off x="4206240" y="3108960"/>
            <a:ext cx="3429000" cy="621792"/>
          </a:xfrm>
          <a:prstGeom prst="roundRect">
            <a:avLst>
              <a:gd name="adj" fmla="val 17647"/>
            </a:avLst>
          </a:prstGeom>
          <a:solidFill>
            <a:schemeClr val="bg2"/>
          </a:solidFill>
          <a:ln w="12700">
            <a:solidFill>
              <a:schemeClr val="bg2"/>
            </a:solidFill>
            <a:prstDash val="solid"/>
          </a:ln>
        </p:spPr>
      </p:sp>
      <p:sp>
        <p:nvSpPr>
          <p:cNvPr id="19" name="Text 14"/>
          <p:cNvSpPr txBox="1"/>
          <p:nvPr/>
        </p:nvSpPr>
        <p:spPr>
          <a:xfrm>
            <a:off x="4389120" y="3108960"/>
            <a:ext cx="3154680" cy="621792"/>
          </a:xfrm>
          <a:prstGeom prst="rect">
            <a:avLst/>
          </a:prstGeom>
          <a:noFill/>
          <a:ln/>
        </p:spPr>
        <p:txBody>
          <a:bodyPr wrap="square" lIns="0" tIns="0" rIns="0" bIns="0" rtlCol="0" anchor="ctr"/>
          <a:lstStyle/>
          <a:p>
            <a:pPr indent="0" marL="0">
              <a:buNone/>
            </a:pPr>
            <a:r>
              <a:rPr lang="en-US" sz="1300" b="1" dirty="0">
                <a:solidFill>
                  <a:schemeClr val="tx1"/>
                </a:solidFill>
              </a:rPr>
              <a:t>Databanken en SQL</a:t>
            </a:r>
            <a:endParaRPr lang="en-US" sz="1300" dirty="0"/>
          </a:p>
        </p:txBody>
      </p:sp>
      <p:sp>
        <p:nvSpPr>
          <p:cNvPr id="20" name="kaart"/>
          <p:cNvSpPr/>
          <p:nvPr/>
        </p:nvSpPr>
        <p:spPr>
          <a:xfrm>
            <a:off x="548640" y="3840480"/>
            <a:ext cx="3383280" cy="621792"/>
          </a:xfrm>
          <a:prstGeom prst="roundRect">
            <a:avLst>
              <a:gd name="adj" fmla="val 17647"/>
            </a:avLst>
          </a:prstGeom>
          <a:solidFill>
            <a:schemeClr val="bg2"/>
          </a:solidFill>
          <a:ln w="12700">
            <a:solidFill>
              <a:schemeClr val="bg2"/>
            </a:solidFill>
            <a:prstDash val="solid"/>
          </a:ln>
        </p:spPr>
      </p:sp>
      <p:sp>
        <p:nvSpPr>
          <p:cNvPr id="21" name="Text 16"/>
          <p:cNvSpPr txBox="1"/>
          <p:nvPr/>
        </p:nvSpPr>
        <p:spPr>
          <a:xfrm>
            <a:off x="731520" y="3840480"/>
            <a:ext cx="3108960" cy="621792"/>
          </a:xfrm>
          <a:prstGeom prst="rect">
            <a:avLst/>
          </a:prstGeom>
          <a:noFill/>
          <a:ln/>
        </p:spPr>
        <p:txBody>
          <a:bodyPr wrap="square" lIns="0" tIns="0" rIns="0" bIns="0" rtlCol="0" anchor="ctr"/>
          <a:lstStyle/>
          <a:p>
            <a:pPr indent="0" marL="0">
              <a:buNone/>
            </a:pPr>
            <a:r>
              <a:rPr lang="en-US" sz="1300" dirty="0">
                <a:solidFill>
                  <a:schemeClr val="tx1"/>
                </a:solidFill>
              </a:rPr>
              <a:t>Je bedient je programma via de terminal</a:t>
            </a:r>
            <a:endParaRPr lang="en-US" sz="1300" dirty="0"/>
          </a:p>
        </p:txBody>
      </p:sp>
      <p:pic>
        <p:nvPicPr>
          <p:cNvPr id="22" name="pijl" descr="preencoded.png">    </p:cNvPr>
          <p:cNvPicPr>
            <a:picLocks noChangeAspect="1"/>
          </p:cNvPicPr>
          <p:nvPr/>
        </p:nvPicPr>
        <p:blipFill>
          <a:blip r:embed="rId4"/>
          <a:stretch>
            <a:fillRect/>
          </a:stretch>
        </p:blipFill>
        <p:spPr>
          <a:xfrm>
            <a:off x="3977640" y="4041648"/>
            <a:ext cx="201168" cy="201168"/>
          </a:xfrm>
          <a:prstGeom prst="rect">
            <a:avLst/>
          </a:prstGeom>
        </p:spPr>
      </p:pic>
      <p:sp>
        <p:nvSpPr>
          <p:cNvPr id="23" name="kaart"/>
          <p:cNvSpPr/>
          <p:nvPr/>
        </p:nvSpPr>
        <p:spPr>
          <a:xfrm>
            <a:off x="4206240" y="3840480"/>
            <a:ext cx="3429000" cy="621792"/>
          </a:xfrm>
          <a:prstGeom prst="roundRect">
            <a:avLst>
              <a:gd name="adj" fmla="val 17647"/>
            </a:avLst>
          </a:prstGeom>
          <a:solidFill>
            <a:schemeClr val="bg2"/>
          </a:solidFill>
          <a:ln w="12700">
            <a:solidFill>
              <a:schemeClr val="bg2"/>
            </a:solidFill>
            <a:prstDash val="solid"/>
          </a:ln>
        </p:spPr>
      </p:sp>
      <p:sp>
        <p:nvSpPr>
          <p:cNvPr id="24" name="Text 18"/>
          <p:cNvSpPr txBox="1"/>
          <p:nvPr/>
        </p:nvSpPr>
        <p:spPr>
          <a:xfrm>
            <a:off x="4389120" y="3840480"/>
            <a:ext cx="3154680" cy="621792"/>
          </a:xfrm>
          <a:prstGeom prst="rect">
            <a:avLst/>
          </a:prstGeom>
          <a:noFill/>
          <a:ln/>
        </p:spPr>
        <p:txBody>
          <a:bodyPr wrap="square" lIns="0" tIns="0" rIns="0" bIns="0" rtlCol="0" anchor="ctr"/>
          <a:lstStyle/>
          <a:p>
            <a:pPr indent="0" marL="0">
              <a:buNone/>
            </a:pPr>
            <a:r>
              <a:rPr lang="en-US" sz="1300" b="1" dirty="0">
                <a:solidFill>
                  <a:schemeClr val="tx1"/>
                </a:solidFill>
              </a:rPr>
              <a:t>Webframeworks, of een grafische schil</a:t>
            </a:r>
            <a:endParaRPr lang="en-US" sz="1300" dirty="0"/>
          </a:p>
        </p:txBody>
      </p:sp>
      <p:sp>
        <p:nvSpPr>
          <p:cNvPr id="25" name="kaart"/>
          <p:cNvSpPr/>
          <p:nvPr/>
        </p:nvSpPr>
        <p:spPr>
          <a:xfrm>
            <a:off x="548640" y="4572000"/>
            <a:ext cx="3383280" cy="621792"/>
          </a:xfrm>
          <a:prstGeom prst="roundRect">
            <a:avLst>
              <a:gd name="adj" fmla="val 17647"/>
            </a:avLst>
          </a:prstGeom>
          <a:solidFill>
            <a:schemeClr val="bg2"/>
          </a:solidFill>
          <a:ln w="12700">
            <a:solidFill>
              <a:schemeClr val="bg2"/>
            </a:solidFill>
            <a:prstDash val="solid"/>
          </a:ln>
        </p:spPr>
      </p:sp>
      <p:sp>
        <p:nvSpPr>
          <p:cNvPr id="26" name="Text 20"/>
          <p:cNvSpPr txBox="1"/>
          <p:nvPr/>
        </p:nvSpPr>
        <p:spPr>
          <a:xfrm>
            <a:off x="731520" y="4572000"/>
            <a:ext cx="3108960" cy="621792"/>
          </a:xfrm>
          <a:prstGeom prst="rect">
            <a:avLst/>
          </a:prstGeom>
          <a:noFill/>
          <a:ln/>
        </p:spPr>
        <p:txBody>
          <a:bodyPr wrap="square" lIns="0" tIns="0" rIns="0" bIns="0" rtlCol="0" anchor="ctr"/>
          <a:lstStyle/>
          <a:p>
            <a:pPr indent="0" marL="0">
              <a:buNone/>
            </a:pPr>
            <a:r>
              <a:rPr lang="en-US" sz="1300" dirty="0">
                <a:solidFill>
                  <a:schemeClr val="tx1"/>
                </a:solidFill>
              </a:rPr>
              <a:t>Je test met assert</a:t>
            </a:r>
            <a:endParaRPr lang="en-US" sz="1300" dirty="0"/>
          </a:p>
        </p:txBody>
      </p:sp>
      <p:pic>
        <p:nvPicPr>
          <p:cNvPr id="27" name="pijl" descr="preencoded.png">    </p:cNvPr>
          <p:cNvPicPr>
            <a:picLocks noChangeAspect="1"/>
          </p:cNvPicPr>
          <p:nvPr/>
        </p:nvPicPr>
        <p:blipFill>
          <a:blip r:embed="rId5"/>
          <a:stretch>
            <a:fillRect/>
          </a:stretch>
        </p:blipFill>
        <p:spPr>
          <a:xfrm>
            <a:off x="3977640" y="4773168"/>
            <a:ext cx="201168" cy="201168"/>
          </a:xfrm>
          <a:prstGeom prst="rect">
            <a:avLst/>
          </a:prstGeom>
        </p:spPr>
      </p:pic>
      <p:sp>
        <p:nvSpPr>
          <p:cNvPr id="28" name="kaart"/>
          <p:cNvSpPr/>
          <p:nvPr/>
        </p:nvSpPr>
        <p:spPr>
          <a:xfrm>
            <a:off x="4206240" y="4572000"/>
            <a:ext cx="3429000" cy="621792"/>
          </a:xfrm>
          <a:prstGeom prst="roundRect">
            <a:avLst>
              <a:gd name="adj" fmla="val 17647"/>
            </a:avLst>
          </a:prstGeom>
          <a:solidFill>
            <a:schemeClr val="bg2"/>
          </a:solidFill>
          <a:ln w="12700">
            <a:solidFill>
              <a:schemeClr val="bg2"/>
            </a:solidFill>
            <a:prstDash val="solid"/>
          </a:ln>
        </p:spPr>
      </p:sp>
      <p:sp>
        <p:nvSpPr>
          <p:cNvPr id="29" name="Text 22"/>
          <p:cNvSpPr txBox="1"/>
          <p:nvPr/>
        </p:nvSpPr>
        <p:spPr>
          <a:xfrm>
            <a:off x="4389120" y="4572000"/>
            <a:ext cx="3154680" cy="621792"/>
          </a:xfrm>
          <a:prstGeom prst="rect">
            <a:avLst/>
          </a:prstGeom>
          <a:noFill/>
          <a:ln/>
        </p:spPr>
        <p:txBody>
          <a:bodyPr wrap="square" lIns="0" tIns="0" rIns="0" bIns="0" rtlCol="0" anchor="ctr"/>
          <a:lstStyle/>
          <a:p>
            <a:pPr indent="0" marL="0">
              <a:buNone/>
            </a:pPr>
            <a:r>
              <a:rPr lang="en-US" sz="1300" b="1" dirty="0">
                <a:solidFill>
                  <a:schemeClr val="tx1"/>
                </a:solidFill>
              </a:rPr>
              <a:t>pytest, en testen als onderdeel van je ontwerp</a:t>
            </a:r>
            <a:endParaRPr lang="en-US" sz="1300" dirty="0"/>
          </a:p>
        </p:txBody>
      </p:sp>
      <p:sp>
        <p:nvSpPr>
          <p:cNvPr id="30" name="kaart"/>
          <p:cNvSpPr/>
          <p:nvPr/>
        </p:nvSpPr>
        <p:spPr>
          <a:xfrm>
            <a:off x="548640" y="5303520"/>
            <a:ext cx="3383280" cy="621792"/>
          </a:xfrm>
          <a:prstGeom prst="roundRect">
            <a:avLst>
              <a:gd name="adj" fmla="val 17647"/>
            </a:avLst>
          </a:prstGeom>
          <a:solidFill>
            <a:schemeClr val="bg2"/>
          </a:solidFill>
          <a:ln w="12700">
            <a:solidFill>
              <a:schemeClr val="bg2"/>
            </a:solidFill>
            <a:prstDash val="solid"/>
          </a:ln>
        </p:spPr>
      </p:sp>
      <p:sp>
        <p:nvSpPr>
          <p:cNvPr id="31" name="Text 24"/>
          <p:cNvSpPr txBox="1"/>
          <p:nvPr/>
        </p:nvSpPr>
        <p:spPr>
          <a:xfrm>
            <a:off x="731520" y="5303520"/>
            <a:ext cx="3108960" cy="621792"/>
          </a:xfrm>
          <a:prstGeom prst="rect">
            <a:avLst/>
          </a:prstGeom>
          <a:noFill/>
          <a:ln/>
        </p:spPr>
        <p:txBody>
          <a:bodyPr wrap="square" lIns="0" tIns="0" rIns="0" bIns="0" rtlCol="0" anchor="ctr"/>
          <a:lstStyle/>
          <a:p>
            <a:pPr indent="0" marL="0">
              <a:buNone/>
            </a:pPr>
            <a:r>
              <a:rPr lang="en-US" sz="1300" dirty="0">
                <a:solidFill>
                  <a:schemeClr val="tx1"/>
                </a:solidFill>
              </a:rPr>
              <a:t>Je gebruikt Git alleen</a:t>
            </a:r>
            <a:endParaRPr lang="en-US" sz="1300" dirty="0"/>
          </a:p>
        </p:txBody>
      </p:sp>
      <p:pic>
        <p:nvPicPr>
          <p:cNvPr id="32" name="pijl" descr="preencoded.png">    </p:cNvPr>
          <p:cNvPicPr>
            <a:picLocks noChangeAspect="1"/>
          </p:cNvPicPr>
          <p:nvPr/>
        </p:nvPicPr>
        <p:blipFill>
          <a:blip r:embed="rId6"/>
          <a:stretch>
            <a:fillRect/>
          </a:stretch>
        </p:blipFill>
        <p:spPr>
          <a:xfrm>
            <a:off x="3977640" y="5504688"/>
            <a:ext cx="201168" cy="201168"/>
          </a:xfrm>
          <a:prstGeom prst="rect">
            <a:avLst/>
          </a:prstGeom>
        </p:spPr>
      </p:pic>
      <p:sp>
        <p:nvSpPr>
          <p:cNvPr id="33" name="kaart"/>
          <p:cNvSpPr/>
          <p:nvPr/>
        </p:nvSpPr>
        <p:spPr>
          <a:xfrm>
            <a:off x="4206240" y="5303520"/>
            <a:ext cx="3429000" cy="621792"/>
          </a:xfrm>
          <a:prstGeom prst="roundRect">
            <a:avLst>
              <a:gd name="adj" fmla="val 17647"/>
            </a:avLst>
          </a:prstGeom>
          <a:solidFill>
            <a:schemeClr val="bg2"/>
          </a:solidFill>
          <a:ln w="12700">
            <a:solidFill>
              <a:schemeClr val="bg2"/>
            </a:solidFill>
            <a:prstDash val="solid"/>
          </a:ln>
        </p:spPr>
      </p:sp>
      <p:sp>
        <p:nvSpPr>
          <p:cNvPr id="34" name="Text 26"/>
          <p:cNvSpPr txBox="1"/>
          <p:nvPr/>
        </p:nvSpPr>
        <p:spPr>
          <a:xfrm>
            <a:off x="4389120" y="5303520"/>
            <a:ext cx="3154680" cy="621792"/>
          </a:xfrm>
          <a:prstGeom prst="rect">
            <a:avLst/>
          </a:prstGeom>
          <a:noFill/>
          <a:ln/>
        </p:spPr>
        <p:txBody>
          <a:bodyPr wrap="square" lIns="0" tIns="0" rIns="0" bIns="0" rtlCol="0" anchor="ctr"/>
          <a:lstStyle/>
          <a:p>
            <a:pPr indent="0" marL="0">
              <a:buNone/>
            </a:pPr>
            <a:r>
              <a:rPr lang="en-US" sz="1300" b="1" dirty="0">
                <a:solidFill>
                  <a:schemeClr val="tx1"/>
                </a:solidFill>
              </a:rPr>
              <a:t>Branches, pull requests, samenwerken</a:t>
            </a:r>
            <a:endParaRPr lang="en-US" sz="1300" dirty="0"/>
          </a:p>
        </p:txBody>
      </p:sp>
      <p:sp>
        <p:nvSpPr>
          <p:cNvPr id="35" name="kaart"/>
          <p:cNvSpPr/>
          <p:nvPr/>
        </p:nvSpPr>
        <p:spPr>
          <a:xfrm>
            <a:off x="7955280" y="1280160"/>
            <a:ext cx="3657600" cy="4709160"/>
          </a:xfrm>
          <a:prstGeom prst="roundRect">
            <a:avLst>
              <a:gd name="adj" fmla="val 3000"/>
            </a:avLst>
          </a:prstGeom>
          <a:solidFill>
            <a:schemeClr val="tx1"/>
          </a:solidFill>
          <a:ln w="12700">
            <a:solidFill>
              <a:schemeClr val="tx1"/>
            </a:solidFill>
            <a:prstDash val="solid"/>
          </a:ln>
        </p:spPr>
      </p:sp>
      <p:sp>
        <p:nvSpPr>
          <p:cNvPr id="36" name="Text 28"/>
          <p:cNvSpPr txBox="1"/>
          <p:nvPr/>
        </p:nvSpPr>
        <p:spPr>
          <a:xfrm>
            <a:off x="8229600" y="1508760"/>
            <a:ext cx="329184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WAAROM HET MEESTE AL BEKEND IS</a:t>
            </a:r>
            <a:endParaRPr lang="en-US" sz="1200" dirty="0"/>
          </a:p>
        </p:txBody>
      </p:sp>
      <p:sp>
        <p:nvSpPr>
          <p:cNvPr id="37" name="Text 29"/>
          <p:cNvSpPr txBox="1"/>
          <p:nvPr/>
        </p:nvSpPr>
        <p:spPr>
          <a:xfrm>
            <a:off x="8229600" y="1920240"/>
            <a:ext cx="3154680" cy="621792"/>
          </a:xfrm>
          <a:prstGeom prst="rect">
            <a:avLst/>
          </a:prstGeom>
          <a:noFill/>
          <a:ln/>
        </p:spPr>
        <p:txBody>
          <a:bodyPr wrap="square" lIns="0" tIns="0" rIns="0" bIns="0" rtlCol="0" anchor="t"/>
          <a:lstStyle/>
          <a:p>
            <a:pPr indent="0" marL="0">
              <a:buNone/>
            </a:pPr>
            <a:r>
              <a:rPr lang="en-US" sz="1300" b="1" dirty="0">
                <a:solidFill>
                  <a:schemeClr val="accent1"/>
                </a:solidFill>
              </a:rPr>
              <a:t>Een databank </a:t>
            </a:r>
            <a:pPr indent="0" marL="0">
              <a:buNone/>
            </a:pPr>
            <a:r>
              <a:rPr lang="en-US" sz="1300" dirty="0">
                <a:solidFill>
                  <a:schemeClr val="bg1"/>
                </a:solidFill>
              </a:rPr>
              <a:t>bewaart gegevens, zoals je CSV-bestand</a:t>
            </a:r>
            <a:endParaRPr lang="en-US" sz="1300" dirty="0"/>
          </a:p>
        </p:txBody>
      </p:sp>
      <p:sp>
        <p:nvSpPr>
          <p:cNvPr id="38" name="Text 30"/>
          <p:cNvSpPr txBox="1"/>
          <p:nvPr/>
        </p:nvSpPr>
        <p:spPr>
          <a:xfrm>
            <a:off x="8229600" y="2606040"/>
            <a:ext cx="3154680" cy="621792"/>
          </a:xfrm>
          <a:prstGeom prst="rect">
            <a:avLst/>
          </a:prstGeom>
          <a:noFill/>
          <a:ln/>
        </p:spPr>
        <p:txBody>
          <a:bodyPr wrap="square" lIns="0" tIns="0" rIns="0" bIns="0" rtlCol="0" anchor="t"/>
          <a:lstStyle/>
          <a:p>
            <a:pPr indent="0" marL="0">
              <a:buNone/>
            </a:pPr>
            <a:r>
              <a:rPr lang="en-US" sz="1300" b="1" dirty="0">
                <a:solidFill>
                  <a:schemeClr val="accent1"/>
                </a:solidFill>
              </a:rPr>
              <a:t>Een webframework </a:t>
            </a:r>
            <a:pPr indent="0" marL="0">
              <a:buNone/>
            </a:pPr>
            <a:r>
              <a:rPr lang="en-US" sz="1300" dirty="0">
                <a:solidFill>
                  <a:schemeClr val="bg1"/>
                </a:solidFill>
              </a:rPr>
              <a:t>vraagt invoer en geeft uitvoer, zoals je menu</a:t>
            </a:r>
            <a:endParaRPr lang="en-US" sz="1300" dirty="0"/>
          </a:p>
        </p:txBody>
      </p:sp>
      <p:sp>
        <p:nvSpPr>
          <p:cNvPr id="39" name="Text 31"/>
          <p:cNvSpPr txBox="1"/>
          <p:nvPr/>
        </p:nvSpPr>
        <p:spPr>
          <a:xfrm>
            <a:off x="8229600" y="3291840"/>
            <a:ext cx="3154680" cy="621792"/>
          </a:xfrm>
          <a:prstGeom prst="rect">
            <a:avLst/>
          </a:prstGeom>
          <a:noFill/>
          <a:ln/>
        </p:spPr>
        <p:txBody>
          <a:bodyPr wrap="square" lIns="0" tIns="0" rIns="0" bIns="0" rtlCol="0" anchor="t"/>
          <a:lstStyle/>
          <a:p>
            <a:pPr indent="0" marL="0">
              <a:buNone/>
            </a:pPr>
            <a:r>
              <a:rPr lang="en-US" sz="1300" b="1" dirty="0">
                <a:solidFill>
                  <a:schemeClr val="accent1"/>
                </a:solidFill>
              </a:rPr>
              <a:t>pytest </a:t>
            </a:r>
            <a:pPr indent="0" marL="0">
              <a:buNone/>
            </a:pPr>
            <a:r>
              <a:rPr lang="en-US" sz="1300" dirty="0">
                <a:solidFill>
                  <a:schemeClr val="bg1"/>
                </a:solidFill>
              </a:rPr>
              <a:t>draait controles, zoals je testloper</a:t>
            </a:r>
            <a:endParaRPr lang="en-US" sz="1300" dirty="0"/>
          </a:p>
        </p:txBody>
      </p:sp>
      <p:sp>
        <p:nvSpPr>
          <p:cNvPr id="40" name="Text 32"/>
          <p:cNvSpPr txBox="1"/>
          <p:nvPr/>
        </p:nvSpPr>
        <p:spPr>
          <a:xfrm>
            <a:off x="8229600" y="4114800"/>
            <a:ext cx="3154680" cy="17373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Wat níet verandert: opdelen, benoemen, controleren, en kunnen zeggen waarom iets klopt.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lIns="0" tIns="0" rIns="0" bIns="0" rtlCol="0" anchor="b"/>
          <a:lstStyle/>
          <a:p>
            <a:pPr algn="l" indent="0" marL="0">
              <a:buNone/>
            </a:pPr>
            <a:r>
              <a:rPr lang="en-US" sz="5400" b="1" dirty="0">
                <a:solidFill>
                  <a:schemeClr val="bg1"/>
                </a:solidFill>
              </a:rPr>
              <a:t>Git-moment</a:t>
            </a:r>
            <a:endParaRPr lang="en-US" sz="5400" dirty="0"/>
          </a:p>
        </p:txBody>
      </p:sp>
      <p:sp>
        <p:nvSpPr>
          <p:cNvPr id="3" name="Text 0"/>
          <p:cNvSpPr/>
          <p:nvPr>
            <p:ph idx="101" type="body" hasCustomPrompt="1"/>
          </p:nvPr>
        </p:nvSpPr>
        <p:spPr>
          <a:xfrm>
            <a:off x="731520" y="3611880"/>
            <a:ext cx="10698480" cy="1097280"/>
          </a:xfrm>
          <a:prstGeom prst="rect">
            <a:avLst/>
          </a:prstGeom>
          <a:noFill/>
          <a:ln/>
        </p:spPr>
        <p:txBody>
          <a:bodyPr wrap="square" lIns="0" tIns="0" rIns="0" bIns="0" rtlCol="0" anchor="t"/>
          <a:lstStyle/>
          <a:p>
            <a:pPr algn="l" indent="0" marL="0">
              <a:buNone/>
            </a:pPr>
            <a:r>
              <a:rPr lang="en-US" sz="2200" dirty="0">
                <a:solidFill>
                  <a:schemeClr val="accent1"/>
                </a:solidFill>
              </a:rPr>
              <a:t>Dit is de laatste. Vanaf hier zijn de commits van jou.</a:t>
            </a:r>
            <a:endParaRPr lang="en-US" sz="2200" dirty="0"/>
          </a:p>
        </p:txBody>
      </p:sp>
      <p:sp>
        <p:nvSpPr>
          <p:cNvPr id="4" name="Text 2"/>
          <p:cNvSpPr txBox="1"/>
          <p:nvPr/>
        </p:nvSpPr>
        <p:spPr>
          <a:xfrm>
            <a:off x="731520" y="5577840"/>
            <a:ext cx="10698480" cy="685800"/>
          </a:xfrm>
          <a:prstGeom prst="rect">
            <a:avLst/>
          </a:prstGeom>
          <a:noFill/>
          <a:ln/>
        </p:spPr>
        <p:txBody>
          <a:bodyPr wrap="square" lIns="0" tIns="0" rIns="0" bIns="0" rtlCol="0" anchor="t"/>
          <a:lstStyle/>
          <a:p>
            <a:pPr indent="0" marL="0">
              <a:buNone/>
            </a:pPr>
            <a:r>
              <a:rPr lang="en-US" sz="1600" dirty="0">
                <a:solidFill>
                  <a:schemeClr val="bg2"/>
                </a:solidFill>
              </a:rPr>
              <a:t>Kijk daarna één keer naar </a:t>
            </a:r>
            <a:pPr indent="0" marL="0">
              <a:buNone/>
            </a:pPr>
            <a:r>
              <a:rPr lang="en-US" sz="1600" dirty="0">
                <a:solidFill>
                  <a:schemeClr val="accent1"/>
                </a:solidFill>
                <a:latin typeface="Consolas" pitchFamily="34" charset="0"/>
                <a:ea typeface="Consolas" pitchFamily="34" charset="-122"/>
                <a:cs typeface="Consolas" pitchFamily="34" charset="-120"/>
              </a:rPr>
              <a:t>git log --oneline</a:t>
            </a:r>
            <a:pPr indent="0" marL="0">
              <a:buNone/>
            </a:pPr>
            <a:r>
              <a:rPr lang="en-US" sz="1600" dirty="0">
                <a:solidFill>
                  <a:schemeClr val="bg2"/>
                </a:solidFill>
              </a:rPr>
              <a:t>. Wat daar staat, is negenentwintig hoofdstukken werk, in de volgorde waarin je het gedaan hebt.</a:t>
            </a:r>
            <a:endParaRPr lang="en-US" sz="1600" dirty="0"/>
          </a:p>
        </p:txBody>
      </p:sp>
      <p:sp>
        <p:nvSpPr>
          <p:cNvPr id="5" name="codevak"/>
          <p:cNvSpPr/>
          <p:nvPr/>
        </p:nvSpPr>
        <p:spPr>
          <a:xfrm>
            <a:off x="731520" y="4206240"/>
            <a:ext cx="10698480" cy="1234440"/>
          </a:xfrm>
          <a:prstGeom prst="roundRect">
            <a:avLst>
              <a:gd name="adj" fmla="val 7407"/>
            </a:avLst>
          </a:prstGeom>
          <a:solidFill>
            <a:srgbClr val="161A33"/>
          </a:solidFill>
          <a:ln w="12700">
            <a:solidFill>
              <a:srgbClr val="161A33"/>
            </a:solidFill>
            <a:prstDash val="solid"/>
          </a:ln>
        </p:spPr>
      </p:sp>
      <p:sp>
        <p:nvSpPr>
          <p:cNvPr id="6" name="code"/>
          <p:cNvSpPr txBox="1"/>
          <p:nvPr/>
        </p:nvSpPr>
        <p:spPr>
          <a:xfrm>
            <a:off x="960120" y="4389120"/>
            <a:ext cx="10241280" cy="914400"/>
          </a:xfrm>
          <a:prstGeom prst="rect">
            <a:avLst/>
          </a:prstGeom>
          <a:noFill/>
          <a:ln/>
        </p:spPr>
        <p:txBody>
          <a:bodyPr wrap="square" lIns="0" tIns="0" rIns="0" bIns="0" rtlCol="0" anchor="t"/>
          <a:lstStyle/>
          <a:p>
            <a:pPr indent="0" marL="0">
              <a:buNone/>
            </a:pPr>
            <a:r>
              <a:rPr lang="en-US" sz="1600" dirty="0">
                <a:solidFill>
                  <a:srgbClr val="E8ECF8"/>
                </a:solidFill>
                <a:latin typeface="Consolas" pitchFamily="34" charset="0"/>
                <a:ea typeface="Consolas" pitchFamily="34" charset="-122"/>
                <a:cs typeface="Consolas" pitchFamily="34" charset="-120"/>
              </a:rPr>
              <a:t>git add .</a:t>
            </a:r>
            <a:endParaRPr lang="en-US" sz="1600" dirty="0"/>
          </a:p>
          <a:p>
            <a:pPr indent="0" marL="0">
              <a:buNone/>
            </a:pPr>
            <a:r>
              <a:rPr lang="en-US" sz="1600" dirty="0">
                <a:solidFill>
                  <a:srgbClr val="E8ECF8"/>
                </a:solidFill>
                <a:latin typeface="Consolas" pitchFamily="34" charset="0"/>
                <a:ea typeface="Consolas" pitchFamily="34" charset="-122"/>
                <a:cs typeface="Consolas" pitchFamily="34" charset="-120"/>
              </a:rPr>
              <a:t>git commit -m "Rond de cursus af en start de eindopdracht"</a:t>
            </a:r>
            <a:endParaRPr lang="en-US" sz="1600" dirty="0"/>
          </a:p>
          <a:p>
            <a:pPr indent="0" marL="0">
              <a:buNone/>
            </a:pPr>
            <a:r>
              <a:rPr lang="en-US" sz="1600" dirty="0">
                <a:solidFill>
                  <a:srgbClr val="E8ECF8"/>
                </a:solidFill>
                <a:latin typeface="Consolas" pitchFamily="34" charset="0"/>
                <a:ea typeface="Consolas" pitchFamily="34" charset="-122"/>
                <a:cs typeface="Consolas" pitchFamily="34" charset="-120"/>
              </a:rPr>
              <a:t>git push</a:t>
            </a:r>
            <a:endParaRPr lang="en-US" sz="1600" dirty="0"/>
          </a:p>
        </p:txBody>
      </p:sp>
      <p:sp>
        <p:nvSpPr>
          <p:cNvPr id="7" name="icooncirkel"/>
          <p:cNvSpPr/>
          <p:nvPr/>
        </p:nvSpPr>
        <p:spPr>
          <a:xfrm>
            <a:off x="731520" y="822960"/>
            <a:ext cx="914400" cy="914400"/>
          </a:xfrm>
          <a:prstGeom prst="ellipse">
            <a:avLst/>
          </a:prstGeom>
          <a:solidFill>
            <a:schemeClr val="accent3"/>
          </a:solidFill>
          <a:ln w="12700">
            <a:solidFill>
              <a:schemeClr val="accent3"/>
            </a:solidFill>
            <a:prstDash val="solid"/>
          </a:ln>
        </p:spPr>
      </p:sp>
      <p:pic>
        <p:nvPicPr>
          <p:cNvPr id="8" name="icoon" descr="preencoded.png">    </p:cNvPr>
          <p:cNvPicPr>
            <a:picLocks noChangeAspect="1"/>
          </p:cNvPicPr>
          <p:nvPr/>
        </p:nvPicPr>
        <p:blipFill>
          <a:blip r:embed="rId1"/>
          <a:stretch>
            <a:fillRect/>
          </a:stretch>
        </p:blipFill>
        <p:spPr>
          <a:xfrm>
            <a:off x="960120" y="1051560"/>
            <a:ext cx="457200" cy="457200"/>
          </a:xfrm>
          <a:prstGeom prst="rect">
            <a:avLst/>
          </a:prstGeom>
        </p:spPr>
      </p:pic>
    </p:spTree>
  </p:cSld>
  <p:clrMapOvr>
    <a:masterClrMapping/>
  </p:clrMapOvr>
</p:sld>
</file>

<file path=ppt/theme/theme1.xml><?xml version="1.0" encoding="utf-8"?>
<a:theme xmlns:a="http://schemas.openxmlformats.org/drawingml/2006/main" name="Python basis — Hoofdstuk 29">
  <a:themeElements>
    <a:clrScheme name="Python basis — Hoofdstuk 29">
      <a:dk1>
        <a:srgbClr val="1B1F3B"/>
      </a:dk1>
      <a:lt1>
        <a:srgbClr val="FFFFFF"/>
      </a:lt1>
      <a:dk2>
        <a:srgbClr val="4A5070"/>
      </a:dk2>
      <a:lt2>
        <a:srgbClr val="EEF1F7"/>
      </a:lt2>
      <a:accent1>
        <a:srgbClr val="F4A259"/>
      </a:accent1>
      <a:accent2>
        <a:srgbClr val="2A9D8F"/>
      </a:accent2>
      <a:accent3>
        <a:srgbClr val="E76F51"/>
      </a:accent3>
      <a:accent4>
        <a:srgbClr val="8AB17D"/>
      </a:accent4>
      <a:accent5>
        <a:srgbClr val="5B8DEF"/>
      </a:accent5>
      <a:accent6>
        <a:srgbClr val="9D8DF1"/>
      </a:accent6>
      <a:hlink>
        <a:srgbClr val="2A9D8F"/>
      </a:hlink>
      <a:folHlink>
        <a:srgbClr val="9D8DF1"/>
      </a:folHlink>
    </a:clrScheme>
    <a:fontScheme name="Python basis — Hoofdstuk 29">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Hoofdstuk 29 — Eindopdracht: alles samen</dc:title>
  <dc:subject>PptxGenJS Presentation</dc:subject>
  <dc:creator>Tom Vanhoutte</dc:creator>
  <cp:lastModifiedBy>Tom Vanhoutte</cp:lastModifiedBy>
  <cp:revision>1</cp:revision>
  <dcterms:created xsi:type="dcterms:W3CDTF">2026-10-25T13:49:23Z</dcterms:created>
  <dcterms:modified xsi:type="dcterms:W3CDTF">2026-10-25T13:49:23Z</dcterms:modified>
</cp:coreProperties>
</file>