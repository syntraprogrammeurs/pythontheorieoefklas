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Propositielogica ziet “alle honden zijn dieren” als één letter p. Nu kijken we binnen de zin.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 = groep. Categorische logica = logica over groepen.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 cursus heten ze A, E, I en O. “Sommige” betekent: minstens één.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Geen = het midden grijs. Sommige … geen = een kruisje in het linkerstuk.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en O spreken elkaar tegen, net als E en I. Om “alle” te weerleggen, heb je maar één tegenvoorbeeld nodig.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“Geen” en “sommige … zijn” mag je omdraaien. “Alle” en “sommige … geen” niet.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Syllogisme = twee premissen, één besluit, drie groepen.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gebiedjes binnen de cirkels en 1 erbuiten. De werkwijze is altijd dezelfde. Zie 26.06a.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26.06 laat de computer alle mogelijke werelden proberen, op zoek naar een tegenvoorbeeld.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Oefeningen: 26.1 (vier uitspraken over De Leeslamp) en 26.2 (drie syllogismen toetsen).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NKER">
    <p:bg>
      <p:bgPr>
        <a:solidFill>
          <a:srgbClr val="1C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C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HOOFDSTUK 26  ·  PYTHON BASIS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760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Redeneren over groepen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5760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Alle, geen en sommige, getekend met cirkels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0" y="1325880"/>
            <a:ext cx="2103120" cy="2103120"/>
          </a:xfrm>
          <a:prstGeom prst="ellipse">
            <a:avLst/>
          </a:prstGeom>
          <a:solidFill>
            <a:srgbClr val="2B2F55"/>
          </a:solidFill>
          <a:ln w="12700">
            <a:solidFill>
              <a:srgbClr val="2B2F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325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⭕</a:t>
            </a:r>
            <a:endParaRPr lang="en-US" sz="8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2103120" cy="210312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🐶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Kijken binnen de zin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965960"/>
            <a:ext cx="54864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“Alle honden zijn dieren” gaat over twee groepen: honden en dieren.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749040"/>
            <a:ext cx="5486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tekenen elke groep als een cirkel. Zo zie je meteen of iets klopt.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soorten zinnen over groepen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86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86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💯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Alle S zijn 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honden zijn dieren.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717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32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32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089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E: Geen S is 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089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vis kan fietsen.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8630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779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1779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☝️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Sommige S zijn P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kinderen zijn linkshandig.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00850" y="1325880"/>
            <a:ext cx="1885950" cy="3246120"/>
          </a:xfrm>
          <a:prstGeom prst="roundRect">
            <a:avLst>
              <a:gd name="adj" fmla="val 5818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32345" y="15544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32345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🙅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2468880"/>
            <a:ext cx="161163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Sommige S zijn geen 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3200400"/>
            <a:ext cx="161163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vogels kunnen niet vliegen.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Tekenen met twee cirkels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honden zijn dieren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371600" cy="1371600"/>
          </a:xfrm>
          <a:prstGeom prst="ellipse">
            <a:avLst/>
          </a:prstGeom>
          <a:solidFill>
            <a:srgbClr val="9AA0B5"/>
          </a:solidFill>
          <a:ln w="25400">
            <a:solidFill>
              <a:srgbClr val="1C1F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219456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94560"/>
            <a:ext cx="1371600" cy="1371600"/>
          </a:xfrm>
          <a:prstGeom prst="ellipse">
            <a:avLst/>
          </a:prstGeom>
          <a:ln w="25400">
            <a:solidFill>
              <a:srgbClr val="1C1F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8444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honden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358444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dieren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Grijs = leeg: geen hond buiten de dieren.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1417320"/>
            <a:ext cx="24231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kinderen zijn linkshandig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219456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194560"/>
            <a:ext cx="1371600" cy="1371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1F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2194560"/>
            <a:ext cx="1371600" cy="1371600"/>
          </a:xfrm>
          <a:prstGeom prst="ellipse">
            <a:avLst/>
          </a:prstGeom>
          <a:ln w="25400">
            <a:solidFill>
              <a:srgbClr val="1C1F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6168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58444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3584448"/>
            <a:ext cx="822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931920"/>
            <a:ext cx="233172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= hier zit minstens één.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1325880"/>
            <a:ext cx="2468880" cy="3246120"/>
          </a:xfrm>
          <a:prstGeom prst="roundRect">
            <a:avLst>
              <a:gd name="adj" fmla="val 3704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✏️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tekens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Grijs maken = daar zit niemand.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kruisje = daar zit iemand.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Tegenspraak: precies één van de twee is waar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🐦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vogels vliegen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tegenover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vogels vliegen niet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pinguïn beslist: de tweede is waar.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🐟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vis kan fietsen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tegenover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Sommige vissen kunnen fietsen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is de eerste waar.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Omdraaien mag niet altijd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… : mag wel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kat is een hond.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hond is een kat.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Allebei waar!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FBE6E6"/>
          </a:solidFill>
          <a:ln w="12700">
            <a:solidFill>
              <a:srgbClr val="FBE6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554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❌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… : mag niet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68880"/>
            <a:ext cx="3520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honden zijn dieren.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dieren zijn honden?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Nee! Een koe is ook een dier.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syllogisme: drie groepen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leerlingen hebben een boekentas.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303520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kinderen in de klas zijn leerlingen.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898648"/>
            <a:ext cx="5303520" cy="0"/>
          </a:xfrm>
          <a:prstGeom prst="line">
            <a:avLst/>
          </a:prstGeom>
          <a:noFill/>
          <a:ln w="25400">
            <a:solidFill>
              <a:srgbClr val="1C1F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35808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FDEEDC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35808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Dus: </a:t>
            </a:r>
            <a:pPr indent="0" marL="0">
              <a:buNone/>
            </a:pPr>
            <a:r>
              <a:rPr lang="en-US" sz="17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kinderen in de klas hebben een boekentas.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51760" cy="3246120"/>
          </a:xfrm>
          <a:prstGeom prst="roundRect">
            <a:avLst>
              <a:gd name="adj" fmla="val 3448"/>
            </a:avLst>
          </a:prstGeom>
          <a:solidFill>
            <a:srgbClr val="E1F3EA"/>
          </a:solidFill>
          <a:ln w="12700">
            <a:solidFill>
              <a:srgbClr val="E1F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🎒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2423160"/>
            <a:ext cx="2377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Middenterm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108960"/>
            <a:ext cx="23774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“Leerlingen” verbindt de twee premissen, maar staat niet in het besluit.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cirkels, acht gebiedjes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103120" cy="2103120"/>
          </a:xfrm>
          <a:prstGeom prst="ellipse">
            <a:avLst/>
          </a:prstGeom>
          <a:solidFill>
            <a:srgbClr val="F4A259">
              <a:alpha val="30000"/>
            </a:srgbClr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371600"/>
            <a:ext cx="2103120" cy="2103120"/>
          </a:xfrm>
          <a:prstGeom prst="ellipse">
            <a:avLst/>
          </a:prstGeom>
          <a:solidFill>
            <a:srgbClr val="3A7CA5">
              <a:alpha val="30000"/>
            </a:srgbClr>
          </a:solidFill>
          <a:ln w="25400">
            <a:solidFill>
              <a:srgbClr val="3A7C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514600"/>
            <a:ext cx="2103120" cy="2103120"/>
          </a:xfrm>
          <a:prstGeom prst="ellipse">
            <a:avLst/>
          </a:prstGeom>
          <a:solidFill>
            <a:srgbClr val="2E9E6B">
              <a:alpha val="30000"/>
            </a:srgbClr>
          </a:solidFill>
          <a:ln w="254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kinderen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boekentas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leerlingen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1325880"/>
            <a:ext cx="2926080" cy="3246120"/>
          </a:xfrm>
          <a:prstGeom prst="roundRect">
            <a:avLst>
              <a:gd name="adj" fmla="val 3125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🖍️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2423160"/>
            <a:ext cx="2651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toets je het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108960"/>
            <a:ext cx="2651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 eerst de premissen in. Staat het besluit er dan al? Dan is het geldig. Je mag het besluit zelf niet tekenen!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Groepen zijn sets in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212080" cy="3246120"/>
          </a:xfrm>
          <a:prstGeom prst="roundRect">
            <a:avLst>
              <a:gd name="adj" fmla="val 2817"/>
            </a:avLst>
          </a:prstGeom>
          <a:solidFill>
            <a:srgbClr val="1C1F3B"/>
          </a:solidFill>
          <a:ln w="12700">
            <a:solidFill>
              <a:srgbClr val="1C1F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honden = {"Rex", "Max"}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dieren = {"Rex", "Max", "Minou"}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alle(S, P):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 &lt;= P   # S zit in 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print(alle(honden, dieren))   # 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print(alle(dieren, honden))   # False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0" y="132588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F0F2F8"/>
          </a:solidFill>
          <a:ln w="12700">
            <a:solidFill>
              <a:srgbClr val="F0F2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03720" y="1508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0372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F3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🐍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2423160"/>
            <a:ext cx="2468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uit hoofdstuk 13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3108960"/>
            <a:ext cx="24688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&lt;= P betekent: elk element van S zit ook in 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0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Onthoud dit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41732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soorten zinnen: alle, geen, sommige, sommige … niet.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6888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tekening met cirkels toont of een redenering klopt.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85800" cy="685800"/>
          </a:xfrm>
          <a:prstGeom prst="ellipse">
            <a:avLst/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“Alle” mag je niet zomaar omdraaien.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BCD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thon basis eenvoudig">
  <a:themeElements>
    <a:clrScheme name="Python basis eenvoudig">
      <a:dk1>
        <a:srgbClr val="1C1F3B"/>
      </a:dk1>
      <a:lt1>
        <a:srgbClr val="FFFFFF"/>
      </a:lt1>
      <a:dk2>
        <a:srgbClr val="2B2F55"/>
      </a:dk2>
      <a:lt2>
        <a:srgbClr val="F0F2F8"/>
      </a:lt2>
      <a:accent1>
        <a:srgbClr val="F4A259"/>
      </a:accent1>
      <a:accent2>
        <a:srgbClr val="2E9E6B"/>
      </a:accent2>
      <a:accent3>
        <a:srgbClr val="D64545"/>
      </a:accent3>
      <a:accent4>
        <a:srgbClr val="3A7CA5"/>
      </a:accent4>
      <a:accent5>
        <a:srgbClr val="8E7CC3"/>
      </a:accent5>
      <a:accent6>
        <a:srgbClr val="5B6075"/>
      </a:accent6>
      <a:hlink>
        <a:srgbClr val="3A7CA5"/>
      </a:hlink>
      <a:folHlink>
        <a:srgbClr val="8E7CC3"/>
      </a:folHlink>
    </a:clrScheme>
    <a:fontScheme name="Python basis eenvoudi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Categorische logica</dc:title>
  <dc:subject>PptxGenJS Presentation</dc:subject>
  <dc:creator>Tom Vanhoutte</dc:creator>
  <cp:lastModifiedBy>Tom Vanhoutte</cp:lastModifiedBy>
  <cp:revision>1</cp:revision>
  <dcterms:created xsi:type="dcterms:W3CDTF">2026-10-28T10:30:51Z</dcterms:created>
  <dcterms:modified xsi:type="dcterms:W3CDTF">2026-10-28T10:30:51Z</dcterms:modified>
</cp:coreProperties>
</file>